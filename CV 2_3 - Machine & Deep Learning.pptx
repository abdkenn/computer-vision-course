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92" r:id="rId12"/>
    <p:sldId id="266" r:id="rId13"/>
    <p:sldId id="267" r:id="rId14"/>
    <p:sldId id="268" r:id="rId15"/>
    <p:sldId id="293" r:id="rId16"/>
    <p:sldId id="269" r:id="rId17"/>
    <p:sldId id="294"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02"/>
    <p:restoredTop sz="75795"/>
  </p:normalViewPr>
  <p:slideViewPr>
    <p:cSldViewPr snapToGrid="0" snapToObjects="1">
      <p:cViewPr varScale="1">
        <p:scale>
          <a:sx n="148" d="100"/>
          <a:sy n="148" d="100"/>
        </p:scale>
        <p:origin x="1656" y="18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4139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Welcome students and set the stage for the session.
Suggested opening:
'Today we are going to go from zero — no math background needed — to understanding how computers learn. By the end, you will understand exactly how a neural network trains itself, step by step.'
This is Session 3 of the Computer Vision course. Students have already seen OpenCV and image processing. Now we explain WHY the deep learning models they have been using actually work.
Tell them the two parts:
• Part 1 (Machine Learning): what is ML, types, vocabulary, and 3 key models — Linear Regression, Logistic Regression, KNN.
• Part 2 (Deep Learning): neural networks, backpropagation, CNNs, PyTorch.
Estimated time: 90–120 minutes with exercises.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SECTION DIVIDER — Machine Learning
This is a transition card. Pause here and tell the class what to expect.
Say: 'Part 1 covers the foundations. Before we can understand deep learning, we need to understand what machine learning actually is — and we will do that by building models ourselves, from scratch, using only numpy and math.'
Cover three things in Part 1:
1. Theory — what ML is, types, vocabulary
2. Models from Scratch — Linear Regression, Logistic Regression, KNN built with numpy
3. Python Libraries — scikit-learn to do the same thing in 3 lines
No prior ML knowledge is assumed. Start fresh.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MACHINE LEARNING?
Key idea: flip the programming paradigm.
Traditional programming (left side):
'You, the programmer, write rules. You tell the computer: IF size &gt; 100 AND location == city THEN price = high. But writing rules for everything is impossible — images have millions of pixels, how do you write rules for every face?'
Machine Learning (right side):
'Instead, you give the computer EXAMPLES — lots of houses with their sizes AND their prices. The model finds the rules by itself by looking at the data. You never tell it the formula — it discovers it.'
Good analogy: teaching a child to recognise a cat. You don't give them rules ('4 legs, pointy ears, whiskers...'). You show them 1000 photos of cats and non-cats. They learn the pattern.
Key question for the class: 'When would traditional programming FAIL but ML would succeed?' → when the rules are too complex to write by hand (images, speech, language).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TYPES OF MACHINE LEARNING
Give one concrete example for each type before moving on.
Supervised Learning (blue):
'You have labeled data — you know the correct answer for each training example. Example: 10,000 photos each labeled Cat or Dog. The model learns to map photo → label. This is what we will spend most of our time on.'
Unsupervised Learning (purple):
'No labels. You give the model data and ask it to find patterns by itself. Example: give it 10,000 customer purchase histories — it might group them into clusters: bargain hunters, luxury buyers, etc. Nobody told it those categories existed.'
Reinforcement Learning (orange):
'An agent takes actions in an environment and receives rewards or penalties. Example: AlphaGo playing chess — every winning move gets a reward, every losing move gets a penalty. Over millions of games it learns strategy. Much harder to train.'
Emphasise the yellow note at the bottom: everything we do today is supervised learning — we always have input X and correct label 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VOCABULARY
These 6 terms will appear constantly. Make sure everyone is comfortable before moving on.
Walk through each card:
• Feature X (blue): 'This is what you feed INTO the model. For houses: size in m². For images: pixel values. For a patient: age, blood pressure, etc. X can be a single number or a big matrix.'
• Label y (yellow): 'This is the ANSWER. For houses: the price. For images: the category. This is what we want the model to predict.'
• Training Set (green): 'The data we use to teach the model — typically 70–80% of our data. The model sees this data and adjusts its weights.'
• Test Set (orange): 'Data the model has NEVER seen during training. We use this to check: does the model actually generalise, or did it just memorise the training examples?' → This is a critical distinction.
• Model (purple): 'The mathematical function that maps X to y. For Linear Regression it is ŷ = wx + b. For a deep neural network it is a chain of matrix multiplications and activations.'
• Loss (red): 'The single number that says how wrong we are. HIGH loss = bad model. LOW loss = good model. The entire training process is about minimising this number.'
Ask the class: 'Why do we need a separate test set?' → Because a model can memorise training data without truly learning. Test set reveals whether it genuinely understood the problem.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REGRESSION — THE MATH (Overview)
This slide summarises the full pipeline of Linear Regression in 4 formula boxes.
Talk through each box slowly:
1. ŷ = w·x + b  →  This is the prediction. 'w' is the slope (how much y changes per unit of x) and 'b' is where the line crosses the y-axis. Very simple — just a straight line!
2. Loss = MSE  →  This tells us HOW WRONG our line is. We can't improve what we can't measure.
3. 1/n · Σ(y − ŷ)²  →  For each data point, measure the gap between real value and prediction, square it (so errors are always positive and big mistakes get penalised more), then average.
4. w ← w − α·∂L/∂w  →  This is Gradient Descent. We nudge the weights in the direction that reduces loss. 'α' (alpha) is the learning rate — how big a step we take each time.
The left chart shows loss decreasing over training — this is what we want!
The right bowl diagram is the classic intuition: we're rolling a ball to the bottom of the bowl.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REGRESSION: FORWARD PASS — Section divider
This is a transition card. Use it to signal to students that we are now going to slow down and trace EVERY step.
Say something like:
'OK, we just saw the 4 formulas. Now let's make them real. We are going to take ONE data point — a house with 50m² — and manually compute what the model predicts, and how wrong it is. By the end of the next 3 slides, you'll understand exactly what happens during a forward pass of Linear Regression.'
The scatter plot on the right is intentional — it shows that real data is noisy, the line doesn't pass through every point, and the red dashes are the errors (residuals) we want to minimise.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REGRESSION: FORWARD PASS — Step 1: ŷ = w·x + b
This is THE core equation. Take your time here.
Key teaching points:
• Ask students: 'If you were trying to predict house prices, what information would you use?' → They'll say size, location, etc. The 'x' is that information.
• The weight 'w' is the slope of the line: 'For every extra m², the price goes up by w thousand euros.' Right now w=3.0 is just a starting GUESS. The model will learn the best value.
• The bias 'b' is like the minimum price — even a 0 m² house has a base price. Again, b=10.0 is a starting guess.
• Walk through the arithmetic OUT LOUD: 3.0 × 50 = 150, plus 10 = 160. So our model predicts €160k.
• KEY QUESTION: Ask the class 'But is €160k correct? How do we know if that's a good prediction?' → Lead them into the loss concept on the next slide.
Common confusion: students sometimes confuse 'w' (the slope) with 'W' (a weight matrix in neural networks). For linear regression, w is just a single number.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REGRESSION: FORWARD PASS — Step 2: MSE Loss
This is the 'how wrong are we?' slide.
Key teaching points:
• Start with the question: 'Our model predicted €160k for a 50m² house. If the actual price is €150k, the error is −10. But what if another house had error +10? They'd cancel out and our TOTAL error would be zero — which is wrong, we ARE making mistakes!' → Squaring fixes this.
• Walk through the table row by row:
  - x=50, y=150: ŷ = 3×50+10 = 160. Error = 150−160 = −10. Squared = 100.
  - x=80, y=260: ŷ = 3×80+10 = 250. Error = 260−250 = +10. Squared = 100.
  - x=30, y=100: ŷ = 3×30+10 = 100. Error = 0. Squared = 0. Perfect prediction!
  - x=60, y=170: ŷ = 3×60+10 = 190. Error = −20. Squared = 400. Big mistake!
• MSE = (100+100+0+400)/4 = 150. This single number summarises how bad our current w=3.0, b=10.0 is.
• The goal of training = find w and b that make MSE as small as possible.
Note to speaker: 150 is the MSE in whatever units² you're working in. In practice you'd compare models by their MSE, not worry about the absolute value.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REGRESSION: BACKWARD PASS — What is a Gradient?
This is the conceptual heart of backpropagation. Students often find this abstract — use the parabola diagram heavily.
Key teaching points:
• Draw attention to the parabola: 'This is the shape of the loss as we change w. There is ONE minimum — the perfect weight w*. Our job is to find it.'
• Point A (left side, blue): 'If we are here, the tangent line has a NEGATIVE slope. That means: if we increase w, loss goes DOWN. So gradient descent will INCREASE w. Makes sense — we need to move right toward the minimum.'
• Point B (right side, red): 'If we are here, tangent line has POSITIVE slope. Increasing w makes loss go UP. Gradient descent will DECREASE w. Move left toward minimum.'
• The formula ∂MSE/∂w = (2/n)·Σ(ŷ−y)·x comes from calculus (chain rule). You don't need to derive it right now, but you CAN check it makes intuitive sense: if our predictions ŷ are too high compared to y, the errors (ŷ−y) are positive, and the gradient is positive, so we'll decrease w. That's exactly right!
• Numeric: ∂MSE/∂w = 450. This is a LARGE positive gradient, meaning w=3.0 is causing the model to over-predict. We need to decrease w.
Note: the (2/n) factor comes from differentiating the squared term. Sometimes you'll see (1/n) — it doesn't matter for training, just changes the scale of the gradient.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 INTUITION — CORRECT BOWL DIAGRAM
This slide replaces the previous gradient diagram with an unambiguous bowl shape.
Key teaching points:
• Point to the bowl: 'This is the loss surface. The BOTTOM of the bowl is the minimum loss — where our weights are optimal. We want to roll to the bottom.'
• Point A (left, blue): 'We are on the LEFT wall of the bowl. The slope here goes DOWN to the right (negative gradient). Gradient descent says: w ← w − α·(negative) = w INCREASES. We step right → toward the bottom. ✓'
• Point B (right, red): 'We are on the RIGHT wall. The slope goes UP to the right (positive gradient). Gradient descent says: w ← w − α·(positive) = w DECREASES. We step left → toward the bottom. ✓'
• Beautiful symmetry: 'No matter which side of the bowl we start on, subtracting the gradient always moves us toward the minimum. That is why the formula works!'
• Right panel boxes: Walk through the algebra slowly for both cases.
• Green note at bottom: 'Either way we move toward the minimum — that is the magic of gradient descent.'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REGRESSION: BACKWARD PASS — Gradient Descent Update
This is the PAYOFF slide. After understanding the gradient, we can now update the weights.
Key teaching points:
• The formula w ← w − α × ∂MSE/∂w has a beautiful logic:
  - If gradient is POSITIVE (loss increases when w increases): we SUBTRACT → w decreases → we move toward minimum. ✓
  - If gradient is NEGATIVE (loss decreases when w increases): subtracting a negative = ADDING → w increases → we move toward minimum. ✓
  - Either way, we move toward lower loss. This always works!
• Learning rate α = 0.0001 is chosen to be small. Walk through:
  - Step: 0.0001 × 450 = 0.045. New w = 3.000 − 0.045 = 2.955.
  - Very small change! That's intentional. We don't want to leap over the minimum.
• b gradient (∂MSE/∂b = 20) is much smaller than w gradient (450) — that's because b doesn't interact with x, so it has less leverage over the error.
• After just ONE step, MSE is already lower. Repeat this thousands of times and the model converges.
• Three learning rate scenarios:
  - Too small (0.001): technically works, but painfully slow — thousands of steps just to get started
  - Just right (0.01): converges cleanly. This is what we use in practice.
  - Too large (1.0): the step OVERSHOOTS the minimum and bounces back and forth, possibly diverging.
Ask the class: 'Why don't we just set α very large to be fast?' → Because we'll overshoot and never converge!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REGRESSION: COMPLETE TRAINING LOOP
This is the summary slide. Everything comes together here.
Key teaching points:
• Walk through the 5 steps top to bottom as a LOOP:
  1. We start with a guess: w=3.0, b=10.0. These are random or zeroed — the model doesn't know anything yet.
  2. Forward pass: plug x into ŷ = w·x + b. Get a prediction.
  3. Compute loss: see how wrong we are with MSE.
  4. Backward pass: compute gradients — which direction should we move w and b?
  5. Update: move w and b a small step in the right direction.
  → Then go back to step 2 with the SAME data, but new w and b.
• Point to the convergence table:
  - At the start, MSE=150 — very wrong.
  - After just 1 step, MSE drops to 142. Small but real improvement.
  - After 100 steps, MSE=18.7. Getting much better!
  - After 1000 steps, MSE=3.2. Nearly there.
  - Converged: w≈1.95, b≈9.90, MSE=0.8. Excellent fit!
• KEY POINT: The model 'learned' that w≈1.95 is the best slope. We started at w=3.0 and the gradient descent walked us to the right answer — automatically, without us telling it what the answer was.
• This is the essence of ALL machine learning: start with a random model, measure error, compute gradients, update weights, repeat.
Optional: draw the evolution on the board as a curve going from high to low. Ask: 'Why does it slow down near the end?' → Because the gradients get smaller as we approach the minimum.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This is the jump from predicting numbers to predicting CATEGORIES. Use a concrete example immediately.
Key teaching points:
• Motivate the sigmoid: 'For Linear Regression we predicted a number — house price. Now we want to predict: is this email SPAM or NOT SPAM? Is this tumour BENIGN or MALIGNANT? We need an output between 0 and 1 — a probability.'
• The sigmoid function σ(z) = 1/(1+e^-z) squishes any real number into the range [0,1]:
  - z very large → σ(z) ≈ 1 (very confident: class 1)
  - z = 0 → σ(z) = 0.5 (completely uncertain)
  - z very negative → σ(z) ≈ 0 (very confident: class 0)
• Decision rule: if output ≥ 0.5 → predict 1. If output &lt; 0.5 → predict 0. Simple threshold.
• Cross-entropy loss: 'We can't use MSE for classification — it doesn't penalise wrong confident predictions hard enough. Cross-entropy is specifically designed for probabilities.'
  - When y=1 (true class is 1) and y_hat = 0.01 (we predicted 1% probability): loss = -log(0.01) = huge penalty!
  - When y=1 and y_hat = 0.99: loss = -log(0.99) ≈ 0. Almost no penalty.
Fun question: 'Can we use Logistic Regression for more than 2 classes?' → Yes — with softmax (which we'll see later in neural networks).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 NUMERIC EXAMPLE (SPAM)
This is the slide that makes the math real. Walk through it step by step.
Setup: 'Imagine we trained a spam detector. We have 3 features per email and 3 learned weights. Let's trace what happens when a suspicious email arrives.'
Features:
  x₁=3 (3 links — many links suspicious → w=0.8, positive weight)
  x₂=1 (contains 'FREE' → w=1.2, strong spam signal)
  x₃=0.5 (short email, 50 words → w=−0.5, negative weight — shorter is more suspicious)
  b=−1.0 (bias, shifts the decision boundary)
Step 1 — linear combination:
  z = 0.8×3 + 1.2×1 + (−0.5)×0.5 + (−1.0)
    = 2.4 + 1.2 − 0.25 − 1.0
    = 2.35
  'This raw score of 2.35 doesn't mean anything on its own. Could be any number.'
Step 2 — sigmoid:
  σ(2.35) = 1/(1+e^-2.35) = 1/(1+0.095) ≈ 0.913
  'Now it means something! 91.3% probability this is spam. Very confident.'
Decision: 0.913 &gt; 0.5 → SPAM. Label it spam and move it to junk.
Loss: L = −log(0.913) = 0.091. Very small! The model was right and confident, so the penalty is tiny.
Contrast: if it was NOT spam (y=0) and we predicted 0.913: L = −log(1−0.913) = −log(0.087) = 2.44. Huge penalty for a confident wrong prediction.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K-NEAREST NEIGHBORS
KNN is the most intuitive algorithm. No training phase — just memorise the data.
Key teaching points:
• Intuition: 'Tell me who your neighbours are and I'll tell you who you are. If 5 of your 7 closest neighbours have tumours, you probably do too.'
• Walk through the 3 steps with a concrete example:
  - You have a new house: 55m², 3 rooms.
  - Step 1: Compute distance to EVERY house in your training set. d = sqrt((55-50)² + (3-3)²) = 5 for one neighbour.
  - Step 2: Sort all distances, keep the K smallest.
  - Step 3: If K=5 and 4 of the 5 nearest are 'expensive' houses, predict 'expensive'.
• No training! KNN just stores all training data. Fast to train, slow to predict (must compute all distances at test time).
• Effect of K (critical concept):
  - K=1: For every new point, just look at the single closest neighbour. Very sensitive to noise — one bad data point can wreck the prediction.
  - K=5: Majority vote of 5 neighbours. More robust.
  - K=20: Very smooth boundary, may miss fine patterns.
• Key question: 'What happens when K = N (total number of training samples)?' → You'd predict the majority class for every single input. Useless!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KNN — NUMERIC EXAMPLE (FRUIT CLASSIFICATION)
This slide makes KNN completely concrete. Walk through every row of the table.
Setup: 'We are classifying fruits by two features: weight (grams) and sweetness (score 1-10). We have 6 training examples — 3 apples and 3 oranges. A new mystery fruit arrives: 160g, sweetness 7. K=3 — we consult 3 neighbours.'
Step 1 — compute distances from (160, 7) to every training point:
• Fruit 1 (Apple, 150g, sw6): d = √[(150-160)²+(6-7)²] = √[100+1] = √101 ≈ 10.05
• Fruit 2 (Apple, 170g, sw5): d = √[(170-160)²+(5-7)²] = √[100+4] = √104 ≈ 10.20
• Fruit 3 (Apple, 140g, sw8): d = √[(140-160)²+(8-7)²] = √[400+1] = √401 ≈ 20.02
• Fruit 4 (Orange, 200g, sw9): d = √[(200-160)²+(9-7)²] = √[1600+4] = √1604 ≈ 40.05
• Fruit 5 (Orange, 210g, sw8): d = √[(210-160)²+(8-7)²] = √[2500+1] ≈ 50.01
• Fruit 6 (Orange, 190g, sw10): d = √[(190-160)²+(10-7)²] = √[900+9] ≈ 30.15
Step 2 — sort and pick K=3 nearest:
Rank 1: Fruit #1, d=10.05 (Apple)
Rank 2: Fruit #2, d=10.20 (Apple)
Rank 3: Fruit #3, d=20.02 (Apple)
Step 3 — vote: 3 Apples, 0 Oranges → predict APPLE ✓
Key insight: 'The three closest fruits are ALL apples — so despite us not knowing any rules, the model correctly says Apple. The oranges were all much heavier and further away.'
Ask: 'What if K=1?' → still Apple (#1). 'What if K=5?' → still 3 Apples, 2 Oranges → Apple. 'What if K=6?' → 3 Apple, 3 Orange → tie! Must break tie somehow.</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SCIKIT-LEARN
This is the payoff after building models from scratch. Now we show how easy it is in practice.
Key teaching points:
• The 3-line pattern: 'Every single scikit-learn model follows exactly the same API:
  1. model = Model(hyperparameters)
  2. model.fit(X_train, y_train)    ← training
  3. y_pred = model.predict(X_test) ← prediction
Once you know this pattern, you can switch between 50+ algorithms by changing ONE word.'
• Quick comparison of the 5 models:
  - Logistic Regression: draws a straight line (or hyperplane) to separate classes. Fast, interpretable, good baseline.
  - KNN: no training, slow on big data. Good for small datasets.
  - Decision Tree: asks YES/NO questions to split data. Fully interpretable — you can print the rules.
  - Random Forest: 100 decision trees, each trained on random subsets. Vote on final answer. Much more powerful.
  - SVM: finds the line that maximises the margin between classes. Very strong for high-dimensional data.
• Important message: 'In practice, always start with Logistic Regression as your baseline. Only move to more complex models if the simple one isn't good enough.'
• The .score() method returns accuracy. Also show them confusion_matrix and classification_report in the notebook.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OVERFITTING VS UNDERFITTING
This is THE most important practical concept in ML. Spend real time here.
Key teaching points:
• Underfitting (grey column):
  'Train accuracy 60%, Test accuracy 59% — they're both bad and similar. The model is too simple to capture the pattern. It's like trying to fit a straight line through a curved dataset.'
  → Solution: add more features, use a more complex model, train longer.
• Good Fit (green column):
  'Train 92%, Test 90% — both high, and close to each other. The model learned the real pattern and generalises to new data. This is what we want.'
• Overfitting (red column — the most important!):
  'Train 99%, Test 61% — huge gap! The model basically memorised the training data. It knows the answers to the exam questions but can't handle new questions.'
  → Analogy: cramming the exact exam answers without understanding the material.
  → Solutions: use more training data, add regularization (L1/L2), use dropout in neural networks, reduce model complexity.
• The golden rule: 'ALWAYS evaluate on a test set you haven't touched during training. If you tune your model on the test set, you're cheating — and you won't know it until it fails in production.'
• Advanced note: for serious work, use a 3-way split: train / validation / test. The validation set is used for tuning, the test set is touched only once at the very end.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SECTION DIVIDER — Deep Learning &amp; CNNs
Transition from classical ML to deep learning.
Say: 'You now understand the foundations — what ML is, how loss works, how gradient descent updates weights. Part 2 takes ALL of that and scales it up. Instead of one weight w, we have millions. Instead of one layer, we have dozens. And instead of predicting house prices, we can recognise faces, detect objects in real-time, and generate images.'
Cover these topics in Part 2:
• Neural Networks — stacking layers, activation functions, backpropagation
• Forward &amp; Backward Pass — deep dive (coming up next with full math)
• CNNs — convolutional layers, pooling, why they work for images
• PyTorch — building and training a real CNN on CIFAR-10
• Transfer Learning — using pretrained ResNet-18
Estimated time remaining: 60–90 minutes.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ONE NEURON TO NEURAL NETWORKS
Connect the single neuron students already know to the full network.
Key teaching points:
• Left side — single neuron:
  'This is exactly Logistic Regression. One neuron: takes inputs, multiplies by weights, adds bias, passes through activation. One prediction.'
• Right side — the leap:
  'What if we put MANY neurons in parallel? Each one learns a different feature. Then we stack LAYERS of them — each layer learns increasingly abstract patterns.'
  - Layer 1 might learn: edges and colours
  - Layer 2 might learn: shapes and textures
  - Layer 3 might learn: object parts (eyes, wheels)
  - Output: the final classification
• WHY stacking helps: 'A single layer can only draw linear boundaries. Multiple layers can draw arbitrarily complex boundaries. This is the Universal Approximation Theorem — a deep enough network can approximate any function.'
• Note the fully-connected architecture: every node in one layer connects to every node in the next. Hence called 'Dense' or 'Fully Connected' layers.
• Tease the upcoming slides: 'Now we need to understand HOW this network learns. That's backpropagation — we'll trace it step by step, with numbers.'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ACTIVATION FUNCTIONS
Point to the red warning at the top first — it's the motivation for the entire slide.
Key teaching points:
• The problem: 'If we don't use activations, stacking layers does absolutely nothing. Linear(Linear(x)) = Linear(x). We just learned one big linear transformation. We need NON-LINEARITY to learn complex patterns.'
• Sigmoid (blue): 'You already know this from Logistic Regression. Great for the OUTPUT layer of binary classifiers. BUT — for hidden layers — it has a fatal flaw: the vanishing gradient. When z is very large or very small, the sigmoid is nearly flat. The gradient ≈ 0. Weights deep in the network stop updating. Training stalls.'
• Tanh (purple): 'Similar shape to sigmoid but centered at 0 (range -1 to 1). Better than sigmoid in practice but still has vanishing gradient for large values. Used in RNNs.'
• ReLU (orange): 'The king of hidden layer activations. max(0, z). If z &gt; 0, output = z. If z &lt; 0, output = 0. Dead simple. FAST to compute. No vanishing gradient for positive values. This is why deep learning actually worked after 2012.'
  - Dying ReLU: if a neuron's input is always negative, it always outputs 0 and never learns. Usually not a problem in practice.
• Leaky ReLU (teal): 'Fixes dying ReLU by allowing a tiny gradient (0.01) for negative inputs. Worth trying if you have problems with dead neurons.'
• Summary: hidden layers → ReLU. Binary output → sigmoid. Multi-class output → softmax (next section).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BACKPROPAGATION OVERVIEW
This is the high-level picture before the deep-dive slides that follow.
Key teaching points:
• Point to the forward pass arrows (blue, top of diagram):
  'In the forward pass, data flows LEFT to RIGHT. Input goes in, passes through layers, and we get a prediction. This is just applying the formulas we already know.'
• Point to the backward arrow (orange, dashed):
  'Now we know how wrong we are (loss). We want to adjust ALL the weights to reduce that loss. But which direction? We need the gradient of the loss with respect to each weight.'
  'The backward pass flows RIGHT to LEFT — from loss back through every layer, computing dL/dw for each weight using the CHAIN RULE.'
• The Chain Rule (don't go deep here — that's the next slides):
  'The chain rule says: if a affects b, and b affects c, then how much does a affect c? Multiply the individual effects together. That's how the error signal travels backward through layers.'
• 4-step box summary at the bottom — walk through each:
  1. Forward: compute y_hat
  2. Loss: measure error
  3. Backward: chain rule gives us dL/dw for EVERY weight
  4. Update: gradient descent nudges every weight toward lower loss
• Reassure the class: 'PyTorch does ALL of this automatically with loss.backward(). You never have to compute these derivatives by hand. But understanding what's happening makes you a MUCH better practitioner.'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NEURAL NETWORK: FORWARD PASS — Section Divider
Say: 'We have seen the overview of backprop. Now let us trace EXACTLY what happens, step by step, through a small 2-layer neural network. We will use real numbers so you can follow along on paper if you want.'
This section covers 3 slides:
• Slide 1: Network setup — notation and what each variable means
• Slide 2: Step 1 — Linear combination z = W·x + b
• Slide 3: Step 2 — Activation a = ReLU(z)
• Slide 4: Step 3 — Output and Softmax
The network we trace: input(2) → hidden(3) → output(1). Small enough to follow manually, large enough to illustrate all the key concepts.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NEURAL NETWORK: NETWORK SETUP
Introduce the notation carefully — students will use it in all subsequent slides.
Key teaching points:
• Draw attention to the network diagram on the left:
  - Blue nodes = input layer: x1 = 0.5, x2 = 0.8 (two features, e.g. two pixel values)
  - Purple nodes = hidden layer: h1, h2, h3 (three neurons — we choose this, it's a hyperparameter)
  - Green node = output layer: y (a single prediction)
  - Connections = weights. Every input connects to every hidden neuron. That's 2×3 = 6 weights in the first layer.
• Go through the notation legend on the right:
  - x (blue) = input vector — the raw data we feed in
  - W (orange) = weight matrix — what the model LEARNS
  - b (yellow) = bias vector — a constant added to each neuron's calculation
  - z (purple) = pre-activation = the raw linear sum BEFORE the activation function
  - a (teal) = post-activation = z AFTER passing through ReLU or sigmoid
  - y_hat (green) = final prediction
• Note the weight labels w11, w12, w21 on the diagram. The subscript notation w_ij means 'weight from input i to hidden neuron j'.
• We will trace the full computation with x1=0.5, x2=0.8 through ALL these steps. Follow along!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NN FORWARD PASS — Step 1: z = W·x + b (Linear Combination)
This is the most mathematically dense slide. Take it slowly.
Key teaching points:
• The top formula box is the heart of the slide:
  z = W · x + b
  'For every neuron, take its inputs, multiply each by its corresponding weight, sum them all up, and add a bias. This gives z — a single number called the pre-activation.'
• Left panel — matrix form:
  'When we have multiple neurons, we can compute ALL their z values simultaneously using matrix multiplication. The weight matrix W has shape (3 outputs × 2 inputs), x is a column vector (2 × 1), and the result is z (3 × 1) — one value per hidden neuron.'
  Walk through each element of the matrix multiplication slowly.
• Right panel — numeric example:
  Work through this OUT LOUD:
  z1 = w11·x1 + w12·x2 + b1
     = 0.4 × 0.5 + 0.6 × 0.8 + 0.1
     = 0.20 + 0.48 + 0.10
     = 0.78
  'So hidden neuron 1 has pre-activation z1 = 0.78. Each of the other 2 hidden neurons computes its own z using its own row of weights.'
• Key insight: 'z can be ANY real number — positive, negative, large, small. It is just a weighted sum. The activation function in the NEXT step will transform it into something useful.'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NN FORWARD PASS — Step 2: a = ReLU(z) (Activation)
Key teaching points:
• The formula: a = ReLU(z) = max(0, z). Brutally simple. If z is positive → keep it. If z is negative → kill it (output 0).
• Point to the ReLU graph (left panel):
  - Left of zero: flat line at 0. Negative inputs produce zero output.
  - Right of zero: the line goes up at 45 degrees. Output = input.
  - The kink at zero is intentional — this non-linearity is what makes deep networks powerful.
• Right panel — walk through the 3 neurons:
  - z1 = 0.78 → positive → a1 = 0.78 (passes through unchanged ✓)
  - z2 = −0.23 → NEGATIVE → a2 = 0.0 (clamped to zero! Neuron is 'off' for this input)
  - z3 = 0.41 → positive → a3 = 0.41 (passes through unchanged ✓)
• Intuition for the 'off' neuron:
  'When a neuron outputs 0 after ReLU, it means that feature is NOT present in this particular input. The neuron is saying: this thing I was looking for is not here. Other neurons handle different features and they might still be active.'
• Why NOT sigmoid for hidden layers?
  'Sigmoid squishes everything to [0,1]. For large z, the derivative is nearly 0 — gradients vanish and the network stops learning. ReLU has derivative = 1 for any positive z, so gradients flow freely.'
• After this step, we have the hidden layer activations a = [0.78, 0.0, 0.41]. These become the inputs to the next layer.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NN FORWARD PASS — Step 3: Output &amp; Softmax
The final step — converting raw scores into a probability distribution.
Key teaching points:
• Why Softmax?
  'The output layer produces raw scores — called logits. Cat=2.1, Dog=0.4, Bird=-0.8. These aren't probabilities — they don't sum to 1. Softmax converts them into a proper probability distribution.'
• The formula: σ(z)k = e^zk / Σ e^zj
  'For each class, raise e to the power of its score, then divide by the sum of ALL e^(scores). This guarantees all outputs are positive AND sum to 1.'
• Left panel — bar chart:
  Walk through: e^2.1 ≈ 8.17, e^0.4 ≈ 1.49, e^(-0.8) ≈ 0.45. Sum ≈ 10.11.
  - Cat: 8.17/10.11 ≈ 80.8% ← model is very confident it's a cat
  - Dog: 1.49/10.11 ≈ 14.8%
  - Bird: 0.45/10.11 ≈ 4.4%
  Total = 100% ✓
• Right panel — complete forward pass summary:
  Review all 4 steps:
  1. z¹ = W¹·x + b¹  (linear combination in hidden layer)
  2. a¹ = ReLU(z¹)  (activation)
  3. z² = W²·a¹ + b²  (linear combination in output layer)
  4. y_hat = Softmax(z²)  (final probabilities)
• After this slide, the forward pass is complete. We have y_hat. Next: how wrong are we?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NEURAL NETWORK: BACKWARD PASS — Section Divider
Say: 'The forward pass gave us a prediction. We measured the loss. Now comes the clever part: how do we adjust ALL the weights — there could be millions of them — to make the loss smaller? The answer is the backward pass, or backpropagation.'
Key concept to introduce here:
'Imagine you made a bad prediction. Whose fault is it? Every single weight in the network contributed a tiny bit to the final answer. Backpropagation is the algorithm that figures out EXACTLY how much each weight contributed to the error — and in which direction to nudge it.'
This section covers:
• Loss functions: MSE (regression) vs Cross-Entropy (classification) — how do we measure 'wrong'?
• Chain rule: how the error signal flows backward through layers
• Gradient descent: the weight update formula, with a numeric example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FUNCTIONS: MSE AND CROSS-ENTROPY
Key teaching points:
• Start with the concept: 'Loss is just a score for how bad we are. HIGH loss = bad. LOW loss = good. Our entire training process = find weights that minimise this score.'
• MSE (left, blue) — for regression:
  L = (1/n) · Σ(y − ŷ)²
  'For each data point, square the difference between real value and prediction, then average. We SQUARE so that negative errors (over-prediction) and positive errors (under-prediction) both count as positive, and large errors get penalised extra hard.'
  Numeric: y=[1,0,1], ŷ=[0.9,0.2,0.8]. MSE = (0.01+0.04+0.04)/3 = 0.030. Small number = good fit.
• Cross-Entropy (right, red) — for classification:
  L = −(1/n) · Σ y·log(ŷ)
  'When y=1 (correct class), we want ŷ close to 1. log(1) = 0 → no loss. log(0.1) = −2.3, negated = 2.3 → big penalty for being wrong and confident.'
  - ŷ = 0.9: loss = −log(0.9) = 0.105 (small — good prediction)
  - ŷ = 0.1: loss = −log(0.1) = 2.303 (large — terrible prediction)
• Key question: 'Why can't we use MSE for classification?'
  → MSE penalises errors linearly once squared. Cross-entropy's log function creates much stronger penalties for confidently wrong predictions. This speeds up training dramatically.
• Practical tip: 'In PyTorch: nn.MSELoss() for regression, nn.CrossEntropyLoss() for classification. One line of code!'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NN BACKWARD PASS — Chain Rule, Step by Step
This is the mathematical heart of deep learning. Don't rush.
Key teaching points:
• The chain rule — intuition:
  'Suppose pressing a gas pedal makes the car go faster, and going faster makes the engine heat up more. How does the gas pedal affect engine temperature? You multiply: how much faster per pedal push × how much hotter per speed increase. That's the chain rule.'
• Point to the top formula:
  ∂L/∂W¹ = ∂L/∂a² · ∂a²/∂z² · ∂z²/∂a¹ · ∂a¹/∂z¹ · ∂z¹/∂W¹
  'To find how a weight in layer 1 affects the loss, we multiply ALL the local derivatives along the path from that weight to the loss. Each layer contributes one factor.'
• The backward flow diagram:
  'Orange arrows show the direction of gradient flow — from right to left, opposite to the forward pass.'
• Walk through the 4 derivative rows:
  1. ∂L/∂a² = y_hat − y: 'For cross-entropy + softmax, this simplifies beautifully. Error = prediction minus truth. That is it.'
  2. ∂a²/∂z² = σ'(z²) = a²(1−a²): 'Derivative of sigmoid at the output layer.'
  3. ∂z²/∂a¹ = W²: 'Derivative of a linear function wrt its input is just the weight matrix itself.'
  4. ∂z¹/∂W¹ = a¹: 'Derivative of the pre-activation wrt the weight is just the activation from the layer before.'
• Reassurance: 'PyTorch computes all of this with a single line: loss.backward(). You never write these derivatives by hand. But knowing what is happening makes you understand WHY training can fail and how to fix it.'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 DESCENT — WEIGHT UPDATE
This is the payoff for all the math work so far.
Key teaching points:
• The master formula: W ← W − α · ∂L/∂W
  Break it down piece by piece:
  - W = the current weight value
  - ∂L/∂W = the gradient (how much does loss change if we increase W by 1?)
  - α = learning rate (how big a step do we take?)
  - The MINUS sign = we go OPPOSITE to the gradient (downhill, not uphill)
• The bowl diagram (left):
  - W₀ (red) = where we start. High loss.
  - Arrow shows direction: gradient is negative here (slope goes down to the right), so we ADD to W → move right toward minimum.
  - W₁ (orange) = after one step. Lower loss.
  - W₂ (green) = near the minimum. Loss is much lower.
• Numeric example (right), walk through each row:
  1. Current W = 0.40
  2. Backprop calculated ∂L/∂W = 0.85 (positive → W is too large → decrease it)
  3. Step = 0.1 × 0.85 = 0.085
  4. New W = 0.40 − 0.085 = 0.315 ✓ — W decreased, which is what we wanted
• Scale: 'In a real network you do this for EVERY weight — could be millions of them. PyTorch computes them all in parallel using GPU matrix operations. In milliseconds.'
• Common question: 'How do we pick α?'
  → Start with 0.001 or 0.01. Use a scheduler that reduces it over time. Too large → diverges. Too small → takes forever.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NEURAL NETWORK TRAINING LOOP
This slide ties together everything from the last 10 slides.
Walk through the circular diagram step by step, referring back to earlier slides:
1. Load Batch — 'We don't train on all data at once. We take a small batch (32 or 64 samples), run the full loop, update weights, then take the next batch. One full pass through all batches = one EPOCH.'
2. Forward Pass — 'z = W·x + b, then a = ReLU(z), then softmax at the output. We traced this 3 slides ago.'
3. Compute Loss — 'CrossEntropyLoss for classification. One number that summarises how wrong we are across the whole batch.'
4. Backward Pass — 'loss.backward() in PyTorch. Computes ∂L/∂W for every single weight using the chain rule. This is backpropagation.'
5. Update Weights — 'optimizer.step() in PyTorch. For each weight: W ← W − α · ∂L/∂W. Then zero_grad() clears the accumulated gradients so they don't pile up.'
Pseudocode on the right — show this maps directly to the notebook:
  for epoch in range(N):
    for batch:
      out = model(x)      ← forward pass
      L = loss(out, y)    ← compute loss  
      opt.zero_grad()     ← clear old gradients
      L.backward()        ← backprop
      opt.step()          ← update weights
• After thousands of iterations, the model converges. Weights stabilise at values that minimise loss.
Big picture message: 'Every AI you have ever used — GPT, DALL-E, AlphaFold — was trained with this exact loop. The network was different, the data was different, but the algorithm was always: forward → loss → backward → update → repeat.'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CONVOLUTIONAL NEURAL NETWORKS (CNN)
Motivate WHY CNNs exist before explaining what they are.
Key teaching points:
• The problem (red box):
  'A 224×224 RGB image has 224×224×3 = 150,528 input values. If the first hidden layer has 1,000 neurons, that is 150 MILLION weights just for the first layer. Three problems: (1) impossible to train — too much data, too slow; (2) massive overfitting; (3) doesn't respect spatial structure — a neuron treats pixel (0,0) and pixel (100,100) as completely unrelated.'
• The CNN solution (green box):
  'A 3×3 convolutional filter has just 9 weights — and those 9 weights are SHARED across the entire image. The same filter slides from top-left to bottom-right, detecting the same feature everywhere. This respects spatial structure and reduces parameters by 10,000×.'
• The pipeline (bottom):
  Walk through each block left to right:
  - Input Image: raw pixel values
  - Conv+ReLU: apply learned filters, detect features
  - MaxPool: downsample, keep the strongest signal
  - Conv+ReLU again: detect higher-level features
  - MaxPool again: downsample further
  - Flatten: convert 2D feature maps to 1D vector
  - Dense Layers: fully connected, combine all features
  - Output Classes: final class probabilities
• Hierarchy (bottom text): 'Each layer learns more abstract features. Layer 1: edges and gradients. Layer 2: corners and curves. Layer 3: object parts (eyes, wheels). Layer 4: full objects. This is how it works — exactly like the visual cortex in your brain.'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CONVOLUTION OPERATION
This slide explains how the core operation of a CNN works. Use the grid examples extensively.
Key teaching points:
• The operation (left panel):
  'A filter (also called kernel) is a small grid of numbers, typically 3×3 or 5×5. We slide this filter over the input image, one step at a time. At each position, we multiply each filter value by the overlapping pixel value and sum everything up. The result is one number in the output feature map.'
• Walk through the numeric example (left):
  Input 5×5 (simplified to 0s and 1s). Filter 3×3.
  At the first position: (1×0)+(0×1)+(1×1)+(0×2)+(1×0)+(1×0)+(0×1)+(1×0)+(0×1) = your result.
  Slide to next position, repeat. Output is 3×3 (5-3+1 = 3).
• Right panel — 4 filter types:
  - Horizontal edge: negative values above and below, positive in middle. Fires when there is a horizontal transition in brightness.
  - Vertical edge: same idea rotated 90 degrees.
  - Sharpen: amplifies center pixel, subtracts neighbors. Makes edges crisper.
  - Blur: average of 3×3 neighbourhood. Smoothes the image.
  Ask: 'Who designed these filters?' → Nobody! They are handcrafted examples. In a CNN, the network LEARNS these filter values from data automatically.
• Bottom note: 'In a trained CNN, the first layer learns edge detectors. The second layer combines edges into curves. And so on. Nobody told it to do this — it discovered these filters because they are useful for recognising objects.'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CNN IN PYTORCH
Bridge from theory to code. Students will implement this in the notebook.
Key teaching points:
• Left panel — the SimpleCNN class:
  Walk through the architecture:
  - conv1: in_channels=3 (RGB), out_channels=32 (32 different filters), kernel_size=3, padding=1 (keeps spatial dimensions the same)
  - conv2: 32 → 64 channels. Going deeper = more abstract features.
  - conv3: 64 → 128 channels. Even more features.
  - MaxPool2d(2,2): halves spatial dimensions each time.
  - After 3 pools: 32×32 → 16×16 → 8×8 → 4×4. So flattened = 128×4×4 = 2048 features.
  - fc1: 2048 → 256 (compress)
  - fc2: 256 → 10 (one output per class in CIFAR-10)
  - Dropout(0.5): randomly zero out 50% of neurons during training to prevent overfitting.
• Right panel — the training recipe:
  - Loss: CrossEntropyLoss. Combines softmax + negative log likelihood in one step.
  - Optimizer: Adam. Better than vanilla SGD — adapts learning rate per parameter.
  - Training loop: 5 mandatory lines every batch. These are muscle memory — students will write them hundreds of times.
• Practical note: 'In the notebook, this model trains to about 75% accuracy on CIFAR-10 in 10 epochs. With data augmentation and more epochs, you can push to 85%+.'</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 LEARNING
This is often the most exciting slide for students — it shows they can build state-of-the-art models with minimal data and effort.
Key teaching points:
• Start with the motivation:
  'Training a CNN from scratch needs hundreds of thousands of images and days of GPU time. But what if you only have 500 photos? Transfer learning solves this.'
• The core idea:
  'ResNet-18 was trained on ImageNet — 1.2 million images across 1,000 categories. It already knows how to detect edges, textures, shapes, and object parts. We just borrow those skills and retrain only the final classification layer for OUR specific task.'
• Walk through the 5-step pipeline:
  1. Take pretrained ResNet-18 (already has millions of learned weights)
  2. Freeze all layers: model.requires_grad_(False) — we won't change the feature extractor
  3. Replace the last layer: model.fc = nn.Linear(512, N_CLASSES) — new head for our task
  4. Train only the new head: only the new linear layer updates
  5. Achieve 80-90%+ accuracy with just hundreds of training images!
• Comparison (left vs right cards):
  From scratch: needs millions of images, days of training, high overfitting risk.
  Transfer learning: works with hundreds of images, minutes to fine-tune, excellent generalisation.
• Real example: 'Medical AI systems that detect tumours from X-rays often use ResNet or VGG pretrained on ImageNet — even though ImageNet has no medical images. The general visual features transfer perfectly.'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SLIDE
Use this to consolidate everything before the exercises or questions.
Say: 'Let us recap the full journey we have taken today.'
Part 1 — Machine Learning:
• ML = teaching computers by showing them examples instead of writing rules.
• 3 types: supervised (labeled data), unsupervised (find patterns), reinforcement (reward signal).
• Linear Regression: fit a line to predict continuous values. Loss = MSE. Learn by gradient descent.
• Logistic Regression: predict probability using sigmoid. Loss = cross-entropy.
• KNN: vote among K nearest neighbours. No training phase.
• scikit-learn: one API for all models — .fit(), .predict(), .score().
• Overfitting: great training accuracy, poor test accuracy. The #1 practical danger.
Part 2 — Deep Learning:
• Neural Networks: stacked layers of neurons. Each layer learns more abstract features.
• Activation functions: ReLU for hidden layers — fast, avoids vanishing gradients.
• Backpropagation: chain rule computes ∂L/∂W for every weight. PyTorch does it automatically.
• CNNs: convolutional filters detect spatial features. Much more efficient than dense layers on images.
• Convolution: small filter slides over image, detecting patterns at every position.
• PyTorch: nn.Module, loss.backward(), optimizer.step() — the training loop.
• Transfer Learning: reuse pretrained weights, retrain only the classification head.
Message to end on: 'You now understand the foundations that power every modern AI system. The concepts do not change — only the scale.'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NEXT — Session Closing
Use this slide to inspire and point students toward their next learning steps.
Briefly describe each topic:
• Object Detection (blue): 'Instead of just classifying the whole image, detect WHERE each object is and draw a bounding box around it. YOLO (You Only Look Once) can do this in real-time at 60 fps. Used in self-driving cars, security cameras, sports analytics.'
• Semantic Segmentation (purple): 'Label every single pixel — this pixel is sky, this is road, this is pedestrian. Critical for autonomous driving and medical imaging.'
• GANs — Generative Adversarial Networks (orange): 'Two networks compete: a Generator tries to create realistic fake images, a Discriminator tries to spot the fakes. They push each other to get better. Result: photorealistic synthetic images. This is the basis of deepfakes and image generation.'
• Vision Transformers (teal): 'The latest approach — instead of CNNs, use the attention mechanism from language models. ViT (Vision Transformer) is now beating CNNs on many benchmarks. This is where research is heading.'
• Real-Time Inference (green): 'The most immediately satisfying project — run your trained model on a live webcam feed and see it classify objects in real-time. This is in the notebook exercises!'
Close with the yellow quote: 'The only way to truly learn ML is to code it. Open a notebook, pick a dataset, and build something. You have all the foundations now.'</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58A6FF"/>
          </a:solidFill>
          <a:ln w="12700">
            <a:solidFill>
              <a:srgbClr val="58A6FF"/>
            </a:solidFill>
            <a:prstDash val="solid"/>
          </a:ln>
        </p:spPr>
        <p:txBody>
          <a:bodyPr/>
          <a:lstStyle/>
          <a:p>
            <a:endParaRPr lang="fr-FR"/>
          </a:p>
        </p:txBody>
      </p:sp>
      <p:sp>
        <p:nvSpPr>
          <p:cNvPr id="3" name="Shape 1"/>
          <p:cNvSpPr/>
          <p:nvPr/>
        </p:nvSpPr>
        <p:spPr>
          <a:xfrm>
            <a:off x="228600" y="0"/>
            <a:ext cx="109728" cy="5143500"/>
          </a:xfrm>
          <a:prstGeom prst="rect">
            <a:avLst/>
          </a:prstGeom>
          <a:solidFill>
            <a:srgbClr val="BC8CFF"/>
          </a:solidFill>
          <a:ln w="12700">
            <a:solidFill>
              <a:srgbClr val="BC8CFF"/>
            </a:solidFill>
            <a:prstDash val="solid"/>
          </a:ln>
        </p:spPr>
        <p:txBody>
          <a:bodyPr/>
          <a:lstStyle/>
          <a:p>
            <a:endParaRPr lang="fr-FR"/>
          </a:p>
        </p:txBody>
      </p:sp>
      <p:sp>
        <p:nvSpPr>
          <p:cNvPr id="4" name="Shape 2"/>
          <p:cNvSpPr/>
          <p:nvPr/>
        </p:nvSpPr>
        <p:spPr>
          <a:xfrm>
            <a:off x="7333488" y="749808"/>
            <a:ext cx="329184" cy="329184"/>
          </a:xfrm>
          <a:prstGeom prst="ellipse">
            <a:avLst/>
          </a:prstGeom>
          <a:solidFill>
            <a:srgbClr val="21262D"/>
          </a:solidFill>
          <a:ln w="12700">
            <a:solidFill>
              <a:srgbClr val="58A6FF"/>
            </a:solidFill>
            <a:prstDash val="solid"/>
          </a:ln>
        </p:spPr>
        <p:txBody>
          <a:bodyPr/>
          <a:lstStyle/>
          <a:p>
            <a:endParaRPr lang="fr-FR"/>
          </a:p>
        </p:txBody>
      </p:sp>
      <p:sp>
        <p:nvSpPr>
          <p:cNvPr id="5" name="Shape 3"/>
          <p:cNvSpPr/>
          <p:nvPr/>
        </p:nvSpPr>
        <p:spPr>
          <a:xfrm>
            <a:off x="7333488" y="1755648"/>
            <a:ext cx="329184" cy="329184"/>
          </a:xfrm>
          <a:prstGeom prst="ellipse">
            <a:avLst/>
          </a:prstGeom>
          <a:solidFill>
            <a:srgbClr val="21262D"/>
          </a:solidFill>
          <a:ln w="12700">
            <a:solidFill>
              <a:srgbClr val="58A6FF"/>
            </a:solidFill>
            <a:prstDash val="solid"/>
          </a:ln>
        </p:spPr>
        <p:txBody>
          <a:bodyPr/>
          <a:lstStyle/>
          <a:p>
            <a:endParaRPr lang="fr-FR"/>
          </a:p>
        </p:txBody>
      </p:sp>
      <p:sp>
        <p:nvSpPr>
          <p:cNvPr id="6" name="Shape 4"/>
          <p:cNvSpPr/>
          <p:nvPr/>
        </p:nvSpPr>
        <p:spPr>
          <a:xfrm>
            <a:off x="7333488" y="2761488"/>
            <a:ext cx="329184" cy="329184"/>
          </a:xfrm>
          <a:prstGeom prst="ellipse">
            <a:avLst/>
          </a:prstGeom>
          <a:solidFill>
            <a:srgbClr val="21262D"/>
          </a:solidFill>
          <a:ln w="12700">
            <a:solidFill>
              <a:srgbClr val="58A6FF"/>
            </a:solidFill>
            <a:prstDash val="solid"/>
          </a:ln>
        </p:spPr>
        <p:txBody>
          <a:bodyPr/>
          <a:lstStyle/>
          <a:p>
            <a:endParaRPr lang="fr-FR"/>
          </a:p>
        </p:txBody>
      </p:sp>
      <p:sp>
        <p:nvSpPr>
          <p:cNvPr id="7" name="Shape 5"/>
          <p:cNvSpPr/>
          <p:nvPr/>
        </p:nvSpPr>
        <p:spPr>
          <a:xfrm>
            <a:off x="7333488" y="3767328"/>
            <a:ext cx="329184" cy="329184"/>
          </a:xfrm>
          <a:prstGeom prst="ellipse">
            <a:avLst/>
          </a:prstGeom>
          <a:solidFill>
            <a:srgbClr val="21262D"/>
          </a:solidFill>
          <a:ln w="12700">
            <a:solidFill>
              <a:srgbClr val="58A6FF"/>
            </a:solidFill>
            <a:prstDash val="solid"/>
          </a:ln>
        </p:spPr>
        <p:txBody>
          <a:bodyPr/>
          <a:lstStyle/>
          <a:p>
            <a:endParaRPr lang="fr-FR"/>
          </a:p>
        </p:txBody>
      </p:sp>
      <p:sp>
        <p:nvSpPr>
          <p:cNvPr id="8" name="Shape 6"/>
          <p:cNvSpPr/>
          <p:nvPr/>
        </p:nvSpPr>
        <p:spPr>
          <a:xfrm>
            <a:off x="8065008" y="1207008"/>
            <a:ext cx="329184" cy="329184"/>
          </a:xfrm>
          <a:prstGeom prst="ellipse">
            <a:avLst/>
          </a:prstGeom>
          <a:solidFill>
            <a:srgbClr val="21262D"/>
          </a:solidFill>
          <a:ln w="12700">
            <a:solidFill>
              <a:srgbClr val="58A6FF"/>
            </a:solidFill>
            <a:prstDash val="solid"/>
          </a:ln>
        </p:spPr>
        <p:txBody>
          <a:bodyPr/>
          <a:lstStyle/>
          <a:p>
            <a:endParaRPr lang="fr-FR"/>
          </a:p>
        </p:txBody>
      </p:sp>
      <p:sp>
        <p:nvSpPr>
          <p:cNvPr id="9" name="Shape 7"/>
          <p:cNvSpPr/>
          <p:nvPr/>
        </p:nvSpPr>
        <p:spPr>
          <a:xfrm>
            <a:off x="8065008" y="2121408"/>
            <a:ext cx="329184" cy="329184"/>
          </a:xfrm>
          <a:prstGeom prst="ellipse">
            <a:avLst/>
          </a:prstGeom>
          <a:solidFill>
            <a:srgbClr val="21262D"/>
          </a:solidFill>
          <a:ln w="12700">
            <a:solidFill>
              <a:srgbClr val="58A6FF"/>
            </a:solidFill>
            <a:prstDash val="solid"/>
          </a:ln>
        </p:spPr>
        <p:txBody>
          <a:bodyPr/>
          <a:lstStyle/>
          <a:p>
            <a:endParaRPr lang="fr-FR"/>
          </a:p>
        </p:txBody>
      </p:sp>
      <p:sp>
        <p:nvSpPr>
          <p:cNvPr id="10" name="Shape 8"/>
          <p:cNvSpPr/>
          <p:nvPr/>
        </p:nvSpPr>
        <p:spPr>
          <a:xfrm>
            <a:off x="8065008" y="3035808"/>
            <a:ext cx="329184" cy="329184"/>
          </a:xfrm>
          <a:prstGeom prst="ellipse">
            <a:avLst/>
          </a:prstGeom>
          <a:solidFill>
            <a:srgbClr val="21262D"/>
          </a:solidFill>
          <a:ln w="12700">
            <a:solidFill>
              <a:srgbClr val="58A6FF"/>
            </a:solidFill>
            <a:prstDash val="solid"/>
          </a:ln>
        </p:spPr>
        <p:txBody>
          <a:bodyPr/>
          <a:lstStyle/>
          <a:p>
            <a:endParaRPr lang="fr-FR"/>
          </a:p>
        </p:txBody>
      </p:sp>
      <p:sp>
        <p:nvSpPr>
          <p:cNvPr id="11" name="Shape 9"/>
          <p:cNvSpPr/>
          <p:nvPr/>
        </p:nvSpPr>
        <p:spPr>
          <a:xfrm>
            <a:off x="8705088" y="1664208"/>
            <a:ext cx="329184" cy="329184"/>
          </a:xfrm>
          <a:prstGeom prst="ellipse">
            <a:avLst/>
          </a:prstGeom>
          <a:solidFill>
            <a:srgbClr val="21262D"/>
          </a:solidFill>
          <a:ln w="12700">
            <a:solidFill>
              <a:srgbClr val="58A6FF"/>
            </a:solidFill>
            <a:prstDash val="solid"/>
          </a:ln>
        </p:spPr>
        <p:txBody>
          <a:bodyPr/>
          <a:lstStyle/>
          <a:p>
            <a:endParaRPr lang="fr-FR"/>
          </a:p>
        </p:txBody>
      </p:sp>
      <p:sp>
        <p:nvSpPr>
          <p:cNvPr id="12" name="Shape 10"/>
          <p:cNvSpPr/>
          <p:nvPr/>
        </p:nvSpPr>
        <p:spPr>
          <a:xfrm>
            <a:off x="8705088" y="2578608"/>
            <a:ext cx="329184" cy="329184"/>
          </a:xfrm>
          <a:prstGeom prst="ellipse">
            <a:avLst/>
          </a:prstGeom>
          <a:solidFill>
            <a:srgbClr val="21262D"/>
          </a:solidFill>
          <a:ln w="12700">
            <a:solidFill>
              <a:srgbClr val="58A6FF"/>
            </a:solidFill>
            <a:prstDash val="solid"/>
          </a:ln>
        </p:spPr>
        <p:txBody>
          <a:bodyPr/>
          <a:lstStyle/>
          <a:p>
            <a:endParaRPr lang="fr-FR"/>
          </a:p>
        </p:txBody>
      </p:sp>
      <p:sp>
        <p:nvSpPr>
          <p:cNvPr id="13" name="Text 11"/>
          <p:cNvSpPr/>
          <p:nvPr/>
        </p:nvSpPr>
        <p:spPr>
          <a:xfrm>
            <a:off x="548640" y="640080"/>
            <a:ext cx="6858000" cy="777240"/>
          </a:xfrm>
          <a:prstGeom prst="rect">
            <a:avLst/>
          </a:prstGeom>
          <a:noFill/>
          <a:ln/>
        </p:spPr>
        <p:txBody>
          <a:bodyPr wrap="square" lIns="0" tIns="0" rIns="0" bIns="0" rtlCol="0" anchor="ctr"/>
          <a:lstStyle/>
          <a:p>
            <a:pPr marL="0" indent="0" algn="l">
              <a:buNone/>
            </a:pPr>
            <a:r>
              <a:rPr lang="en-US" sz="4200" b="1" dirty="0">
                <a:solidFill>
                  <a:srgbClr val="58A6FF"/>
                </a:solidFill>
              </a:rPr>
              <a:t>Machine Learning</a:t>
            </a:r>
            <a:endParaRPr lang="en-US" sz="4200" dirty="0"/>
          </a:p>
        </p:txBody>
      </p:sp>
      <p:sp>
        <p:nvSpPr>
          <p:cNvPr id="14" name="Text 12"/>
          <p:cNvSpPr/>
          <p:nvPr/>
        </p:nvSpPr>
        <p:spPr>
          <a:xfrm>
            <a:off x="548640" y="1389888"/>
            <a:ext cx="6858000" cy="777240"/>
          </a:xfrm>
          <a:prstGeom prst="rect">
            <a:avLst/>
          </a:prstGeom>
          <a:noFill/>
          <a:ln/>
        </p:spPr>
        <p:txBody>
          <a:bodyPr wrap="square" lIns="0" tIns="0" rIns="0" bIns="0" rtlCol="0" anchor="ctr"/>
          <a:lstStyle/>
          <a:p>
            <a:pPr marL="0" indent="0" algn="l">
              <a:buNone/>
            </a:pPr>
            <a:r>
              <a:rPr lang="en-US" sz="4200" b="1" dirty="0">
                <a:solidFill>
                  <a:srgbClr val="BC8CFF"/>
                </a:solidFill>
              </a:rPr>
              <a:t>&amp; Deep Learning</a:t>
            </a:r>
            <a:endParaRPr lang="en-US" sz="4200" dirty="0"/>
          </a:p>
        </p:txBody>
      </p:sp>
      <p:sp>
        <p:nvSpPr>
          <p:cNvPr id="15" name="Text 13"/>
          <p:cNvSpPr/>
          <p:nvPr/>
        </p:nvSpPr>
        <p:spPr>
          <a:xfrm>
            <a:off x="548640" y="2212848"/>
            <a:ext cx="6858000" cy="411480"/>
          </a:xfrm>
          <a:prstGeom prst="rect">
            <a:avLst/>
          </a:prstGeom>
          <a:noFill/>
          <a:ln/>
        </p:spPr>
        <p:txBody>
          <a:bodyPr wrap="square" lIns="0" tIns="0" rIns="0" bIns="0" rtlCol="0" anchor="ctr"/>
          <a:lstStyle/>
          <a:p>
            <a:pPr marL="0" indent="0" algn="l">
              <a:buNone/>
            </a:pPr>
            <a:r>
              <a:rPr lang="en-US" sz="1800" i="1" dirty="0">
                <a:solidFill>
                  <a:srgbClr val="8B949E"/>
                </a:solidFill>
              </a:rPr>
              <a:t>From Scratch to Neural Networks</a:t>
            </a:r>
            <a:endParaRPr lang="en-US" sz="1800" dirty="0"/>
          </a:p>
        </p:txBody>
      </p:sp>
      <p:sp>
        <p:nvSpPr>
          <p:cNvPr id="16" name="Shape 14"/>
          <p:cNvSpPr/>
          <p:nvPr/>
        </p:nvSpPr>
        <p:spPr>
          <a:xfrm>
            <a:off x="548640" y="2697480"/>
            <a:ext cx="5029200" cy="0"/>
          </a:xfrm>
          <a:prstGeom prst="line">
            <a:avLst/>
          </a:prstGeom>
          <a:noFill/>
          <a:ln w="19050">
            <a:solidFill>
              <a:srgbClr val="21262D"/>
            </a:solidFill>
            <a:prstDash val="solid"/>
          </a:ln>
        </p:spPr>
        <p:txBody>
          <a:bodyPr/>
          <a:lstStyle/>
          <a:p>
            <a:endParaRPr lang="fr-FR"/>
          </a:p>
        </p:txBody>
      </p:sp>
      <p:sp>
        <p:nvSpPr>
          <p:cNvPr id="17" name="Shape 15"/>
          <p:cNvSpPr/>
          <p:nvPr/>
        </p:nvSpPr>
        <p:spPr>
          <a:xfrm>
            <a:off x="548640" y="2926080"/>
            <a:ext cx="1417320" cy="384048"/>
          </a:xfrm>
          <a:prstGeom prst="roundRect">
            <a:avLst>
              <a:gd name="adj" fmla="val 23810"/>
            </a:avLst>
          </a:prstGeom>
          <a:solidFill>
            <a:srgbClr val="161B22"/>
          </a:solidFill>
          <a:ln w="19050">
            <a:solidFill>
              <a:srgbClr val="58A6FF"/>
            </a:solidFill>
            <a:prstDash val="solid"/>
          </a:ln>
        </p:spPr>
        <p:txBody>
          <a:bodyPr/>
          <a:lstStyle/>
          <a:p>
            <a:endParaRPr lang="fr-FR"/>
          </a:p>
        </p:txBody>
      </p:sp>
      <p:sp>
        <p:nvSpPr>
          <p:cNvPr id="18" name="Text 16"/>
          <p:cNvSpPr/>
          <p:nvPr/>
        </p:nvSpPr>
        <p:spPr>
          <a:xfrm>
            <a:off x="548640" y="2926080"/>
            <a:ext cx="1417320" cy="384048"/>
          </a:xfrm>
          <a:prstGeom prst="rect">
            <a:avLst/>
          </a:prstGeom>
          <a:noFill/>
          <a:ln/>
        </p:spPr>
        <p:txBody>
          <a:bodyPr wrap="square" lIns="0" tIns="0" rIns="0" bIns="0" rtlCol="0" anchor="ctr"/>
          <a:lstStyle/>
          <a:p>
            <a:pPr marL="0" indent="0" algn="ctr">
              <a:buNone/>
            </a:pPr>
            <a:r>
              <a:rPr lang="en-US" sz="1100" b="1" dirty="0">
                <a:solidFill>
                  <a:srgbClr val="58A6FF"/>
                </a:solidFill>
              </a:rPr>
              <a:t>Theory</a:t>
            </a:r>
            <a:endParaRPr lang="en-US" sz="1100" dirty="0"/>
          </a:p>
        </p:txBody>
      </p:sp>
      <p:sp>
        <p:nvSpPr>
          <p:cNvPr id="19" name="Shape 17"/>
          <p:cNvSpPr/>
          <p:nvPr/>
        </p:nvSpPr>
        <p:spPr>
          <a:xfrm>
            <a:off x="2194560" y="2926080"/>
            <a:ext cx="1417320" cy="384048"/>
          </a:xfrm>
          <a:prstGeom prst="roundRect">
            <a:avLst>
              <a:gd name="adj" fmla="val 23810"/>
            </a:avLst>
          </a:prstGeom>
          <a:solidFill>
            <a:srgbClr val="161B22"/>
          </a:solidFill>
          <a:ln w="19050">
            <a:solidFill>
              <a:srgbClr val="3FB950"/>
            </a:solidFill>
            <a:prstDash val="solid"/>
          </a:ln>
        </p:spPr>
        <p:txBody>
          <a:bodyPr/>
          <a:lstStyle/>
          <a:p>
            <a:endParaRPr lang="fr-FR"/>
          </a:p>
        </p:txBody>
      </p:sp>
      <p:sp>
        <p:nvSpPr>
          <p:cNvPr id="20" name="Text 18"/>
          <p:cNvSpPr/>
          <p:nvPr/>
        </p:nvSpPr>
        <p:spPr>
          <a:xfrm>
            <a:off x="2194560" y="2926080"/>
            <a:ext cx="1417320" cy="384048"/>
          </a:xfrm>
          <a:prstGeom prst="rect">
            <a:avLst/>
          </a:prstGeom>
          <a:noFill/>
          <a:ln/>
        </p:spPr>
        <p:txBody>
          <a:bodyPr wrap="square" lIns="0" tIns="0" rIns="0" bIns="0" rtlCol="0" anchor="ctr"/>
          <a:lstStyle/>
          <a:p>
            <a:pPr marL="0" indent="0" algn="ctr">
              <a:buNone/>
            </a:pPr>
            <a:r>
              <a:rPr lang="en-US" sz="1100" b="1" dirty="0">
                <a:solidFill>
                  <a:srgbClr val="3FB950"/>
                </a:solidFill>
              </a:rPr>
              <a:t>Code</a:t>
            </a:r>
            <a:endParaRPr lang="en-US" sz="1100" dirty="0"/>
          </a:p>
        </p:txBody>
      </p:sp>
      <p:sp>
        <p:nvSpPr>
          <p:cNvPr id="21" name="Shape 19"/>
          <p:cNvSpPr/>
          <p:nvPr/>
        </p:nvSpPr>
        <p:spPr>
          <a:xfrm>
            <a:off x="3840480" y="2926080"/>
            <a:ext cx="1417320" cy="384048"/>
          </a:xfrm>
          <a:prstGeom prst="roundRect">
            <a:avLst>
              <a:gd name="adj" fmla="val 23810"/>
            </a:avLst>
          </a:prstGeom>
          <a:solidFill>
            <a:srgbClr val="161B22"/>
          </a:solidFill>
          <a:ln w="19050">
            <a:solidFill>
              <a:srgbClr val="BC8CFF"/>
            </a:solidFill>
            <a:prstDash val="solid"/>
          </a:ln>
        </p:spPr>
        <p:txBody>
          <a:bodyPr/>
          <a:lstStyle/>
          <a:p>
            <a:endParaRPr lang="fr-FR"/>
          </a:p>
        </p:txBody>
      </p:sp>
      <p:sp>
        <p:nvSpPr>
          <p:cNvPr id="22" name="Text 20"/>
          <p:cNvSpPr/>
          <p:nvPr/>
        </p:nvSpPr>
        <p:spPr>
          <a:xfrm>
            <a:off x="3840480" y="2926080"/>
            <a:ext cx="1417320" cy="384048"/>
          </a:xfrm>
          <a:prstGeom prst="rect">
            <a:avLst/>
          </a:prstGeom>
          <a:noFill/>
          <a:ln/>
        </p:spPr>
        <p:txBody>
          <a:bodyPr wrap="square" lIns="0" tIns="0" rIns="0" bIns="0" rtlCol="0" anchor="ctr"/>
          <a:lstStyle/>
          <a:p>
            <a:pPr marL="0" indent="0" algn="ctr">
              <a:buNone/>
            </a:pPr>
            <a:r>
              <a:rPr lang="en-US" sz="1100" b="1" dirty="0">
                <a:solidFill>
                  <a:srgbClr val="BC8CFF"/>
                </a:solidFill>
              </a:rPr>
              <a:t>Math</a:t>
            </a:r>
            <a:endParaRPr lang="en-US" sz="1100" dirty="0"/>
          </a:p>
        </p:txBody>
      </p:sp>
      <p:sp>
        <p:nvSpPr>
          <p:cNvPr id="23" name="Shape 21"/>
          <p:cNvSpPr/>
          <p:nvPr/>
        </p:nvSpPr>
        <p:spPr>
          <a:xfrm>
            <a:off x="5486400" y="2926080"/>
            <a:ext cx="1417320" cy="384048"/>
          </a:xfrm>
          <a:prstGeom prst="roundRect">
            <a:avLst>
              <a:gd name="adj" fmla="val 23810"/>
            </a:avLst>
          </a:prstGeom>
          <a:solidFill>
            <a:srgbClr val="161B22"/>
          </a:solidFill>
          <a:ln w="19050">
            <a:solidFill>
              <a:srgbClr val="F0883E"/>
            </a:solidFill>
            <a:prstDash val="solid"/>
          </a:ln>
        </p:spPr>
        <p:txBody>
          <a:bodyPr/>
          <a:lstStyle/>
          <a:p>
            <a:endParaRPr lang="fr-FR"/>
          </a:p>
        </p:txBody>
      </p:sp>
      <p:sp>
        <p:nvSpPr>
          <p:cNvPr id="24" name="Text 22"/>
          <p:cNvSpPr/>
          <p:nvPr/>
        </p:nvSpPr>
        <p:spPr>
          <a:xfrm>
            <a:off x="5486400" y="2926080"/>
            <a:ext cx="1417320" cy="384048"/>
          </a:xfrm>
          <a:prstGeom prst="rect">
            <a:avLst/>
          </a:prstGeom>
          <a:noFill/>
          <a:ln/>
        </p:spPr>
        <p:txBody>
          <a:bodyPr wrap="square" lIns="0" tIns="0" rIns="0" bIns="0" rtlCol="0" anchor="ctr"/>
          <a:lstStyle/>
          <a:p>
            <a:pPr marL="0" indent="0" algn="ctr">
              <a:buNone/>
            </a:pPr>
            <a:r>
              <a:rPr lang="en-US" sz="1100" b="1" dirty="0">
                <a:solidFill>
                  <a:srgbClr val="F0883E"/>
                </a:solidFill>
              </a:rPr>
              <a:t>Projects</a:t>
            </a:r>
            <a:endParaRPr lang="en-US" sz="1100" dirty="0"/>
          </a:p>
        </p:txBody>
      </p:sp>
      <p:sp>
        <p:nvSpPr>
          <p:cNvPr id="25" name="Text 23"/>
          <p:cNvSpPr/>
          <p:nvPr/>
        </p:nvSpPr>
        <p:spPr>
          <a:xfrm>
            <a:off x="548640" y="4572000"/>
            <a:ext cx="8046720" cy="274320"/>
          </a:xfrm>
          <a:prstGeom prst="rect">
            <a:avLst/>
          </a:prstGeom>
          <a:noFill/>
          <a:ln/>
        </p:spPr>
        <p:txBody>
          <a:bodyPr wrap="square" lIns="0" tIns="0" rIns="0" bIns="0" rtlCol="0" anchor="ctr"/>
          <a:lstStyle/>
          <a:p>
            <a:pPr marL="0" indent="0" algn="l">
              <a:buNone/>
            </a:pPr>
            <a:r>
              <a:rPr lang="en-US" sz="1000" dirty="0">
                <a:solidFill>
                  <a:srgbClr val="8B949E"/>
                </a:solidFill>
              </a:rPr>
              <a:t>Computer Vision Course — Session 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1B22"/>
          </a:solidFill>
          <a:ln w="12700">
            <a:solidFill>
              <a:srgbClr val="161B22"/>
            </a:solidFill>
            <a:prstDash val="solid"/>
          </a:ln>
        </p:spPr>
        <p:txBody>
          <a:bodyPr/>
          <a:lstStyle/>
          <a:p>
            <a:endParaRPr lang="fr-FR"/>
          </a:p>
        </p:txBody>
      </p:sp>
      <p:sp>
        <p:nvSpPr>
          <p:cNvPr id="3" name="Shape 1"/>
          <p:cNvSpPr/>
          <p:nvPr/>
        </p:nvSpPr>
        <p:spPr>
          <a:xfrm>
            <a:off x="0" y="0"/>
            <a:ext cx="457200" cy="5143500"/>
          </a:xfrm>
          <a:prstGeom prst="rect">
            <a:avLst/>
          </a:prstGeom>
          <a:solidFill>
            <a:srgbClr val="58A6FF"/>
          </a:solidFill>
          <a:ln w="12700">
            <a:solidFill>
              <a:srgbClr val="58A6FF"/>
            </a:solidFill>
            <a:prstDash val="solid"/>
          </a:ln>
        </p:spPr>
        <p:txBody>
          <a:bodyPr/>
          <a:lstStyle/>
          <a:p>
            <a:endParaRPr lang="fr-FR"/>
          </a:p>
        </p:txBody>
      </p:sp>
      <p:sp>
        <p:nvSpPr>
          <p:cNvPr id="4" name="Text 2"/>
          <p:cNvSpPr/>
          <p:nvPr/>
        </p:nvSpPr>
        <p:spPr>
          <a:xfrm>
            <a:off x="731520" y="1280160"/>
            <a:ext cx="7772400" cy="457200"/>
          </a:xfrm>
          <a:prstGeom prst="rect">
            <a:avLst/>
          </a:prstGeom>
          <a:noFill/>
          <a:ln/>
        </p:spPr>
        <p:txBody>
          <a:bodyPr wrap="square" lIns="0" tIns="0" rIns="0" bIns="0" rtlCol="0" anchor="ctr"/>
          <a:lstStyle/>
          <a:p>
            <a:pPr marL="0" indent="0">
              <a:buNone/>
            </a:pPr>
            <a:r>
              <a:rPr lang="en-US" sz="1400" b="1" kern="0" spc="800" dirty="0">
                <a:solidFill>
                  <a:srgbClr val="58A6FF"/>
                </a:solidFill>
              </a:rPr>
              <a:t>PART 1</a:t>
            </a:r>
            <a:endParaRPr lang="en-US" sz="1400" dirty="0"/>
          </a:p>
        </p:txBody>
      </p:sp>
      <p:sp>
        <p:nvSpPr>
          <p:cNvPr id="5" name="Text 3"/>
          <p:cNvSpPr/>
          <p:nvPr/>
        </p:nvSpPr>
        <p:spPr>
          <a:xfrm>
            <a:off x="731520" y="1737360"/>
            <a:ext cx="7772400" cy="1005840"/>
          </a:xfrm>
          <a:prstGeom prst="rect">
            <a:avLst/>
          </a:prstGeom>
          <a:noFill/>
          <a:ln/>
        </p:spPr>
        <p:txBody>
          <a:bodyPr wrap="square" lIns="0" tIns="0" rIns="0" bIns="0" rtlCol="0" anchor="ctr"/>
          <a:lstStyle/>
          <a:p>
            <a:pPr marL="0" indent="0">
              <a:buNone/>
            </a:pPr>
            <a:r>
              <a:rPr lang="en-US" sz="5200" b="1" dirty="0">
                <a:solidFill>
                  <a:srgbClr val="F0F6FC"/>
                </a:solidFill>
              </a:rPr>
              <a:t>Machine Learning</a:t>
            </a:r>
            <a:endParaRPr lang="en-US" sz="5200" dirty="0"/>
          </a:p>
        </p:txBody>
      </p:sp>
      <p:sp>
        <p:nvSpPr>
          <p:cNvPr id="6" name="Text 4"/>
          <p:cNvSpPr/>
          <p:nvPr/>
        </p:nvSpPr>
        <p:spPr>
          <a:xfrm>
            <a:off x="731520" y="2834640"/>
            <a:ext cx="7772400" cy="411480"/>
          </a:xfrm>
          <a:prstGeom prst="rect">
            <a:avLst/>
          </a:prstGeom>
          <a:noFill/>
          <a:ln/>
        </p:spPr>
        <p:txBody>
          <a:bodyPr wrap="square" lIns="0" tIns="0" rIns="0" bIns="0" rtlCol="0" anchor="ctr"/>
          <a:lstStyle/>
          <a:p>
            <a:pPr marL="0" indent="0">
              <a:buNone/>
            </a:pPr>
            <a:r>
              <a:rPr lang="en-US" sz="1600" i="1" dirty="0">
                <a:solidFill>
                  <a:srgbClr val="8B949E"/>
                </a:solidFill>
              </a:rPr>
              <a:t>Theory  ·  Models from Scratch  ·  Python Libraries</a:t>
            </a:r>
            <a:endParaRPr lang="en-US" sz="1600" dirty="0"/>
          </a:p>
        </p:txBody>
      </p:sp>
      <p:sp>
        <p:nvSpPr>
          <p:cNvPr id="7" name="Shape 5"/>
          <p:cNvSpPr/>
          <p:nvPr/>
        </p:nvSpPr>
        <p:spPr>
          <a:xfrm>
            <a:off x="731520" y="3429000"/>
            <a:ext cx="274320" cy="274320"/>
          </a:xfrm>
          <a:prstGeom prst="ellipse">
            <a:avLst/>
          </a:prstGeom>
          <a:solidFill>
            <a:srgbClr val="58A6FF"/>
          </a:solidFill>
          <a:ln w="12700">
            <a:solidFill>
              <a:srgbClr val="58A6FF"/>
            </a:solidFill>
            <a:prstDash val="solid"/>
          </a:ln>
        </p:spPr>
        <p:txBody>
          <a:bodyPr/>
          <a:lstStyle/>
          <a:p>
            <a:endParaRPr lang="fr-FR"/>
          </a:p>
        </p:txBody>
      </p:sp>
      <p:sp>
        <p:nvSpPr>
          <p:cNvPr id="8" name="Shape 6"/>
          <p:cNvSpPr/>
          <p:nvPr/>
        </p:nvSpPr>
        <p:spPr>
          <a:xfrm>
            <a:off x="1143000" y="3429000"/>
            <a:ext cx="274320" cy="274320"/>
          </a:xfrm>
          <a:prstGeom prst="ellipse">
            <a:avLst/>
          </a:prstGeom>
          <a:solidFill>
            <a:srgbClr val="BC8CFF"/>
          </a:solidFill>
          <a:ln w="12700">
            <a:solidFill>
              <a:srgbClr val="BC8CFF"/>
            </a:solidFill>
            <a:prstDash val="solid"/>
          </a:ln>
        </p:spPr>
        <p:txBody>
          <a:bodyPr/>
          <a:lstStyle/>
          <a:p>
            <a:endParaRPr lang="fr-FR"/>
          </a:p>
        </p:txBody>
      </p:sp>
      <p:sp>
        <p:nvSpPr>
          <p:cNvPr id="9" name="Shape 7"/>
          <p:cNvSpPr/>
          <p:nvPr/>
        </p:nvSpPr>
        <p:spPr>
          <a:xfrm>
            <a:off x="1554480" y="3429000"/>
            <a:ext cx="274320" cy="274320"/>
          </a:xfrm>
          <a:prstGeom prst="ellipse">
            <a:avLst/>
          </a:prstGeom>
          <a:solidFill>
            <a:srgbClr val="3FB950"/>
          </a:solidFill>
          <a:ln w="12700">
            <a:solidFill>
              <a:srgbClr val="3FB950"/>
            </a:solidFill>
            <a:prstDash val="solid"/>
          </a:ln>
        </p:spPr>
        <p:txBody>
          <a:bodyPr/>
          <a:lstStyle/>
          <a:p>
            <a:endParaRPr lang="fr-F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58A6FF"/>
          </a:solidFill>
          <a:ln w="12700">
            <a:solidFill>
              <a:srgbClr val="58A6FF"/>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What is Machine Learning?</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58A6FF"/>
                </a:solidFill>
              </a:rPr>
              <a:t>Teaching computers to learn from data</a:t>
            </a:r>
            <a:endParaRPr lang="en-US" sz="1200" dirty="0"/>
          </a:p>
        </p:txBody>
      </p:sp>
      <p:sp>
        <p:nvSpPr>
          <p:cNvPr id="5" name="Shape 3"/>
          <p:cNvSpPr/>
          <p:nvPr/>
        </p:nvSpPr>
        <p:spPr>
          <a:xfrm>
            <a:off x="320040" y="1024128"/>
            <a:ext cx="8503920" cy="0"/>
          </a:xfrm>
          <a:prstGeom prst="line">
            <a:avLst/>
          </a:prstGeom>
          <a:noFill/>
          <a:ln w="12700">
            <a:solidFill>
              <a:srgbClr val="58A6FF"/>
            </a:solidFill>
            <a:prstDash val="solid"/>
          </a:ln>
        </p:spPr>
        <p:txBody>
          <a:bodyPr/>
          <a:lstStyle/>
          <a:p>
            <a:endParaRPr lang="fr-FR"/>
          </a:p>
        </p:txBody>
      </p:sp>
      <p:sp>
        <p:nvSpPr>
          <p:cNvPr id="6" name="Shape 4"/>
          <p:cNvSpPr/>
          <p:nvPr/>
        </p:nvSpPr>
        <p:spPr>
          <a:xfrm>
            <a:off x="320040" y="1188720"/>
            <a:ext cx="3840480" cy="3474720"/>
          </a:xfrm>
          <a:prstGeom prst="rect">
            <a:avLst/>
          </a:prstGeom>
          <a:solidFill>
            <a:srgbClr val="161B22"/>
          </a:solidFill>
          <a:ln w="12700">
            <a:solidFill>
              <a:srgbClr val="8B949E"/>
            </a:solidFill>
            <a:prstDash val="solid"/>
          </a:ln>
          <a:effectLst>
            <a:outerShdw blurRad="127000" dist="38100" dir="8100000" algn="bl" rotWithShape="0">
              <a:srgbClr val="000000">
                <a:alpha val="35000"/>
              </a:srgbClr>
            </a:outerShdw>
          </a:effectLst>
        </p:spPr>
        <p:txBody>
          <a:bodyPr/>
          <a:lstStyle/>
          <a:p>
            <a:endParaRPr lang="fr-FR"/>
          </a:p>
        </p:txBody>
      </p:sp>
      <p:sp>
        <p:nvSpPr>
          <p:cNvPr id="7" name="Shape 5"/>
          <p:cNvSpPr/>
          <p:nvPr/>
        </p:nvSpPr>
        <p:spPr>
          <a:xfrm>
            <a:off x="320040" y="1188720"/>
            <a:ext cx="3840480" cy="384048"/>
          </a:xfrm>
          <a:prstGeom prst="rect">
            <a:avLst/>
          </a:prstGeom>
          <a:solidFill>
            <a:srgbClr val="21262D"/>
          </a:solidFill>
          <a:ln w="12700">
            <a:solidFill>
              <a:srgbClr val="21262D"/>
            </a:solidFill>
            <a:prstDash val="solid"/>
          </a:ln>
        </p:spPr>
        <p:txBody>
          <a:bodyPr/>
          <a:lstStyle/>
          <a:p>
            <a:endParaRPr lang="fr-FR"/>
          </a:p>
        </p:txBody>
      </p:sp>
      <p:sp>
        <p:nvSpPr>
          <p:cNvPr id="8" name="Text 6"/>
          <p:cNvSpPr/>
          <p:nvPr/>
        </p:nvSpPr>
        <p:spPr>
          <a:xfrm>
            <a:off x="411480" y="1207008"/>
            <a:ext cx="3657600" cy="347472"/>
          </a:xfrm>
          <a:prstGeom prst="rect">
            <a:avLst/>
          </a:prstGeom>
          <a:noFill/>
          <a:ln/>
        </p:spPr>
        <p:txBody>
          <a:bodyPr wrap="square" lIns="0" tIns="0" rIns="0" bIns="0" rtlCol="0" anchor="ctr"/>
          <a:lstStyle/>
          <a:p>
            <a:pPr marL="0" indent="0" algn="ctr">
              <a:buNone/>
            </a:pPr>
            <a:r>
              <a:rPr lang="en-US" sz="1200" b="1" dirty="0">
                <a:solidFill>
                  <a:srgbClr val="8B949E"/>
                </a:solidFill>
              </a:rPr>
              <a:t>Traditional Programming</a:t>
            </a:r>
            <a:endParaRPr lang="en-US" sz="1200" dirty="0"/>
          </a:p>
        </p:txBody>
      </p:sp>
      <p:sp>
        <p:nvSpPr>
          <p:cNvPr id="9" name="Shape 7"/>
          <p:cNvSpPr/>
          <p:nvPr/>
        </p:nvSpPr>
        <p:spPr>
          <a:xfrm>
            <a:off x="502920" y="1737360"/>
            <a:ext cx="3474720" cy="548640"/>
          </a:xfrm>
          <a:prstGeom prst="roundRect">
            <a:avLst>
              <a:gd name="adj" fmla="val 13333"/>
            </a:avLst>
          </a:prstGeom>
          <a:solidFill>
            <a:srgbClr val="21262D"/>
          </a:solidFill>
          <a:ln w="25400">
            <a:solidFill>
              <a:srgbClr val="58A6FF"/>
            </a:solidFill>
            <a:prstDash val="solid"/>
          </a:ln>
        </p:spPr>
        <p:txBody>
          <a:bodyPr/>
          <a:lstStyle/>
          <a:p>
            <a:endParaRPr lang="fr-FR"/>
          </a:p>
        </p:txBody>
      </p:sp>
      <p:sp>
        <p:nvSpPr>
          <p:cNvPr id="10" name="Text 8"/>
          <p:cNvSpPr/>
          <p:nvPr/>
        </p:nvSpPr>
        <p:spPr>
          <a:xfrm>
            <a:off x="502920" y="1737360"/>
            <a:ext cx="3474720" cy="548640"/>
          </a:xfrm>
          <a:prstGeom prst="rect">
            <a:avLst/>
          </a:prstGeom>
          <a:noFill/>
          <a:ln/>
        </p:spPr>
        <p:txBody>
          <a:bodyPr wrap="square" lIns="0" tIns="0" rIns="0" bIns="0" rtlCol="0" anchor="ctr"/>
          <a:lstStyle/>
          <a:p>
            <a:pPr marL="0" indent="0" algn="ctr">
              <a:buNone/>
            </a:pPr>
            <a:r>
              <a:rPr lang="en-US" sz="1300" b="1" dirty="0">
                <a:solidFill>
                  <a:srgbClr val="58A6FF"/>
                </a:solidFill>
              </a:rPr>
              <a:t>Input Data</a:t>
            </a:r>
            <a:endParaRPr lang="en-US" sz="1300" dirty="0"/>
          </a:p>
        </p:txBody>
      </p:sp>
      <p:sp>
        <p:nvSpPr>
          <p:cNvPr id="11" name="Shape 9"/>
          <p:cNvSpPr/>
          <p:nvPr/>
        </p:nvSpPr>
        <p:spPr>
          <a:xfrm>
            <a:off x="2240280" y="2286000"/>
            <a:ext cx="0" cy="365760"/>
          </a:xfrm>
          <a:prstGeom prst="line">
            <a:avLst/>
          </a:prstGeom>
          <a:noFill/>
          <a:ln w="25400">
            <a:solidFill>
              <a:srgbClr val="8B949E"/>
            </a:solidFill>
            <a:prstDash val="solid"/>
            <a:tailEnd type="arrow"/>
          </a:ln>
        </p:spPr>
        <p:txBody>
          <a:bodyPr/>
          <a:lstStyle/>
          <a:p>
            <a:endParaRPr lang="fr-FR"/>
          </a:p>
        </p:txBody>
      </p:sp>
      <p:sp>
        <p:nvSpPr>
          <p:cNvPr id="12" name="Shape 10"/>
          <p:cNvSpPr/>
          <p:nvPr/>
        </p:nvSpPr>
        <p:spPr>
          <a:xfrm>
            <a:off x="502920" y="2651760"/>
            <a:ext cx="3474720" cy="548640"/>
          </a:xfrm>
          <a:prstGeom prst="roundRect">
            <a:avLst>
              <a:gd name="adj" fmla="val 13333"/>
            </a:avLst>
          </a:prstGeom>
          <a:solidFill>
            <a:srgbClr val="21262D"/>
          </a:solidFill>
          <a:ln w="25400">
            <a:solidFill>
              <a:srgbClr val="8B949E"/>
            </a:solidFill>
            <a:prstDash val="solid"/>
          </a:ln>
        </p:spPr>
        <p:txBody>
          <a:bodyPr/>
          <a:lstStyle/>
          <a:p>
            <a:endParaRPr lang="fr-FR"/>
          </a:p>
        </p:txBody>
      </p:sp>
      <p:sp>
        <p:nvSpPr>
          <p:cNvPr id="13" name="Text 11"/>
          <p:cNvSpPr/>
          <p:nvPr/>
        </p:nvSpPr>
        <p:spPr>
          <a:xfrm>
            <a:off x="502920" y="2651760"/>
            <a:ext cx="3474720" cy="548640"/>
          </a:xfrm>
          <a:prstGeom prst="rect">
            <a:avLst/>
          </a:prstGeom>
          <a:noFill/>
          <a:ln/>
        </p:spPr>
        <p:txBody>
          <a:bodyPr wrap="square" lIns="0" tIns="0" rIns="0" bIns="0" rtlCol="0" anchor="ctr"/>
          <a:lstStyle/>
          <a:p>
            <a:pPr marL="0" indent="0" algn="ctr">
              <a:buNone/>
            </a:pPr>
            <a:r>
              <a:rPr lang="en-US" sz="1300" b="1" dirty="0">
                <a:solidFill>
                  <a:srgbClr val="8B949E"/>
                </a:solidFill>
              </a:rPr>
              <a:t>Rules  (written by you)</a:t>
            </a:r>
            <a:endParaRPr lang="en-US" sz="1300" dirty="0"/>
          </a:p>
        </p:txBody>
      </p:sp>
      <p:sp>
        <p:nvSpPr>
          <p:cNvPr id="14" name="Shape 12"/>
          <p:cNvSpPr/>
          <p:nvPr/>
        </p:nvSpPr>
        <p:spPr>
          <a:xfrm>
            <a:off x="2240280" y="3200400"/>
            <a:ext cx="0" cy="365760"/>
          </a:xfrm>
          <a:prstGeom prst="line">
            <a:avLst/>
          </a:prstGeom>
          <a:noFill/>
          <a:ln w="25400">
            <a:solidFill>
              <a:srgbClr val="8B949E"/>
            </a:solidFill>
            <a:prstDash val="solid"/>
            <a:tailEnd type="arrow"/>
          </a:ln>
        </p:spPr>
        <p:txBody>
          <a:bodyPr/>
          <a:lstStyle/>
          <a:p>
            <a:endParaRPr lang="fr-FR"/>
          </a:p>
        </p:txBody>
      </p:sp>
      <p:sp>
        <p:nvSpPr>
          <p:cNvPr id="15" name="Shape 13"/>
          <p:cNvSpPr/>
          <p:nvPr/>
        </p:nvSpPr>
        <p:spPr>
          <a:xfrm>
            <a:off x="502920" y="3566160"/>
            <a:ext cx="3474720" cy="548640"/>
          </a:xfrm>
          <a:prstGeom prst="roundRect">
            <a:avLst>
              <a:gd name="adj" fmla="val 13333"/>
            </a:avLst>
          </a:prstGeom>
          <a:solidFill>
            <a:srgbClr val="21262D"/>
          </a:solidFill>
          <a:ln w="25400">
            <a:solidFill>
              <a:srgbClr val="3FB950"/>
            </a:solidFill>
            <a:prstDash val="solid"/>
          </a:ln>
        </p:spPr>
        <p:txBody>
          <a:bodyPr/>
          <a:lstStyle/>
          <a:p>
            <a:endParaRPr lang="fr-FR"/>
          </a:p>
        </p:txBody>
      </p:sp>
      <p:sp>
        <p:nvSpPr>
          <p:cNvPr id="16" name="Text 14"/>
          <p:cNvSpPr/>
          <p:nvPr/>
        </p:nvSpPr>
        <p:spPr>
          <a:xfrm>
            <a:off x="502920" y="3566160"/>
            <a:ext cx="3474720" cy="548640"/>
          </a:xfrm>
          <a:prstGeom prst="rect">
            <a:avLst/>
          </a:prstGeom>
          <a:noFill/>
          <a:ln/>
        </p:spPr>
        <p:txBody>
          <a:bodyPr wrap="square" lIns="0" tIns="0" rIns="0" bIns="0" rtlCol="0" anchor="ctr"/>
          <a:lstStyle/>
          <a:p>
            <a:pPr marL="0" indent="0" algn="ctr">
              <a:buNone/>
            </a:pPr>
            <a:r>
              <a:rPr lang="en-US" sz="1300" b="1" dirty="0">
                <a:solidFill>
                  <a:srgbClr val="3FB950"/>
                </a:solidFill>
              </a:rPr>
              <a:t>Output</a:t>
            </a:r>
            <a:endParaRPr lang="en-US" sz="1300" dirty="0"/>
          </a:p>
        </p:txBody>
      </p:sp>
      <p:sp>
        <p:nvSpPr>
          <p:cNvPr id="17" name="Shape 15"/>
          <p:cNvSpPr/>
          <p:nvPr/>
        </p:nvSpPr>
        <p:spPr>
          <a:xfrm>
            <a:off x="4983480" y="1188720"/>
            <a:ext cx="3840480" cy="3474720"/>
          </a:xfrm>
          <a:prstGeom prst="rect">
            <a:avLst/>
          </a:prstGeom>
          <a:solidFill>
            <a:srgbClr val="161B22"/>
          </a:solidFill>
          <a:ln w="1905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18" name="Shape 16"/>
          <p:cNvSpPr/>
          <p:nvPr/>
        </p:nvSpPr>
        <p:spPr>
          <a:xfrm>
            <a:off x="4983480" y="1188720"/>
            <a:ext cx="3840480" cy="384048"/>
          </a:xfrm>
          <a:prstGeom prst="rect">
            <a:avLst/>
          </a:prstGeom>
          <a:solidFill>
            <a:srgbClr val="58A6FF"/>
          </a:solidFill>
          <a:ln w="12700">
            <a:solidFill>
              <a:srgbClr val="58A6FF"/>
            </a:solidFill>
            <a:prstDash val="solid"/>
          </a:ln>
        </p:spPr>
        <p:txBody>
          <a:bodyPr/>
          <a:lstStyle/>
          <a:p>
            <a:endParaRPr lang="fr-FR"/>
          </a:p>
        </p:txBody>
      </p:sp>
      <p:sp>
        <p:nvSpPr>
          <p:cNvPr id="19" name="Text 17"/>
          <p:cNvSpPr/>
          <p:nvPr/>
        </p:nvSpPr>
        <p:spPr>
          <a:xfrm>
            <a:off x="5074920" y="1207008"/>
            <a:ext cx="3657600" cy="347472"/>
          </a:xfrm>
          <a:prstGeom prst="rect">
            <a:avLst/>
          </a:prstGeom>
          <a:noFill/>
          <a:ln/>
        </p:spPr>
        <p:txBody>
          <a:bodyPr wrap="square" lIns="0" tIns="0" rIns="0" bIns="0" rtlCol="0" anchor="ctr"/>
          <a:lstStyle/>
          <a:p>
            <a:pPr marL="0" indent="0" algn="ctr">
              <a:buNone/>
            </a:pPr>
            <a:r>
              <a:rPr lang="en-US" sz="1200" b="1" dirty="0">
                <a:solidFill>
                  <a:srgbClr val="F0F6FC"/>
                </a:solidFill>
              </a:rPr>
              <a:t>Machine Learning</a:t>
            </a:r>
            <a:endParaRPr lang="en-US" sz="1200" dirty="0"/>
          </a:p>
        </p:txBody>
      </p:sp>
      <p:sp>
        <p:nvSpPr>
          <p:cNvPr id="20" name="Shape 18"/>
          <p:cNvSpPr/>
          <p:nvPr/>
        </p:nvSpPr>
        <p:spPr>
          <a:xfrm>
            <a:off x="5166360" y="1737360"/>
            <a:ext cx="3474720" cy="548640"/>
          </a:xfrm>
          <a:prstGeom prst="roundRect">
            <a:avLst>
              <a:gd name="adj" fmla="val 13333"/>
            </a:avLst>
          </a:prstGeom>
          <a:solidFill>
            <a:srgbClr val="21262D"/>
          </a:solidFill>
          <a:ln w="25400">
            <a:solidFill>
              <a:srgbClr val="58A6FF"/>
            </a:solidFill>
            <a:prstDash val="solid"/>
          </a:ln>
        </p:spPr>
        <p:txBody>
          <a:bodyPr/>
          <a:lstStyle/>
          <a:p>
            <a:endParaRPr lang="fr-FR"/>
          </a:p>
        </p:txBody>
      </p:sp>
      <p:sp>
        <p:nvSpPr>
          <p:cNvPr id="21" name="Text 19"/>
          <p:cNvSpPr/>
          <p:nvPr/>
        </p:nvSpPr>
        <p:spPr>
          <a:xfrm>
            <a:off x="5166360" y="1737360"/>
            <a:ext cx="3474720" cy="548640"/>
          </a:xfrm>
          <a:prstGeom prst="rect">
            <a:avLst/>
          </a:prstGeom>
          <a:noFill/>
          <a:ln/>
        </p:spPr>
        <p:txBody>
          <a:bodyPr wrap="square" lIns="0" tIns="0" rIns="0" bIns="0" rtlCol="0" anchor="ctr"/>
          <a:lstStyle/>
          <a:p>
            <a:pPr marL="0" indent="0" algn="ctr">
              <a:buNone/>
            </a:pPr>
            <a:r>
              <a:rPr lang="en-US" sz="1300" b="1" dirty="0">
                <a:solidFill>
                  <a:srgbClr val="58A6FF"/>
                </a:solidFill>
              </a:rPr>
              <a:t>Input Data</a:t>
            </a:r>
            <a:endParaRPr lang="en-US" sz="1300" dirty="0"/>
          </a:p>
        </p:txBody>
      </p:sp>
      <p:sp>
        <p:nvSpPr>
          <p:cNvPr id="22" name="Shape 20"/>
          <p:cNvSpPr/>
          <p:nvPr/>
        </p:nvSpPr>
        <p:spPr>
          <a:xfrm>
            <a:off x="6903720" y="2286000"/>
            <a:ext cx="0" cy="365760"/>
          </a:xfrm>
          <a:prstGeom prst="line">
            <a:avLst/>
          </a:prstGeom>
          <a:noFill/>
          <a:ln w="25400">
            <a:solidFill>
              <a:srgbClr val="58A6FF"/>
            </a:solidFill>
            <a:prstDash val="solid"/>
            <a:tailEnd type="arrow"/>
          </a:ln>
        </p:spPr>
        <p:txBody>
          <a:bodyPr/>
          <a:lstStyle/>
          <a:p>
            <a:endParaRPr lang="fr-FR"/>
          </a:p>
        </p:txBody>
      </p:sp>
      <p:sp>
        <p:nvSpPr>
          <p:cNvPr id="23" name="Shape 21"/>
          <p:cNvSpPr/>
          <p:nvPr/>
        </p:nvSpPr>
        <p:spPr>
          <a:xfrm>
            <a:off x="5166360" y="2651760"/>
            <a:ext cx="3474720" cy="548640"/>
          </a:xfrm>
          <a:prstGeom prst="roundRect">
            <a:avLst>
              <a:gd name="adj" fmla="val 13333"/>
            </a:avLst>
          </a:prstGeom>
          <a:solidFill>
            <a:srgbClr val="21262D"/>
          </a:solidFill>
          <a:ln w="25400">
            <a:solidFill>
              <a:srgbClr val="E3B341"/>
            </a:solidFill>
            <a:prstDash val="solid"/>
          </a:ln>
        </p:spPr>
        <p:txBody>
          <a:bodyPr/>
          <a:lstStyle/>
          <a:p>
            <a:endParaRPr lang="fr-FR"/>
          </a:p>
        </p:txBody>
      </p:sp>
      <p:sp>
        <p:nvSpPr>
          <p:cNvPr id="24" name="Text 22"/>
          <p:cNvSpPr/>
          <p:nvPr/>
        </p:nvSpPr>
        <p:spPr>
          <a:xfrm>
            <a:off x="5166360" y="2651760"/>
            <a:ext cx="3474720" cy="548640"/>
          </a:xfrm>
          <a:prstGeom prst="rect">
            <a:avLst/>
          </a:prstGeom>
          <a:noFill/>
          <a:ln/>
        </p:spPr>
        <p:txBody>
          <a:bodyPr wrap="square" lIns="0" tIns="0" rIns="0" bIns="0" rtlCol="0" anchor="ctr"/>
          <a:lstStyle/>
          <a:p>
            <a:pPr marL="0" indent="0" algn="ctr">
              <a:buNone/>
            </a:pPr>
            <a:r>
              <a:rPr lang="en-US" sz="1300" b="1" dirty="0">
                <a:solidFill>
                  <a:srgbClr val="E3B341"/>
                </a:solidFill>
              </a:rPr>
              <a:t>Output Data  (labeled answers)</a:t>
            </a:r>
            <a:endParaRPr lang="en-US" sz="1300" dirty="0"/>
          </a:p>
        </p:txBody>
      </p:sp>
      <p:sp>
        <p:nvSpPr>
          <p:cNvPr id="25" name="Shape 23"/>
          <p:cNvSpPr/>
          <p:nvPr/>
        </p:nvSpPr>
        <p:spPr>
          <a:xfrm>
            <a:off x="6903720" y="3200400"/>
            <a:ext cx="0" cy="365760"/>
          </a:xfrm>
          <a:prstGeom prst="line">
            <a:avLst/>
          </a:prstGeom>
          <a:noFill/>
          <a:ln w="25400">
            <a:solidFill>
              <a:srgbClr val="58A6FF"/>
            </a:solidFill>
            <a:prstDash val="solid"/>
            <a:tailEnd type="arrow"/>
          </a:ln>
        </p:spPr>
        <p:txBody>
          <a:bodyPr/>
          <a:lstStyle/>
          <a:p>
            <a:endParaRPr lang="fr-FR"/>
          </a:p>
        </p:txBody>
      </p:sp>
      <p:sp>
        <p:nvSpPr>
          <p:cNvPr id="26" name="Shape 24"/>
          <p:cNvSpPr/>
          <p:nvPr/>
        </p:nvSpPr>
        <p:spPr>
          <a:xfrm>
            <a:off x="5166360" y="3566160"/>
            <a:ext cx="3474720" cy="548640"/>
          </a:xfrm>
          <a:prstGeom prst="roundRect">
            <a:avLst>
              <a:gd name="adj" fmla="val 13333"/>
            </a:avLst>
          </a:prstGeom>
          <a:solidFill>
            <a:srgbClr val="21262D"/>
          </a:solidFill>
          <a:ln w="25400">
            <a:solidFill>
              <a:srgbClr val="3FB950"/>
            </a:solidFill>
            <a:prstDash val="solid"/>
          </a:ln>
        </p:spPr>
        <p:txBody>
          <a:bodyPr/>
          <a:lstStyle/>
          <a:p>
            <a:endParaRPr lang="fr-FR"/>
          </a:p>
        </p:txBody>
      </p:sp>
      <p:sp>
        <p:nvSpPr>
          <p:cNvPr id="27" name="Text 25"/>
          <p:cNvSpPr/>
          <p:nvPr/>
        </p:nvSpPr>
        <p:spPr>
          <a:xfrm>
            <a:off x="5166360" y="3566160"/>
            <a:ext cx="3474720" cy="548640"/>
          </a:xfrm>
          <a:prstGeom prst="rect">
            <a:avLst/>
          </a:prstGeom>
          <a:noFill/>
          <a:ln/>
        </p:spPr>
        <p:txBody>
          <a:bodyPr wrap="square" lIns="0" tIns="0" rIns="0" bIns="0" rtlCol="0" anchor="ctr"/>
          <a:lstStyle/>
          <a:p>
            <a:pPr marL="0" indent="0" algn="ctr">
              <a:buNone/>
            </a:pPr>
            <a:r>
              <a:rPr lang="en-US" sz="1300" b="1" dirty="0">
                <a:solidFill>
                  <a:srgbClr val="3FB950"/>
                </a:solidFill>
              </a:rPr>
              <a:t>Model  (learned rules)</a:t>
            </a:r>
            <a:endParaRPr lang="en-US" sz="1300" dirty="0"/>
          </a:p>
        </p:txBody>
      </p:sp>
      <p:sp>
        <p:nvSpPr>
          <p:cNvPr id="28" name="Shape 26"/>
          <p:cNvSpPr/>
          <p:nvPr/>
        </p:nvSpPr>
        <p:spPr>
          <a:xfrm>
            <a:off x="4251960" y="2331720"/>
            <a:ext cx="640080" cy="640080"/>
          </a:xfrm>
          <a:prstGeom prst="ellipse">
            <a:avLst/>
          </a:prstGeom>
          <a:solidFill>
            <a:srgbClr val="0D1117"/>
          </a:solidFill>
          <a:ln w="25400">
            <a:solidFill>
              <a:srgbClr val="F0883E"/>
            </a:solidFill>
            <a:prstDash val="solid"/>
          </a:ln>
        </p:spPr>
        <p:txBody>
          <a:bodyPr/>
          <a:lstStyle/>
          <a:p>
            <a:endParaRPr lang="fr-FR"/>
          </a:p>
        </p:txBody>
      </p:sp>
      <p:sp>
        <p:nvSpPr>
          <p:cNvPr id="29" name="Text 27"/>
          <p:cNvSpPr/>
          <p:nvPr/>
        </p:nvSpPr>
        <p:spPr>
          <a:xfrm>
            <a:off x="4251960" y="2331720"/>
            <a:ext cx="640080" cy="640080"/>
          </a:xfrm>
          <a:prstGeom prst="rect">
            <a:avLst/>
          </a:prstGeom>
          <a:noFill/>
          <a:ln/>
        </p:spPr>
        <p:txBody>
          <a:bodyPr wrap="square" lIns="0" tIns="0" rIns="0" bIns="0" rtlCol="0" anchor="ctr"/>
          <a:lstStyle/>
          <a:p>
            <a:pPr marL="0" indent="0" algn="ctr">
              <a:buNone/>
            </a:pPr>
            <a:r>
              <a:rPr lang="en-US" sz="1100" b="1" dirty="0">
                <a:solidFill>
                  <a:srgbClr val="F0883E"/>
                </a:solidFill>
              </a:rPr>
              <a:t>VS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58A6FF"/>
          </a:solidFill>
          <a:ln w="12700">
            <a:solidFill>
              <a:srgbClr val="58A6FF"/>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3 Types of Machine Learning</a:t>
            </a:r>
            <a:endParaRPr lang="en-US" sz="2800" dirty="0"/>
          </a:p>
        </p:txBody>
      </p:sp>
      <p:sp>
        <p:nvSpPr>
          <p:cNvPr id="4" name="Shape 2"/>
          <p:cNvSpPr/>
          <p:nvPr/>
        </p:nvSpPr>
        <p:spPr>
          <a:xfrm>
            <a:off x="320040" y="1024128"/>
            <a:ext cx="8503920" cy="0"/>
          </a:xfrm>
          <a:prstGeom prst="line">
            <a:avLst/>
          </a:prstGeom>
          <a:noFill/>
          <a:ln w="12700">
            <a:solidFill>
              <a:srgbClr val="58A6FF"/>
            </a:solidFill>
            <a:prstDash val="solid"/>
          </a:ln>
        </p:spPr>
        <p:txBody>
          <a:bodyPr/>
          <a:lstStyle/>
          <a:p>
            <a:endParaRPr lang="fr-FR"/>
          </a:p>
        </p:txBody>
      </p:sp>
      <p:sp>
        <p:nvSpPr>
          <p:cNvPr id="5" name="Shape 3"/>
          <p:cNvSpPr/>
          <p:nvPr/>
        </p:nvSpPr>
        <p:spPr>
          <a:xfrm>
            <a:off x="320040" y="1143000"/>
            <a:ext cx="2743200" cy="3657600"/>
          </a:xfrm>
          <a:prstGeom prst="rect">
            <a:avLst/>
          </a:prstGeom>
          <a:solidFill>
            <a:srgbClr val="161B22"/>
          </a:solidFill>
          <a:ln w="1905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6" name="Shape 4"/>
          <p:cNvSpPr/>
          <p:nvPr/>
        </p:nvSpPr>
        <p:spPr>
          <a:xfrm>
            <a:off x="320040" y="1143000"/>
            <a:ext cx="2743200" cy="502920"/>
          </a:xfrm>
          <a:prstGeom prst="rect">
            <a:avLst/>
          </a:prstGeom>
          <a:solidFill>
            <a:srgbClr val="58A6FF"/>
          </a:solidFill>
          <a:ln w="12700">
            <a:solidFill>
              <a:srgbClr val="58A6FF"/>
            </a:solidFill>
            <a:prstDash val="solid"/>
          </a:ln>
        </p:spPr>
        <p:txBody>
          <a:bodyPr/>
          <a:lstStyle/>
          <a:p>
            <a:endParaRPr lang="fr-FR"/>
          </a:p>
        </p:txBody>
      </p:sp>
      <p:sp>
        <p:nvSpPr>
          <p:cNvPr id="7" name="Text 5"/>
          <p:cNvSpPr/>
          <p:nvPr/>
        </p:nvSpPr>
        <p:spPr>
          <a:xfrm>
            <a:off x="411480" y="1143000"/>
            <a:ext cx="2560320" cy="502920"/>
          </a:xfrm>
          <a:prstGeom prst="rect">
            <a:avLst/>
          </a:prstGeom>
          <a:noFill/>
          <a:ln/>
        </p:spPr>
        <p:txBody>
          <a:bodyPr wrap="square" lIns="0" tIns="0" rIns="0" bIns="0" rtlCol="0" anchor="ctr"/>
          <a:lstStyle/>
          <a:p>
            <a:pPr marL="0" indent="0" algn="ctr">
              <a:buNone/>
            </a:pPr>
            <a:r>
              <a:rPr lang="en-US" sz="1100" b="1" dirty="0">
                <a:solidFill>
                  <a:srgbClr val="F0F6FC"/>
                </a:solidFill>
              </a:rPr>
              <a:t>Supervised Learning</a:t>
            </a:r>
            <a:endParaRPr lang="en-US" sz="1100" dirty="0"/>
          </a:p>
        </p:txBody>
      </p:sp>
      <p:sp>
        <p:nvSpPr>
          <p:cNvPr id="8" name="Text 6"/>
          <p:cNvSpPr/>
          <p:nvPr/>
        </p:nvSpPr>
        <p:spPr>
          <a:xfrm>
            <a:off x="1051560" y="1737360"/>
            <a:ext cx="1280160" cy="365760"/>
          </a:xfrm>
          <a:prstGeom prst="rect">
            <a:avLst/>
          </a:prstGeom>
          <a:noFill/>
          <a:ln/>
        </p:spPr>
        <p:txBody>
          <a:bodyPr wrap="square" lIns="0" tIns="0" rIns="0" bIns="0" rtlCol="0" anchor="ctr"/>
          <a:lstStyle/>
          <a:p>
            <a:pPr marL="0" indent="0" algn="ctr">
              <a:buNone/>
            </a:pPr>
            <a:r>
              <a:rPr lang="en-US" sz="1100" b="1" dirty="0">
                <a:solidFill>
                  <a:srgbClr val="58A6FF"/>
                </a:solidFill>
              </a:rPr>
              <a:t>Labeled data</a:t>
            </a:r>
            <a:endParaRPr lang="en-US" sz="1100" dirty="0"/>
          </a:p>
        </p:txBody>
      </p:sp>
      <p:sp>
        <p:nvSpPr>
          <p:cNvPr id="9" name="Text 7"/>
          <p:cNvSpPr/>
          <p:nvPr/>
        </p:nvSpPr>
        <p:spPr>
          <a:xfrm>
            <a:off x="484632" y="2194560"/>
            <a:ext cx="2423160" cy="594360"/>
          </a:xfrm>
          <a:prstGeom prst="rect">
            <a:avLst/>
          </a:prstGeom>
          <a:noFill/>
          <a:ln/>
        </p:spPr>
        <p:txBody>
          <a:bodyPr wrap="square" lIns="0" tIns="0" rIns="0" bIns="0" rtlCol="0" anchor="ctr"/>
          <a:lstStyle/>
          <a:p>
            <a:pPr marL="0" indent="0">
              <a:buNone/>
            </a:pPr>
            <a:r>
              <a:rPr lang="en-US" sz="1100" b="1" dirty="0">
                <a:solidFill>
                  <a:srgbClr val="58A6FF"/>
                </a:solidFill>
              </a:rPr>
              <a:t>▸ </a:t>
            </a:r>
            <a:r>
              <a:rPr lang="en-US" sz="1100" dirty="0">
                <a:solidFill>
                  <a:srgbClr val="F0F6FC"/>
                </a:solidFill>
              </a:rPr>
              <a:t>Labeled training data</a:t>
            </a:r>
            <a:endParaRPr lang="en-US" sz="1100" dirty="0"/>
          </a:p>
        </p:txBody>
      </p:sp>
      <p:sp>
        <p:nvSpPr>
          <p:cNvPr id="10" name="Text 8"/>
          <p:cNvSpPr/>
          <p:nvPr/>
        </p:nvSpPr>
        <p:spPr>
          <a:xfrm>
            <a:off x="484632" y="2852928"/>
            <a:ext cx="2423160" cy="594360"/>
          </a:xfrm>
          <a:prstGeom prst="rect">
            <a:avLst/>
          </a:prstGeom>
          <a:noFill/>
          <a:ln/>
        </p:spPr>
        <p:txBody>
          <a:bodyPr wrap="square" lIns="0" tIns="0" rIns="0" bIns="0" rtlCol="0" anchor="ctr"/>
          <a:lstStyle/>
          <a:p>
            <a:pPr marL="0" indent="0">
              <a:buNone/>
            </a:pPr>
            <a:r>
              <a:rPr lang="en-US" sz="1100" b="1" dirty="0">
                <a:solidFill>
                  <a:srgbClr val="58A6FF"/>
                </a:solidFill>
              </a:rPr>
              <a:t>▸ </a:t>
            </a:r>
            <a:r>
              <a:rPr lang="en-US" sz="1100" dirty="0">
                <a:solidFill>
                  <a:srgbClr val="F0F6FC"/>
                </a:solidFill>
              </a:rPr>
              <a:t>Input + correct answer</a:t>
            </a:r>
            <a:endParaRPr lang="en-US" sz="1100" dirty="0"/>
          </a:p>
        </p:txBody>
      </p:sp>
      <p:sp>
        <p:nvSpPr>
          <p:cNvPr id="11" name="Text 9"/>
          <p:cNvSpPr/>
          <p:nvPr/>
        </p:nvSpPr>
        <p:spPr>
          <a:xfrm>
            <a:off x="484632" y="3511296"/>
            <a:ext cx="2423160" cy="594360"/>
          </a:xfrm>
          <a:prstGeom prst="rect">
            <a:avLst/>
          </a:prstGeom>
          <a:noFill/>
          <a:ln/>
        </p:spPr>
        <p:txBody>
          <a:bodyPr wrap="square" lIns="0" tIns="0" rIns="0" bIns="0" rtlCol="0" anchor="ctr"/>
          <a:lstStyle/>
          <a:p>
            <a:pPr marL="0" indent="0">
              <a:buNone/>
            </a:pPr>
            <a:r>
              <a:rPr lang="en-US" sz="1100" b="1" dirty="0">
                <a:solidFill>
                  <a:srgbClr val="58A6FF"/>
                </a:solidFill>
              </a:rPr>
              <a:t>▸ </a:t>
            </a:r>
            <a:r>
              <a:rPr lang="en-US" sz="1100" dirty="0">
                <a:solidFill>
                  <a:srgbClr val="F0F6FC"/>
                </a:solidFill>
              </a:rPr>
              <a:t>Goal: learn a mapping</a:t>
            </a:r>
            <a:endParaRPr lang="en-US" sz="1100" dirty="0"/>
          </a:p>
        </p:txBody>
      </p:sp>
      <p:sp>
        <p:nvSpPr>
          <p:cNvPr id="12" name="Text 10"/>
          <p:cNvSpPr/>
          <p:nvPr/>
        </p:nvSpPr>
        <p:spPr>
          <a:xfrm>
            <a:off x="484632" y="4169664"/>
            <a:ext cx="2423160" cy="594360"/>
          </a:xfrm>
          <a:prstGeom prst="rect">
            <a:avLst/>
          </a:prstGeom>
          <a:noFill/>
          <a:ln/>
        </p:spPr>
        <p:txBody>
          <a:bodyPr wrap="square" lIns="0" tIns="0" rIns="0" bIns="0" rtlCol="0" anchor="ctr"/>
          <a:lstStyle/>
          <a:p>
            <a:pPr marL="0" indent="0">
              <a:buNone/>
            </a:pPr>
            <a:r>
              <a:rPr lang="en-US" sz="1100" b="1" dirty="0">
                <a:solidFill>
                  <a:srgbClr val="58A6FF"/>
                </a:solidFill>
              </a:rPr>
              <a:t>▸ </a:t>
            </a:r>
            <a:r>
              <a:rPr lang="en-US" sz="1100" dirty="0">
                <a:solidFill>
                  <a:srgbClr val="F0F6FC"/>
                </a:solidFill>
              </a:rPr>
              <a:t>Example: image classification</a:t>
            </a:r>
            <a:endParaRPr lang="en-US" sz="1100" dirty="0"/>
          </a:p>
        </p:txBody>
      </p:sp>
      <p:sp>
        <p:nvSpPr>
          <p:cNvPr id="13" name="Shape 11"/>
          <p:cNvSpPr/>
          <p:nvPr/>
        </p:nvSpPr>
        <p:spPr>
          <a:xfrm>
            <a:off x="3246120" y="1143000"/>
            <a:ext cx="2743200" cy="3657600"/>
          </a:xfrm>
          <a:prstGeom prst="rect">
            <a:avLst/>
          </a:prstGeom>
          <a:solidFill>
            <a:srgbClr val="161B22"/>
          </a:solidFill>
          <a:ln w="1905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14" name="Shape 12"/>
          <p:cNvSpPr/>
          <p:nvPr/>
        </p:nvSpPr>
        <p:spPr>
          <a:xfrm>
            <a:off x="3246120" y="1143000"/>
            <a:ext cx="2743200" cy="502920"/>
          </a:xfrm>
          <a:prstGeom prst="rect">
            <a:avLst/>
          </a:prstGeom>
          <a:solidFill>
            <a:srgbClr val="BC8CFF"/>
          </a:solidFill>
          <a:ln w="12700">
            <a:solidFill>
              <a:srgbClr val="BC8CFF"/>
            </a:solidFill>
            <a:prstDash val="solid"/>
          </a:ln>
        </p:spPr>
        <p:txBody>
          <a:bodyPr/>
          <a:lstStyle/>
          <a:p>
            <a:endParaRPr lang="fr-FR"/>
          </a:p>
        </p:txBody>
      </p:sp>
      <p:sp>
        <p:nvSpPr>
          <p:cNvPr id="15" name="Text 13"/>
          <p:cNvSpPr/>
          <p:nvPr/>
        </p:nvSpPr>
        <p:spPr>
          <a:xfrm>
            <a:off x="3337560" y="1143000"/>
            <a:ext cx="2560320" cy="502920"/>
          </a:xfrm>
          <a:prstGeom prst="rect">
            <a:avLst/>
          </a:prstGeom>
          <a:noFill/>
          <a:ln/>
        </p:spPr>
        <p:txBody>
          <a:bodyPr wrap="square" lIns="0" tIns="0" rIns="0" bIns="0" rtlCol="0" anchor="ctr"/>
          <a:lstStyle/>
          <a:p>
            <a:pPr marL="0" indent="0" algn="ctr">
              <a:buNone/>
            </a:pPr>
            <a:r>
              <a:rPr lang="en-US" sz="1100" b="1" dirty="0">
                <a:solidFill>
                  <a:srgbClr val="F0F6FC"/>
                </a:solidFill>
              </a:rPr>
              <a:t>Unsupervised Learning</a:t>
            </a:r>
            <a:endParaRPr lang="en-US" sz="1100" dirty="0"/>
          </a:p>
        </p:txBody>
      </p:sp>
      <p:sp>
        <p:nvSpPr>
          <p:cNvPr id="16" name="Text 14"/>
          <p:cNvSpPr/>
          <p:nvPr/>
        </p:nvSpPr>
        <p:spPr>
          <a:xfrm>
            <a:off x="3977640" y="1737360"/>
            <a:ext cx="1280160" cy="365760"/>
          </a:xfrm>
          <a:prstGeom prst="rect">
            <a:avLst/>
          </a:prstGeom>
          <a:noFill/>
          <a:ln/>
        </p:spPr>
        <p:txBody>
          <a:bodyPr wrap="square" lIns="0" tIns="0" rIns="0" bIns="0" rtlCol="0" anchor="ctr"/>
          <a:lstStyle/>
          <a:p>
            <a:pPr marL="0" indent="0" algn="ctr">
              <a:buNone/>
            </a:pPr>
            <a:r>
              <a:rPr lang="en-US" sz="1100" b="1" dirty="0">
                <a:solidFill>
                  <a:srgbClr val="BC8CFF"/>
                </a:solidFill>
              </a:rPr>
              <a:t>No labels</a:t>
            </a:r>
            <a:endParaRPr lang="en-US" sz="1100" dirty="0"/>
          </a:p>
        </p:txBody>
      </p:sp>
      <p:sp>
        <p:nvSpPr>
          <p:cNvPr id="17" name="Text 15"/>
          <p:cNvSpPr/>
          <p:nvPr/>
        </p:nvSpPr>
        <p:spPr>
          <a:xfrm>
            <a:off x="3410712" y="2194560"/>
            <a:ext cx="2423160" cy="594360"/>
          </a:xfrm>
          <a:prstGeom prst="rect">
            <a:avLst/>
          </a:prstGeom>
          <a:noFill/>
          <a:ln/>
        </p:spPr>
        <p:txBody>
          <a:bodyPr wrap="square" lIns="0" tIns="0" rIns="0" bIns="0" rtlCol="0" anchor="ctr"/>
          <a:lstStyle/>
          <a:p>
            <a:pPr marL="0" indent="0">
              <a:buNone/>
            </a:pPr>
            <a:r>
              <a:rPr lang="en-US" sz="1100" b="1" dirty="0">
                <a:solidFill>
                  <a:srgbClr val="BC8CFF"/>
                </a:solidFill>
              </a:rPr>
              <a:t>▸ </a:t>
            </a:r>
            <a:r>
              <a:rPr lang="en-US" sz="1100" dirty="0">
                <a:solidFill>
                  <a:srgbClr val="F0F6FC"/>
                </a:solidFill>
              </a:rPr>
              <a:t>No labels provided</a:t>
            </a:r>
            <a:endParaRPr lang="en-US" sz="1100" dirty="0"/>
          </a:p>
        </p:txBody>
      </p:sp>
      <p:sp>
        <p:nvSpPr>
          <p:cNvPr id="18" name="Text 16"/>
          <p:cNvSpPr/>
          <p:nvPr/>
        </p:nvSpPr>
        <p:spPr>
          <a:xfrm>
            <a:off x="3410712" y="2852928"/>
            <a:ext cx="2423160" cy="594360"/>
          </a:xfrm>
          <a:prstGeom prst="rect">
            <a:avLst/>
          </a:prstGeom>
          <a:noFill/>
          <a:ln/>
        </p:spPr>
        <p:txBody>
          <a:bodyPr wrap="square" lIns="0" tIns="0" rIns="0" bIns="0" rtlCol="0" anchor="ctr"/>
          <a:lstStyle/>
          <a:p>
            <a:pPr marL="0" indent="0">
              <a:buNone/>
            </a:pPr>
            <a:r>
              <a:rPr lang="en-US" sz="1100" b="1" dirty="0">
                <a:solidFill>
                  <a:srgbClr val="BC8CFF"/>
                </a:solidFill>
              </a:rPr>
              <a:t>▸ </a:t>
            </a:r>
            <a:r>
              <a:rPr lang="en-US" sz="1100" dirty="0">
                <a:solidFill>
                  <a:srgbClr val="F0F6FC"/>
                </a:solidFill>
              </a:rPr>
              <a:t>Finds hidden patterns</a:t>
            </a:r>
            <a:endParaRPr lang="en-US" sz="1100" dirty="0"/>
          </a:p>
        </p:txBody>
      </p:sp>
      <p:sp>
        <p:nvSpPr>
          <p:cNvPr id="19" name="Text 17"/>
          <p:cNvSpPr/>
          <p:nvPr/>
        </p:nvSpPr>
        <p:spPr>
          <a:xfrm>
            <a:off x="3410712" y="3511296"/>
            <a:ext cx="2423160" cy="594360"/>
          </a:xfrm>
          <a:prstGeom prst="rect">
            <a:avLst/>
          </a:prstGeom>
          <a:noFill/>
          <a:ln/>
        </p:spPr>
        <p:txBody>
          <a:bodyPr wrap="square" lIns="0" tIns="0" rIns="0" bIns="0" rtlCol="0" anchor="ctr"/>
          <a:lstStyle/>
          <a:p>
            <a:pPr marL="0" indent="0">
              <a:buNone/>
            </a:pPr>
            <a:r>
              <a:rPr lang="en-US" sz="1100" b="1" dirty="0">
                <a:solidFill>
                  <a:srgbClr val="BC8CFF"/>
                </a:solidFill>
              </a:rPr>
              <a:t>▸ </a:t>
            </a:r>
            <a:r>
              <a:rPr lang="en-US" sz="1100" dirty="0">
                <a:solidFill>
                  <a:srgbClr val="F0F6FC"/>
                </a:solidFill>
              </a:rPr>
              <a:t>Goal: discover structure</a:t>
            </a:r>
            <a:endParaRPr lang="en-US" sz="1100" dirty="0"/>
          </a:p>
        </p:txBody>
      </p:sp>
      <p:sp>
        <p:nvSpPr>
          <p:cNvPr id="20" name="Text 18"/>
          <p:cNvSpPr/>
          <p:nvPr/>
        </p:nvSpPr>
        <p:spPr>
          <a:xfrm>
            <a:off x="3410712" y="4169664"/>
            <a:ext cx="2423160" cy="594360"/>
          </a:xfrm>
          <a:prstGeom prst="rect">
            <a:avLst/>
          </a:prstGeom>
          <a:noFill/>
          <a:ln/>
        </p:spPr>
        <p:txBody>
          <a:bodyPr wrap="square" lIns="0" tIns="0" rIns="0" bIns="0" rtlCol="0" anchor="ctr"/>
          <a:lstStyle/>
          <a:p>
            <a:pPr marL="0" indent="0">
              <a:buNone/>
            </a:pPr>
            <a:r>
              <a:rPr lang="en-US" sz="1100" b="1" dirty="0">
                <a:solidFill>
                  <a:srgbClr val="BC8CFF"/>
                </a:solidFill>
              </a:rPr>
              <a:t>▸ </a:t>
            </a:r>
            <a:r>
              <a:rPr lang="en-US" sz="1100" dirty="0">
                <a:solidFill>
                  <a:srgbClr val="F0F6FC"/>
                </a:solidFill>
              </a:rPr>
              <a:t>Example: clustering</a:t>
            </a:r>
            <a:endParaRPr lang="en-US" sz="1100" dirty="0"/>
          </a:p>
        </p:txBody>
      </p:sp>
      <p:sp>
        <p:nvSpPr>
          <p:cNvPr id="21" name="Shape 19"/>
          <p:cNvSpPr/>
          <p:nvPr/>
        </p:nvSpPr>
        <p:spPr>
          <a:xfrm>
            <a:off x="6172200" y="1143000"/>
            <a:ext cx="2743200" cy="3657600"/>
          </a:xfrm>
          <a:prstGeom prst="rect">
            <a:avLst/>
          </a:prstGeom>
          <a:solidFill>
            <a:srgbClr val="161B22"/>
          </a:solidFill>
          <a:ln w="19050">
            <a:solidFill>
              <a:srgbClr val="F0883E"/>
            </a:solidFill>
            <a:prstDash val="solid"/>
          </a:ln>
          <a:effectLst>
            <a:outerShdw blurRad="127000" dist="38100" dir="8100000" algn="bl" rotWithShape="0">
              <a:srgbClr val="000000">
                <a:alpha val="35000"/>
              </a:srgbClr>
            </a:outerShdw>
          </a:effectLst>
        </p:spPr>
        <p:txBody>
          <a:bodyPr/>
          <a:lstStyle/>
          <a:p>
            <a:endParaRPr lang="fr-FR"/>
          </a:p>
        </p:txBody>
      </p:sp>
      <p:sp>
        <p:nvSpPr>
          <p:cNvPr id="22" name="Shape 20"/>
          <p:cNvSpPr/>
          <p:nvPr/>
        </p:nvSpPr>
        <p:spPr>
          <a:xfrm>
            <a:off x="6172200" y="1143000"/>
            <a:ext cx="2743200" cy="502920"/>
          </a:xfrm>
          <a:prstGeom prst="rect">
            <a:avLst/>
          </a:prstGeom>
          <a:solidFill>
            <a:srgbClr val="F0883E"/>
          </a:solidFill>
          <a:ln w="12700">
            <a:solidFill>
              <a:srgbClr val="F0883E"/>
            </a:solidFill>
            <a:prstDash val="solid"/>
          </a:ln>
        </p:spPr>
        <p:txBody>
          <a:bodyPr/>
          <a:lstStyle/>
          <a:p>
            <a:endParaRPr lang="fr-FR"/>
          </a:p>
        </p:txBody>
      </p:sp>
      <p:sp>
        <p:nvSpPr>
          <p:cNvPr id="23" name="Text 21"/>
          <p:cNvSpPr/>
          <p:nvPr/>
        </p:nvSpPr>
        <p:spPr>
          <a:xfrm>
            <a:off x="6263640" y="1143000"/>
            <a:ext cx="2560320" cy="502920"/>
          </a:xfrm>
          <a:prstGeom prst="rect">
            <a:avLst/>
          </a:prstGeom>
          <a:noFill/>
          <a:ln/>
        </p:spPr>
        <p:txBody>
          <a:bodyPr wrap="square" lIns="0" tIns="0" rIns="0" bIns="0" rtlCol="0" anchor="ctr"/>
          <a:lstStyle/>
          <a:p>
            <a:pPr marL="0" indent="0" algn="ctr">
              <a:buNone/>
            </a:pPr>
            <a:r>
              <a:rPr lang="en-US" sz="1100" b="1" dirty="0">
                <a:solidFill>
                  <a:srgbClr val="F0F6FC"/>
                </a:solidFill>
              </a:rPr>
              <a:t>Reinforcement Learning</a:t>
            </a:r>
            <a:endParaRPr lang="en-US" sz="1100" dirty="0"/>
          </a:p>
        </p:txBody>
      </p:sp>
      <p:sp>
        <p:nvSpPr>
          <p:cNvPr id="24" name="Text 22"/>
          <p:cNvSpPr/>
          <p:nvPr/>
        </p:nvSpPr>
        <p:spPr>
          <a:xfrm>
            <a:off x="6903720" y="1737360"/>
            <a:ext cx="1280160" cy="365760"/>
          </a:xfrm>
          <a:prstGeom prst="rect">
            <a:avLst/>
          </a:prstGeom>
          <a:noFill/>
          <a:ln/>
        </p:spPr>
        <p:txBody>
          <a:bodyPr wrap="square" lIns="0" tIns="0" rIns="0" bIns="0" rtlCol="0" anchor="ctr"/>
          <a:lstStyle/>
          <a:p>
            <a:pPr marL="0" indent="0" algn="ctr">
              <a:buNone/>
            </a:pPr>
            <a:r>
              <a:rPr lang="en-US" sz="1100" b="1" dirty="0">
                <a:solidFill>
                  <a:srgbClr val="F0883E"/>
                </a:solidFill>
              </a:rPr>
              <a:t>Reward signal</a:t>
            </a:r>
            <a:endParaRPr lang="en-US" sz="1100" dirty="0"/>
          </a:p>
        </p:txBody>
      </p:sp>
      <p:sp>
        <p:nvSpPr>
          <p:cNvPr id="25" name="Text 23"/>
          <p:cNvSpPr/>
          <p:nvPr/>
        </p:nvSpPr>
        <p:spPr>
          <a:xfrm>
            <a:off x="6336792" y="2194560"/>
            <a:ext cx="2423160" cy="594360"/>
          </a:xfrm>
          <a:prstGeom prst="rect">
            <a:avLst/>
          </a:prstGeom>
          <a:noFill/>
          <a:ln/>
        </p:spPr>
        <p:txBody>
          <a:bodyPr wrap="square" lIns="0" tIns="0" rIns="0" bIns="0" rtlCol="0" anchor="ctr"/>
          <a:lstStyle/>
          <a:p>
            <a:pPr marL="0" indent="0">
              <a:buNone/>
            </a:pPr>
            <a:r>
              <a:rPr lang="en-US" sz="1100" b="1" dirty="0">
                <a:solidFill>
                  <a:srgbClr val="F0883E"/>
                </a:solidFill>
              </a:rPr>
              <a:t>▸ </a:t>
            </a:r>
            <a:r>
              <a:rPr lang="en-US" sz="1100" dirty="0">
                <a:solidFill>
                  <a:srgbClr val="F0F6FC"/>
                </a:solidFill>
              </a:rPr>
              <a:t>Agent + Environment</a:t>
            </a:r>
            <a:endParaRPr lang="en-US" sz="1100" dirty="0"/>
          </a:p>
        </p:txBody>
      </p:sp>
      <p:sp>
        <p:nvSpPr>
          <p:cNvPr id="26" name="Text 24"/>
          <p:cNvSpPr/>
          <p:nvPr/>
        </p:nvSpPr>
        <p:spPr>
          <a:xfrm>
            <a:off x="6336792" y="2852928"/>
            <a:ext cx="2423160" cy="594360"/>
          </a:xfrm>
          <a:prstGeom prst="rect">
            <a:avLst/>
          </a:prstGeom>
          <a:noFill/>
          <a:ln/>
        </p:spPr>
        <p:txBody>
          <a:bodyPr wrap="square" lIns="0" tIns="0" rIns="0" bIns="0" rtlCol="0" anchor="ctr"/>
          <a:lstStyle/>
          <a:p>
            <a:pPr marL="0" indent="0">
              <a:buNone/>
            </a:pPr>
            <a:r>
              <a:rPr lang="en-US" sz="1100" b="1" dirty="0">
                <a:solidFill>
                  <a:srgbClr val="F0883E"/>
                </a:solidFill>
              </a:rPr>
              <a:t>▸ </a:t>
            </a:r>
            <a:r>
              <a:rPr lang="en-US" sz="1100" dirty="0">
                <a:solidFill>
                  <a:srgbClr val="F0F6FC"/>
                </a:solidFill>
              </a:rPr>
              <a:t>Reward / Penalty signal</a:t>
            </a:r>
            <a:endParaRPr lang="en-US" sz="1100" dirty="0"/>
          </a:p>
        </p:txBody>
      </p:sp>
      <p:sp>
        <p:nvSpPr>
          <p:cNvPr id="27" name="Text 25"/>
          <p:cNvSpPr/>
          <p:nvPr/>
        </p:nvSpPr>
        <p:spPr>
          <a:xfrm>
            <a:off x="6336792" y="3511296"/>
            <a:ext cx="2423160" cy="594360"/>
          </a:xfrm>
          <a:prstGeom prst="rect">
            <a:avLst/>
          </a:prstGeom>
          <a:noFill/>
          <a:ln/>
        </p:spPr>
        <p:txBody>
          <a:bodyPr wrap="square" lIns="0" tIns="0" rIns="0" bIns="0" rtlCol="0" anchor="ctr"/>
          <a:lstStyle/>
          <a:p>
            <a:pPr marL="0" indent="0">
              <a:buNone/>
            </a:pPr>
            <a:r>
              <a:rPr lang="en-US" sz="1100" b="1" dirty="0">
                <a:solidFill>
                  <a:srgbClr val="F0883E"/>
                </a:solidFill>
              </a:rPr>
              <a:t>▸ </a:t>
            </a:r>
            <a:r>
              <a:rPr lang="en-US" sz="1100" dirty="0">
                <a:solidFill>
                  <a:srgbClr val="F0F6FC"/>
                </a:solidFill>
              </a:rPr>
              <a:t>Goal: maximize reward</a:t>
            </a:r>
            <a:endParaRPr lang="en-US" sz="1100" dirty="0"/>
          </a:p>
        </p:txBody>
      </p:sp>
      <p:sp>
        <p:nvSpPr>
          <p:cNvPr id="28" name="Text 26"/>
          <p:cNvSpPr/>
          <p:nvPr/>
        </p:nvSpPr>
        <p:spPr>
          <a:xfrm>
            <a:off x="6336792" y="4169664"/>
            <a:ext cx="2423160" cy="594360"/>
          </a:xfrm>
          <a:prstGeom prst="rect">
            <a:avLst/>
          </a:prstGeom>
          <a:noFill/>
          <a:ln/>
        </p:spPr>
        <p:txBody>
          <a:bodyPr wrap="square" lIns="0" tIns="0" rIns="0" bIns="0" rtlCol="0" anchor="ctr"/>
          <a:lstStyle/>
          <a:p>
            <a:pPr marL="0" indent="0">
              <a:buNone/>
            </a:pPr>
            <a:r>
              <a:rPr lang="en-US" sz="1100" b="1" dirty="0">
                <a:solidFill>
                  <a:srgbClr val="F0883E"/>
                </a:solidFill>
              </a:rPr>
              <a:t>▸ </a:t>
            </a:r>
            <a:r>
              <a:rPr lang="en-US" sz="1100" dirty="0">
                <a:solidFill>
                  <a:srgbClr val="F0F6FC"/>
                </a:solidFill>
              </a:rPr>
              <a:t>Example: game AI</a:t>
            </a:r>
            <a:endParaRPr lang="en-US" sz="1100" dirty="0"/>
          </a:p>
        </p:txBody>
      </p:sp>
      <p:sp>
        <p:nvSpPr>
          <p:cNvPr id="29" name="Text 27"/>
          <p:cNvSpPr/>
          <p:nvPr/>
        </p:nvSpPr>
        <p:spPr>
          <a:xfrm>
            <a:off x="320040" y="4754880"/>
            <a:ext cx="8503920" cy="274320"/>
          </a:xfrm>
          <a:prstGeom prst="rect">
            <a:avLst/>
          </a:prstGeom>
          <a:noFill/>
          <a:ln/>
        </p:spPr>
        <p:txBody>
          <a:bodyPr wrap="square" lIns="0" tIns="0" rIns="0" bIns="0" rtlCol="0" anchor="ctr"/>
          <a:lstStyle/>
          <a:p>
            <a:pPr marL="0" indent="0" algn="ctr">
              <a:buNone/>
            </a:pPr>
            <a:r>
              <a:rPr lang="en-US" sz="1100" i="1" dirty="0">
                <a:solidFill>
                  <a:srgbClr val="E3B341"/>
                </a:solidFill>
              </a:rPr>
              <a:t>In this course we focus on  Supervised Learning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58A6FF"/>
          </a:solidFill>
          <a:ln w="12700">
            <a:solidFill>
              <a:srgbClr val="58A6FF"/>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Key Vocabulary</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58A6FF"/>
                </a:solidFill>
              </a:rPr>
              <a:t>The building blocks you need to know</a:t>
            </a:r>
            <a:endParaRPr lang="en-US" sz="1200" dirty="0"/>
          </a:p>
        </p:txBody>
      </p:sp>
      <p:sp>
        <p:nvSpPr>
          <p:cNvPr id="5" name="Shape 3"/>
          <p:cNvSpPr/>
          <p:nvPr/>
        </p:nvSpPr>
        <p:spPr>
          <a:xfrm>
            <a:off x="320040" y="1024128"/>
            <a:ext cx="8503920" cy="0"/>
          </a:xfrm>
          <a:prstGeom prst="line">
            <a:avLst/>
          </a:prstGeom>
          <a:noFill/>
          <a:ln w="12700">
            <a:solidFill>
              <a:srgbClr val="58A6FF"/>
            </a:solidFill>
            <a:prstDash val="solid"/>
          </a:ln>
        </p:spPr>
        <p:txBody>
          <a:bodyPr/>
          <a:lstStyle/>
          <a:p>
            <a:endParaRPr lang="fr-FR"/>
          </a:p>
        </p:txBody>
      </p:sp>
      <p:sp>
        <p:nvSpPr>
          <p:cNvPr id="6" name="Shape 4"/>
          <p:cNvSpPr/>
          <p:nvPr/>
        </p:nvSpPr>
        <p:spPr>
          <a:xfrm>
            <a:off x="320040" y="1188720"/>
            <a:ext cx="4114800" cy="1051560"/>
          </a:xfrm>
          <a:prstGeom prst="rect">
            <a:avLst/>
          </a:prstGeom>
          <a:solidFill>
            <a:srgbClr val="161B22"/>
          </a:solidFill>
          <a:ln w="1905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7" name="Shape 5"/>
          <p:cNvSpPr/>
          <p:nvPr/>
        </p:nvSpPr>
        <p:spPr>
          <a:xfrm>
            <a:off x="320040" y="1188720"/>
            <a:ext cx="73152" cy="1051560"/>
          </a:xfrm>
          <a:prstGeom prst="rect">
            <a:avLst/>
          </a:prstGeom>
          <a:solidFill>
            <a:srgbClr val="58A6FF"/>
          </a:solidFill>
          <a:ln w="12700">
            <a:solidFill>
              <a:srgbClr val="58A6FF"/>
            </a:solidFill>
            <a:prstDash val="solid"/>
          </a:ln>
        </p:spPr>
        <p:txBody>
          <a:bodyPr/>
          <a:lstStyle/>
          <a:p>
            <a:endParaRPr lang="fr-FR"/>
          </a:p>
        </p:txBody>
      </p:sp>
      <p:sp>
        <p:nvSpPr>
          <p:cNvPr id="8" name="Text 6"/>
          <p:cNvSpPr/>
          <p:nvPr/>
        </p:nvSpPr>
        <p:spPr>
          <a:xfrm>
            <a:off x="502920" y="1261872"/>
            <a:ext cx="3840480" cy="347472"/>
          </a:xfrm>
          <a:prstGeom prst="rect">
            <a:avLst/>
          </a:prstGeom>
          <a:noFill/>
          <a:ln/>
        </p:spPr>
        <p:txBody>
          <a:bodyPr wrap="square" lIns="0" tIns="0" rIns="0" bIns="0" rtlCol="0" anchor="ctr"/>
          <a:lstStyle/>
          <a:p>
            <a:pPr marL="0" indent="0">
              <a:buNone/>
            </a:pPr>
            <a:r>
              <a:rPr lang="en-US" sz="1500" b="1" dirty="0">
                <a:solidFill>
                  <a:srgbClr val="58A6FF"/>
                </a:solidFill>
              </a:rPr>
              <a:t>Feature  X</a:t>
            </a:r>
            <a:endParaRPr lang="en-US" sz="1500" dirty="0"/>
          </a:p>
        </p:txBody>
      </p:sp>
      <p:sp>
        <p:nvSpPr>
          <p:cNvPr id="9" name="Text 7"/>
          <p:cNvSpPr/>
          <p:nvPr/>
        </p:nvSpPr>
        <p:spPr>
          <a:xfrm>
            <a:off x="502920" y="1645920"/>
            <a:ext cx="3840480" cy="512064"/>
          </a:xfrm>
          <a:prstGeom prst="rect">
            <a:avLst/>
          </a:prstGeom>
          <a:noFill/>
          <a:ln/>
        </p:spPr>
        <p:txBody>
          <a:bodyPr wrap="square" lIns="0" tIns="0" rIns="0" bIns="0" rtlCol="0" anchor="ctr"/>
          <a:lstStyle/>
          <a:p>
            <a:pPr marL="0" indent="0">
              <a:buNone/>
            </a:pPr>
            <a:r>
              <a:rPr lang="en-US" sz="1100" dirty="0">
                <a:solidFill>
                  <a:srgbClr val="8B949E"/>
                </a:solidFill>
              </a:rPr>
              <a:t>The input data (pixel values, measurements...)</a:t>
            </a:r>
            <a:endParaRPr lang="en-US" sz="1100" dirty="0"/>
          </a:p>
        </p:txBody>
      </p:sp>
      <p:sp>
        <p:nvSpPr>
          <p:cNvPr id="10" name="Shape 8"/>
          <p:cNvSpPr/>
          <p:nvPr/>
        </p:nvSpPr>
        <p:spPr>
          <a:xfrm>
            <a:off x="320040" y="2423160"/>
            <a:ext cx="4114800" cy="1051560"/>
          </a:xfrm>
          <a:prstGeom prst="rect">
            <a:avLst/>
          </a:prstGeom>
          <a:solidFill>
            <a:srgbClr val="161B22"/>
          </a:solidFill>
          <a:ln w="19050">
            <a:solidFill>
              <a:srgbClr val="E3B341"/>
            </a:solidFill>
            <a:prstDash val="solid"/>
          </a:ln>
          <a:effectLst>
            <a:outerShdw blurRad="127000" dist="38100" dir="8100000" algn="bl" rotWithShape="0">
              <a:srgbClr val="000000">
                <a:alpha val="35000"/>
              </a:srgbClr>
            </a:outerShdw>
          </a:effectLst>
        </p:spPr>
        <p:txBody>
          <a:bodyPr/>
          <a:lstStyle/>
          <a:p>
            <a:endParaRPr lang="fr-FR"/>
          </a:p>
        </p:txBody>
      </p:sp>
      <p:sp>
        <p:nvSpPr>
          <p:cNvPr id="11" name="Shape 9"/>
          <p:cNvSpPr/>
          <p:nvPr/>
        </p:nvSpPr>
        <p:spPr>
          <a:xfrm>
            <a:off x="320040" y="2423160"/>
            <a:ext cx="73152" cy="1051560"/>
          </a:xfrm>
          <a:prstGeom prst="rect">
            <a:avLst/>
          </a:prstGeom>
          <a:solidFill>
            <a:srgbClr val="E3B341"/>
          </a:solidFill>
          <a:ln w="12700">
            <a:solidFill>
              <a:srgbClr val="E3B341"/>
            </a:solidFill>
            <a:prstDash val="solid"/>
          </a:ln>
        </p:spPr>
        <p:txBody>
          <a:bodyPr/>
          <a:lstStyle/>
          <a:p>
            <a:endParaRPr lang="fr-FR"/>
          </a:p>
        </p:txBody>
      </p:sp>
      <p:sp>
        <p:nvSpPr>
          <p:cNvPr id="12" name="Text 10"/>
          <p:cNvSpPr/>
          <p:nvPr/>
        </p:nvSpPr>
        <p:spPr>
          <a:xfrm>
            <a:off x="502920" y="2496312"/>
            <a:ext cx="3840480" cy="347472"/>
          </a:xfrm>
          <a:prstGeom prst="rect">
            <a:avLst/>
          </a:prstGeom>
          <a:noFill/>
          <a:ln/>
        </p:spPr>
        <p:txBody>
          <a:bodyPr wrap="square" lIns="0" tIns="0" rIns="0" bIns="0" rtlCol="0" anchor="ctr"/>
          <a:lstStyle/>
          <a:p>
            <a:pPr marL="0" indent="0">
              <a:buNone/>
            </a:pPr>
            <a:r>
              <a:rPr lang="en-US" sz="1500" b="1" dirty="0">
                <a:solidFill>
                  <a:srgbClr val="E3B341"/>
                </a:solidFill>
              </a:rPr>
              <a:t>Label  y</a:t>
            </a:r>
            <a:endParaRPr lang="en-US" sz="1500" dirty="0"/>
          </a:p>
        </p:txBody>
      </p:sp>
      <p:sp>
        <p:nvSpPr>
          <p:cNvPr id="13" name="Text 11"/>
          <p:cNvSpPr/>
          <p:nvPr/>
        </p:nvSpPr>
        <p:spPr>
          <a:xfrm>
            <a:off x="502920" y="2880360"/>
            <a:ext cx="3840480" cy="512064"/>
          </a:xfrm>
          <a:prstGeom prst="rect">
            <a:avLst/>
          </a:prstGeom>
          <a:noFill/>
          <a:ln/>
        </p:spPr>
        <p:txBody>
          <a:bodyPr wrap="square" lIns="0" tIns="0" rIns="0" bIns="0" rtlCol="0" anchor="ctr"/>
          <a:lstStyle/>
          <a:p>
            <a:pPr marL="0" indent="0">
              <a:buNone/>
            </a:pPr>
            <a:r>
              <a:rPr lang="en-US" sz="1100" dirty="0">
                <a:solidFill>
                  <a:srgbClr val="8B949E"/>
                </a:solidFill>
              </a:rPr>
              <a:t>The answer we want to predict</a:t>
            </a:r>
            <a:endParaRPr lang="en-US" sz="1100" dirty="0"/>
          </a:p>
        </p:txBody>
      </p:sp>
      <p:sp>
        <p:nvSpPr>
          <p:cNvPr id="14" name="Shape 12"/>
          <p:cNvSpPr/>
          <p:nvPr/>
        </p:nvSpPr>
        <p:spPr>
          <a:xfrm>
            <a:off x="320040" y="3657600"/>
            <a:ext cx="4114800" cy="1051560"/>
          </a:xfrm>
          <a:prstGeom prst="rect">
            <a:avLst/>
          </a:prstGeom>
          <a:solidFill>
            <a:srgbClr val="161B22"/>
          </a:solidFill>
          <a:ln w="1905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15" name="Shape 13"/>
          <p:cNvSpPr/>
          <p:nvPr/>
        </p:nvSpPr>
        <p:spPr>
          <a:xfrm>
            <a:off x="320040" y="3657600"/>
            <a:ext cx="73152" cy="1051560"/>
          </a:xfrm>
          <a:prstGeom prst="rect">
            <a:avLst/>
          </a:prstGeom>
          <a:solidFill>
            <a:srgbClr val="3FB950"/>
          </a:solidFill>
          <a:ln w="12700">
            <a:solidFill>
              <a:srgbClr val="3FB950"/>
            </a:solidFill>
            <a:prstDash val="solid"/>
          </a:ln>
        </p:spPr>
        <p:txBody>
          <a:bodyPr/>
          <a:lstStyle/>
          <a:p>
            <a:endParaRPr lang="fr-FR"/>
          </a:p>
        </p:txBody>
      </p:sp>
      <p:sp>
        <p:nvSpPr>
          <p:cNvPr id="16" name="Text 14"/>
          <p:cNvSpPr/>
          <p:nvPr/>
        </p:nvSpPr>
        <p:spPr>
          <a:xfrm>
            <a:off x="502920" y="3730752"/>
            <a:ext cx="3840480" cy="347472"/>
          </a:xfrm>
          <a:prstGeom prst="rect">
            <a:avLst/>
          </a:prstGeom>
          <a:noFill/>
          <a:ln/>
        </p:spPr>
        <p:txBody>
          <a:bodyPr wrap="square" lIns="0" tIns="0" rIns="0" bIns="0" rtlCol="0" anchor="ctr"/>
          <a:lstStyle/>
          <a:p>
            <a:pPr marL="0" indent="0">
              <a:buNone/>
            </a:pPr>
            <a:r>
              <a:rPr lang="en-US" sz="1500" b="1" dirty="0">
                <a:solidFill>
                  <a:srgbClr val="3FB950"/>
                </a:solidFill>
              </a:rPr>
              <a:t>Training Set</a:t>
            </a:r>
            <a:endParaRPr lang="en-US" sz="1500" dirty="0"/>
          </a:p>
        </p:txBody>
      </p:sp>
      <p:sp>
        <p:nvSpPr>
          <p:cNvPr id="17" name="Text 15"/>
          <p:cNvSpPr/>
          <p:nvPr/>
        </p:nvSpPr>
        <p:spPr>
          <a:xfrm>
            <a:off x="502920" y="4114800"/>
            <a:ext cx="3840480" cy="512064"/>
          </a:xfrm>
          <a:prstGeom prst="rect">
            <a:avLst/>
          </a:prstGeom>
          <a:noFill/>
          <a:ln/>
        </p:spPr>
        <p:txBody>
          <a:bodyPr wrap="square" lIns="0" tIns="0" rIns="0" bIns="0" rtlCol="0" anchor="ctr"/>
          <a:lstStyle/>
          <a:p>
            <a:pPr marL="0" indent="0">
              <a:buNone/>
            </a:pPr>
            <a:r>
              <a:rPr lang="en-US" sz="1100" dirty="0">
                <a:solidFill>
                  <a:srgbClr val="8B949E"/>
                </a:solidFill>
              </a:rPr>
              <a:t>Data used to teach the model</a:t>
            </a:r>
            <a:endParaRPr lang="en-US" sz="1100" dirty="0"/>
          </a:p>
        </p:txBody>
      </p:sp>
      <p:sp>
        <p:nvSpPr>
          <p:cNvPr id="18" name="Shape 16"/>
          <p:cNvSpPr/>
          <p:nvPr/>
        </p:nvSpPr>
        <p:spPr>
          <a:xfrm>
            <a:off x="4754880" y="1188720"/>
            <a:ext cx="4114800" cy="1051560"/>
          </a:xfrm>
          <a:prstGeom prst="rect">
            <a:avLst/>
          </a:prstGeom>
          <a:solidFill>
            <a:srgbClr val="161B22"/>
          </a:solidFill>
          <a:ln w="19050">
            <a:solidFill>
              <a:srgbClr val="F0883E"/>
            </a:solidFill>
            <a:prstDash val="solid"/>
          </a:ln>
          <a:effectLst>
            <a:outerShdw blurRad="127000" dist="38100" dir="8100000" algn="bl" rotWithShape="0">
              <a:srgbClr val="000000">
                <a:alpha val="35000"/>
              </a:srgbClr>
            </a:outerShdw>
          </a:effectLst>
        </p:spPr>
        <p:txBody>
          <a:bodyPr/>
          <a:lstStyle/>
          <a:p>
            <a:endParaRPr lang="fr-FR"/>
          </a:p>
        </p:txBody>
      </p:sp>
      <p:sp>
        <p:nvSpPr>
          <p:cNvPr id="19" name="Shape 17"/>
          <p:cNvSpPr/>
          <p:nvPr/>
        </p:nvSpPr>
        <p:spPr>
          <a:xfrm>
            <a:off x="4754880" y="1188720"/>
            <a:ext cx="73152" cy="1051560"/>
          </a:xfrm>
          <a:prstGeom prst="rect">
            <a:avLst/>
          </a:prstGeom>
          <a:solidFill>
            <a:srgbClr val="F0883E"/>
          </a:solidFill>
          <a:ln w="12700">
            <a:solidFill>
              <a:srgbClr val="F0883E"/>
            </a:solidFill>
            <a:prstDash val="solid"/>
          </a:ln>
        </p:spPr>
        <p:txBody>
          <a:bodyPr/>
          <a:lstStyle/>
          <a:p>
            <a:endParaRPr lang="fr-FR"/>
          </a:p>
        </p:txBody>
      </p:sp>
      <p:sp>
        <p:nvSpPr>
          <p:cNvPr id="20" name="Text 18"/>
          <p:cNvSpPr/>
          <p:nvPr/>
        </p:nvSpPr>
        <p:spPr>
          <a:xfrm>
            <a:off x="4937760" y="1261872"/>
            <a:ext cx="3840480" cy="347472"/>
          </a:xfrm>
          <a:prstGeom prst="rect">
            <a:avLst/>
          </a:prstGeom>
          <a:noFill/>
          <a:ln/>
        </p:spPr>
        <p:txBody>
          <a:bodyPr wrap="square" lIns="0" tIns="0" rIns="0" bIns="0" rtlCol="0" anchor="ctr"/>
          <a:lstStyle/>
          <a:p>
            <a:pPr marL="0" indent="0">
              <a:buNone/>
            </a:pPr>
            <a:r>
              <a:rPr lang="en-US" sz="1500" b="1" dirty="0">
                <a:solidFill>
                  <a:srgbClr val="F0883E"/>
                </a:solidFill>
              </a:rPr>
              <a:t>Test Set</a:t>
            </a:r>
            <a:endParaRPr lang="en-US" sz="1500" dirty="0"/>
          </a:p>
        </p:txBody>
      </p:sp>
      <p:sp>
        <p:nvSpPr>
          <p:cNvPr id="21" name="Text 19"/>
          <p:cNvSpPr/>
          <p:nvPr/>
        </p:nvSpPr>
        <p:spPr>
          <a:xfrm>
            <a:off x="4937760" y="1645920"/>
            <a:ext cx="3840480" cy="512064"/>
          </a:xfrm>
          <a:prstGeom prst="rect">
            <a:avLst/>
          </a:prstGeom>
          <a:noFill/>
          <a:ln/>
        </p:spPr>
        <p:txBody>
          <a:bodyPr wrap="square" lIns="0" tIns="0" rIns="0" bIns="0" rtlCol="0" anchor="ctr"/>
          <a:lstStyle/>
          <a:p>
            <a:pPr marL="0" indent="0">
              <a:buNone/>
            </a:pPr>
            <a:r>
              <a:rPr lang="en-US" sz="1100" dirty="0">
                <a:solidFill>
                  <a:srgbClr val="8B949E"/>
                </a:solidFill>
              </a:rPr>
              <a:t>NEW data to check if model truly learned</a:t>
            </a:r>
            <a:endParaRPr lang="en-US" sz="1100" dirty="0"/>
          </a:p>
        </p:txBody>
      </p:sp>
      <p:sp>
        <p:nvSpPr>
          <p:cNvPr id="22" name="Shape 20"/>
          <p:cNvSpPr/>
          <p:nvPr/>
        </p:nvSpPr>
        <p:spPr>
          <a:xfrm>
            <a:off x="4754880" y="2423160"/>
            <a:ext cx="4114800" cy="1051560"/>
          </a:xfrm>
          <a:prstGeom prst="rect">
            <a:avLst/>
          </a:prstGeom>
          <a:solidFill>
            <a:srgbClr val="161B22"/>
          </a:solidFill>
          <a:ln w="1905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23" name="Shape 21"/>
          <p:cNvSpPr/>
          <p:nvPr/>
        </p:nvSpPr>
        <p:spPr>
          <a:xfrm>
            <a:off x="4754880" y="2423160"/>
            <a:ext cx="73152" cy="1051560"/>
          </a:xfrm>
          <a:prstGeom prst="rect">
            <a:avLst/>
          </a:prstGeom>
          <a:solidFill>
            <a:srgbClr val="BC8CFF"/>
          </a:solidFill>
          <a:ln w="12700">
            <a:solidFill>
              <a:srgbClr val="BC8CFF"/>
            </a:solidFill>
            <a:prstDash val="solid"/>
          </a:ln>
        </p:spPr>
        <p:txBody>
          <a:bodyPr/>
          <a:lstStyle/>
          <a:p>
            <a:endParaRPr lang="fr-FR"/>
          </a:p>
        </p:txBody>
      </p:sp>
      <p:sp>
        <p:nvSpPr>
          <p:cNvPr id="24" name="Text 22"/>
          <p:cNvSpPr/>
          <p:nvPr/>
        </p:nvSpPr>
        <p:spPr>
          <a:xfrm>
            <a:off x="4937760" y="2496312"/>
            <a:ext cx="3840480" cy="347472"/>
          </a:xfrm>
          <a:prstGeom prst="rect">
            <a:avLst/>
          </a:prstGeom>
          <a:noFill/>
          <a:ln/>
        </p:spPr>
        <p:txBody>
          <a:bodyPr wrap="square" lIns="0" tIns="0" rIns="0" bIns="0" rtlCol="0" anchor="ctr"/>
          <a:lstStyle/>
          <a:p>
            <a:pPr marL="0" indent="0">
              <a:buNone/>
            </a:pPr>
            <a:r>
              <a:rPr lang="en-US" sz="1500" b="1" dirty="0">
                <a:solidFill>
                  <a:srgbClr val="BC8CFF"/>
                </a:solidFill>
              </a:rPr>
              <a:t>Model</a:t>
            </a:r>
            <a:endParaRPr lang="en-US" sz="1500" dirty="0"/>
          </a:p>
        </p:txBody>
      </p:sp>
      <p:sp>
        <p:nvSpPr>
          <p:cNvPr id="25" name="Text 23"/>
          <p:cNvSpPr/>
          <p:nvPr/>
        </p:nvSpPr>
        <p:spPr>
          <a:xfrm>
            <a:off x="4937760" y="2880360"/>
            <a:ext cx="3840480" cy="512064"/>
          </a:xfrm>
          <a:prstGeom prst="rect">
            <a:avLst/>
          </a:prstGeom>
          <a:noFill/>
          <a:ln/>
        </p:spPr>
        <p:txBody>
          <a:bodyPr wrap="square" lIns="0" tIns="0" rIns="0" bIns="0" rtlCol="0" anchor="ctr"/>
          <a:lstStyle/>
          <a:p>
            <a:pPr marL="0" indent="0">
              <a:buNone/>
            </a:pPr>
            <a:r>
              <a:rPr lang="en-US" sz="1100" dirty="0">
                <a:solidFill>
                  <a:srgbClr val="8B949E"/>
                </a:solidFill>
              </a:rPr>
              <a:t>The mathematical function: X -&gt; y</a:t>
            </a:r>
            <a:endParaRPr lang="en-US" sz="1100" dirty="0"/>
          </a:p>
        </p:txBody>
      </p:sp>
      <p:sp>
        <p:nvSpPr>
          <p:cNvPr id="26" name="Shape 24"/>
          <p:cNvSpPr/>
          <p:nvPr/>
        </p:nvSpPr>
        <p:spPr>
          <a:xfrm>
            <a:off x="4754880" y="3657600"/>
            <a:ext cx="4114800" cy="1051560"/>
          </a:xfrm>
          <a:prstGeom prst="rect">
            <a:avLst/>
          </a:prstGeom>
          <a:solidFill>
            <a:srgbClr val="161B22"/>
          </a:solidFill>
          <a:ln w="19050">
            <a:solidFill>
              <a:srgbClr val="FF7B72"/>
            </a:solidFill>
            <a:prstDash val="solid"/>
          </a:ln>
          <a:effectLst>
            <a:outerShdw blurRad="127000" dist="38100" dir="8100000" algn="bl" rotWithShape="0">
              <a:srgbClr val="000000">
                <a:alpha val="35000"/>
              </a:srgbClr>
            </a:outerShdw>
          </a:effectLst>
        </p:spPr>
        <p:txBody>
          <a:bodyPr/>
          <a:lstStyle/>
          <a:p>
            <a:endParaRPr lang="fr-FR"/>
          </a:p>
        </p:txBody>
      </p:sp>
      <p:sp>
        <p:nvSpPr>
          <p:cNvPr id="27" name="Shape 25"/>
          <p:cNvSpPr/>
          <p:nvPr/>
        </p:nvSpPr>
        <p:spPr>
          <a:xfrm>
            <a:off x="4754880" y="3657600"/>
            <a:ext cx="73152" cy="1051560"/>
          </a:xfrm>
          <a:prstGeom prst="rect">
            <a:avLst/>
          </a:prstGeom>
          <a:solidFill>
            <a:srgbClr val="FF7B72"/>
          </a:solidFill>
          <a:ln w="12700">
            <a:solidFill>
              <a:srgbClr val="FF7B72"/>
            </a:solidFill>
            <a:prstDash val="solid"/>
          </a:ln>
        </p:spPr>
        <p:txBody>
          <a:bodyPr/>
          <a:lstStyle/>
          <a:p>
            <a:endParaRPr lang="fr-FR"/>
          </a:p>
        </p:txBody>
      </p:sp>
      <p:sp>
        <p:nvSpPr>
          <p:cNvPr id="28" name="Text 26"/>
          <p:cNvSpPr/>
          <p:nvPr/>
        </p:nvSpPr>
        <p:spPr>
          <a:xfrm>
            <a:off x="4937760" y="3730752"/>
            <a:ext cx="3840480" cy="347472"/>
          </a:xfrm>
          <a:prstGeom prst="rect">
            <a:avLst/>
          </a:prstGeom>
          <a:noFill/>
          <a:ln/>
        </p:spPr>
        <p:txBody>
          <a:bodyPr wrap="square" lIns="0" tIns="0" rIns="0" bIns="0" rtlCol="0" anchor="ctr"/>
          <a:lstStyle/>
          <a:p>
            <a:pPr marL="0" indent="0">
              <a:buNone/>
            </a:pPr>
            <a:r>
              <a:rPr lang="en-US" sz="1500" b="1" dirty="0">
                <a:solidFill>
                  <a:srgbClr val="FF7B72"/>
                </a:solidFill>
              </a:rPr>
              <a:t>Loss</a:t>
            </a:r>
            <a:endParaRPr lang="en-US" sz="1500" dirty="0"/>
          </a:p>
        </p:txBody>
      </p:sp>
      <p:sp>
        <p:nvSpPr>
          <p:cNvPr id="29" name="Text 27"/>
          <p:cNvSpPr/>
          <p:nvPr/>
        </p:nvSpPr>
        <p:spPr>
          <a:xfrm>
            <a:off x="4937760" y="4114800"/>
            <a:ext cx="3840480" cy="512064"/>
          </a:xfrm>
          <a:prstGeom prst="rect">
            <a:avLst/>
          </a:prstGeom>
          <a:noFill/>
          <a:ln/>
        </p:spPr>
        <p:txBody>
          <a:bodyPr wrap="square" lIns="0" tIns="0" rIns="0" bIns="0" rtlCol="0" anchor="ctr"/>
          <a:lstStyle/>
          <a:p>
            <a:pPr marL="0" indent="0">
              <a:buNone/>
            </a:pPr>
            <a:r>
              <a:rPr lang="en-US" sz="1100" dirty="0">
                <a:solidFill>
                  <a:srgbClr val="8B949E"/>
                </a:solidFill>
              </a:rPr>
              <a:t>How wrong the predictions are — minimize this!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BC8CFF"/>
          </a:solidFill>
          <a:ln w="12700">
            <a:solidFill>
              <a:srgbClr val="BC8CFF"/>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Linear Regression — The Math</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BC8CFF"/>
                </a:solidFill>
              </a:rPr>
              <a:t>Predict a number: house price, temperature...</a:t>
            </a:r>
            <a:endParaRPr lang="en-US" sz="1200" dirty="0"/>
          </a:p>
        </p:txBody>
      </p:sp>
      <p:sp>
        <p:nvSpPr>
          <p:cNvPr id="5" name="Shape 3"/>
          <p:cNvSpPr/>
          <p:nvPr/>
        </p:nvSpPr>
        <p:spPr>
          <a:xfrm>
            <a:off x="320040" y="1024128"/>
            <a:ext cx="8503920" cy="0"/>
          </a:xfrm>
          <a:prstGeom prst="line">
            <a:avLst/>
          </a:prstGeom>
          <a:noFill/>
          <a:ln w="12700">
            <a:solidFill>
              <a:srgbClr val="BC8CFF"/>
            </a:solidFill>
            <a:prstDash val="solid"/>
          </a:ln>
        </p:spPr>
        <p:txBody>
          <a:bodyPr/>
          <a:lstStyle/>
          <a:p>
            <a:endParaRPr lang="fr-FR"/>
          </a:p>
        </p:txBody>
      </p:sp>
      <p:sp>
        <p:nvSpPr>
          <p:cNvPr id="6" name="Shape 4"/>
          <p:cNvSpPr/>
          <p:nvPr/>
        </p:nvSpPr>
        <p:spPr>
          <a:xfrm>
            <a:off x="274320" y="1234440"/>
            <a:ext cx="1920240" cy="1234440"/>
          </a:xfrm>
          <a:prstGeom prst="roundRect">
            <a:avLst>
              <a:gd name="adj" fmla="val 5926"/>
            </a:avLst>
          </a:prstGeom>
          <a:solidFill>
            <a:srgbClr val="21262D"/>
          </a:solidFill>
          <a:ln w="1905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365760" y="1307592"/>
            <a:ext cx="1737360" cy="678942"/>
          </a:xfrm>
          <a:prstGeom prst="rect">
            <a:avLst/>
          </a:prstGeom>
          <a:noFill/>
          <a:ln/>
        </p:spPr>
        <p:txBody>
          <a:bodyPr wrap="square" lIns="0" tIns="0" rIns="0" bIns="0" rtlCol="0" anchor="ctr"/>
          <a:lstStyle/>
          <a:p>
            <a:pPr marL="0" indent="0" algn="ctr">
              <a:buNone/>
            </a:pPr>
            <a:r>
              <a:rPr lang="en-US" sz="1500" b="1" dirty="0">
                <a:solidFill>
                  <a:srgbClr val="BC8CFF"/>
                </a:solidFill>
              </a:rPr>
              <a:t>y = w * x + b</a:t>
            </a:r>
            <a:endParaRPr lang="en-US" sz="1500" dirty="0"/>
          </a:p>
        </p:txBody>
      </p:sp>
      <p:sp>
        <p:nvSpPr>
          <p:cNvPr id="8" name="Text 6"/>
          <p:cNvSpPr/>
          <p:nvPr/>
        </p:nvSpPr>
        <p:spPr>
          <a:xfrm>
            <a:off x="365760" y="1950415"/>
            <a:ext cx="1737360" cy="444398"/>
          </a:xfrm>
          <a:prstGeom prst="rect">
            <a:avLst/>
          </a:prstGeom>
          <a:noFill/>
          <a:ln/>
        </p:spPr>
        <p:txBody>
          <a:bodyPr wrap="square" lIns="0" tIns="0" rIns="0" bIns="0" rtlCol="0" anchor="ctr"/>
          <a:lstStyle/>
          <a:p>
            <a:pPr marL="0" indent="0" algn="ctr">
              <a:buNone/>
            </a:pPr>
            <a:r>
              <a:rPr lang="en-US" sz="900" dirty="0">
                <a:solidFill>
                  <a:srgbClr val="8B949E"/>
                </a:solidFill>
              </a:rPr>
              <a:t>Prediction formula</a:t>
            </a:r>
            <a:endParaRPr lang="en-US" sz="900" dirty="0"/>
          </a:p>
          <a:p>
            <a:pPr marL="0" indent="0" algn="ctr">
              <a:buNone/>
            </a:pPr>
            <a:r>
              <a:rPr lang="en-US" sz="900" dirty="0">
                <a:solidFill>
                  <a:srgbClr val="8B949E"/>
                </a:solidFill>
              </a:rPr>
              <a:t>(line equation)</a:t>
            </a:r>
            <a:endParaRPr lang="en-US" sz="900" dirty="0"/>
          </a:p>
        </p:txBody>
      </p:sp>
      <p:sp>
        <p:nvSpPr>
          <p:cNvPr id="9" name="Shape 7"/>
          <p:cNvSpPr/>
          <p:nvPr/>
        </p:nvSpPr>
        <p:spPr>
          <a:xfrm>
            <a:off x="2194560" y="1828800"/>
            <a:ext cx="274320" cy="0"/>
          </a:xfrm>
          <a:prstGeom prst="line">
            <a:avLst/>
          </a:prstGeom>
          <a:noFill/>
          <a:ln w="25400">
            <a:solidFill>
              <a:srgbClr val="BC8CFF"/>
            </a:solidFill>
            <a:prstDash val="solid"/>
            <a:tailEnd type="arrow"/>
          </a:ln>
        </p:spPr>
        <p:txBody>
          <a:bodyPr/>
          <a:lstStyle/>
          <a:p>
            <a:endParaRPr lang="fr-FR"/>
          </a:p>
        </p:txBody>
      </p:sp>
      <p:sp>
        <p:nvSpPr>
          <p:cNvPr id="10" name="Shape 8"/>
          <p:cNvSpPr/>
          <p:nvPr/>
        </p:nvSpPr>
        <p:spPr>
          <a:xfrm>
            <a:off x="2468880" y="1234440"/>
            <a:ext cx="1920240" cy="1234440"/>
          </a:xfrm>
          <a:prstGeom prst="roundRect">
            <a:avLst>
              <a:gd name="adj" fmla="val 5926"/>
            </a:avLst>
          </a:prstGeom>
          <a:solidFill>
            <a:srgbClr val="21262D"/>
          </a:solidFill>
          <a:ln w="1905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11" name="Text 9"/>
          <p:cNvSpPr/>
          <p:nvPr/>
        </p:nvSpPr>
        <p:spPr>
          <a:xfrm>
            <a:off x="2560320" y="1307592"/>
            <a:ext cx="1737360" cy="678942"/>
          </a:xfrm>
          <a:prstGeom prst="rect">
            <a:avLst/>
          </a:prstGeom>
          <a:noFill/>
          <a:ln/>
        </p:spPr>
        <p:txBody>
          <a:bodyPr wrap="square" lIns="0" tIns="0" rIns="0" bIns="0" rtlCol="0" anchor="ctr"/>
          <a:lstStyle/>
          <a:p>
            <a:pPr marL="0" indent="0" algn="ctr">
              <a:buNone/>
            </a:pPr>
            <a:r>
              <a:rPr lang="en-US" sz="1500" b="1" dirty="0">
                <a:solidFill>
                  <a:srgbClr val="BC8CFF"/>
                </a:solidFill>
              </a:rPr>
              <a:t>Loss = MSE</a:t>
            </a:r>
            <a:endParaRPr lang="en-US" sz="1500" dirty="0"/>
          </a:p>
        </p:txBody>
      </p:sp>
      <p:sp>
        <p:nvSpPr>
          <p:cNvPr id="12" name="Text 10"/>
          <p:cNvSpPr/>
          <p:nvPr/>
        </p:nvSpPr>
        <p:spPr>
          <a:xfrm>
            <a:off x="2560320" y="1950415"/>
            <a:ext cx="1737360" cy="444398"/>
          </a:xfrm>
          <a:prstGeom prst="rect">
            <a:avLst/>
          </a:prstGeom>
          <a:noFill/>
          <a:ln/>
        </p:spPr>
        <p:txBody>
          <a:bodyPr wrap="square" lIns="0" tIns="0" rIns="0" bIns="0" rtlCol="0" anchor="ctr"/>
          <a:lstStyle/>
          <a:p>
            <a:pPr marL="0" indent="0" algn="ctr">
              <a:buNone/>
            </a:pPr>
            <a:r>
              <a:rPr lang="en-US" sz="900" dirty="0">
                <a:solidFill>
                  <a:srgbClr val="8B949E"/>
                </a:solidFill>
              </a:rPr>
              <a:t>Mean Squared Error</a:t>
            </a:r>
            <a:endParaRPr lang="en-US" sz="900" dirty="0"/>
          </a:p>
        </p:txBody>
      </p:sp>
      <p:sp>
        <p:nvSpPr>
          <p:cNvPr id="13" name="Shape 11"/>
          <p:cNvSpPr/>
          <p:nvPr/>
        </p:nvSpPr>
        <p:spPr>
          <a:xfrm>
            <a:off x="4389120" y="1828800"/>
            <a:ext cx="274320" cy="0"/>
          </a:xfrm>
          <a:prstGeom prst="line">
            <a:avLst/>
          </a:prstGeom>
          <a:noFill/>
          <a:ln w="25400">
            <a:solidFill>
              <a:srgbClr val="BC8CFF"/>
            </a:solidFill>
            <a:prstDash val="solid"/>
            <a:tailEnd type="arrow"/>
          </a:ln>
        </p:spPr>
        <p:txBody>
          <a:bodyPr/>
          <a:lstStyle/>
          <a:p>
            <a:endParaRPr lang="fr-FR"/>
          </a:p>
        </p:txBody>
      </p:sp>
      <p:sp>
        <p:nvSpPr>
          <p:cNvPr id="14" name="Shape 12"/>
          <p:cNvSpPr/>
          <p:nvPr/>
        </p:nvSpPr>
        <p:spPr>
          <a:xfrm>
            <a:off x="4663440" y="1234440"/>
            <a:ext cx="1920240" cy="1234440"/>
          </a:xfrm>
          <a:prstGeom prst="roundRect">
            <a:avLst>
              <a:gd name="adj" fmla="val 5926"/>
            </a:avLst>
          </a:prstGeom>
          <a:solidFill>
            <a:srgbClr val="21262D"/>
          </a:solidFill>
          <a:ln w="1905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15" name="Text 13"/>
          <p:cNvSpPr/>
          <p:nvPr/>
        </p:nvSpPr>
        <p:spPr>
          <a:xfrm>
            <a:off x="4754880" y="1307592"/>
            <a:ext cx="1737360" cy="678942"/>
          </a:xfrm>
          <a:prstGeom prst="rect">
            <a:avLst/>
          </a:prstGeom>
          <a:noFill/>
          <a:ln/>
        </p:spPr>
        <p:txBody>
          <a:bodyPr wrap="square" lIns="0" tIns="0" rIns="0" bIns="0" rtlCol="0" anchor="ctr"/>
          <a:lstStyle/>
          <a:p>
            <a:pPr marL="0" indent="0" algn="ctr">
              <a:buNone/>
            </a:pPr>
            <a:r>
              <a:rPr lang="en-US" sz="1500" b="1" dirty="0">
                <a:solidFill>
                  <a:srgbClr val="BC8CFF"/>
                </a:solidFill>
              </a:rPr>
              <a:t>1/n * S(y - y)^2</a:t>
            </a:r>
            <a:endParaRPr lang="en-US" sz="1500" dirty="0"/>
          </a:p>
        </p:txBody>
      </p:sp>
      <p:sp>
        <p:nvSpPr>
          <p:cNvPr id="16" name="Text 14"/>
          <p:cNvSpPr/>
          <p:nvPr/>
        </p:nvSpPr>
        <p:spPr>
          <a:xfrm>
            <a:off x="4754880" y="1950415"/>
            <a:ext cx="1737360" cy="444398"/>
          </a:xfrm>
          <a:prstGeom prst="rect">
            <a:avLst/>
          </a:prstGeom>
          <a:noFill/>
          <a:ln/>
        </p:spPr>
        <p:txBody>
          <a:bodyPr wrap="square" lIns="0" tIns="0" rIns="0" bIns="0" rtlCol="0" anchor="ctr"/>
          <a:lstStyle/>
          <a:p>
            <a:pPr marL="0" indent="0" algn="ctr">
              <a:buNone/>
            </a:pPr>
            <a:r>
              <a:rPr lang="en-US" sz="900" dirty="0">
                <a:solidFill>
                  <a:srgbClr val="8B949E"/>
                </a:solidFill>
              </a:rPr>
              <a:t>Sum over all samples</a:t>
            </a:r>
            <a:endParaRPr lang="en-US" sz="900" dirty="0"/>
          </a:p>
        </p:txBody>
      </p:sp>
      <p:sp>
        <p:nvSpPr>
          <p:cNvPr id="17" name="Shape 15"/>
          <p:cNvSpPr/>
          <p:nvPr/>
        </p:nvSpPr>
        <p:spPr>
          <a:xfrm>
            <a:off x="6583680" y="1828800"/>
            <a:ext cx="274320" cy="0"/>
          </a:xfrm>
          <a:prstGeom prst="line">
            <a:avLst/>
          </a:prstGeom>
          <a:noFill/>
          <a:ln w="25400">
            <a:solidFill>
              <a:srgbClr val="BC8CFF"/>
            </a:solidFill>
            <a:prstDash val="solid"/>
            <a:tailEnd type="arrow"/>
          </a:ln>
        </p:spPr>
        <p:txBody>
          <a:bodyPr/>
          <a:lstStyle/>
          <a:p>
            <a:endParaRPr lang="fr-FR"/>
          </a:p>
        </p:txBody>
      </p:sp>
      <p:sp>
        <p:nvSpPr>
          <p:cNvPr id="18" name="Shape 16"/>
          <p:cNvSpPr/>
          <p:nvPr/>
        </p:nvSpPr>
        <p:spPr>
          <a:xfrm>
            <a:off x="6858000" y="1234440"/>
            <a:ext cx="1920240" cy="1234440"/>
          </a:xfrm>
          <a:prstGeom prst="roundRect">
            <a:avLst>
              <a:gd name="adj" fmla="val 5926"/>
            </a:avLst>
          </a:prstGeom>
          <a:solidFill>
            <a:srgbClr val="21262D"/>
          </a:solidFill>
          <a:ln w="1905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19" name="Text 17"/>
          <p:cNvSpPr/>
          <p:nvPr/>
        </p:nvSpPr>
        <p:spPr>
          <a:xfrm>
            <a:off x="6949440" y="1307592"/>
            <a:ext cx="1737360" cy="678942"/>
          </a:xfrm>
          <a:prstGeom prst="rect">
            <a:avLst/>
          </a:prstGeom>
          <a:noFill/>
          <a:ln/>
        </p:spPr>
        <p:txBody>
          <a:bodyPr wrap="square" lIns="0" tIns="0" rIns="0" bIns="0" rtlCol="0" anchor="ctr"/>
          <a:lstStyle/>
          <a:p>
            <a:pPr marL="0" indent="0" algn="ctr">
              <a:buNone/>
            </a:pPr>
            <a:r>
              <a:rPr lang="en-US" sz="1500" b="1" dirty="0">
                <a:solidFill>
                  <a:srgbClr val="BC8CFF"/>
                </a:solidFill>
              </a:rPr>
              <a:t>w = w - a * dL/dw</a:t>
            </a:r>
            <a:endParaRPr lang="en-US" sz="1500" dirty="0"/>
          </a:p>
        </p:txBody>
      </p:sp>
      <p:sp>
        <p:nvSpPr>
          <p:cNvPr id="20" name="Text 18"/>
          <p:cNvSpPr/>
          <p:nvPr/>
        </p:nvSpPr>
        <p:spPr>
          <a:xfrm>
            <a:off x="6949440" y="1950415"/>
            <a:ext cx="1737360" cy="444398"/>
          </a:xfrm>
          <a:prstGeom prst="rect">
            <a:avLst/>
          </a:prstGeom>
          <a:noFill/>
          <a:ln/>
        </p:spPr>
        <p:txBody>
          <a:bodyPr wrap="square" lIns="0" tIns="0" rIns="0" bIns="0" rtlCol="0" anchor="ctr"/>
          <a:lstStyle/>
          <a:p>
            <a:pPr marL="0" indent="0" algn="ctr">
              <a:buNone/>
            </a:pPr>
            <a:r>
              <a:rPr lang="en-US" sz="900" dirty="0">
                <a:solidFill>
                  <a:srgbClr val="8B949E"/>
                </a:solidFill>
              </a:rPr>
              <a:t>Gradient Descent update</a:t>
            </a:r>
            <a:endParaRPr lang="en-US" sz="900" dirty="0"/>
          </a:p>
          <a:p>
            <a:pPr marL="0" indent="0" algn="ctr">
              <a:buNone/>
            </a:pPr>
            <a:r>
              <a:rPr lang="en-US" sz="900" dirty="0">
                <a:solidFill>
                  <a:srgbClr val="8B949E"/>
                </a:solidFill>
              </a:rPr>
              <a:t>a = learning rate</a:t>
            </a:r>
            <a:endParaRPr lang="en-US" sz="900" dirty="0"/>
          </a:p>
        </p:txBody>
      </p:sp>
      <p:sp>
        <p:nvSpPr>
          <p:cNvPr id="21" name="Shape 19"/>
          <p:cNvSpPr/>
          <p:nvPr/>
        </p:nvSpPr>
        <p:spPr>
          <a:xfrm>
            <a:off x="320040" y="2743200"/>
            <a:ext cx="4023360" cy="201168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22" name="Text 20"/>
          <p:cNvSpPr/>
          <p:nvPr/>
        </p:nvSpPr>
        <p:spPr>
          <a:xfrm>
            <a:off x="457200" y="2788920"/>
            <a:ext cx="3749040" cy="274320"/>
          </a:xfrm>
          <a:prstGeom prst="rect">
            <a:avLst/>
          </a:prstGeom>
          <a:noFill/>
          <a:ln/>
        </p:spPr>
        <p:txBody>
          <a:bodyPr wrap="square" lIns="0" tIns="0" rIns="0" bIns="0" rtlCol="0" anchor="ctr"/>
          <a:lstStyle/>
          <a:p>
            <a:pPr marL="0" indent="0" algn="ctr">
              <a:buNone/>
            </a:pPr>
            <a:r>
              <a:rPr lang="en-US" sz="1100" dirty="0">
                <a:solidFill>
                  <a:srgbClr val="8B949E"/>
                </a:solidFill>
              </a:rPr>
              <a:t>Loss vs. Training Iterations</a:t>
            </a:r>
            <a:endParaRPr lang="en-US" sz="1100" dirty="0"/>
          </a:p>
        </p:txBody>
      </p:sp>
      <p:sp>
        <p:nvSpPr>
          <p:cNvPr id="23" name="Shape 21"/>
          <p:cNvSpPr/>
          <p:nvPr/>
        </p:nvSpPr>
        <p:spPr>
          <a:xfrm>
            <a:off x="457200" y="4434840"/>
            <a:ext cx="365760" cy="0"/>
          </a:xfrm>
          <a:prstGeom prst="line">
            <a:avLst/>
          </a:prstGeom>
          <a:noFill/>
          <a:ln w="31750">
            <a:solidFill>
              <a:srgbClr val="BC8CFF"/>
            </a:solidFill>
            <a:prstDash val="solid"/>
          </a:ln>
        </p:spPr>
        <p:txBody>
          <a:bodyPr/>
          <a:lstStyle/>
          <a:p>
            <a:endParaRPr lang="fr-FR"/>
          </a:p>
        </p:txBody>
      </p:sp>
      <p:sp>
        <p:nvSpPr>
          <p:cNvPr id="24" name="Shape 22"/>
          <p:cNvSpPr/>
          <p:nvPr/>
        </p:nvSpPr>
        <p:spPr>
          <a:xfrm>
            <a:off x="822960" y="4114800"/>
            <a:ext cx="365760" cy="0"/>
          </a:xfrm>
          <a:prstGeom prst="line">
            <a:avLst/>
          </a:prstGeom>
          <a:noFill/>
          <a:ln w="31750">
            <a:solidFill>
              <a:srgbClr val="BC8CFF"/>
            </a:solidFill>
            <a:prstDash val="solid"/>
          </a:ln>
        </p:spPr>
        <p:txBody>
          <a:bodyPr/>
          <a:lstStyle/>
          <a:p>
            <a:endParaRPr lang="fr-FR"/>
          </a:p>
        </p:txBody>
      </p:sp>
      <p:sp>
        <p:nvSpPr>
          <p:cNvPr id="25" name="Shape 23"/>
          <p:cNvSpPr/>
          <p:nvPr/>
        </p:nvSpPr>
        <p:spPr>
          <a:xfrm>
            <a:off x="1188720" y="3840480"/>
            <a:ext cx="365760" cy="0"/>
          </a:xfrm>
          <a:prstGeom prst="line">
            <a:avLst/>
          </a:prstGeom>
          <a:noFill/>
          <a:ln w="31750">
            <a:solidFill>
              <a:srgbClr val="BC8CFF"/>
            </a:solidFill>
            <a:prstDash val="solid"/>
          </a:ln>
        </p:spPr>
        <p:txBody>
          <a:bodyPr/>
          <a:lstStyle/>
          <a:p>
            <a:endParaRPr lang="fr-FR"/>
          </a:p>
        </p:txBody>
      </p:sp>
      <p:sp>
        <p:nvSpPr>
          <p:cNvPr id="26" name="Shape 24"/>
          <p:cNvSpPr/>
          <p:nvPr/>
        </p:nvSpPr>
        <p:spPr>
          <a:xfrm>
            <a:off x="1554480" y="3611880"/>
            <a:ext cx="365760" cy="0"/>
          </a:xfrm>
          <a:prstGeom prst="line">
            <a:avLst/>
          </a:prstGeom>
          <a:noFill/>
          <a:ln w="31750">
            <a:solidFill>
              <a:srgbClr val="BC8CFF"/>
            </a:solidFill>
            <a:prstDash val="solid"/>
          </a:ln>
        </p:spPr>
        <p:txBody>
          <a:bodyPr/>
          <a:lstStyle/>
          <a:p>
            <a:endParaRPr lang="fr-FR"/>
          </a:p>
        </p:txBody>
      </p:sp>
      <p:sp>
        <p:nvSpPr>
          <p:cNvPr id="27" name="Shape 25"/>
          <p:cNvSpPr/>
          <p:nvPr/>
        </p:nvSpPr>
        <p:spPr>
          <a:xfrm>
            <a:off x="1920240" y="3474720"/>
            <a:ext cx="365760" cy="0"/>
          </a:xfrm>
          <a:prstGeom prst="line">
            <a:avLst/>
          </a:prstGeom>
          <a:noFill/>
          <a:ln w="31750">
            <a:solidFill>
              <a:srgbClr val="BC8CFF"/>
            </a:solidFill>
            <a:prstDash val="solid"/>
          </a:ln>
        </p:spPr>
        <p:txBody>
          <a:bodyPr/>
          <a:lstStyle/>
          <a:p>
            <a:endParaRPr lang="fr-FR"/>
          </a:p>
        </p:txBody>
      </p:sp>
      <p:sp>
        <p:nvSpPr>
          <p:cNvPr id="28" name="Shape 26"/>
          <p:cNvSpPr/>
          <p:nvPr/>
        </p:nvSpPr>
        <p:spPr>
          <a:xfrm>
            <a:off x="2286000" y="3383280"/>
            <a:ext cx="365760" cy="0"/>
          </a:xfrm>
          <a:prstGeom prst="line">
            <a:avLst/>
          </a:prstGeom>
          <a:noFill/>
          <a:ln w="31750">
            <a:solidFill>
              <a:srgbClr val="BC8CFF"/>
            </a:solidFill>
            <a:prstDash val="solid"/>
          </a:ln>
        </p:spPr>
        <p:txBody>
          <a:bodyPr/>
          <a:lstStyle/>
          <a:p>
            <a:endParaRPr lang="fr-FR"/>
          </a:p>
        </p:txBody>
      </p:sp>
      <p:sp>
        <p:nvSpPr>
          <p:cNvPr id="29" name="Shape 27"/>
          <p:cNvSpPr/>
          <p:nvPr/>
        </p:nvSpPr>
        <p:spPr>
          <a:xfrm>
            <a:off x="2651760" y="3337560"/>
            <a:ext cx="365760" cy="0"/>
          </a:xfrm>
          <a:prstGeom prst="line">
            <a:avLst/>
          </a:prstGeom>
          <a:noFill/>
          <a:ln w="31750">
            <a:solidFill>
              <a:srgbClr val="BC8CFF"/>
            </a:solidFill>
            <a:prstDash val="solid"/>
          </a:ln>
        </p:spPr>
        <p:txBody>
          <a:bodyPr/>
          <a:lstStyle/>
          <a:p>
            <a:endParaRPr lang="fr-FR"/>
          </a:p>
        </p:txBody>
      </p:sp>
      <p:sp>
        <p:nvSpPr>
          <p:cNvPr id="30" name="Shape 28"/>
          <p:cNvSpPr/>
          <p:nvPr/>
        </p:nvSpPr>
        <p:spPr>
          <a:xfrm>
            <a:off x="3017520" y="3310128"/>
            <a:ext cx="365760" cy="0"/>
          </a:xfrm>
          <a:prstGeom prst="line">
            <a:avLst/>
          </a:prstGeom>
          <a:noFill/>
          <a:ln w="31750">
            <a:solidFill>
              <a:srgbClr val="BC8CFF"/>
            </a:solidFill>
            <a:prstDash val="solid"/>
          </a:ln>
        </p:spPr>
        <p:txBody>
          <a:bodyPr/>
          <a:lstStyle/>
          <a:p>
            <a:endParaRPr lang="fr-FR"/>
          </a:p>
        </p:txBody>
      </p:sp>
      <p:sp>
        <p:nvSpPr>
          <p:cNvPr id="31" name="Shape 29"/>
          <p:cNvSpPr/>
          <p:nvPr/>
        </p:nvSpPr>
        <p:spPr>
          <a:xfrm>
            <a:off x="3383280" y="3291840"/>
            <a:ext cx="365760" cy="0"/>
          </a:xfrm>
          <a:prstGeom prst="line">
            <a:avLst/>
          </a:prstGeom>
          <a:noFill/>
          <a:ln w="31750">
            <a:solidFill>
              <a:srgbClr val="BC8CFF"/>
            </a:solidFill>
            <a:prstDash val="solid"/>
          </a:ln>
        </p:spPr>
        <p:txBody>
          <a:bodyPr/>
          <a:lstStyle/>
          <a:p>
            <a:endParaRPr lang="fr-FR"/>
          </a:p>
        </p:txBody>
      </p:sp>
      <p:sp>
        <p:nvSpPr>
          <p:cNvPr id="32" name="Text 30"/>
          <p:cNvSpPr/>
          <p:nvPr/>
        </p:nvSpPr>
        <p:spPr>
          <a:xfrm>
            <a:off x="329184" y="4160520"/>
            <a:ext cx="914400" cy="274320"/>
          </a:xfrm>
          <a:prstGeom prst="rect">
            <a:avLst/>
          </a:prstGeom>
          <a:noFill/>
          <a:ln/>
        </p:spPr>
        <p:txBody>
          <a:bodyPr wrap="square" lIns="0" tIns="0" rIns="0" bIns="0" rtlCol="0" anchor="ctr"/>
          <a:lstStyle/>
          <a:p>
            <a:pPr marL="0" indent="0">
              <a:buNone/>
            </a:pPr>
            <a:r>
              <a:rPr lang="en-US" sz="800" dirty="0">
                <a:solidFill>
                  <a:srgbClr val="FF7B72"/>
                </a:solidFill>
              </a:rPr>
              <a:t>High Loss</a:t>
            </a:r>
            <a:endParaRPr lang="en-US" sz="800" dirty="0"/>
          </a:p>
        </p:txBody>
      </p:sp>
      <p:sp>
        <p:nvSpPr>
          <p:cNvPr id="33" name="Text 31"/>
          <p:cNvSpPr/>
          <p:nvPr/>
        </p:nvSpPr>
        <p:spPr>
          <a:xfrm>
            <a:off x="3017520" y="3154680"/>
            <a:ext cx="1097280" cy="274320"/>
          </a:xfrm>
          <a:prstGeom prst="rect">
            <a:avLst/>
          </a:prstGeom>
          <a:noFill/>
          <a:ln/>
        </p:spPr>
        <p:txBody>
          <a:bodyPr wrap="square" lIns="0" tIns="0" rIns="0" bIns="0" rtlCol="0" anchor="ctr"/>
          <a:lstStyle/>
          <a:p>
            <a:pPr marL="0" indent="0">
              <a:buNone/>
            </a:pPr>
            <a:r>
              <a:rPr lang="en-US" sz="800" dirty="0">
                <a:solidFill>
                  <a:srgbClr val="3FB950"/>
                </a:solidFill>
              </a:rPr>
              <a:t>Low Loss (goal)</a:t>
            </a:r>
            <a:endParaRPr lang="en-US" sz="800" dirty="0"/>
          </a:p>
        </p:txBody>
      </p:sp>
      <p:sp>
        <p:nvSpPr>
          <p:cNvPr id="34" name="Shape 32"/>
          <p:cNvSpPr/>
          <p:nvPr/>
        </p:nvSpPr>
        <p:spPr>
          <a:xfrm>
            <a:off x="4709160" y="2743200"/>
            <a:ext cx="4114800" cy="201168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35" name="Text 33"/>
          <p:cNvSpPr/>
          <p:nvPr/>
        </p:nvSpPr>
        <p:spPr>
          <a:xfrm>
            <a:off x="4846320" y="2788920"/>
            <a:ext cx="3840480" cy="274320"/>
          </a:xfrm>
          <a:prstGeom prst="rect">
            <a:avLst/>
          </a:prstGeom>
          <a:noFill/>
          <a:ln/>
        </p:spPr>
        <p:txBody>
          <a:bodyPr wrap="square" lIns="0" tIns="0" rIns="0" bIns="0" rtlCol="0" anchor="ctr"/>
          <a:lstStyle/>
          <a:p>
            <a:pPr marL="0" indent="0" algn="ctr">
              <a:buNone/>
            </a:pPr>
            <a:r>
              <a:rPr lang="en-US" sz="1100" dirty="0">
                <a:solidFill>
                  <a:srgbClr val="8B949E"/>
                </a:solidFill>
              </a:rPr>
              <a:t>Gradient Descent — Roll to the Bottom!</a:t>
            </a:r>
            <a:endParaRPr lang="en-US" sz="1100" dirty="0"/>
          </a:p>
        </p:txBody>
      </p:sp>
      <p:sp>
        <p:nvSpPr>
          <p:cNvPr id="36" name="Shape 34"/>
          <p:cNvSpPr/>
          <p:nvPr/>
        </p:nvSpPr>
        <p:spPr>
          <a:xfrm>
            <a:off x="4846320" y="4480560"/>
            <a:ext cx="365760" cy="0"/>
          </a:xfrm>
          <a:prstGeom prst="line">
            <a:avLst/>
          </a:prstGeom>
          <a:noFill/>
          <a:ln w="31750">
            <a:solidFill>
              <a:srgbClr val="21262D"/>
            </a:solidFill>
            <a:prstDash val="solid"/>
          </a:ln>
        </p:spPr>
        <p:txBody>
          <a:bodyPr/>
          <a:lstStyle/>
          <a:p>
            <a:endParaRPr lang="fr-FR"/>
          </a:p>
        </p:txBody>
      </p:sp>
      <p:sp>
        <p:nvSpPr>
          <p:cNvPr id="37" name="Shape 35"/>
          <p:cNvSpPr/>
          <p:nvPr/>
        </p:nvSpPr>
        <p:spPr>
          <a:xfrm>
            <a:off x="5212080" y="3840480"/>
            <a:ext cx="457200" cy="0"/>
          </a:xfrm>
          <a:prstGeom prst="line">
            <a:avLst/>
          </a:prstGeom>
          <a:noFill/>
          <a:ln w="31750">
            <a:solidFill>
              <a:srgbClr val="21262D"/>
            </a:solidFill>
            <a:prstDash val="solid"/>
          </a:ln>
        </p:spPr>
        <p:txBody>
          <a:bodyPr/>
          <a:lstStyle/>
          <a:p>
            <a:endParaRPr lang="fr-FR"/>
          </a:p>
        </p:txBody>
      </p:sp>
      <p:sp>
        <p:nvSpPr>
          <p:cNvPr id="38" name="Shape 36"/>
          <p:cNvSpPr/>
          <p:nvPr/>
        </p:nvSpPr>
        <p:spPr>
          <a:xfrm>
            <a:off x="5669280" y="3429000"/>
            <a:ext cx="548640" cy="0"/>
          </a:xfrm>
          <a:prstGeom prst="line">
            <a:avLst/>
          </a:prstGeom>
          <a:noFill/>
          <a:ln w="31750">
            <a:solidFill>
              <a:srgbClr val="21262D"/>
            </a:solidFill>
            <a:prstDash val="solid"/>
          </a:ln>
        </p:spPr>
        <p:txBody>
          <a:bodyPr/>
          <a:lstStyle/>
          <a:p>
            <a:endParaRPr lang="fr-FR"/>
          </a:p>
        </p:txBody>
      </p:sp>
      <p:sp>
        <p:nvSpPr>
          <p:cNvPr id="39" name="Shape 37"/>
          <p:cNvSpPr/>
          <p:nvPr/>
        </p:nvSpPr>
        <p:spPr>
          <a:xfrm>
            <a:off x="6217920" y="3246120"/>
            <a:ext cx="548640" cy="45720"/>
          </a:xfrm>
          <a:prstGeom prst="line">
            <a:avLst/>
          </a:prstGeom>
          <a:noFill/>
          <a:ln w="31750">
            <a:solidFill>
              <a:srgbClr val="21262D"/>
            </a:solidFill>
            <a:prstDash val="solid"/>
          </a:ln>
        </p:spPr>
        <p:txBody>
          <a:bodyPr/>
          <a:lstStyle/>
          <a:p>
            <a:endParaRPr lang="fr-FR"/>
          </a:p>
        </p:txBody>
      </p:sp>
      <p:sp>
        <p:nvSpPr>
          <p:cNvPr id="40" name="Shape 38"/>
          <p:cNvSpPr/>
          <p:nvPr/>
        </p:nvSpPr>
        <p:spPr>
          <a:xfrm>
            <a:off x="6766560" y="3291840"/>
            <a:ext cx="457200" cy="228600"/>
          </a:xfrm>
          <a:prstGeom prst="line">
            <a:avLst/>
          </a:prstGeom>
          <a:noFill/>
          <a:ln w="31750">
            <a:solidFill>
              <a:srgbClr val="21262D"/>
            </a:solidFill>
            <a:prstDash val="solid"/>
          </a:ln>
        </p:spPr>
        <p:txBody>
          <a:bodyPr/>
          <a:lstStyle/>
          <a:p>
            <a:endParaRPr lang="fr-FR"/>
          </a:p>
        </p:txBody>
      </p:sp>
      <p:sp>
        <p:nvSpPr>
          <p:cNvPr id="41" name="Shape 39"/>
          <p:cNvSpPr/>
          <p:nvPr/>
        </p:nvSpPr>
        <p:spPr>
          <a:xfrm>
            <a:off x="7223760" y="3520440"/>
            <a:ext cx="457200" cy="457200"/>
          </a:xfrm>
          <a:prstGeom prst="line">
            <a:avLst/>
          </a:prstGeom>
          <a:noFill/>
          <a:ln w="31750">
            <a:solidFill>
              <a:srgbClr val="21262D"/>
            </a:solidFill>
            <a:prstDash val="solid"/>
          </a:ln>
        </p:spPr>
        <p:txBody>
          <a:bodyPr/>
          <a:lstStyle/>
          <a:p>
            <a:endParaRPr lang="fr-FR"/>
          </a:p>
        </p:txBody>
      </p:sp>
      <p:sp>
        <p:nvSpPr>
          <p:cNvPr id="42" name="Shape 40"/>
          <p:cNvSpPr/>
          <p:nvPr/>
        </p:nvSpPr>
        <p:spPr>
          <a:xfrm>
            <a:off x="7680960" y="3977640"/>
            <a:ext cx="457200" cy="502920"/>
          </a:xfrm>
          <a:prstGeom prst="line">
            <a:avLst/>
          </a:prstGeom>
          <a:noFill/>
          <a:ln w="31750">
            <a:solidFill>
              <a:srgbClr val="21262D"/>
            </a:solidFill>
            <a:prstDash val="solid"/>
          </a:ln>
        </p:spPr>
        <p:txBody>
          <a:bodyPr/>
          <a:lstStyle/>
          <a:p>
            <a:endParaRPr lang="fr-FR"/>
          </a:p>
        </p:txBody>
      </p:sp>
      <p:sp>
        <p:nvSpPr>
          <p:cNvPr id="43" name="Shape 41"/>
          <p:cNvSpPr/>
          <p:nvPr/>
        </p:nvSpPr>
        <p:spPr>
          <a:xfrm>
            <a:off x="5257800" y="3703320"/>
            <a:ext cx="201168" cy="201168"/>
          </a:xfrm>
          <a:prstGeom prst="ellipse">
            <a:avLst/>
          </a:prstGeom>
          <a:solidFill>
            <a:srgbClr val="BC8CFF"/>
          </a:solidFill>
          <a:ln w="12700">
            <a:solidFill>
              <a:srgbClr val="BC8CFF"/>
            </a:solidFill>
            <a:prstDash val="solid"/>
          </a:ln>
        </p:spPr>
        <p:txBody>
          <a:bodyPr/>
          <a:lstStyle/>
          <a:p>
            <a:endParaRPr lang="fr-FR"/>
          </a:p>
        </p:txBody>
      </p:sp>
      <p:sp>
        <p:nvSpPr>
          <p:cNvPr id="44" name="Shape 42"/>
          <p:cNvSpPr/>
          <p:nvPr/>
        </p:nvSpPr>
        <p:spPr>
          <a:xfrm>
            <a:off x="5806440" y="3310128"/>
            <a:ext cx="201168" cy="201168"/>
          </a:xfrm>
          <a:prstGeom prst="ellipse">
            <a:avLst/>
          </a:prstGeom>
          <a:solidFill>
            <a:srgbClr val="58A6FF"/>
          </a:solidFill>
          <a:ln w="12700">
            <a:solidFill>
              <a:srgbClr val="58A6FF"/>
            </a:solidFill>
            <a:prstDash val="solid"/>
          </a:ln>
        </p:spPr>
        <p:txBody>
          <a:bodyPr/>
          <a:lstStyle/>
          <a:p>
            <a:endParaRPr lang="fr-FR"/>
          </a:p>
        </p:txBody>
      </p:sp>
      <p:sp>
        <p:nvSpPr>
          <p:cNvPr id="45" name="Shape 43"/>
          <p:cNvSpPr/>
          <p:nvPr/>
        </p:nvSpPr>
        <p:spPr>
          <a:xfrm>
            <a:off x="6126480" y="3154680"/>
            <a:ext cx="201168" cy="201168"/>
          </a:xfrm>
          <a:prstGeom prst="ellipse">
            <a:avLst/>
          </a:prstGeom>
          <a:solidFill>
            <a:srgbClr val="3FB950"/>
          </a:solidFill>
          <a:ln w="12700">
            <a:solidFill>
              <a:srgbClr val="3FB950"/>
            </a:solidFill>
            <a:prstDash val="solid"/>
          </a:ln>
        </p:spPr>
        <p:txBody>
          <a:bodyPr/>
          <a:lstStyle/>
          <a:p>
            <a:endParaRPr lang="fr-FR"/>
          </a:p>
        </p:txBody>
      </p:sp>
      <p:sp>
        <p:nvSpPr>
          <p:cNvPr id="46" name="Shape 44"/>
          <p:cNvSpPr/>
          <p:nvPr/>
        </p:nvSpPr>
        <p:spPr>
          <a:xfrm>
            <a:off x="5358384" y="3776472"/>
            <a:ext cx="448056" cy="0"/>
          </a:xfrm>
          <a:prstGeom prst="line">
            <a:avLst/>
          </a:prstGeom>
          <a:noFill/>
          <a:ln w="12700">
            <a:solidFill>
              <a:srgbClr val="8B949E"/>
            </a:solidFill>
            <a:prstDash val="solid"/>
            <a:tailEnd type="arrow"/>
          </a:ln>
        </p:spPr>
        <p:txBody>
          <a:bodyPr/>
          <a:lstStyle/>
          <a:p>
            <a:endParaRPr lang="fr-FR"/>
          </a:p>
        </p:txBody>
      </p:sp>
      <p:sp>
        <p:nvSpPr>
          <p:cNvPr id="47" name="Text 45"/>
          <p:cNvSpPr/>
          <p:nvPr/>
        </p:nvSpPr>
        <p:spPr>
          <a:xfrm>
            <a:off x="4846320" y="4526280"/>
            <a:ext cx="3200400" cy="274320"/>
          </a:xfrm>
          <a:prstGeom prst="rect">
            <a:avLst/>
          </a:prstGeom>
          <a:noFill/>
          <a:ln/>
        </p:spPr>
        <p:txBody>
          <a:bodyPr wrap="square" lIns="0" tIns="0" rIns="0" bIns="0" rtlCol="0" anchor="ctr"/>
          <a:lstStyle/>
          <a:p>
            <a:pPr marL="0" indent="0" algn="ctr">
              <a:buNone/>
            </a:pPr>
            <a:r>
              <a:rPr lang="en-US" sz="900" dirty="0">
                <a:solidFill>
                  <a:srgbClr val="8B949E"/>
                </a:solidFill>
              </a:rPr>
              <a:t>Steps toward minimum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1B22"/>
          </a:solidFill>
          <a:ln w="12700">
            <a:solidFill>
              <a:srgbClr val="161B22"/>
            </a:solidFill>
            <a:prstDash val="solid"/>
          </a:ln>
        </p:spPr>
        <p:txBody>
          <a:bodyPr/>
          <a:lstStyle/>
          <a:p>
            <a:endParaRPr lang="fr-FR"/>
          </a:p>
        </p:txBody>
      </p:sp>
      <p:sp>
        <p:nvSpPr>
          <p:cNvPr id="3" name="Shape 1"/>
          <p:cNvSpPr/>
          <p:nvPr/>
        </p:nvSpPr>
        <p:spPr>
          <a:xfrm>
            <a:off x="0" y="0"/>
            <a:ext cx="457200" cy="5143500"/>
          </a:xfrm>
          <a:prstGeom prst="rect">
            <a:avLst/>
          </a:prstGeom>
          <a:solidFill>
            <a:srgbClr val="BC8CFF"/>
          </a:solidFill>
          <a:ln w="12700">
            <a:solidFill>
              <a:srgbClr val="BC8CFF"/>
            </a:solidFill>
            <a:prstDash val="solid"/>
          </a:ln>
        </p:spPr>
        <p:txBody>
          <a:bodyPr/>
          <a:lstStyle/>
          <a:p>
            <a:endParaRPr lang="fr-FR"/>
          </a:p>
        </p:txBody>
      </p:sp>
      <p:sp>
        <p:nvSpPr>
          <p:cNvPr id="4" name="Shape 2"/>
          <p:cNvSpPr/>
          <p:nvPr/>
        </p:nvSpPr>
        <p:spPr>
          <a:xfrm>
            <a:off x="6766560" y="1005840"/>
            <a:ext cx="182880" cy="182880"/>
          </a:xfrm>
          <a:prstGeom prst="ellipse">
            <a:avLst/>
          </a:prstGeom>
          <a:solidFill>
            <a:srgbClr val="58A6FF"/>
          </a:solidFill>
          <a:ln w="12700">
            <a:solidFill>
              <a:srgbClr val="58A6FF"/>
            </a:solidFill>
            <a:prstDash val="solid"/>
          </a:ln>
        </p:spPr>
        <p:txBody>
          <a:bodyPr/>
          <a:lstStyle/>
          <a:p>
            <a:endParaRPr lang="fr-FR"/>
          </a:p>
        </p:txBody>
      </p:sp>
      <p:sp>
        <p:nvSpPr>
          <p:cNvPr id="5" name="Shape 3"/>
          <p:cNvSpPr/>
          <p:nvPr/>
        </p:nvSpPr>
        <p:spPr>
          <a:xfrm>
            <a:off x="7315200" y="1554480"/>
            <a:ext cx="182880" cy="182880"/>
          </a:xfrm>
          <a:prstGeom prst="ellipse">
            <a:avLst/>
          </a:prstGeom>
          <a:solidFill>
            <a:srgbClr val="58A6FF"/>
          </a:solidFill>
          <a:ln w="12700">
            <a:solidFill>
              <a:srgbClr val="58A6FF"/>
            </a:solidFill>
            <a:prstDash val="solid"/>
          </a:ln>
        </p:spPr>
        <p:txBody>
          <a:bodyPr/>
          <a:lstStyle/>
          <a:p>
            <a:endParaRPr lang="fr-FR"/>
          </a:p>
        </p:txBody>
      </p:sp>
      <p:sp>
        <p:nvSpPr>
          <p:cNvPr id="6" name="Shape 4"/>
          <p:cNvSpPr/>
          <p:nvPr/>
        </p:nvSpPr>
        <p:spPr>
          <a:xfrm>
            <a:off x="7772400" y="1280160"/>
            <a:ext cx="182880" cy="182880"/>
          </a:xfrm>
          <a:prstGeom prst="ellipse">
            <a:avLst/>
          </a:prstGeom>
          <a:solidFill>
            <a:srgbClr val="58A6FF"/>
          </a:solidFill>
          <a:ln w="12700">
            <a:solidFill>
              <a:srgbClr val="58A6FF"/>
            </a:solidFill>
            <a:prstDash val="solid"/>
          </a:ln>
        </p:spPr>
        <p:txBody>
          <a:bodyPr/>
          <a:lstStyle/>
          <a:p>
            <a:endParaRPr lang="fr-FR"/>
          </a:p>
        </p:txBody>
      </p:sp>
      <p:sp>
        <p:nvSpPr>
          <p:cNvPr id="7" name="Shape 5"/>
          <p:cNvSpPr/>
          <p:nvPr/>
        </p:nvSpPr>
        <p:spPr>
          <a:xfrm>
            <a:off x="8138160" y="1828800"/>
            <a:ext cx="182880" cy="182880"/>
          </a:xfrm>
          <a:prstGeom prst="ellipse">
            <a:avLst/>
          </a:prstGeom>
          <a:solidFill>
            <a:srgbClr val="58A6FF"/>
          </a:solidFill>
          <a:ln w="12700">
            <a:solidFill>
              <a:srgbClr val="58A6FF"/>
            </a:solidFill>
            <a:prstDash val="solid"/>
          </a:ln>
        </p:spPr>
        <p:txBody>
          <a:bodyPr/>
          <a:lstStyle/>
          <a:p>
            <a:endParaRPr lang="fr-FR"/>
          </a:p>
        </p:txBody>
      </p:sp>
      <p:sp>
        <p:nvSpPr>
          <p:cNvPr id="8" name="Shape 6"/>
          <p:cNvSpPr/>
          <p:nvPr/>
        </p:nvSpPr>
        <p:spPr>
          <a:xfrm>
            <a:off x="8503920" y="1645920"/>
            <a:ext cx="182880" cy="182880"/>
          </a:xfrm>
          <a:prstGeom prst="ellipse">
            <a:avLst/>
          </a:prstGeom>
          <a:solidFill>
            <a:srgbClr val="58A6FF"/>
          </a:solidFill>
          <a:ln w="12700">
            <a:solidFill>
              <a:srgbClr val="58A6FF"/>
            </a:solidFill>
            <a:prstDash val="solid"/>
          </a:ln>
        </p:spPr>
        <p:txBody>
          <a:bodyPr/>
          <a:lstStyle/>
          <a:p>
            <a:endParaRPr lang="fr-FR"/>
          </a:p>
        </p:txBody>
      </p:sp>
      <p:sp>
        <p:nvSpPr>
          <p:cNvPr id="9" name="Shape 7"/>
          <p:cNvSpPr/>
          <p:nvPr/>
        </p:nvSpPr>
        <p:spPr>
          <a:xfrm>
            <a:off x="7040880" y="2103120"/>
            <a:ext cx="182880" cy="182880"/>
          </a:xfrm>
          <a:prstGeom prst="ellipse">
            <a:avLst/>
          </a:prstGeom>
          <a:solidFill>
            <a:srgbClr val="58A6FF"/>
          </a:solidFill>
          <a:ln w="12700">
            <a:solidFill>
              <a:srgbClr val="58A6FF"/>
            </a:solidFill>
            <a:prstDash val="solid"/>
          </a:ln>
        </p:spPr>
        <p:txBody>
          <a:bodyPr/>
          <a:lstStyle/>
          <a:p>
            <a:endParaRPr lang="fr-FR"/>
          </a:p>
        </p:txBody>
      </p:sp>
      <p:sp>
        <p:nvSpPr>
          <p:cNvPr id="10" name="Shape 8"/>
          <p:cNvSpPr/>
          <p:nvPr/>
        </p:nvSpPr>
        <p:spPr>
          <a:xfrm>
            <a:off x="7498080" y="2468880"/>
            <a:ext cx="182880" cy="182880"/>
          </a:xfrm>
          <a:prstGeom prst="ellipse">
            <a:avLst/>
          </a:prstGeom>
          <a:solidFill>
            <a:srgbClr val="58A6FF"/>
          </a:solidFill>
          <a:ln w="12700">
            <a:solidFill>
              <a:srgbClr val="58A6FF"/>
            </a:solidFill>
            <a:prstDash val="solid"/>
          </a:ln>
        </p:spPr>
        <p:txBody>
          <a:bodyPr/>
          <a:lstStyle/>
          <a:p>
            <a:endParaRPr lang="fr-FR"/>
          </a:p>
        </p:txBody>
      </p:sp>
      <p:sp>
        <p:nvSpPr>
          <p:cNvPr id="11" name="Shape 9"/>
          <p:cNvSpPr/>
          <p:nvPr/>
        </p:nvSpPr>
        <p:spPr>
          <a:xfrm>
            <a:off x="8046720" y="2286000"/>
            <a:ext cx="182880" cy="182880"/>
          </a:xfrm>
          <a:prstGeom prst="ellipse">
            <a:avLst/>
          </a:prstGeom>
          <a:solidFill>
            <a:srgbClr val="58A6FF"/>
          </a:solidFill>
          <a:ln w="12700">
            <a:solidFill>
              <a:srgbClr val="58A6FF"/>
            </a:solidFill>
            <a:prstDash val="solid"/>
          </a:ln>
        </p:spPr>
        <p:txBody>
          <a:bodyPr/>
          <a:lstStyle/>
          <a:p>
            <a:endParaRPr lang="fr-FR"/>
          </a:p>
        </p:txBody>
      </p:sp>
      <p:sp>
        <p:nvSpPr>
          <p:cNvPr id="12" name="Shape 10"/>
          <p:cNvSpPr/>
          <p:nvPr/>
        </p:nvSpPr>
        <p:spPr>
          <a:xfrm>
            <a:off x="8412480" y="2743200"/>
            <a:ext cx="182880" cy="182880"/>
          </a:xfrm>
          <a:prstGeom prst="ellipse">
            <a:avLst/>
          </a:prstGeom>
          <a:solidFill>
            <a:srgbClr val="58A6FF"/>
          </a:solidFill>
          <a:ln w="12700">
            <a:solidFill>
              <a:srgbClr val="58A6FF"/>
            </a:solidFill>
            <a:prstDash val="solid"/>
          </a:ln>
        </p:spPr>
        <p:txBody>
          <a:bodyPr/>
          <a:lstStyle/>
          <a:p>
            <a:endParaRPr lang="fr-FR"/>
          </a:p>
        </p:txBody>
      </p:sp>
      <p:sp>
        <p:nvSpPr>
          <p:cNvPr id="13" name="Shape 11"/>
          <p:cNvSpPr/>
          <p:nvPr/>
        </p:nvSpPr>
        <p:spPr>
          <a:xfrm>
            <a:off x="6766560" y="3017520"/>
            <a:ext cx="2011680" cy="0"/>
          </a:xfrm>
          <a:prstGeom prst="line">
            <a:avLst/>
          </a:prstGeom>
          <a:noFill/>
          <a:ln w="31750">
            <a:solidFill>
              <a:srgbClr val="BC8CFF"/>
            </a:solidFill>
            <a:prstDash val="solid"/>
          </a:ln>
        </p:spPr>
        <p:txBody>
          <a:bodyPr/>
          <a:lstStyle/>
          <a:p>
            <a:endParaRPr lang="fr-FR"/>
          </a:p>
        </p:txBody>
      </p:sp>
      <p:sp>
        <p:nvSpPr>
          <p:cNvPr id="14" name="Shape 12"/>
          <p:cNvSpPr/>
          <p:nvPr/>
        </p:nvSpPr>
        <p:spPr>
          <a:xfrm>
            <a:off x="6858000" y="1097280"/>
            <a:ext cx="0" cy="429768"/>
          </a:xfrm>
          <a:prstGeom prst="line">
            <a:avLst/>
          </a:prstGeom>
          <a:noFill/>
          <a:ln w="12700">
            <a:solidFill>
              <a:srgbClr val="FF7B72"/>
            </a:solidFill>
            <a:prstDash val="dash"/>
          </a:ln>
        </p:spPr>
        <p:txBody>
          <a:bodyPr/>
          <a:lstStyle/>
          <a:p>
            <a:endParaRPr lang="fr-FR"/>
          </a:p>
        </p:txBody>
      </p:sp>
      <p:sp>
        <p:nvSpPr>
          <p:cNvPr id="15" name="Shape 13"/>
          <p:cNvSpPr/>
          <p:nvPr/>
        </p:nvSpPr>
        <p:spPr>
          <a:xfrm>
            <a:off x="7406640" y="1645920"/>
            <a:ext cx="0" cy="91440"/>
          </a:xfrm>
          <a:prstGeom prst="line">
            <a:avLst/>
          </a:prstGeom>
          <a:noFill/>
          <a:ln w="12700">
            <a:solidFill>
              <a:srgbClr val="FF7B72"/>
            </a:solidFill>
            <a:prstDash val="dash"/>
          </a:ln>
        </p:spPr>
        <p:txBody>
          <a:bodyPr/>
          <a:lstStyle/>
          <a:p>
            <a:endParaRPr lang="fr-FR"/>
          </a:p>
        </p:txBody>
      </p:sp>
      <p:sp>
        <p:nvSpPr>
          <p:cNvPr id="16" name="Shape 14"/>
          <p:cNvSpPr/>
          <p:nvPr/>
        </p:nvSpPr>
        <p:spPr>
          <a:xfrm>
            <a:off x="7863840" y="1371600"/>
            <a:ext cx="0" cy="548640"/>
          </a:xfrm>
          <a:prstGeom prst="line">
            <a:avLst/>
          </a:prstGeom>
          <a:noFill/>
          <a:ln w="12700">
            <a:solidFill>
              <a:srgbClr val="FF7B72"/>
            </a:solidFill>
            <a:prstDash val="dash"/>
          </a:ln>
        </p:spPr>
        <p:txBody>
          <a:bodyPr/>
          <a:lstStyle/>
          <a:p>
            <a:endParaRPr lang="fr-FR"/>
          </a:p>
        </p:txBody>
      </p:sp>
      <p:sp>
        <p:nvSpPr>
          <p:cNvPr id="17" name="Shape 15"/>
          <p:cNvSpPr/>
          <p:nvPr/>
        </p:nvSpPr>
        <p:spPr>
          <a:xfrm>
            <a:off x="8229600" y="1920240"/>
            <a:ext cx="0" cy="246888"/>
          </a:xfrm>
          <a:prstGeom prst="line">
            <a:avLst/>
          </a:prstGeom>
          <a:noFill/>
          <a:ln w="12700">
            <a:solidFill>
              <a:srgbClr val="FF7B72"/>
            </a:solidFill>
            <a:prstDash val="dash"/>
          </a:ln>
        </p:spPr>
        <p:txBody>
          <a:bodyPr/>
          <a:lstStyle/>
          <a:p>
            <a:endParaRPr lang="fr-FR"/>
          </a:p>
        </p:txBody>
      </p:sp>
      <p:sp>
        <p:nvSpPr>
          <p:cNvPr id="18" name="Text 16"/>
          <p:cNvSpPr/>
          <p:nvPr/>
        </p:nvSpPr>
        <p:spPr>
          <a:xfrm>
            <a:off x="8302752" y="1371600"/>
            <a:ext cx="731520" cy="411480"/>
          </a:xfrm>
          <a:prstGeom prst="rect">
            <a:avLst/>
          </a:prstGeom>
          <a:noFill/>
          <a:ln/>
        </p:spPr>
        <p:txBody>
          <a:bodyPr wrap="square" lIns="0" tIns="0" rIns="0" bIns="0" rtlCol="0" anchor="ctr"/>
          <a:lstStyle/>
          <a:p>
            <a:pPr marL="0" indent="0">
              <a:buNone/>
            </a:pPr>
            <a:r>
              <a:rPr lang="en-US" sz="700" dirty="0">
                <a:solidFill>
                  <a:srgbClr val="FF7B72"/>
                </a:solidFill>
              </a:rPr>
              <a:t>residuals</a:t>
            </a:r>
            <a:endParaRPr lang="en-US" sz="700" dirty="0"/>
          </a:p>
          <a:p>
            <a:pPr marL="0" indent="0">
              <a:buNone/>
            </a:pPr>
            <a:r>
              <a:rPr lang="en-US" sz="700" dirty="0">
                <a:solidFill>
                  <a:srgbClr val="FF7B72"/>
                </a:solidFill>
              </a:rPr>
              <a:t>(errors)</a:t>
            </a:r>
            <a:endParaRPr lang="en-US" sz="700" dirty="0"/>
          </a:p>
        </p:txBody>
      </p:sp>
      <p:sp>
        <p:nvSpPr>
          <p:cNvPr id="19" name="Shape 17"/>
          <p:cNvSpPr/>
          <p:nvPr/>
        </p:nvSpPr>
        <p:spPr>
          <a:xfrm>
            <a:off x="8229600" y="1664208"/>
            <a:ext cx="0" cy="164592"/>
          </a:xfrm>
          <a:prstGeom prst="line">
            <a:avLst/>
          </a:prstGeom>
          <a:noFill/>
          <a:ln w="10160">
            <a:solidFill>
              <a:srgbClr val="FF7B72"/>
            </a:solidFill>
            <a:prstDash val="solid"/>
          </a:ln>
        </p:spPr>
        <p:txBody>
          <a:bodyPr/>
          <a:lstStyle/>
          <a:p>
            <a:endParaRPr lang="fr-FR"/>
          </a:p>
        </p:txBody>
      </p:sp>
      <p:sp>
        <p:nvSpPr>
          <p:cNvPr id="20" name="Text 18"/>
          <p:cNvSpPr/>
          <p:nvPr/>
        </p:nvSpPr>
        <p:spPr>
          <a:xfrm>
            <a:off x="731520" y="1005840"/>
            <a:ext cx="5943600" cy="411480"/>
          </a:xfrm>
          <a:prstGeom prst="rect">
            <a:avLst/>
          </a:prstGeom>
          <a:noFill/>
          <a:ln/>
        </p:spPr>
        <p:txBody>
          <a:bodyPr wrap="square" lIns="0" tIns="0" rIns="0" bIns="0" rtlCol="0" anchor="ctr"/>
          <a:lstStyle/>
          <a:p>
            <a:pPr marL="0" indent="0">
              <a:buNone/>
            </a:pPr>
            <a:r>
              <a:rPr lang="en-US" sz="1300" b="1" kern="0" spc="600" dirty="0">
                <a:solidFill>
                  <a:srgbClr val="BC8CFF"/>
                </a:solidFill>
              </a:rPr>
              <a:t>LINEAR REGRESSION</a:t>
            </a:r>
            <a:endParaRPr lang="en-US" sz="1300" dirty="0"/>
          </a:p>
        </p:txBody>
      </p:sp>
      <p:sp>
        <p:nvSpPr>
          <p:cNvPr id="21" name="Text 19"/>
          <p:cNvSpPr/>
          <p:nvPr/>
        </p:nvSpPr>
        <p:spPr>
          <a:xfrm>
            <a:off x="731520" y="1463040"/>
            <a:ext cx="5943600" cy="914400"/>
          </a:xfrm>
          <a:prstGeom prst="rect">
            <a:avLst/>
          </a:prstGeom>
          <a:noFill/>
          <a:ln/>
        </p:spPr>
        <p:txBody>
          <a:bodyPr wrap="square" lIns="0" tIns="0" rIns="0" bIns="0" rtlCol="0" anchor="ctr"/>
          <a:lstStyle/>
          <a:p>
            <a:pPr marL="0" indent="0">
              <a:buNone/>
            </a:pPr>
            <a:r>
              <a:rPr lang="en-US" sz="5200" b="1" dirty="0">
                <a:solidFill>
                  <a:srgbClr val="F0F6FC"/>
                </a:solidFill>
              </a:rPr>
              <a:t>Forward Pass</a:t>
            </a:r>
            <a:endParaRPr lang="en-US" sz="5200" dirty="0"/>
          </a:p>
        </p:txBody>
      </p:sp>
      <p:sp>
        <p:nvSpPr>
          <p:cNvPr id="22" name="Text 20"/>
          <p:cNvSpPr/>
          <p:nvPr/>
        </p:nvSpPr>
        <p:spPr>
          <a:xfrm>
            <a:off x="731520" y="2359152"/>
            <a:ext cx="5943600" cy="685800"/>
          </a:xfrm>
          <a:prstGeom prst="rect">
            <a:avLst/>
          </a:prstGeom>
          <a:noFill/>
          <a:ln/>
        </p:spPr>
        <p:txBody>
          <a:bodyPr wrap="square" lIns="0" tIns="0" rIns="0" bIns="0" rtlCol="0" anchor="ctr"/>
          <a:lstStyle/>
          <a:p>
            <a:pPr marL="0" indent="0">
              <a:buNone/>
            </a:pPr>
            <a:r>
              <a:rPr lang="en-US" sz="4200" b="1" dirty="0">
                <a:solidFill>
                  <a:srgbClr val="BC8CFF"/>
                </a:solidFill>
              </a:rPr>
              <a:t>Deep Dive</a:t>
            </a:r>
            <a:endParaRPr lang="en-US" sz="4200" dirty="0"/>
          </a:p>
        </p:txBody>
      </p:sp>
      <p:sp>
        <p:nvSpPr>
          <p:cNvPr id="23" name="Text 21"/>
          <p:cNvSpPr/>
          <p:nvPr/>
        </p:nvSpPr>
        <p:spPr>
          <a:xfrm>
            <a:off x="731520" y="3127248"/>
            <a:ext cx="5943600" cy="384048"/>
          </a:xfrm>
          <a:prstGeom prst="rect">
            <a:avLst/>
          </a:prstGeom>
          <a:noFill/>
          <a:ln/>
        </p:spPr>
        <p:txBody>
          <a:bodyPr wrap="square" lIns="0" tIns="0" rIns="0" bIns="0" rtlCol="0" anchor="ctr"/>
          <a:lstStyle/>
          <a:p>
            <a:pPr marL="0" indent="0">
              <a:buNone/>
            </a:pPr>
            <a:r>
              <a:rPr lang="en-US" sz="1400" i="1" dirty="0">
                <a:solidFill>
                  <a:srgbClr val="8B949E"/>
                </a:solidFill>
              </a:rPr>
              <a:t>From raw data → prediction → measuring error, step by step</a:t>
            </a:r>
            <a:endParaRPr lang="en-US" sz="1400" dirty="0"/>
          </a:p>
        </p:txBody>
      </p:sp>
      <p:sp>
        <p:nvSpPr>
          <p:cNvPr id="24" name="Shape 22"/>
          <p:cNvSpPr/>
          <p:nvPr/>
        </p:nvSpPr>
        <p:spPr>
          <a:xfrm>
            <a:off x="731520" y="3703320"/>
            <a:ext cx="274320" cy="274320"/>
          </a:xfrm>
          <a:prstGeom prst="ellipse">
            <a:avLst/>
          </a:prstGeom>
          <a:solidFill>
            <a:srgbClr val="BC8CFF"/>
          </a:solidFill>
          <a:ln w="12700">
            <a:solidFill>
              <a:srgbClr val="BC8CFF"/>
            </a:solidFill>
            <a:prstDash val="solid"/>
          </a:ln>
        </p:spPr>
        <p:txBody>
          <a:bodyPr/>
          <a:lstStyle/>
          <a:p>
            <a:endParaRPr lang="fr-FR"/>
          </a:p>
        </p:txBody>
      </p:sp>
      <p:sp>
        <p:nvSpPr>
          <p:cNvPr id="25" name="Shape 23"/>
          <p:cNvSpPr/>
          <p:nvPr/>
        </p:nvSpPr>
        <p:spPr>
          <a:xfrm>
            <a:off x="1143000" y="3703320"/>
            <a:ext cx="274320" cy="274320"/>
          </a:xfrm>
          <a:prstGeom prst="ellipse">
            <a:avLst/>
          </a:prstGeom>
          <a:solidFill>
            <a:srgbClr val="58A6FF"/>
          </a:solidFill>
          <a:ln w="12700">
            <a:solidFill>
              <a:srgbClr val="58A6FF"/>
            </a:solidFill>
            <a:prstDash val="solid"/>
          </a:ln>
        </p:spPr>
        <p:txBody>
          <a:bodyPr/>
          <a:lstStyle/>
          <a:p>
            <a:endParaRPr lang="fr-FR"/>
          </a:p>
        </p:txBody>
      </p:sp>
      <p:sp>
        <p:nvSpPr>
          <p:cNvPr id="26" name="Shape 24"/>
          <p:cNvSpPr/>
          <p:nvPr/>
        </p:nvSpPr>
        <p:spPr>
          <a:xfrm>
            <a:off x="1554480" y="3703320"/>
            <a:ext cx="274320" cy="274320"/>
          </a:xfrm>
          <a:prstGeom prst="ellipse">
            <a:avLst/>
          </a:prstGeom>
          <a:solidFill>
            <a:srgbClr val="3FB950"/>
          </a:solidFill>
          <a:ln w="12700">
            <a:solidFill>
              <a:srgbClr val="3FB950"/>
            </a:solidFill>
            <a:prstDash val="solid"/>
          </a:ln>
        </p:spPr>
        <p:txBody>
          <a:bodyPr/>
          <a:lstStyle/>
          <a:p>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BC8CFF"/>
          </a:solidFill>
          <a:ln w="12700">
            <a:solidFill>
              <a:srgbClr val="BC8CFF"/>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Forward Pass — Step 1: The Prediction  ŷ = w·x + b</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BC8CFF"/>
                </a:solidFill>
              </a:rPr>
              <a:t>The simplest possible model: a straight line</a:t>
            </a:r>
            <a:endParaRPr lang="en-US" sz="1200" dirty="0"/>
          </a:p>
        </p:txBody>
      </p:sp>
      <p:sp>
        <p:nvSpPr>
          <p:cNvPr id="5" name="Shape 3"/>
          <p:cNvSpPr/>
          <p:nvPr/>
        </p:nvSpPr>
        <p:spPr>
          <a:xfrm>
            <a:off x="320040" y="1024128"/>
            <a:ext cx="8503920" cy="0"/>
          </a:xfrm>
          <a:prstGeom prst="line">
            <a:avLst/>
          </a:prstGeom>
          <a:noFill/>
          <a:ln w="12700">
            <a:solidFill>
              <a:srgbClr val="BC8CFF"/>
            </a:solidFill>
            <a:prstDash val="solid"/>
          </a:ln>
        </p:spPr>
        <p:txBody>
          <a:bodyPr/>
          <a:lstStyle/>
          <a:p>
            <a:endParaRPr lang="fr-FR"/>
          </a:p>
        </p:txBody>
      </p:sp>
      <p:sp>
        <p:nvSpPr>
          <p:cNvPr id="6" name="Shape 4"/>
          <p:cNvSpPr/>
          <p:nvPr/>
        </p:nvSpPr>
        <p:spPr>
          <a:xfrm>
            <a:off x="320040" y="1170432"/>
            <a:ext cx="8503920" cy="804672"/>
          </a:xfrm>
          <a:prstGeom prst="rect">
            <a:avLst/>
          </a:prstGeom>
          <a:solidFill>
            <a:srgbClr val="21262D"/>
          </a:solidFill>
          <a:ln w="1905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502920" y="1170432"/>
            <a:ext cx="8321040" cy="804672"/>
          </a:xfrm>
          <a:prstGeom prst="rect">
            <a:avLst/>
          </a:prstGeom>
          <a:noFill/>
          <a:ln/>
        </p:spPr>
        <p:txBody>
          <a:bodyPr wrap="square" lIns="0" tIns="0" rIns="0" bIns="0" rtlCol="0" anchor="ctr"/>
          <a:lstStyle/>
          <a:p>
            <a:pPr marL="0" indent="0">
              <a:buNone/>
            </a:pPr>
            <a:r>
              <a:rPr lang="en-US" sz="1800" b="1" dirty="0">
                <a:solidFill>
                  <a:srgbClr val="F0F6FC"/>
                </a:solidFill>
              </a:rPr>
              <a:t>ŷ  =  </a:t>
            </a:r>
            <a:r>
              <a:rPr lang="en-US" sz="1800" b="1" dirty="0">
                <a:solidFill>
                  <a:srgbClr val="F0883E"/>
                </a:solidFill>
              </a:rPr>
              <a:t>w</a:t>
            </a:r>
            <a:r>
              <a:rPr lang="en-US" sz="1800" dirty="0">
                <a:solidFill>
                  <a:srgbClr val="F0F6FC"/>
                </a:solidFill>
              </a:rPr>
              <a:t>  ×  </a:t>
            </a:r>
            <a:r>
              <a:rPr lang="en-US" sz="1800" b="1" dirty="0">
                <a:solidFill>
                  <a:srgbClr val="58A6FF"/>
                </a:solidFill>
              </a:rPr>
              <a:t>x</a:t>
            </a:r>
            <a:r>
              <a:rPr lang="en-US" sz="1800" dirty="0">
                <a:solidFill>
                  <a:srgbClr val="F0F6FC"/>
                </a:solidFill>
              </a:rPr>
              <a:t>  +  </a:t>
            </a:r>
            <a:r>
              <a:rPr lang="en-US" sz="1800" b="1" dirty="0">
                <a:solidFill>
                  <a:srgbClr val="E3B341"/>
                </a:solidFill>
              </a:rPr>
              <a:t>b</a:t>
            </a:r>
            <a:r>
              <a:rPr lang="en-US" sz="1800" dirty="0">
                <a:solidFill>
                  <a:srgbClr val="000000"/>
                </a:solidFill>
              </a:rPr>
              <a:t>         </a:t>
            </a:r>
            <a:r>
              <a:rPr lang="en-US" sz="1800" dirty="0">
                <a:solidFill>
                  <a:srgbClr val="F0883E"/>
                </a:solidFill>
              </a:rPr>
              <a:t>w</a:t>
            </a:r>
            <a:r>
              <a:rPr lang="en-US" sz="1800" dirty="0">
                <a:solidFill>
                  <a:srgbClr val="8B949E"/>
                </a:solidFill>
              </a:rPr>
              <a:t> = weight (slope)   </a:t>
            </a:r>
            <a:r>
              <a:rPr lang="en-US" sz="1800" dirty="0">
                <a:solidFill>
                  <a:srgbClr val="58A6FF"/>
                </a:solidFill>
              </a:rPr>
              <a:t>x</a:t>
            </a:r>
            <a:r>
              <a:rPr lang="en-US" sz="1800" dirty="0">
                <a:solidFill>
                  <a:srgbClr val="8B949E"/>
                </a:solidFill>
              </a:rPr>
              <a:t> = input feature   </a:t>
            </a:r>
            <a:r>
              <a:rPr lang="en-US" sz="1800" dirty="0">
                <a:solidFill>
                  <a:srgbClr val="E3B341"/>
                </a:solidFill>
              </a:rPr>
              <a:t>b</a:t>
            </a:r>
            <a:r>
              <a:rPr lang="en-US" sz="1800" dirty="0">
                <a:solidFill>
                  <a:srgbClr val="8B949E"/>
                </a:solidFill>
              </a:rPr>
              <a:t> = bias (intercept)</a:t>
            </a:r>
            <a:endParaRPr lang="en-US" sz="1800" dirty="0"/>
          </a:p>
        </p:txBody>
      </p:sp>
      <p:sp>
        <p:nvSpPr>
          <p:cNvPr id="8" name="Shape 6"/>
          <p:cNvSpPr/>
          <p:nvPr/>
        </p:nvSpPr>
        <p:spPr>
          <a:xfrm>
            <a:off x="320040" y="2103120"/>
            <a:ext cx="4023360" cy="274320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9" name="Text 7"/>
          <p:cNvSpPr/>
          <p:nvPr/>
        </p:nvSpPr>
        <p:spPr>
          <a:xfrm>
            <a:off x="457200" y="2148840"/>
            <a:ext cx="3749040" cy="292608"/>
          </a:xfrm>
          <a:prstGeom prst="rect">
            <a:avLst/>
          </a:prstGeom>
          <a:noFill/>
          <a:ln/>
        </p:spPr>
        <p:txBody>
          <a:bodyPr wrap="square" lIns="0" tIns="0" rIns="0" bIns="0" rtlCol="0" anchor="ctr"/>
          <a:lstStyle/>
          <a:p>
            <a:pPr marL="0" indent="0" algn="ctr">
              <a:buNone/>
            </a:pPr>
            <a:r>
              <a:rPr lang="en-US" sz="1100" dirty="0">
                <a:solidFill>
                  <a:srgbClr val="8B949E"/>
                </a:solidFill>
              </a:rPr>
              <a:t>What do w, x, b mean?</a:t>
            </a:r>
            <a:endParaRPr lang="en-US" sz="1100" dirty="0"/>
          </a:p>
        </p:txBody>
      </p:sp>
      <p:sp>
        <p:nvSpPr>
          <p:cNvPr id="10" name="Shape 8"/>
          <p:cNvSpPr/>
          <p:nvPr/>
        </p:nvSpPr>
        <p:spPr>
          <a:xfrm>
            <a:off x="457200" y="2551176"/>
            <a:ext cx="411480" cy="411480"/>
          </a:xfrm>
          <a:prstGeom prst="ellipse">
            <a:avLst/>
          </a:prstGeom>
          <a:solidFill>
            <a:srgbClr val="58A6FF"/>
          </a:solidFill>
          <a:ln w="12700">
            <a:solidFill>
              <a:srgbClr val="58A6FF"/>
            </a:solidFill>
            <a:prstDash val="solid"/>
          </a:ln>
        </p:spPr>
        <p:txBody>
          <a:bodyPr/>
          <a:lstStyle/>
          <a:p>
            <a:endParaRPr lang="fr-FR"/>
          </a:p>
        </p:txBody>
      </p:sp>
      <p:sp>
        <p:nvSpPr>
          <p:cNvPr id="11" name="Text 9"/>
          <p:cNvSpPr/>
          <p:nvPr/>
        </p:nvSpPr>
        <p:spPr>
          <a:xfrm>
            <a:off x="457200" y="2551176"/>
            <a:ext cx="411480" cy="411480"/>
          </a:xfrm>
          <a:prstGeom prst="rect">
            <a:avLst/>
          </a:prstGeom>
          <a:noFill/>
          <a:ln/>
        </p:spPr>
        <p:txBody>
          <a:bodyPr wrap="square" lIns="0" tIns="0" rIns="0" bIns="0" rtlCol="0" anchor="ctr"/>
          <a:lstStyle/>
          <a:p>
            <a:pPr marL="0" indent="0" algn="ctr">
              <a:buNone/>
            </a:pPr>
            <a:r>
              <a:rPr lang="en-US" sz="1300" b="1" dirty="0">
                <a:solidFill>
                  <a:srgbClr val="F0F6FC"/>
                </a:solidFill>
              </a:rPr>
              <a:t>x</a:t>
            </a:r>
            <a:endParaRPr lang="en-US" sz="1300" dirty="0"/>
          </a:p>
        </p:txBody>
      </p:sp>
      <p:sp>
        <p:nvSpPr>
          <p:cNvPr id="12" name="Text 10"/>
          <p:cNvSpPr/>
          <p:nvPr/>
        </p:nvSpPr>
        <p:spPr>
          <a:xfrm>
            <a:off x="960120" y="2542032"/>
            <a:ext cx="3246120" cy="201168"/>
          </a:xfrm>
          <a:prstGeom prst="rect">
            <a:avLst/>
          </a:prstGeom>
          <a:noFill/>
          <a:ln/>
        </p:spPr>
        <p:txBody>
          <a:bodyPr wrap="square" lIns="0" tIns="0" rIns="0" bIns="0" rtlCol="0" anchor="ctr"/>
          <a:lstStyle/>
          <a:p>
            <a:pPr marL="0" indent="0">
              <a:buNone/>
            </a:pPr>
            <a:r>
              <a:rPr lang="en-US" sz="1000" b="1" dirty="0">
                <a:solidFill>
                  <a:srgbClr val="58A6FF"/>
                </a:solidFill>
              </a:rPr>
              <a:t>Input feature</a:t>
            </a:r>
            <a:endParaRPr lang="en-US" sz="1000" dirty="0"/>
          </a:p>
        </p:txBody>
      </p:sp>
      <p:sp>
        <p:nvSpPr>
          <p:cNvPr id="13" name="Text 11"/>
          <p:cNvSpPr/>
          <p:nvPr/>
        </p:nvSpPr>
        <p:spPr>
          <a:xfrm>
            <a:off x="960120" y="2752344"/>
            <a:ext cx="3246120" cy="320040"/>
          </a:xfrm>
          <a:prstGeom prst="rect">
            <a:avLst/>
          </a:prstGeom>
          <a:noFill/>
          <a:ln/>
        </p:spPr>
        <p:txBody>
          <a:bodyPr wrap="square" lIns="0" tIns="0" rIns="0" bIns="0" rtlCol="0" anchor="ctr"/>
          <a:lstStyle/>
          <a:p>
            <a:pPr marL="0" indent="0">
              <a:buNone/>
            </a:pPr>
            <a:r>
              <a:rPr lang="en-US" sz="900" dirty="0">
                <a:solidFill>
                  <a:srgbClr val="8B949E"/>
                </a:solidFill>
              </a:rPr>
              <a:t>Size of house in m²</a:t>
            </a:r>
            <a:endParaRPr lang="en-US" sz="900" dirty="0"/>
          </a:p>
        </p:txBody>
      </p:sp>
      <p:sp>
        <p:nvSpPr>
          <p:cNvPr id="14" name="Shape 12"/>
          <p:cNvSpPr/>
          <p:nvPr/>
        </p:nvSpPr>
        <p:spPr>
          <a:xfrm>
            <a:off x="457200" y="3145536"/>
            <a:ext cx="411480" cy="411480"/>
          </a:xfrm>
          <a:prstGeom prst="ellipse">
            <a:avLst/>
          </a:prstGeom>
          <a:solidFill>
            <a:srgbClr val="F0883E"/>
          </a:solidFill>
          <a:ln w="12700">
            <a:solidFill>
              <a:srgbClr val="F0883E"/>
            </a:solidFill>
            <a:prstDash val="solid"/>
          </a:ln>
        </p:spPr>
        <p:txBody>
          <a:bodyPr/>
          <a:lstStyle/>
          <a:p>
            <a:endParaRPr lang="fr-FR"/>
          </a:p>
        </p:txBody>
      </p:sp>
      <p:sp>
        <p:nvSpPr>
          <p:cNvPr id="15" name="Text 13"/>
          <p:cNvSpPr/>
          <p:nvPr/>
        </p:nvSpPr>
        <p:spPr>
          <a:xfrm>
            <a:off x="457200" y="3145536"/>
            <a:ext cx="411480" cy="411480"/>
          </a:xfrm>
          <a:prstGeom prst="rect">
            <a:avLst/>
          </a:prstGeom>
          <a:noFill/>
          <a:ln/>
        </p:spPr>
        <p:txBody>
          <a:bodyPr wrap="square" lIns="0" tIns="0" rIns="0" bIns="0" rtlCol="0" anchor="ctr"/>
          <a:lstStyle/>
          <a:p>
            <a:pPr marL="0" indent="0" algn="ctr">
              <a:buNone/>
            </a:pPr>
            <a:r>
              <a:rPr lang="en-US" sz="1300" b="1" dirty="0">
                <a:solidFill>
                  <a:srgbClr val="F0F6FC"/>
                </a:solidFill>
              </a:rPr>
              <a:t>w</a:t>
            </a:r>
            <a:endParaRPr lang="en-US" sz="1300" dirty="0"/>
          </a:p>
        </p:txBody>
      </p:sp>
      <p:sp>
        <p:nvSpPr>
          <p:cNvPr id="16" name="Text 14"/>
          <p:cNvSpPr/>
          <p:nvPr/>
        </p:nvSpPr>
        <p:spPr>
          <a:xfrm>
            <a:off x="960120" y="3136392"/>
            <a:ext cx="3246120" cy="201168"/>
          </a:xfrm>
          <a:prstGeom prst="rect">
            <a:avLst/>
          </a:prstGeom>
          <a:noFill/>
          <a:ln/>
        </p:spPr>
        <p:txBody>
          <a:bodyPr wrap="square" lIns="0" tIns="0" rIns="0" bIns="0" rtlCol="0" anchor="ctr"/>
          <a:lstStyle/>
          <a:p>
            <a:pPr marL="0" indent="0">
              <a:buNone/>
            </a:pPr>
            <a:r>
              <a:rPr lang="en-US" sz="1000" b="1" dirty="0">
                <a:solidFill>
                  <a:srgbClr val="F0883E"/>
                </a:solidFill>
              </a:rPr>
              <a:t>Weight  (slope)</a:t>
            </a:r>
            <a:endParaRPr lang="en-US" sz="1000" dirty="0"/>
          </a:p>
        </p:txBody>
      </p:sp>
      <p:sp>
        <p:nvSpPr>
          <p:cNvPr id="17" name="Text 15"/>
          <p:cNvSpPr/>
          <p:nvPr/>
        </p:nvSpPr>
        <p:spPr>
          <a:xfrm>
            <a:off x="960120" y="3346704"/>
            <a:ext cx="3246120" cy="320040"/>
          </a:xfrm>
          <a:prstGeom prst="rect">
            <a:avLst/>
          </a:prstGeom>
          <a:noFill/>
          <a:ln/>
        </p:spPr>
        <p:txBody>
          <a:bodyPr wrap="square" lIns="0" tIns="0" rIns="0" bIns="0" rtlCol="0" anchor="ctr"/>
          <a:lstStyle/>
          <a:p>
            <a:pPr marL="0" indent="0">
              <a:buNone/>
            </a:pPr>
            <a:r>
              <a:rPr lang="en-US" sz="900" dirty="0">
                <a:solidFill>
                  <a:srgbClr val="8B949E"/>
                </a:solidFill>
              </a:rPr>
              <a:t>How much does price go up per m²?</a:t>
            </a:r>
            <a:endParaRPr lang="en-US" sz="900" dirty="0"/>
          </a:p>
          <a:p>
            <a:pPr marL="0" indent="0">
              <a:buNone/>
            </a:pPr>
            <a:r>
              <a:rPr lang="en-US" sz="900" dirty="0">
                <a:solidFill>
                  <a:srgbClr val="8B949E"/>
                </a:solidFill>
              </a:rPr>
              <a:t>→ learned by the model</a:t>
            </a:r>
            <a:endParaRPr lang="en-US" sz="900" dirty="0"/>
          </a:p>
        </p:txBody>
      </p:sp>
      <p:sp>
        <p:nvSpPr>
          <p:cNvPr id="18" name="Shape 16"/>
          <p:cNvSpPr/>
          <p:nvPr/>
        </p:nvSpPr>
        <p:spPr>
          <a:xfrm>
            <a:off x="457200" y="3739896"/>
            <a:ext cx="411480" cy="411480"/>
          </a:xfrm>
          <a:prstGeom prst="ellipse">
            <a:avLst/>
          </a:prstGeom>
          <a:solidFill>
            <a:srgbClr val="E3B341"/>
          </a:solidFill>
          <a:ln w="12700">
            <a:solidFill>
              <a:srgbClr val="E3B341"/>
            </a:solidFill>
            <a:prstDash val="solid"/>
          </a:ln>
        </p:spPr>
        <p:txBody>
          <a:bodyPr/>
          <a:lstStyle/>
          <a:p>
            <a:endParaRPr lang="fr-FR"/>
          </a:p>
        </p:txBody>
      </p:sp>
      <p:sp>
        <p:nvSpPr>
          <p:cNvPr id="19" name="Text 17"/>
          <p:cNvSpPr/>
          <p:nvPr/>
        </p:nvSpPr>
        <p:spPr>
          <a:xfrm>
            <a:off x="457200" y="3739896"/>
            <a:ext cx="411480" cy="411480"/>
          </a:xfrm>
          <a:prstGeom prst="rect">
            <a:avLst/>
          </a:prstGeom>
          <a:noFill/>
          <a:ln/>
        </p:spPr>
        <p:txBody>
          <a:bodyPr wrap="square" lIns="0" tIns="0" rIns="0" bIns="0" rtlCol="0" anchor="ctr"/>
          <a:lstStyle/>
          <a:p>
            <a:pPr marL="0" indent="0" algn="ctr">
              <a:buNone/>
            </a:pPr>
            <a:r>
              <a:rPr lang="en-US" sz="1300" b="1" dirty="0">
                <a:solidFill>
                  <a:srgbClr val="F0F6FC"/>
                </a:solidFill>
              </a:rPr>
              <a:t>b</a:t>
            </a:r>
            <a:endParaRPr lang="en-US" sz="1300" dirty="0"/>
          </a:p>
        </p:txBody>
      </p:sp>
      <p:sp>
        <p:nvSpPr>
          <p:cNvPr id="20" name="Text 18"/>
          <p:cNvSpPr/>
          <p:nvPr/>
        </p:nvSpPr>
        <p:spPr>
          <a:xfrm>
            <a:off x="960120" y="3730752"/>
            <a:ext cx="3246120" cy="201168"/>
          </a:xfrm>
          <a:prstGeom prst="rect">
            <a:avLst/>
          </a:prstGeom>
          <a:noFill/>
          <a:ln/>
        </p:spPr>
        <p:txBody>
          <a:bodyPr wrap="square" lIns="0" tIns="0" rIns="0" bIns="0" rtlCol="0" anchor="ctr"/>
          <a:lstStyle/>
          <a:p>
            <a:pPr marL="0" indent="0">
              <a:buNone/>
            </a:pPr>
            <a:r>
              <a:rPr lang="en-US" sz="1000" b="1" dirty="0">
                <a:solidFill>
                  <a:srgbClr val="E3B341"/>
                </a:solidFill>
              </a:rPr>
              <a:t>Bias  (intercept)</a:t>
            </a:r>
            <a:endParaRPr lang="en-US" sz="1000" dirty="0"/>
          </a:p>
        </p:txBody>
      </p:sp>
      <p:sp>
        <p:nvSpPr>
          <p:cNvPr id="21" name="Text 19"/>
          <p:cNvSpPr/>
          <p:nvPr/>
        </p:nvSpPr>
        <p:spPr>
          <a:xfrm>
            <a:off x="960120" y="3941064"/>
            <a:ext cx="3246120" cy="320040"/>
          </a:xfrm>
          <a:prstGeom prst="rect">
            <a:avLst/>
          </a:prstGeom>
          <a:noFill/>
          <a:ln/>
        </p:spPr>
        <p:txBody>
          <a:bodyPr wrap="square" lIns="0" tIns="0" rIns="0" bIns="0" rtlCol="0" anchor="ctr"/>
          <a:lstStyle/>
          <a:p>
            <a:pPr marL="0" indent="0">
              <a:buNone/>
            </a:pPr>
            <a:r>
              <a:rPr lang="en-US" sz="900" dirty="0">
                <a:solidFill>
                  <a:srgbClr val="8B949E"/>
                </a:solidFill>
              </a:rPr>
              <a:t>Base price even at 0 m²</a:t>
            </a:r>
            <a:endParaRPr lang="en-US" sz="900" dirty="0"/>
          </a:p>
          <a:p>
            <a:pPr marL="0" indent="0">
              <a:buNone/>
            </a:pPr>
            <a:r>
              <a:rPr lang="en-US" sz="900" dirty="0">
                <a:solidFill>
                  <a:srgbClr val="8B949E"/>
                </a:solidFill>
              </a:rPr>
              <a:t>→ learned by the model</a:t>
            </a:r>
            <a:endParaRPr lang="en-US" sz="900" dirty="0"/>
          </a:p>
        </p:txBody>
      </p:sp>
      <p:sp>
        <p:nvSpPr>
          <p:cNvPr id="22" name="Shape 20"/>
          <p:cNvSpPr/>
          <p:nvPr/>
        </p:nvSpPr>
        <p:spPr>
          <a:xfrm>
            <a:off x="457200" y="4334256"/>
            <a:ext cx="411480" cy="411480"/>
          </a:xfrm>
          <a:prstGeom prst="ellipse">
            <a:avLst/>
          </a:prstGeom>
          <a:solidFill>
            <a:srgbClr val="BC8CFF"/>
          </a:solidFill>
          <a:ln w="12700">
            <a:solidFill>
              <a:srgbClr val="BC8CFF"/>
            </a:solidFill>
            <a:prstDash val="solid"/>
          </a:ln>
        </p:spPr>
        <p:txBody>
          <a:bodyPr/>
          <a:lstStyle/>
          <a:p>
            <a:endParaRPr lang="fr-FR"/>
          </a:p>
        </p:txBody>
      </p:sp>
      <p:sp>
        <p:nvSpPr>
          <p:cNvPr id="23" name="Text 21"/>
          <p:cNvSpPr/>
          <p:nvPr/>
        </p:nvSpPr>
        <p:spPr>
          <a:xfrm>
            <a:off x="457200" y="4334256"/>
            <a:ext cx="411480" cy="411480"/>
          </a:xfrm>
          <a:prstGeom prst="rect">
            <a:avLst/>
          </a:prstGeom>
          <a:noFill/>
          <a:ln/>
        </p:spPr>
        <p:txBody>
          <a:bodyPr wrap="square" lIns="0" tIns="0" rIns="0" bIns="0" rtlCol="0" anchor="ctr"/>
          <a:lstStyle/>
          <a:p>
            <a:pPr marL="0" indent="0" algn="ctr">
              <a:buNone/>
            </a:pPr>
            <a:r>
              <a:rPr lang="en-US" sz="1300" b="1" dirty="0">
                <a:solidFill>
                  <a:srgbClr val="F0F6FC"/>
                </a:solidFill>
              </a:rPr>
              <a:t>ŷ</a:t>
            </a:r>
            <a:endParaRPr lang="en-US" sz="1300" dirty="0"/>
          </a:p>
        </p:txBody>
      </p:sp>
      <p:sp>
        <p:nvSpPr>
          <p:cNvPr id="24" name="Text 22"/>
          <p:cNvSpPr/>
          <p:nvPr/>
        </p:nvSpPr>
        <p:spPr>
          <a:xfrm>
            <a:off x="960120" y="4325112"/>
            <a:ext cx="3246120" cy="201168"/>
          </a:xfrm>
          <a:prstGeom prst="rect">
            <a:avLst/>
          </a:prstGeom>
          <a:noFill/>
          <a:ln/>
        </p:spPr>
        <p:txBody>
          <a:bodyPr wrap="square" lIns="0" tIns="0" rIns="0" bIns="0" rtlCol="0" anchor="ctr"/>
          <a:lstStyle/>
          <a:p>
            <a:pPr marL="0" indent="0">
              <a:buNone/>
            </a:pPr>
            <a:r>
              <a:rPr lang="en-US" sz="1000" b="1" dirty="0">
                <a:solidFill>
                  <a:srgbClr val="BC8CFF"/>
                </a:solidFill>
              </a:rPr>
              <a:t>Prediction</a:t>
            </a:r>
            <a:endParaRPr lang="en-US" sz="1000" dirty="0"/>
          </a:p>
        </p:txBody>
      </p:sp>
      <p:sp>
        <p:nvSpPr>
          <p:cNvPr id="25" name="Text 23"/>
          <p:cNvSpPr/>
          <p:nvPr/>
        </p:nvSpPr>
        <p:spPr>
          <a:xfrm>
            <a:off x="960120" y="4535424"/>
            <a:ext cx="3246120" cy="320040"/>
          </a:xfrm>
          <a:prstGeom prst="rect">
            <a:avLst/>
          </a:prstGeom>
          <a:noFill/>
          <a:ln/>
        </p:spPr>
        <p:txBody>
          <a:bodyPr wrap="square" lIns="0" tIns="0" rIns="0" bIns="0" rtlCol="0" anchor="ctr"/>
          <a:lstStyle/>
          <a:p>
            <a:pPr marL="0" indent="0">
              <a:buNone/>
            </a:pPr>
            <a:r>
              <a:rPr lang="en-US" sz="900" dirty="0">
                <a:solidFill>
                  <a:srgbClr val="8B949E"/>
                </a:solidFill>
              </a:rPr>
              <a:t>The price our model guesses</a:t>
            </a:r>
            <a:endParaRPr lang="en-US" sz="900" dirty="0"/>
          </a:p>
          <a:p>
            <a:pPr marL="0" indent="0">
              <a:buNone/>
            </a:pPr>
            <a:r>
              <a:rPr lang="en-US" sz="900" dirty="0">
                <a:solidFill>
                  <a:srgbClr val="8B949E"/>
                </a:solidFill>
              </a:rPr>
              <a:t>(might be wrong!)</a:t>
            </a:r>
            <a:endParaRPr lang="en-US" sz="900" dirty="0"/>
          </a:p>
        </p:txBody>
      </p:sp>
      <p:sp>
        <p:nvSpPr>
          <p:cNvPr id="26" name="Shape 24"/>
          <p:cNvSpPr/>
          <p:nvPr/>
        </p:nvSpPr>
        <p:spPr>
          <a:xfrm>
            <a:off x="4663440" y="2103120"/>
            <a:ext cx="4160520" cy="274320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27" name="Text 25"/>
          <p:cNvSpPr/>
          <p:nvPr/>
        </p:nvSpPr>
        <p:spPr>
          <a:xfrm>
            <a:off x="4800600" y="2148840"/>
            <a:ext cx="3886200" cy="292608"/>
          </a:xfrm>
          <a:prstGeom prst="rect">
            <a:avLst/>
          </a:prstGeom>
          <a:noFill/>
          <a:ln/>
        </p:spPr>
        <p:txBody>
          <a:bodyPr wrap="square" lIns="0" tIns="0" rIns="0" bIns="0" rtlCol="0" anchor="ctr"/>
          <a:lstStyle/>
          <a:p>
            <a:pPr marL="0" indent="0" algn="ctr">
              <a:buNone/>
            </a:pPr>
            <a:r>
              <a:rPr lang="en-US" sz="1000" dirty="0">
                <a:solidFill>
                  <a:srgbClr val="8B949E"/>
                </a:solidFill>
              </a:rPr>
              <a:t>Numeric Example  — Predicting House Price</a:t>
            </a:r>
            <a:endParaRPr lang="en-US" sz="1000" dirty="0"/>
          </a:p>
        </p:txBody>
      </p:sp>
      <p:sp>
        <p:nvSpPr>
          <p:cNvPr id="28" name="Shape 26"/>
          <p:cNvSpPr/>
          <p:nvPr/>
        </p:nvSpPr>
        <p:spPr>
          <a:xfrm>
            <a:off x="4800600" y="2514600"/>
            <a:ext cx="3886200" cy="420624"/>
          </a:xfrm>
          <a:prstGeom prst="roundRect">
            <a:avLst>
              <a:gd name="adj" fmla="val 13043"/>
            </a:avLst>
          </a:prstGeom>
          <a:solidFill>
            <a:srgbClr val="21262D"/>
          </a:solidFill>
          <a:ln w="12700">
            <a:solidFill>
              <a:srgbClr val="58A6FF"/>
            </a:solidFill>
            <a:prstDash val="solid"/>
          </a:ln>
        </p:spPr>
        <p:txBody>
          <a:bodyPr/>
          <a:lstStyle/>
          <a:p>
            <a:endParaRPr lang="fr-FR"/>
          </a:p>
        </p:txBody>
      </p:sp>
      <p:sp>
        <p:nvSpPr>
          <p:cNvPr id="29" name="Text 27"/>
          <p:cNvSpPr/>
          <p:nvPr/>
        </p:nvSpPr>
        <p:spPr>
          <a:xfrm>
            <a:off x="4892040" y="2514600"/>
            <a:ext cx="685800" cy="420624"/>
          </a:xfrm>
          <a:prstGeom prst="rect">
            <a:avLst/>
          </a:prstGeom>
          <a:noFill/>
          <a:ln/>
        </p:spPr>
        <p:txBody>
          <a:bodyPr wrap="square" lIns="0" tIns="0" rIns="0" bIns="0" rtlCol="0" anchor="ctr"/>
          <a:lstStyle/>
          <a:p>
            <a:pPr marL="0" indent="0">
              <a:buNone/>
            </a:pPr>
            <a:r>
              <a:rPr lang="en-US" sz="900" dirty="0">
                <a:solidFill>
                  <a:srgbClr val="8B949E"/>
                </a:solidFill>
              </a:rPr>
              <a:t>Input</a:t>
            </a:r>
            <a:endParaRPr lang="en-US" sz="900" dirty="0"/>
          </a:p>
        </p:txBody>
      </p:sp>
      <p:sp>
        <p:nvSpPr>
          <p:cNvPr id="30" name="Text 28"/>
          <p:cNvSpPr/>
          <p:nvPr/>
        </p:nvSpPr>
        <p:spPr>
          <a:xfrm>
            <a:off x="5596128" y="2514600"/>
            <a:ext cx="1828800" cy="420624"/>
          </a:xfrm>
          <a:prstGeom prst="rect">
            <a:avLst/>
          </a:prstGeom>
          <a:noFill/>
          <a:ln/>
        </p:spPr>
        <p:txBody>
          <a:bodyPr wrap="square" lIns="0" tIns="0" rIns="0" bIns="0" rtlCol="0" anchor="ctr"/>
          <a:lstStyle/>
          <a:p>
            <a:pPr marL="0" indent="0">
              <a:buNone/>
            </a:pPr>
            <a:r>
              <a:rPr lang="en-US" sz="1200" b="1" dirty="0">
                <a:solidFill>
                  <a:srgbClr val="58A6FF"/>
                </a:solidFill>
              </a:rPr>
              <a:t>x = 50 m²</a:t>
            </a:r>
            <a:endParaRPr lang="en-US" sz="1200" dirty="0"/>
          </a:p>
        </p:txBody>
      </p:sp>
      <p:sp>
        <p:nvSpPr>
          <p:cNvPr id="31" name="Text 29"/>
          <p:cNvSpPr/>
          <p:nvPr/>
        </p:nvSpPr>
        <p:spPr>
          <a:xfrm>
            <a:off x="7452360" y="2514600"/>
            <a:ext cx="1188720" cy="420624"/>
          </a:xfrm>
          <a:prstGeom prst="rect">
            <a:avLst/>
          </a:prstGeom>
          <a:noFill/>
          <a:ln/>
        </p:spPr>
        <p:txBody>
          <a:bodyPr wrap="square" lIns="0" tIns="0" rIns="0" bIns="0" rtlCol="0" anchor="ctr"/>
          <a:lstStyle/>
          <a:p>
            <a:pPr marL="0" indent="0" algn="r">
              <a:buNone/>
            </a:pPr>
            <a:r>
              <a:rPr lang="en-US" sz="800" dirty="0">
                <a:solidFill>
                  <a:srgbClr val="8B949E"/>
                </a:solidFill>
              </a:rPr>
              <a:t>(house size)</a:t>
            </a:r>
            <a:endParaRPr lang="en-US" sz="800" dirty="0"/>
          </a:p>
        </p:txBody>
      </p:sp>
      <p:sp>
        <p:nvSpPr>
          <p:cNvPr id="32" name="Shape 30"/>
          <p:cNvSpPr/>
          <p:nvPr/>
        </p:nvSpPr>
        <p:spPr>
          <a:xfrm>
            <a:off x="4800600" y="3008376"/>
            <a:ext cx="3886200" cy="420624"/>
          </a:xfrm>
          <a:prstGeom prst="roundRect">
            <a:avLst>
              <a:gd name="adj" fmla="val 13043"/>
            </a:avLst>
          </a:prstGeom>
          <a:solidFill>
            <a:srgbClr val="21262D"/>
          </a:solidFill>
          <a:ln w="12700">
            <a:solidFill>
              <a:srgbClr val="F0883E"/>
            </a:solidFill>
            <a:prstDash val="solid"/>
          </a:ln>
        </p:spPr>
        <p:txBody>
          <a:bodyPr/>
          <a:lstStyle/>
          <a:p>
            <a:endParaRPr lang="fr-FR"/>
          </a:p>
        </p:txBody>
      </p:sp>
      <p:sp>
        <p:nvSpPr>
          <p:cNvPr id="33" name="Text 31"/>
          <p:cNvSpPr/>
          <p:nvPr/>
        </p:nvSpPr>
        <p:spPr>
          <a:xfrm>
            <a:off x="4892040" y="3008376"/>
            <a:ext cx="685800" cy="420624"/>
          </a:xfrm>
          <a:prstGeom prst="rect">
            <a:avLst/>
          </a:prstGeom>
          <a:noFill/>
          <a:ln/>
        </p:spPr>
        <p:txBody>
          <a:bodyPr wrap="square" lIns="0" tIns="0" rIns="0" bIns="0" rtlCol="0" anchor="ctr"/>
          <a:lstStyle/>
          <a:p>
            <a:pPr marL="0" indent="0">
              <a:buNone/>
            </a:pPr>
            <a:r>
              <a:rPr lang="en-US" sz="900" dirty="0">
                <a:solidFill>
                  <a:srgbClr val="8B949E"/>
                </a:solidFill>
              </a:rPr>
              <a:t>Weight</a:t>
            </a:r>
            <a:endParaRPr lang="en-US" sz="900" dirty="0"/>
          </a:p>
        </p:txBody>
      </p:sp>
      <p:sp>
        <p:nvSpPr>
          <p:cNvPr id="34" name="Text 32"/>
          <p:cNvSpPr/>
          <p:nvPr/>
        </p:nvSpPr>
        <p:spPr>
          <a:xfrm>
            <a:off x="5596128" y="3008376"/>
            <a:ext cx="1828800" cy="420624"/>
          </a:xfrm>
          <a:prstGeom prst="rect">
            <a:avLst/>
          </a:prstGeom>
          <a:noFill/>
          <a:ln/>
        </p:spPr>
        <p:txBody>
          <a:bodyPr wrap="square" lIns="0" tIns="0" rIns="0" bIns="0" rtlCol="0" anchor="ctr"/>
          <a:lstStyle/>
          <a:p>
            <a:pPr marL="0" indent="0">
              <a:buNone/>
            </a:pPr>
            <a:r>
              <a:rPr lang="en-US" sz="1200" b="1" dirty="0">
                <a:solidFill>
                  <a:srgbClr val="F0883E"/>
                </a:solidFill>
              </a:rPr>
              <a:t>w = 3.0  €k/m²</a:t>
            </a:r>
            <a:endParaRPr lang="en-US" sz="1200" dirty="0"/>
          </a:p>
        </p:txBody>
      </p:sp>
      <p:sp>
        <p:nvSpPr>
          <p:cNvPr id="35" name="Text 33"/>
          <p:cNvSpPr/>
          <p:nvPr/>
        </p:nvSpPr>
        <p:spPr>
          <a:xfrm>
            <a:off x="7452360" y="3008376"/>
            <a:ext cx="1188720" cy="420624"/>
          </a:xfrm>
          <a:prstGeom prst="rect">
            <a:avLst/>
          </a:prstGeom>
          <a:noFill/>
          <a:ln/>
        </p:spPr>
        <p:txBody>
          <a:bodyPr wrap="square" lIns="0" tIns="0" rIns="0" bIns="0" rtlCol="0" anchor="ctr"/>
          <a:lstStyle/>
          <a:p>
            <a:pPr marL="0" indent="0" algn="r">
              <a:buNone/>
            </a:pPr>
            <a:r>
              <a:rPr lang="en-US" sz="800" dirty="0">
                <a:solidFill>
                  <a:srgbClr val="8B949E"/>
                </a:solidFill>
              </a:rPr>
              <a:t>(current model guess)</a:t>
            </a:r>
            <a:endParaRPr lang="en-US" sz="800" dirty="0"/>
          </a:p>
        </p:txBody>
      </p:sp>
      <p:sp>
        <p:nvSpPr>
          <p:cNvPr id="36" name="Shape 34"/>
          <p:cNvSpPr/>
          <p:nvPr/>
        </p:nvSpPr>
        <p:spPr>
          <a:xfrm>
            <a:off x="4800600" y="3502152"/>
            <a:ext cx="3886200" cy="420624"/>
          </a:xfrm>
          <a:prstGeom prst="roundRect">
            <a:avLst>
              <a:gd name="adj" fmla="val 13043"/>
            </a:avLst>
          </a:prstGeom>
          <a:solidFill>
            <a:srgbClr val="21262D"/>
          </a:solidFill>
          <a:ln w="12700">
            <a:solidFill>
              <a:srgbClr val="E3B341"/>
            </a:solidFill>
            <a:prstDash val="solid"/>
          </a:ln>
        </p:spPr>
        <p:txBody>
          <a:bodyPr/>
          <a:lstStyle/>
          <a:p>
            <a:endParaRPr lang="fr-FR"/>
          </a:p>
        </p:txBody>
      </p:sp>
      <p:sp>
        <p:nvSpPr>
          <p:cNvPr id="37" name="Text 35"/>
          <p:cNvSpPr/>
          <p:nvPr/>
        </p:nvSpPr>
        <p:spPr>
          <a:xfrm>
            <a:off x="4892040" y="3502152"/>
            <a:ext cx="685800" cy="420624"/>
          </a:xfrm>
          <a:prstGeom prst="rect">
            <a:avLst/>
          </a:prstGeom>
          <a:noFill/>
          <a:ln/>
        </p:spPr>
        <p:txBody>
          <a:bodyPr wrap="square" lIns="0" tIns="0" rIns="0" bIns="0" rtlCol="0" anchor="ctr"/>
          <a:lstStyle/>
          <a:p>
            <a:pPr marL="0" indent="0">
              <a:buNone/>
            </a:pPr>
            <a:r>
              <a:rPr lang="en-US" sz="900" dirty="0">
                <a:solidFill>
                  <a:srgbClr val="8B949E"/>
                </a:solidFill>
              </a:rPr>
              <a:t>Bias</a:t>
            </a:r>
            <a:endParaRPr lang="en-US" sz="900" dirty="0"/>
          </a:p>
        </p:txBody>
      </p:sp>
      <p:sp>
        <p:nvSpPr>
          <p:cNvPr id="38" name="Text 36"/>
          <p:cNvSpPr/>
          <p:nvPr/>
        </p:nvSpPr>
        <p:spPr>
          <a:xfrm>
            <a:off x="5596128" y="3502152"/>
            <a:ext cx="1828800" cy="420624"/>
          </a:xfrm>
          <a:prstGeom prst="rect">
            <a:avLst/>
          </a:prstGeom>
          <a:noFill/>
          <a:ln/>
        </p:spPr>
        <p:txBody>
          <a:bodyPr wrap="square" lIns="0" tIns="0" rIns="0" bIns="0" rtlCol="0" anchor="ctr"/>
          <a:lstStyle/>
          <a:p>
            <a:pPr marL="0" indent="0">
              <a:buNone/>
            </a:pPr>
            <a:r>
              <a:rPr lang="en-US" sz="1200" b="1" dirty="0">
                <a:solidFill>
                  <a:srgbClr val="E3B341"/>
                </a:solidFill>
              </a:rPr>
              <a:t>b = 10.0 €k</a:t>
            </a:r>
            <a:endParaRPr lang="en-US" sz="1200" dirty="0"/>
          </a:p>
        </p:txBody>
      </p:sp>
      <p:sp>
        <p:nvSpPr>
          <p:cNvPr id="39" name="Text 37"/>
          <p:cNvSpPr/>
          <p:nvPr/>
        </p:nvSpPr>
        <p:spPr>
          <a:xfrm>
            <a:off x="7452360" y="3502152"/>
            <a:ext cx="1188720" cy="420624"/>
          </a:xfrm>
          <a:prstGeom prst="rect">
            <a:avLst/>
          </a:prstGeom>
          <a:noFill/>
          <a:ln/>
        </p:spPr>
        <p:txBody>
          <a:bodyPr wrap="square" lIns="0" tIns="0" rIns="0" bIns="0" rtlCol="0" anchor="ctr"/>
          <a:lstStyle/>
          <a:p>
            <a:pPr marL="0" indent="0" algn="r">
              <a:buNone/>
            </a:pPr>
            <a:r>
              <a:rPr lang="en-US" sz="800" dirty="0">
                <a:solidFill>
                  <a:srgbClr val="8B949E"/>
                </a:solidFill>
              </a:rPr>
              <a:t>(current model guess)</a:t>
            </a:r>
            <a:endParaRPr lang="en-US" sz="800" dirty="0"/>
          </a:p>
        </p:txBody>
      </p:sp>
      <p:sp>
        <p:nvSpPr>
          <p:cNvPr id="40" name="Shape 38"/>
          <p:cNvSpPr/>
          <p:nvPr/>
        </p:nvSpPr>
        <p:spPr>
          <a:xfrm>
            <a:off x="4800600" y="4023360"/>
            <a:ext cx="3886200" cy="0"/>
          </a:xfrm>
          <a:prstGeom prst="line">
            <a:avLst/>
          </a:prstGeom>
          <a:noFill/>
          <a:ln w="12700">
            <a:solidFill>
              <a:srgbClr val="21262D"/>
            </a:solidFill>
            <a:prstDash val="solid"/>
          </a:ln>
        </p:spPr>
        <p:txBody>
          <a:bodyPr/>
          <a:lstStyle/>
          <a:p>
            <a:endParaRPr lang="fr-FR"/>
          </a:p>
        </p:txBody>
      </p:sp>
      <p:sp>
        <p:nvSpPr>
          <p:cNvPr id="41" name="Text 39"/>
          <p:cNvSpPr/>
          <p:nvPr/>
        </p:nvSpPr>
        <p:spPr>
          <a:xfrm>
            <a:off x="4800600" y="4096512"/>
            <a:ext cx="3886200" cy="292608"/>
          </a:xfrm>
          <a:prstGeom prst="rect">
            <a:avLst/>
          </a:prstGeom>
          <a:noFill/>
          <a:ln/>
        </p:spPr>
        <p:txBody>
          <a:bodyPr wrap="square" lIns="0" tIns="0" rIns="0" bIns="0" rtlCol="0" anchor="ctr"/>
          <a:lstStyle/>
          <a:p>
            <a:pPr marL="0" indent="0">
              <a:buNone/>
            </a:pPr>
            <a:r>
              <a:rPr lang="en-US" sz="1300" dirty="0">
                <a:solidFill>
                  <a:srgbClr val="F0F6FC"/>
                </a:solidFill>
              </a:rPr>
              <a:t>ŷ  =  w × x  +  b</a:t>
            </a:r>
            <a:endParaRPr lang="en-US" sz="1300" dirty="0"/>
          </a:p>
        </p:txBody>
      </p:sp>
      <p:sp>
        <p:nvSpPr>
          <p:cNvPr id="42" name="Text 40"/>
          <p:cNvSpPr/>
          <p:nvPr/>
        </p:nvSpPr>
        <p:spPr>
          <a:xfrm>
            <a:off x="4800600" y="4370832"/>
            <a:ext cx="3886200" cy="256032"/>
          </a:xfrm>
          <a:prstGeom prst="rect">
            <a:avLst/>
          </a:prstGeom>
          <a:noFill/>
          <a:ln/>
        </p:spPr>
        <p:txBody>
          <a:bodyPr wrap="square" lIns="0" tIns="0" rIns="0" bIns="0" rtlCol="0" anchor="ctr"/>
          <a:lstStyle/>
          <a:p>
            <a:pPr marL="0" indent="0">
              <a:buNone/>
            </a:pPr>
            <a:r>
              <a:rPr lang="en-US" sz="1200" dirty="0">
                <a:solidFill>
                  <a:srgbClr val="8B949E"/>
                </a:solidFill>
              </a:rPr>
              <a:t>    =  3.0 × 50  +  10.0</a:t>
            </a:r>
            <a:endParaRPr lang="en-US" sz="1200" dirty="0"/>
          </a:p>
        </p:txBody>
      </p:sp>
      <p:sp>
        <p:nvSpPr>
          <p:cNvPr id="43" name="Shape 41"/>
          <p:cNvSpPr/>
          <p:nvPr/>
        </p:nvSpPr>
        <p:spPr>
          <a:xfrm>
            <a:off x="4800600" y="4663440"/>
            <a:ext cx="3886200" cy="347472"/>
          </a:xfrm>
          <a:prstGeom prst="roundRect">
            <a:avLst>
              <a:gd name="adj" fmla="val 15789"/>
            </a:avLst>
          </a:prstGeom>
          <a:solidFill>
            <a:srgbClr val="21262D"/>
          </a:solidFill>
          <a:ln w="25400">
            <a:solidFill>
              <a:srgbClr val="BC8CFF"/>
            </a:solidFill>
            <a:prstDash val="solid"/>
          </a:ln>
        </p:spPr>
        <p:txBody>
          <a:bodyPr/>
          <a:lstStyle/>
          <a:p>
            <a:endParaRPr lang="fr-FR"/>
          </a:p>
        </p:txBody>
      </p:sp>
      <p:sp>
        <p:nvSpPr>
          <p:cNvPr id="44" name="Text 42"/>
          <p:cNvSpPr/>
          <p:nvPr/>
        </p:nvSpPr>
        <p:spPr>
          <a:xfrm>
            <a:off x="4892040" y="4663440"/>
            <a:ext cx="3749040" cy="347472"/>
          </a:xfrm>
          <a:prstGeom prst="rect">
            <a:avLst/>
          </a:prstGeom>
          <a:noFill/>
          <a:ln/>
        </p:spPr>
        <p:txBody>
          <a:bodyPr wrap="square" lIns="0" tIns="0" rIns="0" bIns="0" rtlCol="0" anchor="ctr"/>
          <a:lstStyle/>
          <a:p>
            <a:pPr marL="0" indent="0">
              <a:buNone/>
            </a:pPr>
            <a:r>
              <a:rPr lang="en-US" sz="1300" b="1" dirty="0">
                <a:solidFill>
                  <a:srgbClr val="BC8CFF"/>
                </a:solidFill>
              </a:rPr>
              <a:t>ŷ  =  160.0 €k</a:t>
            </a:r>
            <a:r>
              <a:rPr lang="en-US" sz="1300" dirty="0">
                <a:solidFill>
                  <a:srgbClr val="8B949E"/>
                </a:solidFill>
              </a:rPr>
              <a:t>   ← our prediction!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7B72"/>
          </a:solidFill>
          <a:ln w="12700">
            <a:solidFill>
              <a:srgbClr val="FF7B72"/>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Forward Pass — Step 2: Measuring the Error (MSE)</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FF7B72"/>
                </a:solidFill>
              </a:rPr>
              <a:t>How far is our prediction from the truth?</a:t>
            </a:r>
            <a:endParaRPr lang="en-US" sz="1200" dirty="0"/>
          </a:p>
        </p:txBody>
      </p:sp>
      <p:sp>
        <p:nvSpPr>
          <p:cNvPr id="5" name="Shape 3"/>
          <p:cNvSpPr/>
          <p:nvPr/>
        </p:nvSpPr>
        <p:spPr>
          <a:xfrm>
            <a:off x="320040" y="1024128"/>
            <a:ext cx="8503920" cy="0"/>
          </a:xfrm>
          <a:prstGeom prst="line">
            <a:avLst/>
          </a:prstGeom>
          <a:noFill/>
          <a:ln w="12700">
            <a:solidFill>
              <a:srgbClr val="FF7B72"/>
            </a:solidFill>
            <a:prstDash val="solid"/>
          </a:ln>
        </p:spPr>
        <p:txBody>
          <a:bodyPr/>
          <a:lstStyle/>
          <a:p>
            <a:endParaRPr lang="fr-FR"/>
          </a:p>
        </p:txBody>
      </p:sp>
      <p:sp>
        <p:nvSpPr>
          <p:cNvPr id="6" name="Shape 4"/>
          <p:cNvSpPr/>
          <p:nvPr/>
        </p:nvSpPr>
        <p:spPr>
          <a:xfrm>
            <a:off x="320040" y="1170432"/>
            <a:ext cx="8503920" cy="804672"/>
          </a:xfrm>
          <a:prstGeom prst="rect">
            <a:avLst/>
          </a:prstGeom>
          <a:solidFill>
            <a:srgbClr val="21262D"/>
          </a:solidFill>
          <a:ln w="19050">
            <a:solidFill>
              <a:srgbClr val="FF7B72"/>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502920" y="1170432"/>
            <a:ext cx="8321040" cy="804672"/>
          </a:xfrm>
          <a:prstGeom prst="rect">
            <a:avLst/>
          </a:prstGeom>
          <a:noFill/>
          <a:ln/>
        </p:spPr>
        <p:txBody>
          <a:bodyPr wrap="square" lIns="0" tIns="0" rIns="0" bIns="0" rtlCol="0" anchor="ctr"/>
          <a:lstStyle/>
          <a:p>
            <a:pPr marL="0" indent="0">
              <a:buNone/>
            </a:pPr>
            <a:r>
              <a:rPr lang="en-US" sz="1600" b="1" dirty="0">
                <a:solidFill>
                  <a:srgbClr val="F0F6FC"/>
                </a:solidFill>
              </a:rPr>
              <a:t>MSE  =  (1/n) · Σ  (  </a:t>
            </a:r>
            <a:r>
              <a:rPr lang="en-US" sz="1600" b="1" dirty="0">
                <a:solidFill>
                  <a:srgbClr val="3FB950"/>
                </a:solidFill>
              </a:rPr>
              <a:t>y</a:t>
            </a:r>
            <a:r>
              <a:rPr lang="en-US" sz="1600" dirty="0">
                <a:solidFill>
                  <a:srgbClr val="F0F6FC"/>
                </a:solidFill>
              </a:rPr>
              <a:t>  −  </a:t>
            </a:r>
            <a:r>
              <a:rPr lang="en-US" sz="1600" b="1" dirty="0">
                <a:solidFill>
                  <a:srgbClr val="BC8CFF"/>
                </a:solidFill>
              </a:rPr>
              <a:t>ŷ</a:t>
            </a:r>
            <a:r>
              <a:rPr lang="en-US" sz="1600" dirty="0">
                <a:solidFill>
                  <a:srgbClr val="F0F6FC"/>
                </a:solidFill>
              </a:rPr>
              <a:t>  )²          </a:t>
            </a:r>
            <a:r>
              <a:rPr lang="en-US" sz="1600" dirty="0">
                <a:solidFill>
                  <a:srgbClr val="3FB950"/>
                </a:solidFill>
              </a:rPr>
              <a:t>y</a:t>
            </a:r>
            <a:r>
              <a:rPr lang="en-US" sz="1600" dirty="0">
                <a:solidFill>
                  <a:srgbClr val="8B949E"/>
                </a:solidFill>
              </a:rPr>
              <a:t> = true value   </a:t>
            </a:r>
            <a:r>
              <a:rPr lang="en-US" sz="1600" dirty="0">
                <a:solidFill>
                  <a:srgbClr val="BC8CFF"/>
                </a:solidFill>
              </a:rPr>
              <a:t>ŷ</a:t>
            </a:r>
            <a:r>
              <a:rPr lang="en-US" sz="1600" dirty="0">
                <a:solidFill>
                  <a:srgbClr val="8B949E"/>
                </a:solidFill>
              </a:rPr>
              <a:t> = our prediction   n = number of samples</a:t>
            </a:r>
            <a:endParaRPr lang="en-US" sz="1600" dirty="0"/>
          </a:p>
        </p:txBody>
      </p:sp>
      <p:sp>
        <p:nvSpPr>
          <p:cNvPr id="8" name="Shape 6"/>
          <p:cNvSpPr/>
          <p:nvPr/>
        </p:nvSpPr>
        <p:spPr>
          <a:xfrm>
            <a:off x="320040" y="2084832"/>
            <a:ext cx="4023360" cy="278892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9" name="Text 7"/>
          <p:cNvSpPr/>
          <p:nvPr/>
        </p:nvSpPr>
        <p:spPr>
          <a:xfrm>
            <a:off x="457200" y="2130552"/>
            <a:ext cx="3749040" cy="292608"/>
          </a:xfrm>
          <a:prstGeom prst="rect">
            <a:avLst/>
          </a:prstGeom>
          <a:noFill/>
          <a:ln/>
        </p:spPr>
        <p:txBody>
          <a:bodyPr wrap="square" lIns="0" tIns="0" rIns="0" bIns="0" rtlCol="0" anchor="ctr"/>
          <a:lstStyle/>
          <a:p>
            <a:pPr marL="0" indent="0" algn="ctr">
              <a:buNone/>
            </a:pPr>
            <a:r>
              <a:rPr lang="en-US" sz="1100" dirty="0">
                <a:solidFill>
                  <a:srgbClr val="8B949E"/>
                </a:solidFill>
              </a:rPr>
              <a:t>Why do we SQUARE the error?</a:t>
            </a:r>
            <a:endParaRPr lang="en-US" sz="1100" dirty="0"/>
          </a:p>
        </p:txBody>
      </p:sp>
      <p:sp>
        <p:nvSpPr>
          <p:cNvPr id="10" name="Shape 8"/>
          <p:cNvSpPr/>
          <p:nvPr/>
        </p:nvSpPr>
        <p:spPr>
          <a:xfrm>
            <a:off x="438912" y="2624328"/>
            <a:ext cx="384048" cy="384048"/>
          </a:xfrm>
          <a:prstGeom prst="ellipse">
            <a:avLst/>
          </a:prstGeom>
          <a:solidFill>
            <a:srgbClr val="58A6FF"/>
          </a:solidFill>
          <a:ln w="12700">
            <a:solidFill>
              <a:srgbClr val="58A6FF"/>
            </a:solidFill>
            <a:prstDash val="solid"/>
          </a:ln>
        </p:spPr>
        <p:txBody>
          <a:bodyPr/>
          <a:lstStyle/>
          <a:p>
            <a:endParaRPr lang="fr-FR"/>
          </a:p>
        </p:txBody>
      </p:sp>
      <p:sp>
        <p:nvSpPr>
          <p:cNvPr id="11" name="Text 9"/>
          <p:cNvSpPr/>
          <p:nvPr/>
        </p:nvSpPr>
        <p:spPr>
          <a:xfrm>
            <a:off x="438912" y="2624328"/>
            <a:ext cx="384048" cy="384048"/>
          </a:xfrm>
          <a:prstGeom prst="rect">
            <a:avLst/>
          </a:prstGeom>
          <a:noFill/>
          <a:ln/>
        </p:spPr>
        <p:txBody>
          <a:bodyPr wrap="square" lIns="0" tIns="0" rIns="0" bIns="0" rtlCol="0" anchor="ctr"/>
          <a:lstStyle/>
          <a:p>
            <a:pPr marL="0" indent="0" algn="ctr">
              <a:buNone/>
            </a:pPr>
            <a:r>
              <a:rPr lang="en-US" sz="1200" b="1" dirty="0">
                <a:solidFill>
                  <a:srgbClr val="F0F6FC"/>
                </a:solidFill>
              </a:rPr>
              <a:t>+</a:t>
            </a:r>
            <a:endParaRPr lang="en-US" sz="1200" dirty="0"/>
          </a:p>
        </p:txBody>
      </p:sp>
      <p:sp>
        <p:nvSpPr>
          <p:cNvPr id="12" name="Text 10"/>
          <p:cNvSpPr/>
          <p:nvPr/>
        </p:nvSpPr>
        <p:spPr>
          <a:xfrm>
            <a:off x="914400" y="2551176"/>
            <a:ext cx="3246120" cy="256032"/>
          </a:xfrm>
          <a:prstGeom prst="rect">
            <a:avLst/>
          </a:prstGeom>
          <a:noFill/>
          <a:ln/>
        </p:spPr>
        <p:txBody>
          <a:bodyPr wrap="square" lIns="0" tIns="0" rIns="0" bIns="0" rtlCol="0" anchor="ctr"/>
          <a:lstStyle/>
          <a:p>
            <a:pPr marL="0" indent="0">
              <a:buNone/>
            </a:pPr>
            <a:r>
              <a:rPr lang="en-US" sz="1100" b="1" dirty="0">
                <a:solidFill>
                  <a:srgbClr val="58A6FF"/>
                </a:solidFill>
              </a:rPr>
              <a:t>Always positive</a:t>
            </a:r>
            <a:endParaRPr lang="en-US" sz="1100" dirty="0"/>
          </a:p>
        </p:txBody>
      </p:sp>
      <p:sp>
        <p:nvSpPr>
          <p:cNvPr id="13" name="Text 11"/>
          <p:cNvSpPr/>
          <p:nvPr/>
        </p:nvSpPr>
        <p:spPr>
          <a:xfrm>
            <a:off x="914400" y="2807208"/>
            <a:ext cx="3246120" cy="411480"/>
          </a:xfrm>
          <a:prstGeom prst="rect">
            <a:avLst/>
          </a:prstGeom>
          <a:noFill/>
          <a:ln/>
        </p:spPr>
        <p:txBody>
          <a:bodyPr wrap="square" lIns="0" tIns="0" rIns="0" bIns="0" rtlCol="0" anchor="ctr"/>
          <a:lstStyle/>
          <a:p>
            <a:pPr marL="0" indent="0">
              <a:buNone/>
            </a:pPr>
            <a:r>
              <a:rPr lang="en-US" sz="900" dirty="0">
                <a:solidFill>
                  <a:srgbClr val="8B949E"/>
                </a:solidFill>
              </a:rPr>
              <a:t>Error of −50 and +50 would</a:t>
            </a:r>
            <a:endParaRPr lang="en-US" sz="900" dirty="0"/>
          </a:p>
          <a:p>
            <a:pPr marL="0" indent="0">
              <a:buNone/>
            </a:pPr>
            <a:r>
              <a:rPr lang="en-US" sz="900" dirty="0">
                <a:solidFill>
                  <a:srgbClr val="8B949E"/>
                </a:solidFill>
              </a:rPr>
              <a:t>cancel out if we just summed.</a:t>
            </a:r>
            <a:endParaRPr lang="en-US" sz="900" dirty="0"/>
          </a:p>
          <a:p>
            <a:pPr marL="0" indent="0">
              <a:buNone/>
            </a:pPr>
            <a:r>
              <a:rPr lang="en-US" sz="900" dirty="0">
                <a:solidFill>
                  <a:srgbClr val="8B949E"/>
                </a:solidFill>
              </a:rPr>
              <a:t>Squaring makes both positive.</a:t>
            </a:r>
            <a:endParaRPr lang="en-US" sz="900" dirty="0"/>
          </a:p>
        </p:txBody>
      </p:sp>
      <p:sp>
        <p:nvSpPr>
          <p:cNvPr id="14" name="Shape 12"/>
          <p:cNvSpPr/>
          <p:nvPr/>
        </p:nvSpPr>
        <p:spPr>
          <a:xfrm>
            <a:off x="438912" y="3374136"/>
            <a:ext cx="384048" cy="384048"/>
          </a:xfrm>
          <a:prstGeom prst="ellipse">
            <a:avLst/>
          </a:prstGeom>
          <a:solidFill>
            <a:srgbClr val="F0883E"/>
          </a:solidFill>
          <a:ln w="12700">
            <a:solidFill>
              <a:srgbClr val="F0883E"/>
            </a:solidFill>
            <a:prstDash val="solid"/>
          </a:ln>
        </p:spPr>
        <p:txBody>
          <a:bodyPr/>
          <a:lstStyle/>
          <a:p>
            <a:endParaRPr lang="fr-FR"/>
          </a:p>
        </p:txBody>
      </p:sp>
      <p:sp>
        <p:nvSpPr>
          <p:cNvPr id="15" name="Text 13"/>
          <p:cNvSpPr/>
          <p:nvPr/>
        </p:nvSpPr>
        <p:spPr>
          <a:xfrm>
            <a:off x="438912" y="3374136"/>
            <a:ext cx="384048" cy="384048"/>
          </a:xfrm>
          <a:prstGeom prst="rect">
            <a:avLst/>
          </a:prstGeom>
          <a:noFill/>
          <a:ln/>
        </p:spPr>
        <p:txBody>
          <a:bodyPr wrap="square" lIns="0" tIns="0" rIns="0" bIns="0" rtlCol="0" anchor="ctr"/>
          <a:lstStyle/>
          <a:p>
            <a:pPr marL="0" indent="0" algn="ctr">
              <a:buNone/>
            </a:pPr>
            <a:r>
              <a:rPr lang="en-US" sz="1200" b="1" dirty="0">
                <a:solidFill>
                  <a:srgbClr val="F0F6FC"/>
                </a:solidFill>
              </a:rPr>
              <a:t>²</a:t>
            </a:r>
            <a:endParaRPr lang="en-US" sz="1200" dirty="0"/>
          </a:p>
        </p:txBody>
      </p:sp>
      <p:sp>
        <p:nvSpPr>
          <p:cNvPr id="16" name="Text 14"/>
          <p:cNvSpPr/>
          <p:nvPr/>
        </p:nvSpPr>
        <p:spPr>
          <a:xfrm>
            <a:off x="914400" y="3300984"/>
            <a:ext cx="3246120" cy="256032"/>
          </a:xfrm>
          <a:prstGeom prst="rect">
            <a:avLst/>
          </a:prstGeom>
          <a:noFill/>
          <a:ln/>
        </p:spPr>
        <p:txBody>
          <a:bodyPr wrap="square" lIns="0" tIns="0" rIns="0" bIns="0" rtlCol="0" anchor="ctr"/>
          <a:lstStyle/>
          <a:p>
            <a:pPr marL="0" indent="0">
              <a:buNone/>
            </a:pPr>
            <a:r>
              <a:rPr lang="en-US" sz="1100" b="1" dirty="0">
                <a:solidFill>
                  <a:srgbClr val="F0883E"/>
                </a:solidFill>
              </a:rPr>
              <a:t>Punish big mistakes MORE</a:t>
            </a:r>
            <a:endParaRPr lang="en-US" sz="1100" dirty="0"/>
          </a:p>
        </p:txBody>
      </p:sp>
      <p:sp>
        <p:nvSpPr>
          <p:cNvPr id="17" name="Text 15"/>
          <p:cNvSpPr/>
          <p:nvPr/>
        </p:nvSpPr>
        <p:spPr>
          <a:xfrm>
            <a:off x="914400" y="3557016"/>
            <a:ext cx="3246120" cy="411480"/>
          </a:xfrm>
          <a:prstGeom prst="rect">
            <a:avLst/>
          </a:prstGeom>
          <a:noFill/>
          <a:ln/>
        </p:spPr>
        <p:txBody>
          <a:bodyPr wrap="square" lIns="0" tIns="0" rIns="0" bIns="0" rtlCol="0" anchor="ctr"/>
          <a:lstStyle/>
          <a:p>
            <a:pPr marL="0" indent="0">
              <a:buNone/>
            </a:pPr>
            <a:r>
              <a:rPr lang="en-US" sz="900" dirty="0">
                <a:solidFill>
                  <a:srgbClr val="8B949E"/>
                </a:solidFill>
              </a:rPr>
              <a:t>Error of 10 → 100 (small)</a:t>
            </a:r>
            <a:endParaRPr lang="en-US" sz="900" dirty="0"/>
          </a:p>
          <a:p>
            <a:pPr marL="0" indent="0">
              <a:buNone/>
            </a:pPr>
            <a:r>
              <a:rPr lang="en-US" sz="900" dirty="0">
                <a:solidFill>
                  <a:srgbClr val="8B949E"/>
                </a:solidFill>
              </a:rPr>
              <a:t>Error of 100 → 10,000 (huge!)</a:t>
            </a:r>
            <a:endParaRPr lang="en-US" sz="900" dirty="0"/>
          </a:p>
          <a:p>
            <a:pPr marL="0" indent="0">
              <a:buNone/>
            </a:pPr>
            <a:r>
              <a:rPr lang="en-US" sz="900" dirty="0">
                <a:solidFill>
                  <a:srgbClr val="8B949E"/>
                </a:solidFill>
              </a:rPr>
              <a:t>The model hates large errors.</a:t>
            </a:r>
            <a:endParaRPr lang="en-US" sz="900" dirty="0"/>
          </a:p>
        </p:txBody>
      </p:sp>
      <p:sp>
        <p:nvSpPr>
          <p:cNvPr id="18" name="Shape 16"/>
          <p:cNvSpPr/>
          <p:nvPr/>
        </p:nvSpPr>
        <p:spPr>
          <a:xfrm>
            <a:off x="438912" y="4123944"/>
            <a:ext cx="384048" cy="384048"/>
          </a:xfrm>
          <a:prstGeom prst="ellipse">
            <a:avLst/>
          </a:prstGeom>
          <a:solidFill>
            <a:srgbClr val="BC8CFF"/>
          </a:solidFill>
          <a:ln w="12700">
            <a:solidFill>
              <a:srgbClr val="BC8CFF"/>
            </a:solidFill>
            <a:prstDash val="solid"/>
          </a:ln>
        </p:spPr>
        <p:txBody>
          <a:bodyPr/>
          <a:lstStyle/>
          <a:p>
            <a:endParaRPr lang="fr-FR"/>
          </a:p>
        </p:txBody>
      </p:sp>
      <p:sp>
        <p:nvSpPr>
          <p:cNvPr id="19" name="Text 17"/>
          <p:cNvSpPr/>
          <p:nvPr/>
        </p:nvSpPr>
        <p:spPr>
          <a:xfrm>
            <a:off x="438912" y="4123944"/>
            <a:ext cx="384048" cy="384048"/>
          </a:xfrm>
          <a:prstGeom prst="rect">
            <a:avLst/>
          </a:prstGeom>
          <a:noFill/>
          <a:ln/>
        </p:spPr>
        <p:txBody>
          <a:bodyPr wrap="square" lIns="0" tIns="0" rIns="0" bIns="0" rtlCol="0" anchor="ctr"/>
          <a:lstStyle/>
          <a:p>
            <a:pPr marL="0" indent="0" algn="ctr">
              <a:buNone/>
            </a:pPr>
            <a:r>
              <a:rPr lang="en-US" sz="1200" b="1" dirty="0">
                <a:solidFill>
                  <a:srgbClr val="F0F6FC"/>
                </a:solidFill>
              </a:rPr>
              <a:t>∇</a:t>
            </a:r>
            <a:endParaRPr lang="en-US" sz="1200" dirty="0"/>
          </a:p>
        </p:txBody>
      </p:sp>
      <p:sp>
        <p:nvSpPr>
          <p:cNvPr id="20" name="Text 18"/>
          <p:cNvSpPr/>
          <p:nvPr/>
        </p:nvSpPr>
        <p:spPr>
          <a:xfrm>
            <a:off x="914400" y="4050792"/>
            <a:ext cx="3246120" cy="256032"/>
          </a:xfrm>
          <a:prstGeom prst="rect">
            <a:avLst/>
          </a:prstGeom>
          <a:noFill/>
          <a:ln/>
        </p:spPr>
        <p:txBody>
          <a:bodyPr wrap="square" lIns="0" tIns="0" rIns="0" bIns="0" rtlCol="0" anchor="ctr"/>
          <a:lstStyle/>
          <a:p>
            <a:pPr marL="0" indent="0">
              <a:buNone/>
            </a:pPr>
            <a:r>
              <a:rPr lang="en-US" sz="1100" b="1" dirty="0">
                <a:solidFill>
                  <a:srgbClr val="BC8CFF"/>
                </a:solidFill>
              </a:rPr>
              <a:t>Smooth &amp; differentiable</a:t>
            </a:r>
            <a:endParaRPr lang="en-US" sz="1100" dirty="0"/>
          </a:p>
        </p:txBody>
      </p:sp>
      <p:sp>
        <p:nvSpPr>
          <p:cNvPr id="21" name="Text 19"/>
          <p:cNvSpPr/>
          <p:nvPr/>
        </p:nvSpPr>
        <p:spPr>
          <a:xfrm>
            <a:off x="914400" y="4306824"/>
            <a:ext cx="3246120" cy="411480"/>
          </a:xfrm>
          <a:prstGeom prst="rect">
            <a:avLst/>
          </a:prstGeom>
          <a:noFill/>
          <a:ln/>
        </p:spPr>
        <p:txBody>
          <a:bodyPr wrap="square" lIns="0" tIns="0" rIns="0" bIns="0" rtlCol="0" anchor="ctr"/>
          <a:lstStyle/>
          <a:p>
            <a:pPr marL="0" indent="0">
              <a:buNone/>
            </a:pPr>
            <a:r>
              <a:rPr lang="en-US" sz="900" dirty="0">
                <a:solidFill>
                  <a:srgbClr val="8B949E"/>
                </a:solidFill>
              </a:rPr>
              <a:t>We need to compute gradients.</a:t>
            </a:r>
            <a:endParaRPr lang="en-US" sz="900" dirty="0"/>
          </a:p>
          <a:p>
            <a:pPr marL="0" indent="0">
              <a:buNone/>
            </a:pPr>
            <a:r>
              <a:rPr lang="en-US" sz="900" dirty="0">
                <a:solidFill>
                  <a:srgbClr val="8B949E"/>
                </a:solidFill>
              </a:rPr>
              <a:t>A smooth curve has a clean</a:t>
            </a:r>
            <a:endParaRPr lang="en-US" sz="900" dirty="0"/>
          </a:p>
          <a:p>
            <a:pPr marL="0" indent="0">
              <a:buNone/>
            </a:pPr>
            <a:r>
              <a:rPr lang="en-US" sz="900" dirty="0">
                <a:solidFill>
                  <a:srgbClr val="8B949E"/>
                </a:solidFill>
              </a:rPr>
              <a:t>derivative at every point.</a:t>
            </a:r>
            <a:endParaRPr lang="en-US" sz="900" dirty="0"/>
          </a:p>
        </p:txBody>
      </p:sp>
      <p:sp>
        <p:nvSpPr>
          <p:cNvPr id="22" name="Shape 20"/>
          <p:cNvSpPr/>
          <p:nvPr/>
        </p:nvSpPr>
        <p:spPr>
          <a:xfrm>
            <a:off x="4663440" y="2084832"/>
            <a:ext cx="4160520" cy="278892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23" name="Text 21"/>
          <p:cNvSpPr/>
          <p:nvPr/>
        </p:nvSpPr>
        <p:spPr>
          <a:xfrm>
            <a:off x="4800600" y="2130552"/>
            <a:ext cx="3886200" cy="292608"/>
          </a:xfrm>
          <a:prstGeom prst="rect">
            <a:avLst/>
          </a:prstGeom>
          <a:noFill/>
          <a:ln/>
        </p:spPr>
        <p:txBody>
          <a:bodyPr wrap="square" lIns="0" tIns="0" rIns="0" bIns="0" rtlCol="0" anchor="ctr"/>
          <a:lstStyle/>
          <a:p>
            <a:pPr marL="0" indent="0" algn="ctr">
              <a:buNone/>
            </a:pPr>
            <a:r>
              <a:rPr lang="en-US" sz="1000" dirty="0">
                <a:solidFill>
                  <a:srgbClr val="8B949E"/>
                </a:solidFill>
              </a:rPr>
              <a:t>Numeric MSE Calculation  (4 houses)</a:t>
            </a:r>
            <a:endParaRPr lang="en-US" sz="1000" dirty="0"/>
          </a:p>
        </p:txBody>
      </p:sp>
      <p:sp>
        <p:nvSpPr>
          <p:cNvPr id="24" name="Shape 22"/>
          <p:cNvSpPr/>
          <p:nvPr/>
        </p:nvSpPr>
        <p:spPr>
          <a:xfrm>
            <a:off x="4754880" y="2487168"/>
            <a:ext cx="3931920" cy="274320"/>
          </a:xfrm>
          <a:prstGeom prst="rect">
            <a:avLst/>
          </a:prstGeom>
          <a:solidFill>
            <a:srgbClr val="21262D"/>
          </a:solidFill>
          <a:ln w="12700">
            <a:solidFill>
              <a:srgbClr val="161B22"/>
            </a:solidFill>
            <a:prstDash val="solid"/>
          </a:ln>
        </p:spPr>
        <p:txBody>
          <a:bodyPr/>
          <a:lstStyle/>
          <a:p>
            <a:endParaRPr lang="fr-FR"/>
          </a:p>
        </p:txBody>
      </p:sp>
      <p:sp>
        <p:nvSpPr>
          <p:cNvPr id="25" name="Text 23"/>
          <p:cNvSpPr/>
          <p:nvPr/>
        </p:nvSpPr>
        <p:spPr>
          <a:xfrm>
            <a:off x="4800600" y="2496312"/>
            <a:ext cx="731520" cy="256032"/>
          </a:xfrm>
          <a:prstGeom prst="rect">
            <a:avLst/>
          </a:prstGeom>
          <a:noFill/>
          <a:ln/>
        </p:spPr>
        <p:txBody>
          <a:bodyPr wrap="square" lIns="0" tIns="0" rIns="0" bIns="0" rtlCol="0" anchor="ctr"/>
          <a:lstStyle/>
          <a:p>
            <a:pPr marL="0" indent="0" algn="ctr">
              <a:buNone/>
            </a:pPr>
            <a:r>
              <a:rPr lang="en-US" sz="800" b="1" dirty="0">
                <a:solidFill>
                  <a:srgbClr val="58A6FF"/>
                </a:solidFill>
              </a:rPr>
              <a:t>x (m²)</a:t>
            </a:r>
            <a:endParaRPr lang="en-US" sz="800" dirty="0"/>
          </a:p>
        </p:txBody>
      </p:sp>
      <p:sp>
        <p:nvSpPr>
          <p:cNvPr id="26" name="Text 24"/>
          <p:cNvSpPr/>
          <p:nvPr/>
        </p:nvSpPr>
        <p:spPr>
          <a:xfrm>
            <a:off x="5577840" y="2496312"/>
            <a:ext cx="731520" cy="256032"/>
          </a:xfrm>
          <a:prstGeom prst="rect">
            <a:avLst/>
          </a:prstGeom>
          <a:noFill/>
          <a:ln/>
        </p:spPr>
        <p:txBody>
          <a:bodyPr wrap="square" lIns="0" tIns="0" rIns="0" bIns="0" rtlCol="0" anchor="ctr"/>
          <a:lstStyle/>
          <a:p>
            <a:pPr marL="0" indent="0" algn="ctr">
              <a:buNone/>
            </a:pPr>
            <a:r>
              <a:rPr lang="en-US" sz="800" b="1" dirty="0">
                <a:solidFill>
                  <a:srgbClr val="3FB950"/>
                </a:solidFill>
              </a:rPr>
              <a:t>y (€k)</a:t>
            </a:r>
            <a:endParaRPr lang="en-US" sz="800" dirty="0"/>
          </a:p>
        </p:txBody>
      </p:sp>
      <p:sp>
        <p:nvSpPr>
          <p:cNvPr id="27" name="Text 25"/>
          <p:cNvSpPr/>
          <p:nvPr/>
        </p:nvSpPr>
        <p:spPr>
          <a:xfrm>
            <a:off x="6309360" y="2496312"/>
            <a:ext cx="822960" cy="256032"/>
          </a:xfrm>
          <a:prstGeom prst="rect">
            <a:avLst/>
          </a:prstGeom>
          <a:noFill/>
          <a:ln/>
        </p:spPr>
        <p:txBody>
          <a:bodyPr wrap="square" lIns="0" tIns="0" rIns="0" bIns="0" rtlCol="0" anchor="ctr"/>
          <a:lstStyle/>
          <a:p>
            <a:pPr marL="0" indent="0" algn="ctr">
              <a:buNone/>
            </a:pPr>
            <a:r>
              <a:rPr lang="en-US" sz="800" b="1" dirty="0">
                <a:solidFill>
                  <a:srgbClr val="BC8CFF"/>
                </a:solidFill>
              </a:rPr>
              <a:t>ŷ = 3x+10</a:t>
            </a:r>
            <a:endParaRPr lang="en-US" sz="800" dirty="0"/>
          </a:p>
        </p:txBody>
      </p:sp>
      <p:sp>
        <p:nvSpPr>
          <p:cNvPr id="28" name="Text 26"/>
          <p:cNvSpPr/>
          <p:nvPr/>
        </p:nvSpPr>
        <p:spPr>
          <a:xfrm>
            <a:off x="7178040" y="2496312"/>
            <a:ext cx="640080" cy="256032"/>
          </a:xfrm>
          <a:prstGeom prst="rect">
            <a:avLst/>
          </a:prstGeom>
          <a:noFill/>
          <a:ln/>
        </p:spPr>
        <p:txBody>
          <a:bodyPr wrap="square" lIns="0" tIns="0" rIns="0" bIns="0" rtlCol="0" anchor="ctr"/>
          <a:lstStyle/>
          <a:p>
            <a:pPr marL="0" indent="0" algn="ctr">
              <a:buNone/>
            </a:pPr>
            <a:r>
              <a:rPr lang="en-US" sz="800" b="1" dirty="0">
                <a:solidFill>
                  <a:srgbClr val="FF7B72"/>
                </a:solidFill>
              </a:rPr>
              <a:t>(y−ŷ)</a:t>
            </a:r>
            <a:endParaRPr lang="en-US" sz="800" dirty="0"/>
          </a:p>
        </p:txBody>
      </p:sp>
      <p:sp>
        <p:nvSpPr>
          <p:cNvPr id="29" name="Text 27"/>
          <p:cNvSpPr/>
          <p:nvPr/>
        </p:nvSpPr>
        <p:spPr>
          <a:xfrm>
            <a:off x="7818120" y="2496312"/>
            <a:ext cx="749808" cy="256032"/>
          </a:xfrm>
          <a:prstGeom prst="rect">
            <a:avLst/>
          </a:prstGeom>
          <a:noFill/>
          <a:ln/>
        </p:spPr>
        <p:txBody>
          <a:bodyPr wrap="square" lIns="0" tIns="0" rIns="0" bIns="0" rtlCol="0" anchor="ctr"/>
          <a:lstStyle/>
          <a:p>
            <a:pPr marL="0" indent="0" algn="ctr">
              <a:buNone/>
            </a:pPr>
            <a:r>
              <a:rPr lang="en-US" sz="800" b="1" dirty="0">
                <a:solidFill>
                  <a:srgbClr val="F0883E"/>
                </a:solidFill>
              </a:rPr>
              <a:t>(y−ŷ)²</a:t>
            </a:r>
            <a:endParaRPr lang="en-US" sz="800" dirty="0"/>
          </a:p>
        </p:txBody>
      </p:sp>
      <p:sp>
        <p:nvSpPr>
          <p:cNvPr id="30" name="Shape 28"/>
          <p:cNvSpPr/>
          <p:nvPr/>
        </p:nvSpPr>
        <p:spPr>
          <a:xfrm>
            <a:off x="4754880" y="2834640"/>
            <a:ext cx="3931920" cy="329184"/>
          </a:xfrm>
          <a:prstGeom prst="rect">
            <a:avLst/>
          </a:prstGeom>
          <a:solidFill>
            <a:srgbClr val="161B22"/>
          </a:solidFill>
          <a:ln w="12700">
            <a:solidFill>
              <a:srgbClr val="161B22"/>
            </a:solidFill>
            <a:prstDash val="solid"/>
          </a:ln>
        </p:spPr>
        <p:txBody>
          <a:bodyPr/>
          <a:lstStyle/>
          <a:p>
            <a:endParaRPr lang="fr-FR"/>
          </a:p>
        </p:txBody>
      </p:sp>
      <p:sp>
        <p:nvSpPr>
          <p:cNvPr id="31" name="Text 29"/>
          <p:cNvSpPr/>
          <p:nvPr/>
        </p:nvSpPr>
        <p:spPr>
          <a:xfrm>
            <a:off x="4800600" y="2834640"/>
            <a:ext cx="731520" cy="329184"/>
          </a:xfrm>
          <a:prstGeom prst="rect">
            <a:avLst/>
          </a:prstGeom>
          <a:noFill/>
          <a:ln/>
        </p:spPr>
        <p:txBody>
          <a:bodyPr wrap="square" lIns="0" tIns="0" rIns="0" bIns="0" rtlCol="0" anchor="ctr"/>
          <a:lstStyle/>
          <a:p>
            <a:pPr marL="0" indent="0" algn="ctr">
              <a:buNone/>
            </a:pPr>
            <a:r>
              <a:rPr lang="en-US" sz="1000" dirty="0">
                <a:solidFill>
                  <a:srgbClr val="58A6FF"/>
                </a:solidFill>
              </a:rPr>
              <a:t>50</a:t>
            </a:r>
            <a:endParaRPr lang="en-US" sz="1000" dirty="0"/>
          </a:p>
        </p:txBody>
      </p:sp>
      <p:sp>
        <p:nvSpPr>
          <p:cNvPr id="32" name="Text 30"/>
          <p:cNvSpPr/>
          <p:nvPr/>
        </p:nvSpPr>
        <p:spPr>
          <a:xfrm>
            <a:off x="5577840" y="2834640"/>
            <a:ext cx="731520" cy="329184"/>
          </a:xfrm>
          <a:prstGeom prst="rect">
            <a:avLst/>
          </a:prstGeom>
          <a:noFill/>
          <a:ln/>
        </p:spPr>
        <p:txBody>
          <a:bodyPr wrap="square" lIns="0" tIns="0" rIns="0" bIns="0" rtlCol="0" anchor="ctr"/>
          <a:lstStyle/>
          <a:p>
            <a:pPr marL="0" indent="0" algn="ctr">
              <a:buNone/>
            </a:pPr>
            <a:r>
              <a:rPr lang="en-US" sz="1000" dirty="0">
                <a:solidFill>
                  <a:srgbClr val="3FB950"/>
                </a:solidFill>
              </a:rPr>
              <a:t>150</a:t>
            </a:r>
            <a:endParaRPr lang="en-US" sz="1000" dirty="0"/>
          </a:p>
        </p:txBody>
      </p:sp>
      <p:sp>
        <p:nvSpPr>
          <p:cNvPr id="33" name="Text 31"/>
          <p:cNvSpPr/>
          <p:nvPr/>
        </p:nvSpPr>
        <p:spPr>
          <a:xfrm>
            <a:off x="6309360" y="2834640"/>
            <a:ext cx="822960" cy="329184"/>
          </a:xfrm>
          <a:prstGeom prst="rect">
            <a:avLst/>
          </a:prstGeom>
          <a:noFill/>
          <a:ln/>
        </p:spPr>
        <p:txBody>
          <a:bodyPr wrap="square" lIns="0" tIns="0" rIns="0" bIns="0" rtlCol="0" anchor="ctr"/>
          <a:lstStyle/>
          <a:p>
            <a:pPr marL="0" indent="0" algn="ctr">
              <a:buNone/>
            </a:pPr>
            <a:r>
              <a:rPr lang="en-US" sz="1000" dirty="0">
                <a:solidFill>
                  <a:srgbClr val="BC8CFF"/>
                </a:solidFill>
              </a:rPr>
              <a:t>160</a:t>
            </a:r>
            <a:endParaRPr lang="en-US" sz="1000" dirty="0"/>
          </a:p>
        </p:txBody>
      </p:sp>
      <p:sp>
        <p:nvSpPr>
          <p:cNvPr id="34" name="Text 32"/>
          <p:cNvSpPr/>
          <p:nvPr/>
        </p:nvSpPr>
        <p:spPr>
          <a:xfrm>
            <a:off x="7178040" y="2834640"/>
            <a:ext cx="640080" cy="329184"/>
          </a:xfrm>
          <a:prstGeom prst="rect">
            <a:avLst/>
          </a:prstGeom>
          <a:noFill/>
          <a:ln/>
        </p:spPr>
        <p:txBody>
          <a:bodyPr wrap="square" lIns="0" tIns="0" rIns="0" bIns="0" rtlCol="0" anchor="ctr"/>
          <a:lstStyle/>
          <a:p>
            <a:pPr marL="0" indent="0" algn="ctr">
              <a:buNone/>
            </a:pPr>
            <a:r>
              <a:rPr lang="en-US" sz="1000" dirty="0">
                <a:solidFill>
                  <a:srgbClr val="FF7B72"/>
                </a:solidFill>
              </a:rPr>
              <a:t>-10</a:t>
            </a:r>
            <a:endParaRPr lang="en-US" sz="1000" dirty="0"/>
          </a:p>
        </p:txBody>
      </p:sp>
      <p:sp>
        <p:nvSpPr>
          <p:cNvPr id="35" name="Text 33"/>
          <p:cNvSpPr/>
          <p:nvPr/>
        </p:nvSpPr>
        <p:spPr>
          <a:xfrm>
            <a:off x="7818120" y="2834640"/>
            <a:ext cx="749808" cy="329184"/>
          </a:xfrm>
          <a:prstGeom prst="rect">
            <a:avLst/>
          </a:prstGeom>
          <a:noFill/>
          <a:ln/>
        </p:spPr>
        <p:txBody>
          <a:bodyPr wrap="square" lIns="0" tIns="0" rIns="0" bIns="0" rtlCol="0" anchor="ctr"/>
          <a:lstStyle/>
          <a:p>
            <a:pPr marL="0" indent="0" algn="ctr">
              <a:buNone/>
            </a:pPr>
            <a:r>
              <a:rPr lang="en-US" sz="1000" dirty="0">
                <a:solidFill>
                  <a:srgbClr val="F0883E"/>
                </a:solidFill>
              </a:rPr>
              <a:t>100</a:t>
            </a:r>
            <a:endParaRPr lang="en-US" sz="1000" dirty="0"/>
          </a:p>
        </p:txBody>
      </p:sp>
      <p:sp>
        <p:nvSpPr>
          <p:cNvPr id="36" name="Shape 34"/>
          <p:cNvSpPr/>
          <p:nvPr/>
        </p:nvSpPr>
        <p:spPr>
          <a:xfrm>
            <a:off x="4754880" y="3200400"/>
            <a:ext cx="3931920" cy="329184"/>
          </a:xfrm>
          <a:prstGeom prst="rect">
            <a:avLst/>
          </a:prstGeom>
          <a:solidFill>
            <a:srgbClr val="21262D"/>
          </a:solidFill>
          <a:ln w="12700">
            <a:solidFill>
              <a:srgbClr val="161B22"/>
            </a:solidFill>
            <a:prstDash val="solid"/>
          </a:ln>
        </p:spPr>
        <p:txBody>
          <a:bodyPr/>
          <a:lstStyle/>
          <a:p>
            <a:endParaRPr lang="fr-FR"/>
          </a:p>
        </p:txBody>
      </p:sp>
      <p:sp>
        <p:nvSpPr>
          <p:cNvPr id="37" name="Text 35"/>
          <p:cNvSpPr/>
          <p:nvPr/>
        </p:nvSpPr>
        <p:spPr>
          <a:xfrm>
            <a:off x="4800600" y="3200400"/>
            <a:ext cx="731520" cy="329184"/>
          </a:xfrm>
          <a:prstGeom prst="rect">
            <a:avLst/>
          </a:prstGeom>
          <a:noFill/>
          <a:ln/>
        </p:spPr>
        <p:txBody>
          <a:bodyPr wrap="square" lIns="0" tIns="0" rIns="0" bIns="0" rtlCol="0" anchor="ctr"/>
          <a:lstStyle/>
          <a:p>
            <a:pPr marL="0" indent="0" algn="ctr">
              <a:buNone/>
            </a:pPr>
            <a:r>
              <a:rPr lang="en-US" sz="1000" dirty="0">
                <a:solidFill>
                  <a:srgbClr val="58A6FF"/>
                </a:solidFill>
              </a:rPr>
              <a:t>80</a:t>
            </a:r>
            <a:endParaRPr lang="en-US" sz="1000" dirty="0"/>
          </a:p>
        </p:txBody>
      </p:sp>
      <p:sp>
        <p:nvSpPr>
          <p:cNvPr id="38" name="Text 36"/>
          <p:cNvSpPr/>
          <p:nvPr/>
        </p:nvSpPr>
        <p:spPr>
          <a:xfrm>
            <a:off x="5577840" y="3200400"/>
            <a:ext cx="731520" cy="329184"/>
          </a:xfrm>
          <a:prstGeom prst="rect">
            <a:avLst/>
          </a:prstGeom>
          <a:noFill/>
          <a:ln/>
        </p:spPr>
        <p:txBody>
          <a:bodyPr wrap="square" lIns="0" tIns="0" rIns="0" bIns="0" rtlCol="0" anchor="ctr"/>
          <a:lstStyle/>
          <a:p>
            <a:pPr marL="0" indent="0" algn="ctr">
              <a:buNone/>
            </a:pPr>
            <a:r>
              <a:rPr lang="en-US" sz="1000" dirty="0">
                <a:solidFill>
                  <a:srgbClr val="3FB950"/>
                </a:solidFill>
              </a:rPr>
              <a:t>260</a:t>
            </a:r>
            <a:endParaRPr lang="en-US" sz="1000" dirty="0"/>
          </a:p>
        </p:txBody>
      </p:sp>
      <p:sp>
        <p:nvSpPr>
          <p:cNvPr id="39" name="Text 37"/>
          <p:cNvSpPr/>
          <p:nvPr/>
        </p:nvSpPr>
        <p:spPr>
          <a:xfrm>
            <a:off x="6309360" y="3200400"/>
            <a:ext cx="822960" cy="329184"/>
          </a:xfrm>
          <a:prstGeom prst="rect">
            <a:avLst/>
          </a:prstGeom>
          <a:noFill/>
          <a:ln/>
        </p:spPr>
        <p:txBody>
          <a:bodyPr wrap="square" lIns="0" tIns="0" rIns="0" bIns="0" rtlCol="0" anchor="ctr"/>
          <a:lstStyle/>
          <a:p>
            <a:pPr marL="0" indent="0" algn="ctr">
              <a:buNone/>
            </a:pPr>
            <a:r>
              <a:rPr lang="en-US" sz="1000" dirty="0">
                <a:solidFill>
                  <a:srgbClr val="BC8CFF"/>
                </a:solidFill>
              </a:rPr>
              <a:t>250</a:t>
            </a:r>
            <a:endParaRPr lang="en-US" sz="1000" dirty="0"/>
          </a:p>
        </p:txBody>
      </p:sp>
      <p:sp>
        <p:nvSpPr>
          <p:cNvPr id="40" name="Text 38"/>
          <p:cNvSpPr/>
          <p:nvPr/>
        </p:nvSpPr>
        <p:spPr>
          <a:xfrm>
            <a:off x="7178040" y="3200400"/>
            <a:ext cx="640080" cy="329184"/>
          </a:xfrm>
          <a:prstGeom prst="rect">
            <a:avLst/>
          </a:prstGeom>
          <a:noFill/>
          <a:ln/>
        </p:spPr>
        <p:txBody>
          <a:bodyPr wrap="square" lIns="0" tIns="0" rIns="0" bIns="0" rtlCol="0" anchor="ctr"/>
          <a:lstStyle/>
          <a:p>
            <a:pPr marL="0" indent="0" algn="ctr">
              <a:buNone/>
            </a:pPr>
            <a:r>
              <a:rPr lang="en-US" sz="1000" dirty="0">
                <a:solidFill>
                  <a:srgbClr val="FF7B72"/>
                </a:solidFill>
              </a:rPr>
              <a:t>10</a:t>
            </a:r>
            <a:endParaRPr lang="en-US" sz="1000" dirty="0"/>
          </a:p>
        </p:txBody>
      </p:sp>
      <p:sp>
        <p:nvSpPr>
          <p:cNvPr id="41" name="Text 39"/>
          <p:cNvSpPr/>
          <p:nvPr/>
        </p:nvSpPr>
        <p:spPr>
          <a:xfrm>
            <a:off x="7818120" y="3200400"/>
            <a:ext cx="749808" cy="329184"/>
          </a:xfrm>
          <a:prstGeom prst="rect">
            <a:avLst/>
          </a:prstGeom>
          <a:noFill/>
          <a:ln/>
        </p:spPr>
        <p:txBody>
          <a:bodyPr wrap="square" lIns="0" tIns="0" rIns="0" bIns="0" rtlCol="0" anchor="ctr"/>
          <a:lstStyle/>
          <a:p>
            <a:pPr marL="0" indent="0" algn="ctr">
              <a:buNone/>
            </a:pPr>
            <a:r>
              <a:rPr lang="en-US" sz="1000" dirty="0">
                <a:solidFill>
                  <a:srgbClr val="F0883E"/>
                </a:solidFill>
              </a:rPr>
              <a:t>100</a:t>
            </a:r>
            <a:endParaRPr lang="en-US" sz="1000" dirty="0"/>
          </a:p>
        </p:txBody>
      </p:sp>
      <p:sp>
        <p:nvSpPr>
          <p:cNvPr id="42" name="Shape 40"/>
          <p:cNvSpPr/>
          <p:nvPr/>
        </p:nvSpPr>
        <p:spPr>
          <a:xfrm>
            <a:off x="4754880" y="3566160"/>
            <a:ext cx="3931920" cy="329184"/>
          </a:xfrm>
          <a:prstGeom prst="rect">
            <a:avLst/>
          </a:prstGeom>
          <a:solidFill>
            <a:srgbClr val="161B22"/>
          </a:solidFill>
          <a:ln w="12700">
            <a:solidFill>
              <a:srgbClr val="161B22"/>
            </a:solidFill>
            <a:prstDash val="solid"/>
          </a:ln>
        </p:spPr>
        <p:txBody>
          <a:bodyPr/>
          <a:lstStyle/>
          <a:p>
            <a:endParaRPr lang="fr-FR"/>
          </a:p>
        </p:txBody>
      </p:sp>
      <p:sp>
        <p:nvSpPr>
          <p:cNvPr id="43" name="Text 41"/>
          <p:cNvSpPr/>
          <p:nvPr/>
        </p:nvSpPr>
        <p:spPr>
          <a:xfrm>
            <a:off x="4800600" y="3566160"/>
            <a:ext cx="731520" cy="329184"/>
          </a:xfrm>
          <a:prstGeom prst="rect">
            <a:avLst/>
          </a:prstGeom>
          <a:noFill/>
          <a:ln/>
        </p:spPr>
        <p:txBody>
          <a:bodyPr wrap="square" lIns="0" tIns="0" rIns="0" bIns="0" rtlCol="0" anchor="ctr"/>
          <a:lstStyle/>
          <a:p>
            <a:pPr marL="0" indent="0" algn="ctr">
              <a:buNone/>
            </a:pPr>
            <a:r>
              <a:rPr lang="en-US" sz="1000" dirty="0">
                <a:solidFill>
                  <a:srgbClr val="58A6FF"/>
                </a:solidFill>
              </a:rPr>
              <a:t>30</a:t>
            </a:r>
            <a:endParaRPr lang="en-US" sz="1000" dirty="0"/>
          </a:p>
        </p:txBody>
      </p:sp>
      <p:sp>
        <p:nvSpPr>
          <p:cNvPr id="44" name="Text 42"/>
          <p:cNvSpPr/>
          <p:nvPr/>
        </p:nvSpPr>
        <p:spPr>
          <a:xfrm>
            <a:off x="5577840" y="3566160"/>
            <a:ext cx="731520" cy="329184"/>
          </a:xfrm>
          <a:prstGeom prst="rect">
            <a:avLst/>
          </a:prstGeom>
          <a:noFill/>
          <a:ln/>
        </p:spPr>
        <p:txBody>
          <a:bodyPr wrap="square" lIns="0" tIns="0" rIns="0" bIns="0" rtlCol="0" anchor="ctr"/>
          <a:lstStyle/>
          <a:p>
            <a:pPr marL="0" indent="0" algn="ctr">
              <a:buNone/>
            </a:pPr>
            <a:r>
              <a:rPr lang="en-US" sz="1000" dirty="0">
                <a:solidFill>
                  <a:srgbClr val="3FB950"/>
                </a:solidFill>
              </a:rPr>
              <a:t>100</a:t>
            </a:r>
            <a:endParaRPr lang="en-US" sz="1000" dirty="0"/>
          </a:p>
        </p:txBody>
      </p:sp>
      <p:sp>
        <p:nvSpPr>
          <p:cNvPr id="45" name="Text 43"/>
          <p:cNvSpPr/>
          <p:nvPr/>
        </p:nvSpPr>
        <p:spPr>
          <a:xfrm>
            <a:off x="6309360" y="3566160"/>
            <a:ext cx="822960" cy="329184"/>
          </a:xfrm>
          <a:prstGeom prst="rect">
            <a:avLst/>
          </a:prstGeom>
          <a:noFill/>
          <a:ln/>
        </p:spPr>
        <p:txBody>
          <a:bodyPr wrap="square" lIns="0" tIns="0" rIns="0" bIns="0" rtlCol="0" anchor="ctr"/>
          <a:lstStyle/>
          <a:p>
            <a:pPr marL="0" indent="0" algn="ctr">
              <a:buNone/>
            </a:pPr>
            <a:r>
              <a:rPr lang="en-US" sz="1000" dirty="0">
                <a:solidFill>
                  <a:srgbClr val="BC8CFF"/>
                </a:solidFill>
              </a:rPr>
              <a:t>100</a:t>
            </a:r>
            <a:endParaRPr lang="en-US" sz="1000" dirty="0"/>
          </a:p>
        </p:txBody>
      </p:sp>
      <p:sp>
        <p:nvSpPr>
          <p:cNvPr id="46" name="Text 44"/>
          <p:cNvSpPr/>
          <p:nvPr/>
        </p:nvSpPr>
        <p:spPr>
          <a:xfrm>
            <a:off x="7178040" y="3566160"/>
            <a:ext cx="640080" cy="329184"/>
          </a:xfrm>
          <a:prstGeom prst="rect">
            <a:avLst/>
          </a:prstGeom>
          <a:noFill/>
          <a:ln/>
        </p:spPr>
        <p:txBody>
          <a:bodyPr wrap="square" lIns="0" tIns="0" rIns="0" bIns="0" rtlCol="0" anchor="ctr"/>
          <a:lstStyle/>
          <a:p>
            <a:pPr marL="0" indent="0" algn="ctr">
              <a:buNone/>
            </a:pPr>
            <a:r>
              <a:rPr lang="en-US" sz="1000" dirty="0">
                <a:solidFill>
                  <a:srgbClr val="3FB950"/>
                </a:solidFill>
              </a:rPr>
              <a:t>0</a:t>
            </a:r>
            <a:endParaRPr lang="en-US" sz="1000" dirty="0"/>
          </a:p>
        </p:txBody>
      </p:sp>
      <p:sp>
        <p:nvSpPr>
          <p:cNvPr id="47" name="Text 45"/>
          <p:cNvSpPr/>
          <p:nvPr/>
        </p:nvSpPr>
        <p:spPr>
          <a:xfrm>
            <a:off x="7818120" y="3566160"/>
            <a:ext cx="749808" cy="329184"/>
          </a:xfrm>
          <a:prstGeom prst="rect">
            <a:avLst/>
          </a:prstGeom>
          <a:noFill/>
          <a:ln/>
        </p:spPr>
        <p:txBody>
          <a:bodyPr wrap="square" lIns="0" tIns="0" rIns="0" bIns="0" rtlCol="0" anchor="ctr"/>
          <a:lstStyle/>
          <a:p>
            <a:pPr marL="0" indent="0" algn="ctr">
              <a:buNone/>
            </a:pPr>
            <a:r>
              <a:rPr lang="en-US" sz="1000" dirty="0">
                <a:solidFill>
                  <a:srgbClr val="F0883E"/>
                </a:solidFill>
              </a:rPr>
              <a:t>0</a:t>
            </a:r>
            <a:endParaRPr lang="en-US" sz="1000" dirty="0"/>
          </a:p>
        </p:txBody>
      </p:sp>
      <p:sp>
        <p:nvSpPr>
          <p:cNvPr id="48" name="Shape 46"/>
          <p:cNvSpPr/>
          <p:nvPr/>
        </p:nvSpPr>
        <p:spPr>
          <a:xfrm>
            <a:off x="4754880" y="3931920"/>
            <a:ext cx="3931920" cy="329184"/>
          </a:xfrm>
          <a:prstGeom prst="rect">
            <a:avLst/>
          </a:prstGeom>
          <a:solidFill>
            <a:srgbClr val="21262D"/>
          </a:solidFill>
          <a:ln w="12700">
            <a:solidFill>
              <a:srgbClr val="161B22"/>
            </a:solidFill>
            <a:prstDash val="solid"/>
          </a:ln>
        </p:spPr>
        <p:txBody>
          <a:bodyPr/>
          <a:lstStyle/>
          <a:p>
            <a:endParaRPr lang="fr-FR"/>
          </a:p>
        </p:txBody>
      </p:sp>
      <p:sp>
        <p:nvSpPr>
          <p:cNvPr id="49" name="Text 47"/>
          <p:cNvSpPr/>
          <p:nvPr/>
        </p:nvSpPr>
        <p:spPr>
          <a:xfrm>
            <a:off x="4800600" y="3931920"/>
            <a:ext cx="731520" cy="329184"/>
          </a:xfrm>
          <a:prstGeom prst="rect">
            <a:avLst/>
          </a:prstGeom>
          <a:noFill/>
          <a:ln/>
        </p:spPr>
        <p:txBody>
          <a:bodyPr wrap="square" lIns="0" tIns="0" rIns="0" bIns="0" rtlCol="0" anchor="ctr"/>
          <a:lstStyle/>
          <a:p>
            <a:pPr marL="0" indent="0" algn="ctr">
              <a:buNone/>
            </a:pPr>
            <a:r>
              <a:rPr lang="en-US" sz="1000" dirty="0">
                <a:solidFill>
                  <a:srgbClr val="58A6FF"/>
                </a:solidFill>
              </a:rPr>
              <a:t>60</a:t>
            </a:r>
            <a:endParaRPr lang="en-US" sz="1000" dirty="0"/>
          </a:p>
        </p:txBody>
      </p:sp>
      <p:sp>
        <p:nvSpPr>
          <p:cNvPr id="50" name="Text 48"/>
          <p:cNvSpPr/>
          <p:nvPr/>
        </p:nvSpPr>
        <p:spPr>
          <a:xfrm>
            <a:off x="5577840" y="3931920"/>
            <a:ext cx="731520" cy="329184"/>
          </a:xfrm>
          <a:prstGeom prst="rect">
            <a:avLst/>
          </a:prstGeom>
          <a:noFill/>
          <a:ln/>
        </p:spPr>
        <p:txBody>
          <a:bodyPr wrap="square" lIns="0" tIns="0" rIns="0" bIns="0" rtlCol="0" anchor="ctr"/>
          <a:lstStyle/>
          <a:p>
            <a:pPr marL="0" indent="0" algn="ctr">
              <a:buNone/>
            </a:pPr>
            <a:r>
              <a:rPr lang="en-US" sz="1000" dirty="0">
                <a:solidFill>
                  <a:srgbClr val="3FB950"/>
                </a:solidFill>
              </a:rPr>
              <a:t>170</a:t>
            </a:r>
            <a:endParaRPr lang="en-US" sz="1000" dirty="0"/>
          </a:p>
        </p:txBody>
      </p:sp>
      <p:sp>
        <p:nvSpPr>
          <p:cNvPr id="51" name="Text 49"/>
          <p:cNvSpPr/>
          <p:nvPr/>
        </p:nvSpPr>
        <p:spPr>
          <a:xfrm>
            <a:off x="6309360" y="3931920"/>
            <a:ext cx="822960" cy="329184"/>
          </a:xfrm>
          <a:prstGeom prst="rect">
            <a:avLst/>
          </a:prstGeom>
          <a:noFill/>
          <a:ln/>
        </p:spPr>
        <p:txBody>
          <a:bodyPr wrap="square" lIns="0" tIns="0" rIns="0" bIns="0" rtlCol="0" anchor="ctr"/>
          <a:lstStyle/>
          <a:p>
            <a:pPr marL="0" indent="0" algn="ctr">
              <a:buNone/>
            </a:pPr>
            <a:r>
              <a:rPr lang="en-US" sz="1000" dirty="0">
                <a:solidFill>
                  <a:srgbClr val="BC8CFF"/>
                </a:solidFill>
              </a:rPr>
              <a:t>190</a:t>
            </a:r>
            <a:endParaRPr lang="en-US" sz="1000" dirty="0"/>
          </a:p>
        </p:txBody>
      </p:sp>
      <p:sp>
        <p:nvSpPr>
          <p:cNvPr id="52" name="Text 50"/>
          <p:cNvSpPr/>
          <p:nvPr/>
        </p:nvSpPr>
        <p:spPr>
          <a:xfrm>
            <a:off x="7178040" y="3931920"/>
            <a:ext cx="640080" cy="329184"/>
          </a:xfrm>
          <a:prstGeom prst="rect">
            <a:avLst/>
          </a:prstGeom>
          <a:noFill/>
          <a:ln/>
        </p:spPr>
        <p:txBody>
          <a:bodyPr wrap="square" lIns="0" tIns="0" rIns="0" bIns="0" rtlCol="0" anchor="ctr"/>
          <a:lstStyle/>
          <a:p>
            <a:pPr marL="0" indent="0" algn="ctr">
              <a:buNone/>
            </a:pPr>
            <a:r>
              <a:rPr lang="en-US" sz="1000" dirty="0">
                <a:solidFill>
                  <a:srgbClr val="FF7B72"/>
                </a:solidFill>
              </a:rPr>
              <a:t>-20</a:t>
            </a:r>
            <a:endParaRPr lang="en-US" sz="1000" dirty="0"/>
          </a:p>
        </p:txBody>
      </p:sp>
      <p:sp>
        <p:nvSpPr>
          <p:cNvPr id="53" name="Text 51"/>
          <p:cNvSpPr/>
          <p:nvPr/>
        </p:nvSpPr>
        <p:spPr>
          <a:xfrm>
            <a:off x="7818120" y="3931920"/>
            <a:ext cx="749808" cy="329184"/>
          </a:xfrm>
          <a:prstGeom prst="rect">
            <a:avLst/>
          </a:prstGeom>
          <a:noFill/>
          <a:ln/>
        </p:spPr>
        <p:txBody>
          <a:bodyPr wrap="square" lIns="0" tIns="0" rIns="0" bIns="0" rtlCol="0" anchor="ctr"/>
          <a:lstStyle/>
          <a:p>
            <a:pPr marL="0" indent="0" algn="ctr">
              <a:buNone/>
            </a:pPr>
            <a:r>
              <a:rPr lang="en-US" sz="1000" dirty="0">
                <a:solidFill>
                  <a:srgbClr val="F0883E"/>
                </a:solidFill>
              </a:rPr>
              <a:t>400</a:t>
            </a:r>
            <a:endParaRPr lang="en-US" sz="1000" dirty="0"/>
          </a:p>
        </p:txBody>
      </p:sp>
      <p:sp>
        <p:nvSpPr>
          <p:cNvPr id="54" name="Shape 52"/>
          <p:cNvSpPr/>
          <p:nvPr/>
        </p:nvSpPr>
        <p:spPr>
          <a:xfrm>
            <a:off x="4754880" y="4343400"/>
            <a:ext cx="3931920" cy="0"/>
          </a:xfrm>
          <a:prstGeom prst="line">
            <a:avLst/>
          </a:prstGeom>
          <a:noFill/>
          <a:ln w="12700">
            <a:solidFill>
              <a:srgbClr val="21262D"/>
            </a:solidFill>
            <a:prstDash val="solid"/>
          </a:ln>
        </p:spPr>
        <p:txBody>
          <a:bodyPr/>
          <a:lstStyle/>
          <a:p>
            <a:endParaRPr lang="fr-FR"/>
          </a:p>
        </p:txBody>
      </p:sp>
      <p:sp>
        <p:nvSpPr>
          <p:cNvPr id="55" name="Text 53"/>
          <p:cNvSpPr/>
          <p:nvPr/>
        </p:nvSpPr>
        <p:spPr>
          <a:xfrm>
            <a:off x="4800600" y="4389120"/>
            <a:ext cx="3886200" cy="228600"/>
          </a:xfrm>
          <a:prstGeom prst="rect">
            <a:avLst/>
          </a:prstGeom>
          <a:noFill/>
          <a:ln/>
        </p:spPr>
        <p:txBody>
          <a:bodyPr wrap="square" lIns="0" tIns="0" rIns="0" bIns="0" rtlCol="0" anchor="ctr"/>
          <a:lstStyle/>
          <a:p>
            <a:pPr marL="0" indent="0">
              <a:buNone/>
            </a:pPr>
            <a:r>
              <a:rPr lang="en-US" sz="1000" dirty="0">
                <a:solidFill>
                  <a:srgbClr val="F0883E"/>
                </a:solidFill>
              </a:rPr>
              <a:t>Sum of squared errors = 600</a:t>
            </a:r>
            <a:endParaRPr lang="en-US" sz="1000" dirty="0"/>
          </a:p>
        </p:txBody>
      </p:sp>
      <p:sp>
        <p:nvSpPr>
          <p:cNvPr id="56" name="Shape 54"/>
          <p:cNvSpPr/>
          <p:nvPr/>
        </p:nvSpPr>
        <p:spPr>
          <a:xfrm>
            <a:off x="4754880" y="4663440"/>
            <a:ext cx="3931920" cy="347472"/>
          </a:xfrm>
          <a:prstGeom prst="roundRect">
            <a:avLst>
              <a:gd name="adj" fmla="val 15789"/>
            </a:avLst>
          </a:prstGeom>
          <a:solidFill>
            <a:srgbClr val="21262D"/>
          </a:solidFill>
          <a:ln w="25400">
            <a:solidFill>
              <a:srgbClr val="FF7B72"/>
            </a:solidFill>
            <a:prstDash val="solid"/>
          </a:ln>
        </p:spPr>
        <p:txBody>
          <a:bodyPr/>
          <a:lstStyle/>
          <a:p>
            <a:endParaRPr lang="fr-FR"/>
          </a:p>
        </p:txBody>
      </p:sp>
      <p:sp>
        <p:nvSpPr>
          <p:cNvPr id="57" name="Text 55"/>
          <p:cNvSpPr/>
          <p:nvPr/>
        </p:nvSpPr>
        <p:spPr>
          <a:xfrm>
            <a:off x="4846320" y="4663440"/>
            <a:ext cx="3794760" cy="347472"/>
          </a:xfrm>
          <a:prstGeom prst="rect">
            <a:avLst/>
          </a:prstGeom>
          <a:noFill/>
          <a:ln/>
        </p:spPr>
        <p:txBody>
          <a:bodyPr wrap="square" lIns="0" tIns="0" rIns="0" bIns="0" rtlCol="0" anchor="ctr"/>
          <a:lstStyle/>
          <a:p>
            <a:pPr marL="0" indent="0">
              <a:buNone/>
            </a:pPr>
            <a:r>
              <a:rPr lang="en-US" sz="1200" b="1" dirty="0">
                <a:solidFill>
                  <a:srgbClr val="FF7B72"/>
                </a:solidFill>
              </a:rPr>
              <a:t>MSE = 600/4 = 150</a:t>
            </a:r>
            <a:r>
              <a:rPr lang="en-US" sz="1200" dirty="0">
                <a:solidFill>
                  <a:srgbClr val="8B949E"/>
                </a:solidFill>
              </a:rPr>
              <a:t>   ← this is what we minimize!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0883E"/>
          </a:solidFill>
          <a:ln w="12700">
            <a:solidFill>
              <a:srgbClr val="F0883E"/>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Backward Pass — What is a Gradient?</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F0883E"/>
                </a:solidFill>
              </a:rPr>
              <a:t>The gradient tells us: which way is uphill?</a:t>
            </a:r>
            <a:endParaRPr lang="en-US" sz="1200" dirty="0"/>
          </a:p>
        </p:txBody>
      </p:sp>
      <p:sp>
        <p:nvSpPr>
          <p:cNvPr id="5" name="Shape 3"/>
          <p:cNvSpPr/>
          <p:nvPr/>
        </p:nvSpPr>
        <p:spPr>
          <a:xfrm>
            <a:off x="320040" y="1024128"/>
            <a:ext cx="8503920" cy="0"/>
          </a:xfrm>
          <a:prstGeom prst="line">
            <a:avLst/>
          </a:prstGeom>
          <a:noFill/>
          <a:ln w="12700">
            <a:solidFill>
              <a:srgbClr val="F0883E"/>
            </a:solidFill>
            <a:prstDash val="solid"/>
          </a:ln>
        </p:spPr>
        <p:txBody>
          <a:bodyPr/>
          <a:lstStyle/>
          <a:p>
            <a:endParaRPr lang="fr-FR"/>
          </a:p>
        </p:txBody>
      </p:sp>
      <p:sp>
        <p:nvSpPr>
          <p:cNvPr id="6" name="Shape 4"/>
          <p:cNvSpPr/>
          <p:nvPr/>
        </p:nvSpPr>
        <p:spPr>
          <a:xfrm>
            <a:off x="320040" y="1170432"/>
            <a:ext cx="8503920" cy="658368"/>
          </a:xfrm>
          <a:prstGeom prst="rect">
            <a:avLst/>
          </a:prstGeom>
          <a:solidFill>
            <a:srgbClr val="21262D"/>
          </a:solidFill>
          <a:ln w="19050">
            <a:solidFill>
              <a:srgbClr val="F0883E"/>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502920" y="1170432"/>
            <a:ext cx="8321040" cy="658368"/>
          </a:xfrm>
          <a:prstGeom prst="rect">
            <a:avLst/>
          </a:prstGeom>
          <a:noFill/>
          <a:ln/>
        </p:spPr>
        <p:txBody>
          <a:bodyPr wrap="square" lIns="0" tIns="0" rIns="0" bIns="0" rtlCol="0" anchor="ctr"/>
          <a:lstStyle/>
          <a:p>
            <a:pPr marL="0" indent="0">
              <a:buNone/>
            </a:pPr>
            <a:r>
              <a:rPr lang="en-US" sz="1200" b="1" dirty="0">
                <a:solidFill>
                  <a:srgbClr val="F0883E"/>
                </a:solidFill>
              </a:rPr>
              <a:t>Gradient  </a:t>
            </a:r>
            <a:r>
              <a:rPr lang="en-US" sz="1200" dirty="0">
                <a:solidFill>
                  <a:srgbClr val="F0F6FC"/>
                </a:solidFill>
              </a:rPr>
              <a:t>= the slope of the loss curve at the current weight.  </a:t>
            </a:r>
            <a:r>
              <a:rPr lang="en-US" sz="1200" dirty="0">
                <a:solidFill>
                  <a:srgbClr val="8B949E"/>
                </a:solidFill>
              </a:rPr>
              <a:t>If the gradient is positive → loss goes up when w increases → decrease w.</a:t>
            </a:r>
            <a:endParaRPr lang="en-US" sz="1200" dirty="0"/>
          </a:p>
          <a:p>
            <a:pPr marL="0" indent="0">
              <a:buNone/>
            </a:pPr>
            <a:r>
              <a:rPr lang="en-US" sz="1200" dirty="0">
                <a:solidFill>
                  <a:srgbClr val="8B949E"/>
                </a:solidFill>
              </a:rPr>
              <a:t>If the gradient is negative → loss goes up when w decreases → increase w.</a:t>
            </a:r>
            <a:endParaRPr lang="en-US" sz="1200" dirty="0"/>
          </a:p>
        </p:txBody>
      </p:sp>
      <p:sp>
        <p:nvSpPr>
          <p:cNvPr id="8" name="Shape 6"/>
          <p:cNvSpPr/>
          <p:nvPr/>
        </p:nvSpPr>
        <p:spPr>
          <a:xfrm>
            <a:off x="320040" y="1938528"/>
            <a:ext cx="4023360" cy="292608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9" name="Text 7"/>
          <p:cNvSpPr/>
          <p:nvPr/>
        </p:nvSpPr>
        <p:spPr>
          <a:xfrm>
            <a:off x="457200" y="1984248"/>
            <a:ext cx="3749040" cy="274320"/>
          </a:xfrm>
          <a:prstGeom prst="rect">
            <a:avLst/>
          </a:prstGeom>
          <a:noFill/>
          <a:ln/>
        </p:spPr>
        <p:txBody>
          <a:bodyPr wrap="square" lIns="0" tIns="0" rIns="0" bIns="0" rtlCol="0" anchor="ctr"/>
          <a:lstStyle/>
          <a:p>
            <a:pPr marL="0" indent="0" algn="ctr">
              <a:buNone/>
            </a:pPr>
            <a:r>
              <a:rPr lang="en-US" sz="1000" dirty="0">
                <a:solidFill>
                  <a:srgbClr val="8B949E"/>
                </a:solidFill>
              </a:rPr>
              <a:t>Loss vs. Weight  (parabola)</a:t>
            </a:r>
            <a:endParaRPr lang="en-US" sz="1000" dirty="0"/>
          </a:p>
        </p:txBody>
      </p:sp>
      <p:sp>
        <p:nvSpPr>
          <p:cNvPr id="10" name="Shape 8"/>
          <p:cNvSpPr/>
          <p:nvPr/>
        </p:nvSpPr>
        <p:spPr>
          <a:xfrm>
            <a:off x="530352" y="4617720"/>
            <a:ext cx="3520440" cy="0"/>
          </a:xfrm>
          <a:prstGeom prst="line">
            <a:avLst/>
          </a:prstGeom>
          <a:noFill/>
          <a:ln w="12700">
            <a:solidFill>
              <a:srgbClr val="8B949E"/>
            </a:solidFill>
            <a:prstDash val="solid"/>
          </a:ln>
        </p:spPr>
        <p:txBody>
          <a:bodyPr/>
          <a:lstStyle/>
          <a:p>
            <a:endParaRPr lang="fr-FR"/>
          </a:p>
        </p:txBody>
      </p:sp>
      <p:sp>
        <p:nvSpPr>
          <p:cNvPr id="11" name="Shape 9"/>
          <p:cNvSpPr/>
          <p:nvPr/>
        </p:nvSpPr>
        <p:spPr>
          <a:xfrm>
            <a:off x="530352" y="2377440"/>
            <a:ext cx="0" cy="2240280"/>
          </a:xfrm>
          <a:prstGeom prst="line">
            <a:avLst/>
          </a:prstGeom>
          <a:noFill/>
          <a:ln w="12700">
            <a:solidFill>
              <a:srgbClr val="8B949E"/>
            </a:solidFill>
            <a:prstDash val="solid"/>
          </a:ln>
        </p:spPr>
        <p:txBody>
          <a:bodyPr/>
          <a:lstStyle/>
          <a:p>
            <a:endParaRPr lang="fr-FR"/>
          </a:p>
        </p:txBody>
      </p:sp>
      <p:sp>
        <p:nvSpPr>
          <p:cNvPr id="12" name="Text 10"/>
          <p:cNvSpPr/>
          <p:nvPr/>
        </p:nvSpPr>
        <p:spPr>
          <a:xfrm>
            <a:off x="3858768" y="4572000"/>
            <a:ext cx="438912" cy="201168"/>
          </a:xfrm>
          <a:prstGeom prst="rect">
            <a:avLst/>
          </a:prstGeom>
          <a:noFill/>
          <a:ln/>
        </p:spPr>
        <p:txBody>
          <a:bodyPr wrap="square" lIns="0" tIns="0" rIns="0" bIns="0" rtlCol="0" anchor="ctr"/>
          <a:lstStyle/>
          <a:p>
            <a:pPr marL="0" indent="0">
              <a:buNone/>
            </a:pPr>
            <a:r>
              <a:rPr lang="en-US" sz="800" dirty="0">
                <a:solidFill>
                  <a:srgbClr val="8B949E"/>
                </a:solidFill>
              </a:rPr>
              <a:t>w →</a:t>
            </a:r>
            <a:endParaRPr lang="en-US" sz="800" dirty="0"/>
          </a:p>
        </p:txBody>
      </p:sp>
      <p:sp>
        <p:nvSpPr>
          <p:cNvPr id="13" name="Text 11"/>
          <p:cNvSpPr/>
          <p:nvPr/>
        </p:nvSpPr>
        <p:spPr>
          <a:xfrm>
            <a:off x="548640" y="2377440"/>
            <a:ext cx="502920" cy="182880"/>
          </a:xfrm>
          <a:prstGeom prst="rect">
            <a:avLst/>
          </a:prstGeom>
          <a:noFill/>
          <a:ln/>
        </p:spPr>
        <p:txBody>
          <a:bodyPr wrap="square" lIns="0" tIns="0" rIns="0" bIns="0" rtlCol="0" anchor="ctr"/>
          <a:lstStyle/>
          <a:p>
            <a:pPr marL="0" indent="0">
              <a:buNone/>
            </a:pPr>
            <a:r>
              <a:rPr lang="en-US" sz="800" dirty="0">
                <a:solidFill>
                  <a:srgbClr val="8B949E"/>
                </a:solidFill>
              </a:rPr>
              <a:t>Loss ↑</a:t>
            </a:r>
            <a:endParaRPr lang="en-US" sz="800" dirty="0"/>
          </a:p>
        </p:txBody>
      </p:sp>
      <p:sp>
        <p:nvSpPr>
          <p:cNvPr id="14" name="Shape 12"/>
          <p:cNvSpPr/>
          <p:nvPr/>
        </p:nvSpPr>
        <p:spPr>
          <a:xfrm>
            <a:off x="594360" y="4572000"/>
            <a:ext cx="274320" cy="0"/>
          </a:xfrm>
          <a:prstGeom prst="line">
            <a:avLst/>
          </a:prstGeom>
          <a:noFill/>
          <a:ln w="31750">
            <a:solidFill>
              <a:srgbClr val="F0883E"/>
            </a:solidFill>
            <a:prstDash val="solid"/>
          </a:ln>
        </p:spPr>
        <p:txBody>
          <a:bodyPr/>
          <a:lstStyle/>
          <a:p>
            <a:endParaRPr lang="fr-FR"/>
          </a:p>
        </p:txBody>
      </p:sp>
      <p:sp>
        <p:nvSpPr>
          <p:cNvPr id="15" name="Shape 13"/>
          <p:cNvSpPr/>
          <p:nvPr/>
        </p:nvSpPr>
        <p:spPr>
          <a:xfrm>
            <a:off x="868680" y="4160520"/>
            <a:ext cx="274320" cy="0"/>
          </a:xfrm>
          <a:prstGeom prst="line">
            <a:avLst/>
          </a:prstGeom>
          <a:noFill/>
          <a:ln w="31750">
            <a:solidFill>
              <a:srgbClr val="F0883E"/>
            </a:solidFill>
            <a:prstDash val="solid"/>
          </a:ln>
        </p:spPr>
        <p:txBody>
          <a:bodyPr/>
          <a:lstStyle/>
          <a:p>
            <a:endParaRPr lang="fr-FR"/>
          </a:p>
        </p:txBody>
      </p:sp>
      <p:sp>
        <p:nvSpPr>
          <p:cNvPr id="16" name="Shape 14"/>
          <p:cNvSpPr/>
          <p:nvPr/>
        </p:nvSpPr>
        <p:spPr>
          <a:xfrm>
            <a:off x="1143000" y="3794760"/>
            <a:ext cx="320040" cy="0"/>
          </a:xfrm>
          <a:prstGeom prst="line">
            <a:avLst/>
          </a:prstGeom>
          <a:noFill/>
          <a:ln w="31750">
            <a:solidFill>
              <a:srgbClr val="F0883E"/>
            </a:solidFill>
            <a:prstDash val="solid"/>
          </a:ln>
        </p:spPr>
        <p:txBody>
          <a:bodyPr/>
          <a:lstStyle/>
          <a:p>
            <a:endParaRPr lang="fr-FR"/>
          </a:p>
        </p:txBody>
      </p:sp>
      <p:sp>
        <p:nvSpPr>
          <p:cNvPr id="17" name="Shape 15"/>
          <p:cNvSpPr/>
          <p:nvPr/>
        </p:nvSpPr>
        <p:spPr>
          <a:xfrm>
            <a:off x="1463040" y="3456432"/>
            <a:ext cx="320040" cy="0"/>
          </a:xfrm>
          <a:prstGeom prst="line">
            <a:avLst/>
          </a:prstGeom>
          <a:noFill/>
          <a:ln w="31750">
            <a:solidFill>
              <a:srgbClr val="F0883E"/>
            </a:solidFill>
            <a:prstDash val="solid"/>
          </a:ln>
        </p:spPr>
        <p:txBody>
          <a:bodyPr/>
          <a:lstStyle/>
          <a:p>
            <a:endParaRPr lang="fr-FR"/>
          </a:p>
        </p:txBody>
      </p:sp>
      <p:sp>
        <p:nvSpPr>
          <p:cNvPr id="18" name="Shape 16"/>
          <p:cNvSpPr/>
          <p:nvPr/>
        </p:nvSpPr>
        <p:spPr>
          <a:xfrm>
            <a:off x="1783080" y="3200400"/>
            <a:ext cx="365760" cy="0"/>
          </a:xfrm>
          <a:prstGeom prst="line">
            <a:avLst/>
          </a:prstGeom>
          <a:noFill/>
          <a:ln w="31750">
            <a:solidFill>
              <a:srgbClr val="F0883E"/>
            </a:solidFill>
            <a:prstDash val="solid"/>
          </a:ln>
        </p:spPr>
        <p:txBody>
          <a:bodyPr/>
          <a:lstStyle/>
          <a:p>
            <a:endParaRPr lang="fr-FR"/>
          </a:p>
        </p:txBody>
      </p:sp>
      <p:sp>
        <p:nvSpPr>
          <p:cNvPr id="19" name="Shape 17"/>
          <p:cNvSpPr/>
          <p:nvPr/>
        </p:nvSpPr>
        <p:spPr>
          <a:xfrm>
            <a:off x="2148840" y="3017520"/>
            <a:ext cx="338328" cy="0"/>
          </a:xfrm>
          <a:prstGeom prst="line">
            <a:avLst/>
          </a:prstGeom>
          <a:noFill/>
          <a:ln w="31750">
            <a:solidFill>
              <a:srgbClr val="F0883E"/>
            </a:solidFill>
            <a:prstDash val="solid"/>
          </a:ln>
        </p:spPr>
        <p:txBody>
          <a:bodyPr/>
          <a:lstStyle/>
          <a:p>
            <a:endParaRPr lang="fr-FR"/>
          </a:p>
        </p:txBody>
      </p:sp>
      <p:sp>
        <p:nvSpPr>
          <p:cNvPr id="20" name="Shape 18"/>
          <p:cNvSpPr/>
          <p:nvPr/>
        </p:nvSpPr>
        <p:spPr>
          <a:xfrm>
            <a:off x="2487168" y="2944368"/>
            <a:ext cx="329184" cy="54864"/>
          </a:xfrm>
          <a:prstGeom prst="line">
            <a:avLst/>
          </a:prstGeom>
          <a:noFill/>
          <a:ln w="31750">
            <a:solidFill>
              <a:srgbClr val="F0883E"/>
            </a:solidFill>
            <a:prstDash val="solid"/>
          </a:ln>
        </p:spPr>
        <p:txBody>
          <a:bodyPr/>
          <a:lstStyle/>
          <a:p>
            <a:endParaRPr lang="fr-FR"/>
          </a:p>
        </p:txBody>
      </p:sp>
      <p:sp>
        <p:nvSpPr>
          <p:cNvPr id="21" name="Shape 19"/>
          <p:cNvSpPr/>
          <p:nvPr/>
        </p:nvSpPr>
        <p:spPr>
          <a:xfrm>
            <a:off x="2816352" y="2999232"/>
            <a:ext cx="292608" cy="219456"/>
          </a:xfrm>
          <a:prstGeom prst="line">
            <a:avLst/>
          </a:prstGeom>
          <a:noFill/>
          <a:ln w="31750">
            <a:solidFill>
              <a:srgbClr val="F0883E"/>
            </a:solidFill>
            <a:prstDash val="solid"/>
          </a:ln>
        </p:spPr>
        <p:txBody>
          <a:bodyPr/>
          <a:lstStyle/>
          <a:p>
            <a:endParaRPr lang="fr-FR"/>
          </a:p>
        </p:txBody>
      </p:sp>
      <p:sp>
        <p:nvSpPr>
          <p:cNvPr id="22" name="Shape 20"/>
          <p:cNvSpPr/>
          <p:nvPr/>
        </p:nvSpPr>
        <p:spPr>
          <a:xfrm>
            <a:off x="3108960" y="3218688"/>
            <a:ext cx="292608" cy="301752"/>
          </a:xfrm>
          <a:prstGeom prst="line">
            <a:avLst/>
          </a:prstGeom>
          <a:noFill/>
          <a:ln w="31750">
            <a:solidFill>
              <a:srgbClr val="F0883E"/>
            </a:solidFill>
            <a:prstDash val="solid"/>
          </a:ln>
        </p:spPr>
        <p:txBody>
          <a:bodyPr/>
          <a:lstStyle/>
          <a:p>
            <a:endParaRPr lang="fr-FR"/>
          </a:p>
        </p:txBody>
      </p:sp>
      <p:sp>
        <p:nvSpPr>
          <p:cNvPr id="23" name="Shape 21"/>
          <p:cNvSpPr/>
          <p:nvPr/>
        </p:nvSpPr>
        <p:spPr>
          <a:xfrm>
            <a:off x="3401568" y="3520440"/>
            <a:ext cx="301752" cy="365760"/>
          </a:xfrm>
          <a:prstGeom prst="line">
            <a:avLst/>
          </a:prstGeom>
          <a:noFill/>
          <a:ln w="31750">
            <a:solidFill>
              <a:srgbClr val="F0883E"/>
            </a:solidFill>
            <a:prstDash val="solid"/>
          </a:ln>
        </p:spPr>
        <p:txBody>
          <a:bodyPr/>
          <a:lstStyle/>
          <a:p>
            <a:endParaRPr lang="fr-FR"/>
          </a:p>
        </p:txBody>
      </p:sp>
      <p:sp>
        <p:nvSpPr>
          <p:cNvPr id="24" name="Shape 22"/>
          <p:cNvSpPr/>
          <p:nvPr/>
        </p:nvSpPr>
        <p:spPr>
          <a:xfrm>
            <a:off x="3703320" y="3886200"/>
            <a:ext cx="274320" cy="429768"/>
          </a:xfrm>
          <a:prstGeom prst="line">
            <a:avLst/>
          </a:prstGeom>
          <a:noFill/>
          <a:ln w="31750">
            <a:solidFill>
              <a:srgbClr val="F0883E"/>
            </a:solidFill>
            <a:prstDash val="solid"/>
          </a:ln>
        </p:spPr>
        <p:txBody>
          <a:bodyPr/>
          <a:lstStyle/>
          <a:p>
            <a:endParaRPr lang="fr-FR"/>
          </a:p>
        </p:txBody>
      </p:sp>
      <p:sp>
        <p:nvSpPr>
          <p:cNvPr id="25" name="Shape 23"/>
          <p:cNvSpPr/>
          <p:nvPr/>
        </p:nvSpPr>
        <p:spPr>
          <a:xfrm>
            <a:off x="2423160" y="2871216"/>
            <a:ext cx="146304" cy="146304"/>
          </a:xfrm>
          <a:prstGeom prst="ellipse">
            <a:avLst/>
          </a:prstGeom>
          <a:solidFill>
            <a:srgbClr val="3FB950"/>
          </a:solidFill>
          <a:ln w="12700">
            <a:solidFill>
              <a:srgbClr val="3FB950"/>
            </a:solidFill>
            <a:prstDash val="solid"/>
          </a:ln>
        </p:spPr>
        <p:txBody>
          <a:bodyPr/>
          <a:lstStyle/>
          <a:p>
            <a:endParaRPr lang="fr-FR"/>
          </a:p>
        </p:txBody>
      </p:sp>
      <p:sp>
        <p:nvSpPr>
          <p:cNvPr id="26" name="Shape 24"/>
          <p:cNvSpPr/>
          <p:nvPr/>
        </p:nvSpPr>
        <p:spPr>
          <a:xfrm>
            <a:off x="2496312" y="2944368"/>
            <a:ext cx="0" cy="411480"/>
          </a:xfrm>
          <a:prstGeom prst="line">
            <a:avLst/>
          </a:prstGeom>
          <a:noFill/>
          <a:ln w="12700">
            <a:solidFill>
              <a:srgbClr val="3FB950"/>
            </a:solidFill>
            <a:prstDash val="dash"/>
          </a:ln>
        </p:spPr>
        <p:txBody>
          <a:bodyPr/>
          <a:lstStyle/>
          <a:p>
            <a:endParaRPr lang="fr-FR"/>
          </a:p>
        </p:txBody>
      </p:sp>
      <p:sp>
        <p:nvSpPr>
          <p:cNvPr id="27" name="Text 25"/>
          <p:cNvSpPr/>
          <p:nvPr/>
        </p:nvSpPr>
        <p:spPr>
          <a:xfrm>
            <a:off x="2194560" y="3383280"/>
            <a:ext cx="731520" cy="347472"/>
          </a:xfrm>
          <a:prstGeom prst="rect">
            <a:avLst/>
          </a:prstGeom>
          <a:noFill/>
          <a:ln/>
        </p:spPr>
        <p:txBody>
          <a:bodyPr wrap="square" lIns="0" tIns="0" rIns="0" bIns="0" rtlCol="0" anchor="ctr"/>
          <a:lstStyle/>
          <a:p>
            <a:pPr marL="0" indent="0" algn="ctr">
              <a:buNone/>
            </a:pPr>
            <a:r>
              <a:rPr lang="en-US" sz="750" dirty="0">
                <a:solidFill>
                  <a:srgbClr val="3FB950"/>
                </a:solidFill>
              </a:rPr>
              <a:t>w*</a:t>
            </a:r>
            <a:endParaRPr lang="en-US" sz="750" dirty="0"/>
          </a:p>
          <a:p>
            <a:pPr marL="0" indent="0" algn="ctr">
              <a:buNone/>
            </a:pPr>
            <a:r>
              <a:rPr lang="en-US" sz="750" dirty="0">
                <a:solidFill>
                  <a:srgbClr val="3FB950"/>
                </a:solidFill>
              </a:rPr>
              <a:t>(optimal)</a:t>
            </a:r>
            <a:endParaRPr lang="en-US" sz="750" dirty="0"/>
          </a:p>
        </p:txBody>
      </p:sp>
      <p:sp>
        <p:nvSpPr>
          <p:cNvPr id="28" name="Shape 26"/>
          <p:cNvSpPr/>
          <p:nvPr/>
        </p:nvSpPr>
        <p:spPr>
          <a:xfrm>
            <a:off x="1389888" y="3383280"/>
            <a:ext cx="146304" cy="146304"/>
          </a:xfrm>
          <a:prstGeom prst="ellipse">
            <a:avLst/>
          </a:prstGeom>
          <a:solidFill>
            <a:srgbClr val="58A6FF"/>
          </a:solidFill>
          <a:ln w="12700">
            <a:solidFill>
              <a:srgbClr val="58A6FF"/>
            </a:solidFill>
            <a:prstDash val="solid"/>
          </a:ln>
        </p:spPr>
        <p:txBody>
          <a:bodyPr/>
          <a:lstStyle/>
          <a:p>
            <a:endParaRPr lang="fr-FR"/>
          </a:p>
        </p:txBody>
      </p:sp>
      <p:sp>
        <p:nvSpPr>
          <p:cNvPr id="29" name="Shape 27"/>
          <p:cNvSpPr/>
          <p:nvPr/>
        </p:nvSpPr>
        <p:spPr>
          <a:xfrm>
            <a:off x="1143000" y="3712464"/>
            <a:ext cx="640080" cy="0"/>
          </a:xfrm>
          <a:prstGeom prst="line">
            <a:avLst/>
          </a:prstGeom>
          <a:noFill/>
          <a:ln w="25400">
            <a:solidFill>
              <a:srgbClr val="58A6FF"/>
            </a:solidFill>
            <a:prstDash val="solid"/>
          </a:ln>
        </p:spPr>
        <p:txBody>
          <a:bodyPr/>
          <a:lstStyle/>
          <a:p>
            <a:endParaRPr lang="fr-FR"/>
          </a:p>
        </p:txBody>
      </p:sp>
      <p:sp>
        <p:nvSpPr>
          <p:cNvPr id="30" name="Text 28"/>
          <p:cNvSpPr/>
          <p:nvPr/>
        </p:nvSpPr>
        <p:spPr>
          <a:xfrm>
            <a:off x="1170432" y="3246120"/>
            <a:ext cx="274320" cy="228600"/>
          </a:xfrm>
          <a:prstGeom prst="rect">
            <a:avLst/>
          </a:prstGeom>
          <a:noFill/>
          <a:ln/>
        </p:spPr>
        <p:txBody>
          <a:bodyPr wrap="square" lIns="0" tIns="0" rIns="0" bIns="0" rtlCol="0" anchor="ctr"/>
          <a:lstStyle/>
          <a:p>
            <a:pPr marL="0" indent="0">
              <a:buNone/>
            </a:pPr>
            <a:r>
              <a:rPr lang="en-US" sz="900" b="1" dirty="0">
                <a:solidFill>
                  <a:srgbClr val="58A6FF"/>
                </a:solidFill>
              </a:rPr>
              <a:t>A</a:t>
            </a:r>
            <a:endParaRPr lang="en-US" sz="900" dirty="0"/>
          </a:p>
        </p:txBody>
      </p:sp>
      <p:sp>
        <p:nvSpPr>
          <p:cNvPr id="31" name="Text 29"/>
          <p:cNvSpPr/>
          <p:nvPr/>
        </p:nvSpPr>
        <p:spPr>
          <a:xfrm>
            <a:off x="548640" y="3749040"/>
            <a:ext cx="1097280" cy="411480"/>
          </a:xfrm>
          <a:prstGeom prst="rect">
            <a:avLst/>
          </a:prstGeom>
          <a:noFill/>
          <a:ln/>
        </p:spPr>
        <p:txBody>
          <a:bodyPr wrap="square" lIns="0" tIns="0" rIns="0" bIns="0" rtlCol="0" anchor="ctr"/>
          <a:lstStyle/>
          <a:p>
            <a:pPr marL="0" indent="0">
              <a:buNone/>
            </a:pPr>
            <a:r>
              <a:rPr lang="en-US" sz="750" dirty="0">
                <a:solidFill>
                  <a:srgbClr val="58A6FF"/>
                </a:solidFill>
              </a:rPr>
              <a:t>Gradient &lt; 0</a:t>
            </a:r>
            <a:endParaRPr lang="en-US" sz="750" dirty="0"/>
          </a:p>
          <a:p>
            <a:pPr marL="0" indent="0">
              <a:buNone/>
            </a:pPr>
            <a:r>
              <a:rPr lang="en-US" sz="750" dirty="0">
                <a:solidFill>
                  <a:srgbClr val="58A6FF"/>
                </a:solidFill>
              </a:rPr>
              <a:t>→ increase w</a:t>
            </a:r>
            <a:endParaRPr lang="en-US" sz="750" dirty="0"/>
          </a:p>
        </p:txBody>
      </p:sp>
      <p:sp>
        <p:nvSpPr>
          <p:cNvPr id="32" name="Shape 30"/>
          <p:cNvSpPr/>
          <p:nvPr/>
        </p:nvSpPr>
        <p:spPr>
          <a:xfrm>
            <a:off x="3218688" y="3246120"/>
            <a:ext cx="146304" cy="146304"/>
          </a:xfrm>
          <a:prstGeom prst="ellipse">
            <a:avLst/>
          </a:prstGeom>
          <a:solidFill>
            <a:srgbClr val="FF7B72"/>
          </a:solidFill>
          <a:ln w="12700">
            <a:solidFill>
              <a:srgbClr val="FF7B72"/>
            </a:solidFill>
            <a:prstDash val="solid"/>
          </a:ln>
        </p:spPr>
        <p:txBody>
          <a:bodyPr/>
          <a:lstStyle/>
          <a:p>
            <a:endParaRPr lang="fr-FR"/>
          </a:p>
        </p:txBody>
      </p:sp>
      <p:sp>
        <p:nvSpPr>
          <p:cNvPr id="33" name="Shape 31"/>
          <p:cNvSpPr/>
          <p:nvPr/>
        </p:nvSpPr>
        <p:spPr>
          <a:xfrm>
            <a:off x="2999232" y="3035808"/>
            <a:ext cx="640080" cy="640080"/>
          </a:xfrm>
          <a:prstGeom prst="line">
            <a:avLst/>
          </a:prstGeom>
          <a:noFill/>
          <a:ln w="25400">
            <a:solidFill>
              <a:srgbClr val="FF7B72"/>
            </a:solidFill>
            <a:prstDash val="solid"/>
          </a:ln>
        </p:spPr>
        <p:txBody>
          <a:bodyPr/>
          <a:lstStyle/>
          <a:p>
            <a:endParaRPr lang="fr-FR"/>
          </a:p>
        </p:txBody>
      </p:sp>
      <p:sp>
        <p:nvSpPr>
          <p:cNvPr id="34" name="Text 32"/>
          <p:cNvSpPr/>
          <p:nvPr/>
        </p:nvSpPr>
        <p:spPr>
          <a:xfrm>
            <a:off x="3246120" y="3063240"/>
            <a:ext cx="274320" cy="228600"/>
          </a:xfrm>
          <a:prstGeom prst="rect">
            <a:avLst/>
          </a:prstGeom>
          <a:noFill/>
          <a:ln/>
        </p:spPr>
        <p:txBody>
          <a:bodyPr wrap="square" lIns="0" tIns="0" rIns="0" bIns="0" rtlCol="0" anchor="ctr"/>
          <a:lstStyle/>
          <a:p>
            <a:pPr marL="0" indent="0">
              <a:buNone/>
            </a:pPr>
            <a:r>
              <a:rPr lang="en-US" sz="900" b="1" dirty="0">
                <a:solidFill>
                  <a:srgbClr val="FF7B72"/>
                </a:solidFill>
              </a:rPr>
              <a:t>B</a:t>
            </a:r>
            <a:endParaRPr lang="en-US" sz="900" dirty="0"/>
          </a:p>
        </p:txBody>
      </p:sp>
      <p:sp>
        <p:nvSpPr>
          <p:cNvPr id="35" name="Text 33"/>
          <p:cNvSpPr/>
          <p:nvPr/>
        </p:nvSpPr>
        <p:spPr>
          <a:xfrm>
            <a:off x="3246120" y="3493008"/>
            <a:ext cx="1097280" cy="411480"/>
          </a:xfrm>
          <a:prstGeom prst="rect">
            <a:avLst/>
          </a:prstGeom>
          <a:noFill/>
          <a:ln/>
        </p:spPr>
        <p:txBody>
          <a:bodyPr wrap="square" lIns="0" tIns="0" rIns="0" bIns="0" rtlCol="0" anchor="ctr"/>
          <a:lstStyle/>
          <a:p>
            <a:pPr marL="0" indent="0">
              <a:buNone/>
            </a:pPr>
            <a:r>
              <a:rPr lang="en-US" sz="750" dirty="0">
                <a:solidFill>
                  <a:srgbClr val="FF7B72"/>
                </a:solidFill>
              </a:rPr>
              <a:t>Gradient &gt; 0</a:t>
            </a:r>
            <a:endParaRPr lang="en-US" sz="750" dirty="0"/>
          </a:p>
          <a:p>
            <a:pPr marL="0" indent="0">
              <a:buNone/>
            </a:pPr>
            <a:r>
              <a:rPr lang="en-US" sz="750" dirty="0">
                <a:solidFill>
                  <a:srgbClr val="FF7B72"/>
                </a:solidFill>
              </a:rPr>
              <a:t>→ decrease w</a:t>
            </a:r>
            <a:endParaRPr lang="en-US" sz="750" dirty="0"/>
          </a:p>
        </p:txBody>
      </p:sp>
      <p:sp>
        <p:nvSpPr>
          <p:cNvPr id="36" name="Shape 34"/>
          <p:cNvSpPr/>
          <p:nvPr/>
        </p:nvSpPr>
        <p:spPr>
          <a:xfrm>
            <a:off x="1463040" y="3401568"/>
            <a:ext cx="502920" cy="0"/>
          </a:xfrm>
          <a:prstGeom prst="line">
            <a:avLst/>
          </a:prstGeom>
          <a:noFill/>
          <a:ln w="19050">
            <a:solidFill>
              <a:srgbClr val="58A6FF"/>
            </a:solidFill>
            <a:prstDash val="solid"/>
            <a:tailEnd type="arrow"/>
          </a:ln>
        </p:spPr>
        <p:txBody>
          <a:bodyPr/>
          <a:lstStyle/>
          <a:p>
            <a:endParaRPr lang="fr-FR"/>
          </a:p>
        </p:txBody>
      </p:sp>
      <p:sp>
        <p:nvSpPr>
          <p:cNvPr id="37" name="Shape 35"/>
          <p:cNvSpPr/>
          <p:nvPr/>
        </p:nvSpPr>
        <p:spPr>
          <a:xfrm>
            <a:off x="3255264" y="3291840"/>
            <a:ext cx="0" cy="0"/>
          </a:xfrm>
          <a:prstGeom prst="line">
            <a:avLst/>
          </a:prstGeom>
          <a:noFill/>
          <a:ln w="19050">
            <a:solidFill>
              <a:srgbClr val="FF7B72"/>
            </a:solidFill>
            <a:prstDash val="solid"/>
            <a:tailEnd type="arrow"/>
          </a:ln>
        </p:spPr>
        <p:txBody>
          <a:bodyPr/>
          <a:lstStyle/>
          <a:p>
            <a:endParaRPr lang="fr-FR"/>
          </a:p>
        </p:txBody>
      </p:sp>
      <p:sp>
        <p:nvSpPr>
          <p:cNvPr id="38" name="Shape 36"/>
          <p:cNvSpPr/>
          <p:nvPr/>
        </p:nvSpPr>
        <p:spPr>
          <a:xfrm>
            <a:off x="4663440" y="1938528"/>
            <a:ext cx="4160520" cy="292608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39" name="Text 37"/>
          <p:cNvSpPr/>
          <p:nvPr/>
        </p:nvSpPr>
        <p:spPr>
          <a:xfrm>
            <a:off x="4800600" y="1984248"/>
            <a:ext cx="3886200" cy="292608"/>
          </a:xfrm>
          <a:prstGeom prst="rect">
            <a:avLst/>
          </a:prstGeom>
          <a:noFill/>
          <a:ln/>
        </p:spPr>
        <p:txBody>
          <a:bodyPr wrap="square" lIns="0" tIns="0" rIns="0" bIns="0" rtlCol="0" anchor="ctr"/>
          <a:lstStyle/>
          <a:p>
            <a:pPr marL="0" indent="0" algn="ctr">
              <a:buNone/>
            </a:pPr>
            <a:r>
              <a:rPr lang="en-US" sz="1000" dirty="0">
                <a:solidFill>
                  <a:srgbClr val="8B949E"/>
                </a:solidFill>
              </a:rPr>
              <a:t>Computing the Gradient of MSE w.r.t. w</a:t>
            </a:r>
            <a:endParaRPr lang="en-US" sz="1000" dirty="0"/>
          </a:p>
        </p:txBody>
      </p:sp>
      <p:sp>
        <p:nvSpPr>
          <p:cNvPr id="40" name="Shape 38"/>
          <p:cNvSpPr/>
          <p:nvPr/>
        </p:nvSpPr>
        <p:spPr>
          <a:xfrm>
            <a:off x="4800600" y="2340864"/>
            <a:ext cx="3886200" cy="502920"/>
          </a:xfrm>
          <a:prstGeom prst="roundRect">
            <a:avLst>
              <a:gd name="adj" fmla="val 10909"/>
            </a:avLst>
          </a:prstGeom>
          <a:solidFill>
            <a:srgbClr val="21262D"/>
          </a:solidFill>
          <a:ln w="19050">
            <a:solidFill>
              <a:srgbClr val="F0883E"/>
            </a:solidFill>
            <a:prstDash val="solid"/>
          </a:ln>
        </p:spPr>
        <p:txBody>
          <a:bodyPr/>
          <a:lstStyle/>
          <a:p>
            <a:endParaRPr lang="fr-FR"/>
          </a:p>
        </p:txBody>
      </p:sp>
      <p:sp>
        <p:nvSpPr>
          <p:cNvPr id="41" name="Text 39"/>
          <p:cNvSpPr/>
          <p:nvPr/>
        </p:nvSpPr>
        <p:spPr>
          <a:xfrm>
            <a:off x="4892040" y="2340864"/>
            <a:ext cx="3703320" cy="502920"/>
          </a:xfrm>
          <a:prstGeom prst="rect">
            <a:avLst/>
          </a:prstGeom>
          <a:noFill/>
          <a:ln/>
        </p:spPr>
        <p:txBody>
          <a:bodyPr wrap="square" lIns="0" tIns="0" rIns="0" bIns="0" rtlCol="0" anchor="ctr"/>
          <a:lstStyle/>
          <a:p>
            <a:pPr marL="0" indent="0" algn="ctr">
              <a:buNone/>
            </a:pPr>
            <a:r>
              <a:rPr lang="en-US" sz="1300" b="1" dirty="0">
                <a:solidFill>
                  <a:srgbClr val="F0883E"/>
                </a:solidFill>
              </a:rPr>
              <a:t>∂MSE/∂w  =  (2/n) · Σ  (ŷ − y) · x</a:t>
            </a:r>
            <a:endParaRPr lang="en-US" sz="1300" dirty="0"/>
          </a:p>
        </p:txBody>
      </p:sp>
      <p:sp>
        <p:nvSpPr>
          <p:cNvPr id="42" name="Shape 40"/>
          <p:cNvSpPr/>
          <p:nvPr/>
        </p:nvSpPr>
        <p:spPr>
          <a:xfrm>
            <a:off x="4800600" y="2926080"/>
            <a:ext cx="3886200" cy="438912"/>
          </a:xfrm>
          <a:prstGeom prst="roundRect">
            <a:avLst>
              <a:gd name="adj" fmla="val 12500"/>
            </a:avLst>
          </a:prstGeom>
          <a:solidFill>
            <a:srgbClr val="21262D"/>
          </a:solidFill>
          <a:ln w="19050">
            <a:solidFill>
              <a:srgbClr val="E3B341"/>
            </a:solidFill>
            <a:prstDash val="solid"/>
          </a:ln>
        </p:spPr>
        <p:txBody>
          <a:bodyPr/>
          <a:lstStyle/>
          <a:p>
            <a:endParaRPr lang="fr-FR"/>
          </a:p>
        </p:txBody>
      </p:sp>
      <p:sp>
        <p:nvSpPr>
          <p:cNvPr id="43" name="Text 41"/>
          <p:cNvSpPr/>
          <p:nvPr/>
        </p:nvSpPr>
        <p:spPr>
          <a:xfrm>
            <a:off x="4892040" y="2926080"/>
            <a:ext cx="3703320" cy="438912"/>
          </a:xfrm>
          <a:prstGeom prst="rect">
            <a:avLst/>
          </a:prstGeom>
          <a:noFill/>
          <a:ln/>
        </p:spPr>
        <p:txBody>
          <a:bodyPr wrap="square" lIns="0" tIns="0" rIns="0" bIns="0" rtlCol="0" anchor="ctr"/>
          <a:lstStyle/>
          <a:p>
            <a:pPr marL="0" indent="0" algn="ctr">
              <a:buNone/>
            </a:pPr>
            <a:r>
              <a:rPr lang="en-US" sz="1300" b="1" dirty="0">
                <a:solidFill>
                  <a:srgbClr val="E3B341"/>
                </a:solidFill>
              </a:rPr>
              <a:t>∂MSE/∂b  =  (2/n) · Σ  (ŷ − y)</a:t>
            </a:r>
            <a:endParaRPr lang="en-US" sz="1300" dirty="0"/>
          </a:p>
        </p:txBody>
      </p:sp>
      <p:sp>
        <p:nvSpPr>
          <p:cNvPr id="44" name="Text 42"/>
          <p:cNvSpPr/>
          <p:nvPr/>
        </p:nvSpPr>
        <p:spPr>
          <a:xfrm>
            <a:off x="4800600" y="3456432"/>
            <a:ext cx="3886200" cy="256032"/>
          </a:xfrm>
          <a:prstGeom prst="rect">
            <a:avLst/>
          </a:prstGeom>
          <a:noFill/>
          <a:ln/>
        </p:spPr>
        <p:txBody>
          <a:bodyPr wrap="square" lIns="0" tIns="0" rIns="0" bIns="0" rtlCol="0" anchor="ctr"/>
          <a:lstStyle/>
          <a:p>
            <a:pPr marL="0" indent="0">
              <a:buNone/>
            </a:pPr>
            <a:r>
              <a:rPr lang="en-US" sz="950" dirty="0">
                <a:solidFill>
                  <a:srgbClr val="8B949E"/>
                </a:solidFill>
              </a:rPr>
              <a:t>Numeric example  (using our 4-house dataset):</a:t>
            </a:r>
            <a:endParaRPr lang="en-US" sz="950" dirty="0"/>
          </a:p>
        </p:txBody>
      </p:sp>
      <p:sp>
        <p:nvSpPr>
          <p:cNvPr id="45" name="Text 43"/>
          <p:cNvSpPr/>
          <p:nvPr/>
        </p:nvSpPr>
        <p:spPr>
          <a:xfrm>
            <a:off x="4800600" y="3749040"/>
            <a:ext cx="3886200" cy="256032"/>
          </a:xfrm>
          <a:prstGeom prst="rect">
            <a:avLst/>
          </a:prstGeom>
          <a:noFill/>
          <a:ln/>
        </p:spPr>
        <p:txBody>
          <a:bodyPr wrap="square" lIns="0" tIns="0" rIns="0" bIns="0" rtlCol="0" anchor="ctr"/>
          <a:lstStyle/>
          <a:p>
            <a:pPr marL="0" indent="0">
              <a:buNone/>
            </a:pPr>
            <a:r>
              <a:rPr lang="en-US" sz="1000" dirty="0">
                <a:solidFill>
                  <a:srgbClr val="F0F6FC"/>
                </a:solidFill>
              </a:rPr>
              <a:t>Errors  (ŷ − y):  [+10, −10, 0, +20]</a:t>
            </a:r>
            <a:endParaRPr lang="en-US" sz="1000" dirty="0"/>
          </a:p>
        </p:txBody>
      </p:sp>
      <p:sp>
        <p:nvSpPr>
          <p:cNvPr id="46" name="Text 44"/>
          <p:cNvSpPr/>
          <p:nvPr/>
        </p:nvSpPr>
        <p:spPr>
          <a:xfrm>
            <a:off x="4800600" y="4005072"/>
            <a:ext cx="3886200" cy="256032"/>
          </a:xfrm>
          <a:prstGeom prst="rect">
            <a:avLst/>
          </a:prstGeom>
          <a:noFill/>
          <a:ln/>
        </p:spPr>
        <p:txBody>
          <a:bodyPr wrap="square" lIns="0" tIns="0" rIns="0" bIns="0" rtlCol="0" anchor="ctr"/>
          <a:lstStyle/>
          <a:p>
            <a:pPr marL="0" indent="0">
              <a:buNone/>
            </a:pPr>
            <a:r>
              <a:rPr lang="en-US" sz="1000" dirty="0">
                <a:solidFill>
                  <a:srgbClr val="58A6FF"/>
                </a:solidFill>
              </a:rPr>
              <a:t>x values:         [50,  80,  30, 60]</a:t>
            </a:r>
            <a:endParaRPr lang="en-US" sz="1000" dirty="0"/>
          </a:p>
        </p:txBody>
      </p:sp>
      <p:sp>
        <p:nvSpPr>
          <p:cNvPr id="47" name="Text 45"/>
          <p:cNvSpPr/>
          <p:nvPr/>
        </p:nvSpPr>
        <p:spPr>
          <a:xfrm>
            <a:off x="4800600" y="4315968"/>
            <a:ext cx="3886200" cy="228600"/>
          </a:xfrm>
          <a:prstGeom prst="rect">
            <a:avLst/>
          </a:prstGeom>
          <a:noFill/>
          <a:ln/>
        </p:spPr>
        <p:txBody>
          <a:bodyPr wrap="square" lIns="0" tIns="0" rIns="0" bIns="0" rtlCol="0" anchor="ctr"/>
          <a:lstStyle/>
          <a:p>
            <a:pPr marL="0" indent="0">
              <a:buNone/>
            </a:pPr>
            <a:r>
              <a:rPr lang="en-US" sz="900" dirty="0">
                <a:solidFill>
                  <a:srgbClr val="F0F6FC"/>
                </a:solidFill>
              </a:rPr>
              <a:t>∂MSE/∂w = (2/4)·[(10·50)+(−10·80)+(0·30)+(20·60)]</a:t>
            </a:r>
            <a:endParaRPr lang="en-US" sz="900" dirty="0"/>
          </a:p>
        </p:txBody>
      </p:sp>
      <p:sp>
        <p:nvSpPr>
          <p:cNvPr id="48" name="Text 46"/>
          <p:cNvSpPr/>
          <p:nvPr/>
        </p:nvSpPr>
        <p:spPr>
          <a:xfrm>
            <a:off x="4800600" y="4535424"/>
            <a:ext cx="3886200" cy="228600"/>
          </a:xfrm>
          <a:prstGeom prst="rect">
            <a:avLst/>
          </a:prstGeom>
          <a:noFill/>
          <a:ln/>
        </p:spPr>
        <p:txBody>
          <a:bodyPr wrap="square" lIns="0" tIns="0" rIns="0" bIns="0" rtlCol="0" anchor="ctr"/>
          <a:lstStyle/>
          <a:p>
            <a:pPr marL="0" indent="0">
              <a:buNone/>
            </a:pPr>
            <a:r>
              <a:rPr lang="en-US" sz="900" dirty="0">
                <a:solidFill>
                  <a:srgbClr val="8B949E"/>
                </a:solidFill>
              </a:rPr>
              <a:t>       = 0.5·[500 − 800 + 0 + 1200]  =  0.5 · 900  =  450</a:t>
            </a:r>
            <a:endParaRPr lang="en-US" sz="900" dirty="0"/>
          </a:p>
        </p:txBody>
      </p:sp>
      <p:sp>
        <p:nvSpPr>
          <p:cNvPr id="49" name="Shape 47"/>
          <p:cNvSpPr/>
          <p:nvPr/>
        </p:nvSpPr>
        <p:spPr>
          <a:xfrm>
            <a:off x="4800600" y="4773168"/>
            <a:ext cx="3886200" cy="274320"/>
          </a:xfrm>
          <a:prstGeom prst="roundRect">
            <a:avLst>
              <a:gd name="adj" fmla="val 16667"/>
            </a:avLst>
          </a:prstGeom>
          <a:solidFill>
            <a:srgbClr val="21262D"/>
          </a:solidFill>
          <a:ln w="12700">
            <a:solidFill>
              <a:srgbClr val="F0883E"/>
            </a:solidFill>
            <a:prstDash val="solid"/>
          </a:ln>
        </p:spPr>
        <p:txBody>
          <a:bodyPr/>
          <a:lstStyle/>
          <a:p>
            <a:endParaRPr lang="fr-FR"/>
          </a:p>
        </p:txBody>
      </p:sp>
      <p:sp>
        <p:nvSpPr>
          <p:cNvPr id="50" name="Text 48"/>
          <p:cNvSpPr/>
          <p:nvPr/>
        </p:nvSpPr>
        <p:spPr>
          <a:xfrm>
            <a:off x="4892040" y="4773168"/>
            <a:ext cx="3749040" cy="274320"/>
          </a:xfrm>
          <a:prstGeom prst="rect">
            <a:avLst/>
          </a:prstGeom>
          <a:noFill/>
          <a:ln/>
        </p:spPr>
        <p:txBody>
          <a:bodyPr wrap="square" lIns="0" tIns="0" rIns="0" bIns="0" rtlCol="0" anchor="ctr"/>
          <a:lstStyle/>
          <a:p>
            <a:pPr marL="0" indent="0">
              <a:buNone/>
            </a:pPr>
            <a:r>
              <a:rPr lang="en-US" sz="950" b="1" dirty="0">
                <a:solidFill>
                  <a:srgbClr val="F0883E"/>
                </a:solidFill>
              </a:rPr>
              <a:t>∂MSE/∂w = 450  </a:t>
            </a:r>
            <a:r>
              <a:rPr lang="en-US" sz="950" dirty="0">
                <a:solidFill>
                  <a:srgbClr val="8B949E"/>
                </a:solidFill>
              </a:rPr>
              <a:t>← large positive → w is too high!</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0883E"/>
          </a:solidFill>
          <a:ln w="1270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0F6FC"/>
                </a:solidFill>
                <a:effectLst/>
                <a:uLnTx/>
                <a:uFillTx/>
                <a:latin typeface="Calibri" panose="020F0502020204030204"/>
                <a:ea typeface="+mn-ea"/>
                <a:cs typeface="+mn-cs"/>
              </a:rPr>
              <a:t>Gradient Intuition — The Loss Bowl</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F0883E"/>
                </a:solidFill>
                <a:effectLst/>
                <a:uLnTx/>
                <a:uFillTx/>
                <a:latin typeface="Calibri" panose="020F0502020204030204"/>
                <a:ea typeface="+mn-ea"/>
                <a:cs typeface="+mn-cs"/>
              </a:rPr>
              <a:t>Gradient descent = rolling a ball to the bottom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320040" y="1024128"/>
            <a:ext cx="8503920" cy="0"/>
          </a:xfrm>
          <a:prstGeom prst="line">
            <a:avLst/>
          </a:prstGeom>
          <a:noFill/>
          <a:ln w="1270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320040" y="1170432"/>
            <a:ext cx="8503920" cy="594360"/>
          </a:xfrm>
          <a:prstGeom prst="rect">
            <a:avLst/>
          </a:prstGeom>
          <a:solidFill>
            <a:srgbClr val="21262D"/>
          </a:solidFill>
          <a:ln w="19050">
            <a:solidFill>
              <a:srgbClr val="F0883E"/>
            </a:solidFill>
            <a:prstDash val="solid"/>
          </a:ln>
          <a:effectLst>
            <a:outerShdw blurRad="127000" dist="38100" dir="81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502920" y="1170432"/>
            <a:ext cx="83210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0883E"/>
                </a:solidFill>
                <a:effectLst/>
                <a:uLnTx/>
                <a:uFillTx/>
                <a:latin typeface="Calibri" panose="020F0502020204030204"/>
                <a:ea typeface="+mn-ea"/>
                <a:cs typeface="+mn-cs"/>
              </a:rPr>
              <a:t>The loss surface is a BOWL. </a:t>
            </a:r>
            <a:r>
              <a:rPr kumimoji="0" lang="en-US" sz="1200" b="0" i="0" u="none" strike="noStrike" kern="1200" cap="none" spc="0" normalizeH="0" baseline="0" noProof="0" dirty="0">
                <a:ln>
                  <a:noFill/>
                </a:ln>
                <a:solidFill>
                  <a:srgbClr val="F0F6FC"/>
                </a:solidFill>
                <a:effectLst/>
                <a:uLnTx/>
                <a:uFillTx/>
                <a:latin typeface="Calibri" panose="020F0502020204030204"/>
                <a:ea typeface="+mn-ea"/>
                <a:cs typeface="+mn-cs"/>
              </a:rPr>
              <a:t>The bottom of the bowl is the optimal weight w* (lowest loss). </a:t>
            </a:r>
            <a:r>
              <a:rPr kumimoji="0" lang="en-US" sz="1200" b="0" i="0" u="none" strike="noStrike" kern="1200" cap="none" spc="0" normalizeH="0" baseline="0" noProof="0" dirty="0">
                <a:ln>
                  <a:noFill/>
                </a:ln>
                <a:solidFill>
                  <a:srgbClr val="8B949E"/>
                </a:solidFill>
                <a:effectLst/>
                <a:uLnTx/>
                <a:uFillTx/>
                <a:latin typeface="Calibri" panose="020F0502020204030204"/>
                <a:ea typeface="+mn-ea"/>
                <a:cs typeface="+mn-cs"/>
              </a:rPr>
              <a:t>Gradient = slope of the bowl at the current position → tells us which way is UP, so we go DOWN.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20040" y="1874520"/>
            <a:ext cx="5029200" cy="306324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920240"/>
            <a:ext cx="47548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B949E"/>
                </a:solidFill>
                <a:effectLst/>
                <a:uLnTx/>
                <a:uFillTx/>
                <a:latin typeface="Calibri" panose="020F0502020204030204"/>
                <a:ea typeface="+mn-ea"/>
                <a:cs typeface="+mn-cs"/>
              </a:rPr>
              <a:t>Loss  L(w)  vs  Weight  w</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658368" y="4663440"/>
            <a:ext cx="4389120" cy="0"/>
          </a:xfrm>
          <a:prstGeom prst="line">
            <a:avLst/>
          </a:prstGeom>
          <a:noFill/>
          <a:ln w="15240">
            <a:solidFill>
              <a:srgbClr val="8B94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658368" y="2331720"/>
            <a:ext cx="0" cy="2331720"/>
          </a:xfrm>
          <a:prstGeom prst="line">
            <a:avLst/>
          </a:prstGeom>
          <a:noFill/>
          <a:ln w="15240">
            <a:solidFill>
              <a:srgbClr val="8B94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5001768" y="4700016"/>
            <a:ext cx="5029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B949E"/>
                </a:solidFill>
                <a:effectLst/>
                <a:uLnTx/>
                <a:uFillTx/>
                <a:latin typeface="Calibri" panose="020F0502020204030204"/>
                <a:ea typeface="+mn-ea"/>
                <a:cs typeface="+mn-cs"/>
              </a:rPr>
              <a:t>w →</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12648" y="2258568"/>
            <a:ext cx="5486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B949E"/>
                </a:solidFill>
                <a:effectLst/>
                <a:uLnTx/>
                <a:uFillTx/>
                <a:latin typeface="Calibri" panose="020F0502020204030204"/>
                <a:ea typeface="+mn-ea"/>
                <a:cs typeface="+mn-cs"/>
              </a:rPr>
              <a:t>Loss ↑</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74320" y="2377440"/>
            <a:ext cx="384048"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B949E"/>
                </a:solidFill>
                <a:effectLst/>
                <a:uLnTx/>
                <a:uFillTx/>
                <a:latin typeface="Calibri" panose="020F0502020204030204"/>
                <a:ea typeface="+mn-ea"/>
                <a:cs typeface="+mn-cs"/>
              </a:rPr>
              <a:t>high</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274320" y="4206240"/>
            <a:ext cx="384048"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B949E"/>
                </a:solidFill>
                <a:effectLst/>
                <a:uLnTx/>
                <a:uFillTx/>
                <a:latin typeface="Calibri" panose="020F0502020204030204"/>
                <a:ea typeface="+mn-ea"/>
                <a:cs typeface="+mn-cs"/>
              </a:rPr>
              <a:t>low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932688" y="2542032"/>
            <a:ext cx="192024" cy="377007"/>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1124712" y="2919039"/>
            <a:ext cx="192024" cy="337322"/>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1316736" y="3256361"/>
            <a:ext cx="192024" cy="297637"/>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1508760" y="3553998"/>
            <a:ext cx="192024" cy="257952"/>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1700784" y="3811951"/>
            <a:ext cx="192024" cy="218267"/>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1892808" y="4030218"/>
            <a:ext cx="192024" cy="178582"/>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2084832" y="4208800"/>
            <a:ext cx="192024" cy="138897"/>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2276856" y="4347698"/>
            <a:ext cx="192024" cy="99212"/>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2468880" y="4446910"/>
            <a:ext cx="192024" cy="59527"/>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2660904" y="4506438"/>
            <a:ext cx="192024" cy="19842"/>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2852928" y="4526280"/>
            <a:ext cx="192024" cy="0"/>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p:cNvSpPr/>
          <p:nvPr/>
        </p:nvSpPr>
        <p:spPr>
          <a:xfrm>
            <a:off x="3044952" y="4506438"/>
            <a:ext cx="192024" cy="0"/>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p:cNvSpPr/>
          <p:nvPr/>
        </p:nvSpPr>
        <p:spPr>
          <a:xfrm>
            <a:off x="3236976" y="4446910"/>
            <a:ext cx="192024" cy="0"/>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p:cNvSpPr/>
          <p:nvPr/>
        </p:nvSpPr>
        <p:spPr>
          <a:xfrm>
            <a:off x="3429000" y="4347698"/>
            <a:ext cx="192024" cy="0"/>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3621024" y="4208800"/>
            <a:ext cx="192024" cy="0"/>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3813048" y="4030218"/>
            <a:ext cx="192024" cy="0"/>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p:cNvSpPr/>
          <p:nvPr/>
        </p:nvSpPr>
        <p:spPr>
          <a:xfrm>
            <a:off x="4005072" y="3811951"/>
            <a:ext cx="192024" cy="0"/>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p:cNvSpPr/>
          <p:nvPr/>
        </p:nvSpPr>
        <p:spPr>
          <a:xfrm>
            <a:off x="4197096" y="3553998"/>
            <a:ext cx="192024" cy="0"/>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p:cNvSpPr/>
          <p:nvPr/>
        </p:nvSpPr>
        <p:spPr>
          <a:xfrm>
            <a:off x="4389120" y="3256361"/>
            <a:ext cx="192024" cy="0"/>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p:cNvSpPr/>
          <p:nvPr/>
        </p:nvSpPr>
        <p:spPr>
          <a:xfrm>
            <a:off x="4581144" y="2919039"/>
            <a:ext cx="192024" cy="0"/>
          </a:xfrm>
          <a:prstGeom prst="line">
            <a:avLst/>
          </a:prstGeom>
          <a:noFill/>
          <a:ln w="317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p:cNvSpPr/>
          <p:nvPr/>
        </p:nvSpPr>
        <p:spPr>
          <a:xfrm>
            <a:off x="2743200" y="4416552"/>
            <a:ext cx="219456" cy="219456"/>
          </a:xfrm>
          <a:prstGeom prst="ellipse">
            <a:avLst/>
          </a:prstGeom>
          <a:solidFill>
            <a:srgbClr val="3FB950"/>
          </a:solidFill>
          <a:ln w="12700">
            <a:solidFill>
              <a:srgbClr val="3FB95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p:cNvSpPr/>
          <p:nvPr/>
        </p:nvSpPr>
        <p:spPr>
          <a:xfrm>
            <a:off x="2852928" y="4416552"/>
            <a:ext cx="0" cy="0"/>
          </a:xfrm>
          <a:prstGeom prst="line">
            <a:avLst/>
          </a:prstGeom>
          <a:noFill/>
          <a:ln w="12700">
            <a:solidFill>
              <a:srgbClr val="3FB95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2212848" y="3867912"/>
            <a:ext cx="128016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3FB950"/>
                </a:solidFill>
                <a:effectLst/>
                <a:uLnTx/>
                <a:uFillTx/>
                <a:latin typeface="Calibri" panose="020F0502020204030204"/>
                <a:ea typeface="+mn-ea"/>
                <a:cs typeface="+mn-cs"/>
              </a:rPr>
              <a:t>w* = 2.0</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3FB950"/>
                </a:solidFill>
                <a:effectLst/>
                <a:uLnTx/>
                <a:uFillTx/>
                <a:latin typeface="Calibri" panose="020F0502020204030204"/>
                <a:ea typeface="+mn-ea"/>
                <a:cs typeface="+mn-cs"/>
              </a:rPr>
              <a:t>(optimal, min loss)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7"/>
          <p:cNvSpPr/>
          <p:nvPr/>
        </p:nvSpPr>
        <p:spPr>
          <a:xfrm>
            <a:off x="1389888" y="3435126"/>
            <a:ext cx="237744" cy="237744"/>
          </a:xfrm>
          <a:prstGeom prst="ellipse">
            <a:avLst/>
          </a:prstGeom>
          <a:solidFill>
            <a:srgbClr val="58A6FF"/>
          </a:solidFill>
          <a:ln w="12700">
            <a:solidFill>
              <a:srgbClr val="58A6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p:cNvSpPr/>
          <p:nvPr/>
        </p:nvSpPr>
        <p:spPr>
          <a:xfrm>
            <a:off x="1097280" y="3405180"/>
            <a:ext cx="822960" cy="297637"/>
          </a:xfrm>
          <a:prstGeom prst="line">
            <a:avLst/>
          </a:prstGeom>
          <a:noFill/>
          <a:ln w="27940">
            <a:solidFill>
              <a:srgbClr val="58A6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p:nvPr/>
        </p:nvSpPr>
        <p:spPr>
          <a:xfrm>
            <a:off x="1307592" y="3151662"/>
            <a:ext cx="2743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58A6FF"/>
                </a:solidFill>
                <a:effectLst/>
                <a:uLnTx/>
                <a:uFillTx/>
                <a:latin typeface="Calibri" panose="020F0502020204030204"/>
                <a:ea typeface="+mn-ea"/>
                <a:cs typeface="+mn-cs"/>
              </a:rPr>
              <a:t>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1627632" y="3553998"/>
            <a:ext cx="502920" cy="0"/>
          </a:xfrm>
          <a:prstGeom prst="line">
            <a:avLst/>
          </a:prstGeom>
          <a:noFill/>
          <a:ln w="25400">
            <a:solidFill>
              <a:srgbClr val="58A6FF"/>
            </a:solidFill>
            <a:prstDash val="solid"/>
            <a:tailEnd type="arrow"/>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1"/>
          <p:cNvSpPr/>
          <p:nvPr/>
        </p:nvSpPr>
        <p:spPr>
          <a:xfrm>
            <a:off x="1051560" y="3718590"/>
            <a:ext cx="16459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8A6FF"/>
                </a:solidFill>
                <a:effectLst/>
                <a:uLnTx/>
                <a:uFillTx/>
                <a:latin typeface="Calibri" panose="020F0502020204030204"/>
                <a:ea typeface="+mn-ea"/>
                <a:cs typeface="+mn-cs"/>
              </a:rPr>
              <a:t>Gradient &lt; 0</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8A6FF"/>
                </a:solidFill>
                <a:effectLst/>
                <a:uLnTx/>
                <a:uFillTx/>
                <a:latin typeface="Calibri" panose="020F0502020204030204"/>
                <a:ea typeface="+mn-ea"/>
                <a:cs typeface="+mn-cs"/>
              </a:rPr>
              <a:t>→ increase w →</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42"/>
          <p:cNvSpPr/>
          <p:nvPr/>
        </p:nvSpPr>
        <p:spPr>
          <a:xfrm>
            <a:off x="4174236" y="3291268"/>
            <a:ext cx="237744" cy="237744"/>
          </a:xfrm>
          <a:prstGeom prst="ellipse">
            <a:avLst/>
          </a:prstGeom>
          <a:solidFill>
            <a:srgbClr val="FF7B72"/>
          </a:solidFill>
          <a:ln w="12700">
            <a:solidFill>
              <a:srgbClr val="FF7B7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p:cNvSpPr/>
          <p:nvPr/>
        </p:nvSpPr>
        <p:spPr>
          <a:xfrm>
            <a:off x="3881628" y="3569589"/>
            <a:ext cx="822960" cy="0"/>
          </a:xfrm>
          <a:prstGeom prst="line">
            <a:avLst/>
          </a:prstGeom>
          <a:noFill/>
          <a:ln w="27940">
            <a:solidFill>
              <a:srgbClr val="FF7B7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4"/>
          <p:cNvSpPr/>
          <p:nvPr/>
        </p:nvSpPr>
        <p:spPr>
          <a:xfrm>
            <a:off x="4347972" y="3007804"/>
            <a:ext cx="2743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7B72"/>
                </a:solidFill>
                <a:effectLst/>
                <a:uLnTx/>
                <a:uFillTx/>
                <a:latin typeface="Calibri" panose="020F0502020204030204"/>
                <a:ea typeface="+mn-ea"/>
                <a:cs typeface="+mn-cs"/>
              </a:rPr>
              <a:t>B</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5"/>
          <p:cNvSpPr/>
          <p:nvPr/>
        </p:nvSpPr>
        <p:spPr>
          <a:xfrm>
            <a:off x="4174236" y="3410140"/>
            <a:ext cx="0" cy="97441"/>
          </a:xfrm>
          <a:prstGeom prst="line">
            <a:avLst/>
          </a:prstGeom>
          <a:noFill/>
          <a:ln w="25400">
            <a:solidFill>
              <a:srgbClr val="FF7B72"/>
            </a:solidFill>
            <a:prstDash val="solid"/>
            <a:tailEnd type="arrow"/>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6"/>
          <p:cNvSpPr/>
          <p:nvPr/>
        </p:nvSpPr>
        <p:spPr>
          <a:xfrm>
            <a:off x="3104388" y="3574732"/>
            <a:ext cx="16459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7B72"/>
                </a:solidFill>
                <a:effectLst/>
                <a:uLnTx/>
                <a:uFillTx/>
                <a:latin typeface="Calibri" panose="020F0502020204030204"/>
                <a:ea typeface="+mn-ea"/>
                <a:cs typeface="+mn-cs"/>
              </a:rPr>
              <a:t>← decrease w</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7B72"/>
                </a:solidFill>
                <a:effectLst/>
                <a:uLnTx/>
                <a:uFillTx/>
                <a:latin typeface="Calibri" panose="020F0502020204030204"/>
                <a:ea typeface="+mn-ea"/>
                <a:cs typeface="+mn-cs"/>
              </a:rPr>
              <a:t>Gradient &gt; 0</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7"/>
          <p:cNvSpPr/>
          <p:nvPr/>
        </p:nvSpPr>
        <p:spPr>
          <a:xfrm>
            <a:off x="5577840" y="1874520"/>
            <a:ext cx="3246120" cy="306324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 48"/>
          <p:cNvSpPr/>
          <p:nvPr/>
        </p:nvSpPr>
        <p:spPr>
          <a:xfrm>
            <a:off x="5715000" y="1920240"/>
            <a:ext cx="297180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B949E"/>
                </a:solidFill>
                <a:effectLst/>
                <a:uLnTx/>
                <a:uFillTx/>
                <a:latin typeface="Calibri" panose="020F0502020204030204"/>
                <a:ea typeface="+mn-ea"/>
                <a:cs typeface="+mn-cs"/>
              </a:rPr>
              <a:t>The Gradient Descent Rule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49"/>
          <p:cNvSpPr/>
          <p:nvPr/>
        </p:nvSpPr>
        <p:spPr>
          <a:xfrm>
            <a:off x="5669280" y="2286000"/>
            <a:ext cx="3017520" cy="475488"/>
          </a:xfrm>
          <a:prstGeom prst="roundRect">
            <a:avLst>
              <a:gd name="adj" fmla="val 11538"/>
            </a:avLst>
          </a:prstGeom>
          <a:solidFill>
            <a:srgbClr val="21262D"/>
          </a:solidFill>
          <a:ln w="1905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50"/>
          <p:cNvSpPr/>
          <p:nvPr/>
        </p:nvSpPr>
        <p:spPr>
          <a:xfrm>
            <a:off x="5669280" y="2286000"/>
            <a:ext cx="3017520"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0883E"/>
                </a:solidFill>
                <a:effectLst/>
                <a:uLnTx/>
                <a:uFillTx/>
                <a:latin typeface="Calibri" panose="020F0502020204030204"/>
                <a:ea typeface="+mn-ea"/>
                <a:cs typeface="+mn-cs"/>
              </a:rPr>
              <a:t>w  ←  w  −  α · ∂L/∂w</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1"/>
          <p:cNvSpPr/>
          <p:nvPr/>
        </p:nvSpPr>
        <p:spPr>
          <a:xfrm>
            <a:off x="5669280" y="2871216"/>
            <a:ext cx="3017520" cy="841248"/>
          </a:xfrm>
          <a:prstGeom prst="roundRect">
            <a:avLst>
              <a:gd name="adj" fmla="val 6522"/>
            </a:avLst>
          </a:prstGeom>
          <a:solidFill>
            <a:srgbClr val="21262D"/>
          </a:solidFill>
          <a:ln w="19050">
            <a:solidFill>
              <a:srgbClr val="58A6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52"/>
          <p:cNvSpPr/>
          <p:nvPr/>
        </p:nvSpPr>
        <p:spPr>
          <a:xfrm>
            <a:off x="5760720" y="2907792"/>
            <a:ext cx="283464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8A6FF"/>
                </a:solidFill>
                <a:effectLst/>
                <a:uLnTx/>
                <a:uFillTx/>
                <a:latin typeface="Calibri" panose="020F0502020204030204"/>
                <a:ea typeface="+mn-ea"/>
                <a:cs typeface="+mn-cs"/>
              </a:rPr>
              <a:t>Point A  (left side)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53"/>
          <p:cNvSpPr/>
          <p:nvPr/>
        </p:nvSpPr>
        <p:spPr>
          <a:xfrm>
            <a:off x="5760720" y="3145536"/>
            <a:ext cx="283464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B949E"/>
                </a:solidFill>
                <a:effectLst/>
                <a:uLnTx/>
                <a:uFillTx/>
                <a:latin typeface="Calibri" panose="020F0502020204030204"/>
                <a:ea typeface="+mn-ea"/>
                <a:cs typeface="+mn-cs"/>
              </a:rPr>
              <a:t>∂L/∂w &lt; 0  (negative slope)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B949E"/>
                </a:solidFill>
                <a:effectLst/>
                <a:uLnTx/>
                <a:uFillTx/>
                <a:latin typeface="Calibri" panose="020F0502020204030204"/>
                <a:ea typeface="+mn-ea"/>
                <a:cs typeface="+mn-cs"/>
              </a:rPr>
              <a:t>w ← w − α·(negative) = w INCREASES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B949E"/>
                </a:solidFill>
                <a:effectLst/>
                <a:uLnTx/>
                <a:uFillTx/>
                <a:latin typeface="Calibri" panose="020F0502020204030204"/>
                <a:ea typeface="+mn-ea"/>
                <a:cs typeface="+mn-cs"/>
              </a:rPr>
              <a:t>→ moves right toward minimum ✓</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Shape 54"/>
          <p:cNvSpPr/>
          <p:nvPr/>
        </p:nvSpPr>
        <p:spPr>
          <a:xfrm>
            <a:off x="5669280" y="3803904"/>
            <a:ext cx="3017520" cy="841248"/>
          </a:xfrm>
          <a:prstGeom prst="roundRect">
            <a:avLst>
              <a:gd name="adj" fmla="val 6522"/>
            </a:avLst>
          </a:prstGeom>
          <a:solidFill>
            <a:srgbClr val="21262D"/>
          </a:solidFill>
          <a:ln w="19050">
            <a:solidFill>
              <a:srgbClr val="FF7B7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Text 55"/>
          <p:cNvSpPr/>
          <p:nvPr/>
        </p:nvSpPr>
        <p:spPr>
          <a:xfrm>
            <a:off x="5760720" y="3840480"/>
            <a:ext cx="283464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7B72"/>
                </a:solidFill>
                <a:effectLst/>
                <a:uLnTx/>
                <a:uFillTx/>
                <a:latin typeface="Calibri" panose="020F0502020204030204"/>
                <a:ea typeface="+mn-ea"/>
                <a:cs typeface="+mn-cs"/>
              </a:rPr>
              <a:t>Point B  (right side)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56"/>
          <p:cNvSpPr/>
          <p:nvPr/>
        </p:nvSpPr>
        <p:spPr>
          <a:xfrm>
            <a:off x="5760720" y="4078224"/>
            <a:ext cx="2834640"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B949E"/>
                </a:solidFill>
                <a:effectLst/>
                <a:uLnTx/>
                <a:uFillTx/>
                <a:latin typeface="Calibri" panose="020F0502020204030204"/>
                <a:ea typeface="+mn-ea"/>
                <a:cs typeface="+mn-cs"/>
              </a:rPr>
              <a:t>∂L/∂w &gt; 0  (positive slope)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B949E"/>
                </a:solidFill>
                <a:effectLst/>
                <a:uLnTx/>
                <a:uFillTx/>
                <a:latin typeface="Calibri" panose="020F0502020204030204"/>
                <a:ea typeface="+mn-ea"/>
                <a:cs typeface="+mn-cs"/>
              </a:rPr>
              <a:t>w ← w − α·(positive) = w DECREASES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8B949E"/>
                </a:solidFill>
                <a:effectLst/>
                <a:uLnTx/>
                <a:uFillTx/>
                <a:latin typeface="Calibri" panose="020F0502020204030204"/>
                <a:ea typeface="+mn-ea"/>
                <a:cs typeface="+mn-cs"/>
              </a:rPr>
              <a:t>→ moves left toward minimum ✓</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Text 57"/>
          <p:cNvSpPr/>
          <p:nvPr/>
        </p:nvSpPr>
        <p:spPr>
          <a:xfrm>
            <a:off x="5669280" y="4709160"/>
            <a:ext cx="30175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3FB950"/>
                </a:solidFill>
                <a:effectLst/>
                <a:uLnTx/>
                <a:uFillTx/>
                <a:latin typeface="Calibri" panose="020F0502020204030204"/>
                <a:ea typeface="+mn-ea"/>
                <a:cs typeface="+mn-cs"/>
              </a:rPr>
              <a:t>Either way → we always move toward the minimum!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0883E"/>
          </a:solidFill>
          <a:ln w="12700">
            <a:solidFill>
              <a:srgbClr val="F0883E"/>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Backward Pass — Gradient Descent Update</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F0883E"/>
                </a:solidFill>
              </a:rPr>
              <a:t>Use the gradient to nudge w and b toward a better solution</a:t>
            </a:r>
            <a:endParaRPr lang="en-US" sz="1200" dirty="0"/>
          </a:p>
        </p:txBody>
      </p:sp>
      <p:sp>
        <p:nvSpPr>
          <p:cNvPr id="5" name="Shape 3"/>
          <p:cNvSpPr/>
          <p:nvPr/>
        </p:nvSpPr>
        <p:spPr>
          <a:xfrm>
            <a:off x="320040" y="1024128"/>
            <a:ext cx="8503920" cy="0"/>
          </a:xfrm>
          <a:prstGeom prst="line">
            <a:avLst/>
          </a:prstGeom>
          <a:noFill/>
          <a:ln w="12700">
            <a:solidFill>
              <a:srgbClr val="F0883E"/>
            </a:solidFill>
            <a:prstDash val="solid"/>
          </a:ln>
        </p:spPr>
        <p:txBody>
          <a:bodyPr/>
          <a:lstStyle/>
          <a:p>
            <a:endParaRPr lang="fr-FR"/>
          </a:p>
        </p:txBody>
      </p:sp>
      <p:sp>
        <p:nvSpPr>
          <p:cNvPr id="6" name="Shape 4"/>
          <p:cNvSpPr/>
          <p:nvPr/>
        </p:nvSpPr>
        <p:spPr>
          <a:xfrm>
            <a:off x="320040" y="1170432"/>
            <a:ext cx="8503920" cy="777240"/>
          </a:xfrm>
          <a:prstGeom prst="rect">
            <a:avLst/>
          </a:prstGeom>
          <a:solidFill>
            <a:srgbClr val="21262D"/>
          </a:solidFill>
          <a:ln w="19050">
            <a:solidFill>
              <a:srgbClr val="F0883E"/>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502920" y="1170432"/>
            <a:ext cx="8321040" cy="777240"/>
          </a:xfrm>
          <a:prstGeom prst="rect">
            <a:avLst/>
          </a:prstGeom>
          <a:noFill/>
          <a:ln/>
        </p:spPr>
        <p:txBody>
          <a:bodyPr wrap="square" lIns="0" tIns="0" rIns="0" bIns="0" rtlCol="0" anchor="ctr"/>
          <a:lstStyle/>
          <a:p>
            <a:pPr marL="0" indent="0">
              <a:buNone/>
            </a:pPr>
            <a:r>
              <a:rPr lang="en-US" sz="2000" b="1" dirty="0">
                <a:solidFill>
                  <a:srgbClr val="F0F6FC"/>
                </a:solidFill>
              </a:rPr>
              <a:t>w  ←  w  −  </a:t>
            </a:r>
            <a:r>
              <a:rPr lang="en-US" sz="2000" b="1" dirty="0">
                <a:solidFill>
                  <a:srgbClr val="E3B341"/>
                </a:solidFill>
              </a:rPr>
              <a:t>α</a:t>
            </a:r>
            <a:r>
              <a:rPr lang="en-US" sz="2000" b="1" dirty="0">
                <a:solidFill>
                  <a:srgbClr val="F0F6FC"/>
                </a:solidFill>
              </a:rPr>
              <a:t>  ×  </a:t>
            </a:r>
            <a:r>
              <a:rPr lang="en-US" sz="2000" b="1" dirty="0">
                <a:solidFill>
                  <a:srgbClr val="F0883E"/>
                </a:solidFill>
              </a:rPr>
              <a:t>∂MSE/∂w</a:t>
            </a:r>
            <a:r>
              <a:rPr lang="en-US" sz="2000" b="1" dirty="0">
                <a:solidFill>
                  <a:srgbClr val="F0F6FC"/>
                </a:solidFill>
              </a:rPr>
              <a:t>         b  ←  b  −  </a:t>
            </a:r>
            <a:r>
              <a:rPr lang="en-US" sz="2000" b="1" dirty="0">
                <a:solidFill>
                  <a:srgbClr val="E3B341"/>
                </a:solidFill>
              </a:rPr>
              <a:t>α</a:t>
            </a:r>
            <a:r>
              <a:rPr lang="en-US" sz="2000" b="1" dirty="0">
                <a:solidFill>
                  <a:srgbClr val="F0F6FC"/>
                </a:solidFill>
              </a:rPr>
              <a:t>  ×  </a:t>
            </a:r>
            <a:r>
              <a:rPr lang="en-US" sz="2000" b="1" dirty="0">
                <a:solidFill>
                  <a:srgbClr val="E3B341"/>
                </a:solidFill>
              </a:rPr>
              <a:t>∂MSE/∂b</a:t>
            </a:r>
            <a:endParaRPr lang="en-US" sz="2000" dirty="0"/>
          </a:p>
        </p:txBody>
      </p:sp>
      <p:sp>
        <p:nvSpPr>
          <p:cNvPr id="8" name="Shape 6"/>
          <p:cNvSpPr/>
          <p:nvPr/>
        </p:nvSpPr>
        <p:spPr>
          <a:xfrm>
            <a:off x="320040" y="2057400"/>
            <a:ext cx="4023360" cy="283464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9" name="Text 7"/>
          <p:cNvSpPr/>
          <p:nvPr/>
        </p:nvSpPr>
        <p:spPr>
          <a:xfrm>
            <a:off x="457200" y="2103120"/>
            <a:ext cx="3749040" cy="274320"/>
          </a:xfrm>
          <a:prstGeom prst="rect">
            <a:avLst/>
          </a:prstGeom>
          <a:noFill/>
          <a:ln/>
        </p:spPr>
        <p:txBody>
          <a:bodyPr wrap="square" lIns="0" tIns="0" rIns="0" bIns="0" rtlCol="0" anchor="ctr"/>
          <a:lstStyle/>
          <a:p>
            <a:pPr marL="0" indent="0" algn="ctr">
              <a:buNone/>
            </a:pPr>
            <a:r>
              <a:rPr lang="en-US" sz="1000" dirty="0">
                <a:solidFill>
                  <a:srgbClr val="8B949E"/>
                </a:solidFill>
              </a:rPr>
              <a:t>Learning Rate α — How Big a Step?</a:t>
            </a:r>
            <a:endParaRPr lang="en-US" sz="1000" dirty="0"/>
          </a:p>
        </p:txBody>
      </p:sp>
      <p:sp>
        <p:nvSpPr>
          <p:cNvPr id="10" name="Shape 8"/>
          <p:cNvSpPr/>
          <p:nvPr/>
        </p:nvSpPr>
        <p:spPr>
          <a:xfrm>
            <a:off x="438912" y="2487168"/>
            <a:ext cx="3749040" cy="658368"/>
          </a:xfrm>
          <a:prstGeom prst="roundRect">
            <a:avLst>
              <a:gd name="adj" fmla="val 8333"/>
            </a:avLst>
          </a:prstGeom>
          <a:solidFill>
            <a:srgbClr val="21262D"/>
          </a:solidFill>
          <a:ln w="19050">
            <a:solidFill>
              <a:srgbClr val="8B949E"/>
            </a:solidFill>
            <a:prstDash val="solid"/>
          </a:ln>
        </p:spPr>
        <p:txBody>
          <a:bodyPr/>
          <a:lstStyle/>
          <a:p>
            <a:endParaRPr lang="fr-FR"/>
          </a:p>
        </p:txBody>
      </p:sp>
      <p:sp>
        <p:nvSpPr>
          <p:cNvPr id="11" name="Text 9"/>
          <p:cNvSpPr/>
          <p:nvPr/>
        </p:nvSpPr>
        <p:spPr>
          <a:xfrm>
            <a:off x="548640" y="2523744"/>
            <a:ext cx="1005840" cy="256032"/>
          </a:xfrm>
          <a:prstGeom prst="rect">
            <a:avLst/>
          </a:prstGeom>
          <a:noFill/>
          <a:ln/>
        </p:spPr>
        <p:txBody>
          <a:bodyPr wrap="square" lIns="0" tIns="0" rIns="0" bIns="0" rtlCol="0" anchor="ctr"/>
          <a:lstStyle/>
          <a:p>
            <a:pPr marL="0" indent="0">
              <a:buNone/>
            </a:pPr>
            <a:r>
              <a:rPr lang="en-US" sz="1100" b="1" dirty="0">
                <a:solidFill>
                  <a:srgbClr val="8B949E"/>
                </a:solidFill>
              </a:rPr>
              <a:t>α = 0.001</a:t>
            </a:r>
            <a:endParaRPr lang="en-US" sz="1100" dirty="0"/>
          </a:p>
        </p:txBody>
      </p:sp>
      <p:sp>
        <p:nvSpPr>
          <p:cNvPr id="12" name="Text 10"/>
          <p:cNvSpPr/>
          <p:nvPr/>
        </p:nvSpPr>
        <p:spPr>
          <a:xfrm>
            <a:off x="1572768" y="2523744"/>
            <a:ext cx="1371600" cy="256032"/>
          </a:xfrm>
          <a:prstGeom prst="rect">
            <a:avLst/>
          </a:prstGeom>
          <a:noFill/>
          <a:ln/>
        </p:spPr>
        <p:txBody>
          <a:bodyPr wrap="square" lIns="0" tIns="0" rIns="0" bIns="0" rtlCol="0" anchor="ctr"/>
          <a:lstStyle/>
          <a:p>
            <a:pPr marL="0" indent="0">
              <a:buNone/>
            </a:pPr>
            <a:r>
              <a:rPr lang="en-US" sz="1000" dirty="0">
                <a:solidFill>
                  <a:srgbClr val="8B949E"/>
                </a:solidFill>
              </a:rPr>
              <a:t>→ Too small</a:t>
            </a:r>
            <a:endParaRPr lang="en-US" sz="1000" dirty="0"/>
          </a:p>
        </p:txBody>
      </p:sp>
      <p:sp>
        <p:nvSpPr>
          <p:cNvPr id="13" name="Text 11"/>
          <p:cNvSpPr/>
          <p:nvPr/>
        </p:nvSpPr>
        <p:spPr>
          <a:xfrm>
            <a:off x="548640" y="2816352"/>
            <a:ext cx="3566160" cy="310896"/>
          </a:xfrm>
          <a:prstGeom prst="rect">
            <a:avLst/>
          </a:prstGeom>
          <a:noFill/>
          <a:ln/>
        </p:spPr>
        <p:txBody>
          <a:bodyPr wrap="square" lIns="0" tIns="0" rIns="0" bIns="0" rtlCol="0" anchor="ctr"/>
          <a:lstStyle/>
          <a:p>
            <a:pPr marL="0" indent="0">
              <a:buNone/>
            </a:pPr>
            <a:r>
              <a:rPr lang="en-US" sz="850" dirty="0">
                <a:solidFill>
                  <a:srgbClr val="8B949E"/>
                </a:solidFill>
              </a:rPr>
              <a:t>Takes forever to converge.</a:t>
            </a:r>
            <a:endParaRPr lang="en-US" sz="850" dirty="0"/>
          </a:p>
          <a:p>
            <a:pPr marL="0" indent="0">
              <a:buNone/>
            </a:pPr>
            <a:r>
              <a:rPr lang="en-US" sz="850" dirty="0">
                <a:solidFill>
                  <a:srgbClr val="8B949E"/>
                </a:solidFill>
              </a:rPr>
              <a:t>Thousands of iterations.</a:t>
            </a:r>
            <a:endParaRPr lang="en-US" sz="850" dirty="0"/>
          </a:p>
        </p:txBody>
      </p:sp>
      <p:sp>
        <p:nvSpPr>
          <p:cNvPr id="14" name="Shape 12"/>
          <p:cNvSpPr/>
          <p:nvPr/>
        </p:nvSpPr>
        <p:spPr>
          <a:xfrm>
            <a:off x="438912" y="3236976"/>
            <a:ext cx="3749040" cy="658368"/>
          </a:xfrm>
          <a:prstGeom prst="roundRect">
            <a:avLst>
              <a:gd name="adj" fmla="val 8333"/>
            </a:avLst>
          </a:prstGeom>
          <a:solidFill>
            <a:srgbClr val="21262D"/>
          </a:solidFill>
          <a:ln w="19050">
            <a:solidFill>
              <a:srgbClr val="3FB950"/>
            </a:solidFill>
            <a:prstDash val="solid"/>
          </a:ln>
        </p:spPr>
        <p:txBody>
          <a:bodyPr/>
          <a:lstStyle/>
          <a:p>
            <a:endParaRPr lang="fr-FR"/>
          </a:p>
        </p:txBody>
      </p:sp>
      <p:sp>
        <p:nvSpPr>
          <p:cNvPr id="15" name="Text 13"/>
          <p:cNvSpPr/>
          <p:nvPr/>
        </p:nvSpPr>
        <p:spPr>
          <a:xfrm>
            <a:off x="548640" y="3273552"/>
            <a:ext cx="1005840" cy="256032"/>
          </a:xfrm>
          <a:prstGeom prst="rect">
            <a:avLst/>
          </a:prstGeom>
          <a:noFill/>
          <a:ln/>
        </p:spPr>
        <p:txBody>
          <a:bodyPr wrap="square" lIns="0" tIns="0" rIns="0" bIns="0" rtlCol="0" anchor="ctr"/>
          <a:lstStyle/>
          <a:p>
            <a:pPr marL="0" indent="0">
              <a:buNone/>
            </a:pPr>
            <a:r>
              <a:rPr lang="en-US" sz="1100" b="1" dirty="0">
                <a:solidFill>
                  <a:srgbClr val="3FB950"/>
                </a:solidFill>
              </a:rPr>
              <a:t>α = 0.01</a:t>
            </a:r>
            <a:endParaRPr lang="en-US" sz="1100" dirty="0"/>
          </a:p>
        </p:txBody>
      </p:sp>
      <p:sp>
        <p:nvSpPr>
          <p:cNvPr id="16" name="Text 14"/>
          <p:cNvSpPr/>
          <p:nvPr/>
        </p:nvSpPr>
        <p:spPr>
          <a:xfrm>
            <a:off x="1572768" y="3273552"/>
            <a:ext cx="1371600" cy="256032"/>
          </a:xfrm>
          <a:prstGeom prst="rect">
            <a:avLst/>
          </a:prstGeom>
          <a:noFill/>
          <a:ln/>
        </p:spPr>
        <p:txBody>
          <a:bodyPr wrap="square" lIns="0" tIns="0" rIns="0" bIns="0" rtlCol="0" anchor="ctr"/>
          <a:lstStyle/>
          <a:p>
            <a:pPr marL="0" indent="0">
              <a:buNone/>
            </a:pPr>
            <a:r>
              <a:rPr lang="en-US" sz="1000" dirty="0">
                <a:solidFill>
                  <a:srgbClr val="3FB950"/>
                </a:solidFill>
              </a:rPr>
              <a:t>→ Just right ✓</a:t>
            </a:r>
            <a:endParaRPr lang="en-US" sz="1000" dirty="0"/>
          </a:p>
        </p:txBody>
      </p:sp>
      <p:sp>
        <p:nvSpPr>
          <p:cNvPr id="17" name="Text 15"/>
          <p:cNvSpPr/>
          <p:nvPr/>
        </p:nvSpPr>
        <p:spPr>
          <a:xfrm>
            <a:off x="548640" y="3566160"/>
            <a:ext cx="3566160" cy="310896"/>
          </a:xfrm>
          <a:prstGeom prst="rect">
            <a:avLst/>
          </a:prstGeom>
          <a:noFill/>
          <a:ln/>
        </p:spPr>
        <p:txBody>
          <a:bodyPr wrap="square" lIns="0" tIns="0" rIns="0" bIns="0" rtlCol="0" anchor="ctr"/>
          <a:lstStyle/>
          <a:p>
            <a:pPr marL="0" indent="0">
              <a:buNone/>
            </a:pPr>
            <a:r>
              <a:rPr lang="en-US" sz="850" dirty="0">
                <a:solidFill>
                  <a:srgbClr val="8B949E"/>
                </a:solidFill>
              </a:rPr>
              <a:t>Converges smoothly and reliably.</a:t>
            </a:r>
            <a:endParaRPr lang="en-US" sz="850" dirty="0"/>
          </a:p>
          <a:p>
            <a:pPr marL="0" indent="0">
              <a:buNone/>
            </a:pPr>
            <a:r>
              <a:rPr lang="en-US" sz="850" dirty="0">
                <a:solidFill>
                  <a:srgbClr val="8B949E"/>
                </a:solidFill>
              </a:rPr>
              <a:t>Most common starting value.</a:t>
            </a:r>
            <a:endParaRPr lang="en-US" sz="850" dirty="0"/>
          </a:p>
        </p:txBody>
      </p:sp>
      <p:sp>
        <p:nvSpPr>
          <p:cNvPr id="18" name="Shape 16"/>
          <p:cNvSpPr/>
          <p:nvPr/>
        </p:nvSpPr>
        <p:spPr>
          <a:xfrm>
            <a:off x="438912" y="3986784"/>
            <a:ext cx="3749040" cy="658368"/>
          </a:xfrm>
          <a:prstGeom prst="roundRect">
            <a:avLst>
              <a:gd name="adj" fmla="val 8333"/>
            </a:avLst>
          </a:prstGeom>
          <a:solidFill>
            <a:srgbClr val="21262D"/>
          </a:solidFill>
          <a:ln w="19050">
            <a:solidFill>
              <a:srgbClr val="FF7B72"/>
            </a:solidFill>
            <a:prstDash val="solid"/>
          </a:ln>
        </p:spPr>
        <p:txBody>
          <a:bodyPr/>
          <a:lstStyle/>
          <a:p>
            <a:endParaRPr lang="fr-FR"/>
          </a:p>
        </p:txBody>
      </p:sp>
      <p:sp>
        <p:nvSpPr>
          <p:cNvPr id="19" name="Text 17"/>
          <p:cNvSpPr/>
          <p:nvPr/>
        </p:nvSpPr>
        <p:spPr>
          <a:xfrm>
            <a:off x="548640" y="4023360"/>
            <a:ext cx="1005840" cy="256032"/>
          </a:xfrm>
          <a:prstGeom prst="rect">
            <a:avLst/>
          </a:prstGeom>
          <a:noFill/>
          <a:ln/>
        </p:spPr>
        <p:txBody>
          <a:bodyPr wrap="square" lIns="0" tIns="0" rIns="0" bIns="0" rtlCol="0" anchor="ctr"/>
          <a:lstStyle/>
          <a:p>
            <a:pPr marL="0" indent="0">
              <a:buNone/>
            </a:pPr>
            <a:r>
              <a:rPr lang="en-US" sz="1100" b="1" dirty="0">
                <a:solidFill>
                  <a:srgbClr val="FF7B72"/>
                </a:solidFill>
              </a:rPr>
              <a:t>α = 1.0</a:t>
            </a:r>
            <a:endParaRPr lang="en-US" sz="1100" dirty="0"/>
          </a:p>
        </p:txBody>
      </p:sp>
      <p:sp>
        <p:nvSpPr>
          <p:cNvPr id="20" name="Text 18"/>
          <p:cNvSpPr/>
          <p:nvPr/>
        </p:nvSpPr>
        <p:spPr>
          <a:xfrm>
            <a:off x="1572768" y="4023360"/>
            <a:ext cx="1371600" cy="256032"/>
          </a:xfrm>
          <a:prstGeom prst="rect">
            <a:avLst/>
          </a:prstGeom>
          <a:noFill/>
          <a:ln/>
        </p:spPr>
        <p:txBody>
          <a:bodyPr wrap="square" lIns="0" tIns="0" rIns="0" bIns="0" rtlCol="0" anchor="ctr"/>
          <a:lstStyle/>
          <a:p>
            <a:pPr marL="0" indent="0">
              <a:buNone/>
            </a:pPr>
            <a:r>
              <a:rPr lang="en-US" sz="1000" dirty="0">
                <a:solidFill>
                  <a:srgbClr val="FF7B72"/>
                </a:solidFill>
              </a:rPr>
              <a:t>→ Too large</a:t>
            </a:r>
            <a:endParaRPr lang="en-US" sz="1000" dirty="0"/>
          </a:p>
        </p:txBody>
      </p:sp>
      <p:sp>
        <p:nvSpPr>
          <p:cNvPr id="21" name="Text 19"/>
          <p:cNvSpPr/>
          <p:nvPr/>
        </p:nvSpPr>
        <p:spPr>
          <a:xfrm>
            <a:off x="548640" y="4315968"/>
            <a:ext cx="3566160" cy="310896"/>
          </a:xfrm>
          <a:prstGeom prst="rect">
            <a:avLst/>
          </a:prstGeom>
          <a:noFill/>
          <a:ln/>
        </p:spPr>
        <p:txBody>
          <a:bodyPr wrap="square" lIns="0" tIns="0" rIns="0" bIns="0" rtlCol="0" anchor="ctr"/>
          <a:lstStyle/>
          <a:p>
            <a:pPr marL="0" indent="0">
              <a:buNone/>
            </a:pPr>
            <a:r>
              <a:rPr lang="en-US" sz="850" dirty="0">
                <a:solidFill>
                  <a:srgbClr val="8B949E"/>
                </a:solidFill>
              </a:rPr>
              <a:t>Overshoots the minimum.</a:t>
            </a:r>
            <a:endParaRPr lang="en-US" sz="850" dirty="0"/>
          </a:p>
          <a:p>
            <a:pPr marL="0" indent="0">
              <a:buNone/>
            </a:pPr>
            <a:r>
              <a:rPr lang="en-US" sz="850" dirty="0">
                <a:solidFill>
                  <a:srgbClr val="8B949E"/>
                </a:solidFill>
              </a:rPr>
              <a:t>Loss explodes! Training fails.</a:t>
            </a:r>
            <a:endParaRPr lang="en-US" sz="850" dirty="0"/>
          </a:p>
        </p:txBody>
      </p:sp>
      <p:sp>
        <p:nvSpPr>
          <p:cNvPr id="22" name="Shape 20"/>
          <p:cNvSpPr/>
          <p:nvPr/>
        </p:nvSpPr>
        <p:spPr>
          <a:xfrm>
            <a:off x="4663440" y="2057400"/>
            <a:ext cx="4160520" cy="283464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23" name="Text 21"/>
          <p:cNvSpPr/>
          <p:nvPr/>
        </p:nvSpPr>
        <p:spPr>
          <a:xfrm>
            <a:off x="4800600" y="2103120"/>
            <a:ext cx="3886200" cy="274320"/>
          </a:xfrm>
          <a:prstGeom prst="rect">
            <a:avLst/>
          </a:prstGeom>
          <a:noFill/>
          <a:ln/>
        </p:spPr>
        <p:txBody>
          <a:bodyPr wrap="square" lIns="0" tIns="0" rIns="0" bIns="0" rtlCol="0" anchor="ctr"/>
          <a:lstStyle/>
          <a:p>
            <a:pPr marL="0" indent="0" algn="ctr">
              <a:buNone/>
            </a:pPr>
            <a:r>
              <a:rPr lang="en-US" sz="1000" dirty="0">
                <a:solidFill>
                  <a:srgbClr val="8B949E"/>
                </a:solidFill>
              </a:rPr>
              <a:t>Two Training Steps  (α = 0.0001)</a:t>
            </a:r>
            <a:endParaRPr lang="en-US" sz="1000" dirty="0"/>
          </a:p>
        </p:txBody>
      </p:sp>
      <p:sp>
        <p:nvSpPr>
          <p:cNvPr id="24" name="Shape 22"/>
          <p:cNvSpPr/>
          <p:nvPr/>
        </p:nvSpPr>
        <p:spPr>
          <a:xfrm>
            <a:off x="4754880" y="2450592"/>
            <a:ext cx="3931920" cy="292608"/>
          </a:xfrm>
          <a:prstGeom prst="rect">
            <a:avLst/>
          </a:prstGeom>
          <a:solidFill>
            <a:srgbClr val="21262D"/>
          </a:solidFill>
          <a:ln w="12700">
            <a:solidFill>
              <a:srgbClr val="21262D"/>
            </a:solidFill>
            <a:prstDash val="solid"/>
          </a:ln>
        </p:spPr>
        <p:txBody>
          <a:bodyPr/>
          <a:lstStyle/>
          <a:p>
            <a:endParaRPr lang="fr-FR"/>
          </a:p>
        </p:txBody>
      </p:sp>
      <p:sp>
        <p:nvSpPr>
          <p:cNvPr id="25" name="Text 23"/>
          <p:cNvSpPr/>
          <p:nvPr/>
        </p:nvSpPr>
        <p:spPr>
          <a:xfrm>
            <a:off x="4846320" y="2450592"/>
            <a:ext cx="3749040" cy="292608"/>
          </a:xfrm>
          <a:prstGeom prst="rect">
            <a:avLst/>
          </a:prstGeom>
          <a:noFill/>
          <a:ln/>
        </p:spPr>
        <p:txBody>
          <a:bodyPr wrap="square" lIns="0" tIns="0" rIns="0" bIns="0" rtlCol="0" anchor="ctr"/>
          <a:lstStyle/>
          <a:p>
            <a:pPr marL="0" indent="0">
              <a:buNone/>
            </a:pPr>
            <a:r>
              <a:rPr lang="en-US" sz="950" dirty="0">
                <a:solidFill>
                  <a:srgbClr val="F0F6FC"/>
                </a:solidFill>
              </a:rPr>
              <a:t>Initial:  w = 3.000   b = 10.000   MSE = 150</a:t>
            </a:r>
            <a:endParaRPr lang="en-US" sz="950" dirty="0"/>
          </a:p>
        </p:txBody>
      </p:sp>
      <p:sp>
        <p:nvSpPr>
          <p:cNvPr id="26" name="Shape 24"/>
          <p:cNvSpPr/>
          <p:nvPr/>
        </p:nvSpPr>
        <p:spPr>
          <a:xfrm>
            <a:off x="4754880" y="2798064"/>
            <a:ext cx="3931920" cy="237744"/>
          </a:xfrm>
          <a:prstGeom prst="rect">
            <a:avLst/>
          </a:prstGeom>
          <a:solidFill>
            <a:srgbClr val="F0883E"/>
          </a:solidFill>
          <a:ln w="12700">
            <a:solidFill>
              <a:srgbClr val="F0883E"/>
            </a:solidFill>
            <a:prstDash val="solid"/>
          </a:ln>
        </p:spPr>
        <p:txBody>
          <a:bodyPr/>
          <a:lstStyle/>
          <a:p>
            <a:endParaRPr lang="fr-FR"/>
          </a:p>
        </p:txBody>
      </p:sp>
      <p:sp>
        <p:nvSpPr>
          <p:cNvPr id="27" name="Text 25"/>
          <p:cNvSpPr/>
          <p:nvPr/>
        </p:nvSpPr>
        <p:spPr>
          <a:xfrm>
            <a:off x="4800600" y="2798064"/>
            <a:ext cx="3886200" cy="237744"/>
          </a:xfrm>
          <a:prstGeom prst="rect">
            <a:avLst/>
          </a:prstGeom>
          <a:noFill/>
          <a:ln/>
        </p:spPr>
        <p:txBody>
          <a:bodyPr wrap="square" lIns="0" tIns="0" rIns="0" bIns="0" rtlCol="0" anchor="ctr"/>
          <a:lstStyle/>
          <a:p>
            <a:pPr marL="0" indent="0">
              <a:buNone/>
            </a:pPr>
            <a:r>
              <a:rPr lang="en-US" sz="900" b="1" dirty="0">
                <a:solidFill>
                  <a:srgbClr val="F0F6FC"/>
                </a:solidFill>
              </a:rPr>
              <a:t>ITERATION 1</a:t>
            </a:r>
            <a:endParaRPr lang="en-US" sz="900" dirty="0"/>
          </a:p>
        </p:txBody>
      </p:sp>
      <p:sp>
        <p:nvSpPr>
          <p:cNvPr id="28" name="Text 26"/>
          <p:cNvSpPr/>
          <p:nvPr/>
        </p:nvSpPr>
        <p:spPr>
          <a:xfrm>
            <a:off x="4846320" y="3090672"/>
            <a:ext cx="3749040" cy="228600"/>
          </a:xfrm>
          <a:prstGeom prst="rect">
            <a:avLst/>
          </a:prstGeom>
          <a:noFill/>
          <a:ln/>
        </p:spPr>
        <p:txBody>
          <a:bodyPr wrap="square" lIns="0" tIns="0" rIns="0" bIns="0" rtlCol="0" anchor="ctr"/>
          <a:lstStyle/>
          <a:p>
            <a:pPr marL="0" indent="0">
              <a:buNone/>
            </a:pPr>
            <a:r>
              <a:rPr lang="en-US" sz="950" dirty="0">
                <a:solidFill>
                  <a:srgbClr val="8B949E"/>
                </a:solidFill>
              </a:rPr>
              <a:t>Gradients:</a:t>
            </a:r>
            <a:endParaRPr lang="en-US" sz="950" dirty="0"/>
          </a:p>
        </p:txBody>
      </p:sp>
      <p:sp>
        <p:nvSpPr>
          <p:cNvPr id="29" name="Text 27"/>
          <p:cNvSpPr/>
          <p:nvPr/>
        </p:nvSpPr>
        <p:spPr>
          <a:xfrm>
            <a:off x="4846320" y="3291840"/>
            <a:ext cx="3749040" cy="228600"/>
          </a:xfrm>
          <a:prstGeom prst="rect">
            <a:avLst/>
          </a:prstGeom>
          <a:noFill/>
          <a:ln/>
        </p:spPr>
        <p:txBody>
          <a:bodyPr wrap="square" lIns="0" tIns="0" rIns="0" bIns="0" rtlCol="0" anchor="ctr"/>
          <a:lstStyle/>
          <a:p>
            <a:pPr marL="0" indent="0">
              <a:buNone/>
            </a:pPr>
            <a:r>
              <a:rPr lang="en-US" sz="950" dirty="0">
                <a:solidFill>
                  <a:srgbClr val="F0883E"/>
                </a:solidFill>
              </a:rPr>
              <a:t>  ∂MSE/∂w = 450       ∂MSE/∂b = 20</a:t>
            </a:r>
            <a:endParaRPr lang="en-US" sz="950" dirty="0"/>
          </a:p>
        </p:txBody>
      </p:sp>
      <p:sp>
        <p:nvSpPr>
          <p:cNvPr id="30" name="Text 28"/>
          <p:cNvSpPr/>
          <p:nvPr/>
        </p:nvSpPr>
        <p:spPr>
          <a:xfrm>
            <a:off x="4846320" y="3566160"/>
            <a:ext cx="3749040" cy="228600"/>
          </a:xfrm>
          <a:prstGeom prst="rect">
            <a:avLst/>
          </a:prstGeom>
          <a:noFill/>
          <a:ln/>
        </p:spPr>
        <p:txBody>
          <a:bodyPr wrap="square" lIns="0" tIns="0" rIns="0" bIns="0" rtlCol="0" anchor="ctr"/>
          <a:lstStyle/>
          <a:p>
            <a:pPr marL="0" indent="0">
              <a:buNone/>
            </a:pPr>
            <a:r>
              <a:rPr lang="en-US" sz="950" dirty="0">
                <a:solidFill>
                  <a:srgbClr val="8B949E"/>
                </a:solidFill>
              </a:rPr>
              <a:t>Updates:</a:t>
            </a:r>
            <a:endParaRPr lang="en-US" sz="950" dirty="0"/>
          </a:p>
        </p:txBody>
      </p:sp>
      <p:sp>
        <p:nvSpPr>
          <p:cNvPr id="31" name="Text 29"/>
          <p:cNvSpPr/>
          <p:nvPr/>
        </p:nvSpPr>
        <p:spPr>
          <a:xfrm>
            <a:off x="4846320" y="3767328"/>
            <a:ext cx="3749040" cy="228600"/>
          </a:xfrm>
          <a:prstGeom prst="rect">
            <a:avLst/>
          </a:prstGeom>
          <a:noFill/>
          <a:ln/>
        </p:spPr>
        <p:txBody>
          <a:bodyPr wrap="square" lIns="0" tIns="0" rIns="0" bIns="0" rtlCol="0" anchor="ctr"/>
          <a:lstStyle/>
          <a:p>
            <a:pPr marL="0" indent="0">
              <a:buNone/>
            </a:pPr>
            <a:r>
              <a:rPr lang="en-US" sz="900" dirty="0">
                <a:solidFill>
                  <a:srgbClr val="F0F6FC"/>
                </a:solidFill>
              </a:rPr>
              <a:t>  w ← 3.000 − 0.0001×450 = 3.000 − 0.045 = 2.955</a:t>
            </a:r>
            <a:endParaRPr lang="en-US" sz="900" dirty="0"/>
          </a:p>
        </p:txBody>
      </p:sp>
      <p:sp>
        <p:nvSpPr>
          <p:cNvPr id="32" name="Text 30"/>
          <p:cNvSpPr/>
          <p:nvPr/>
        </p:nvSpPr>
        <p:spPr>
          <a:xfrm>
            <a:off x="4846320" y="3977640"/>
            <a:ext cx="3749040" cy="228600"/>
          </a:xfrm>
          <a:prstGeom prst="rect">
            <a:avLst/>
          </a:prstGeom>
          <a:noFill/>
          <a:ln/>
        </p:spPr>
        <p:txBody>
          <a:bodyPr wrap="square" lIns="0" tIns="0" rIns="0" bIns="0" rtlCol="0" anchor="ctr"/>
          <a:lstStyle/>
          <a:p>
            <a:pPr marL="0" indent="0">
              <a:buNone/>
            </a:pPr>
            <a:r>
              <a:rPr lang="en-US" sz="900" dirty="0">
                <a:solidFill>
                  <a:srgbClr val="F0F6FC"/>
                </a:solidFill>
              </a:rPr>
              <a:t>  b ← 10.00 − 0.0001×20  = 10.00 − 0.002 = 9.998</a:t>
            </a:r>
            <a:endParaRPr lang="en-US" sz="900" dirty="0"/>
          </a:p>
        </p:txBody>
      </p:sp>
      <p:sp>
        <p:nvSpPr>
          <p:cNvPr id="33" name="Shape 31"/>
          <p:cNvSpPr/>
          <p:nvPr/>
        </p:nvSpPr>
        <p:spPr>
          <a:xfrm>
            <a:off x="4754880" y="4251960"/>
            <a:ext cx="3931920" cy="292608"/>
          </a:xfrm>
          <a:prstGeom prst="roundRect">
            <a:avLst>
              <a:gd name="adj" fmla="val 15625"/>
            </a:avLst>
          </a:prstGeom>
          <a:solidFill>
            <a:srgbClr val="21262D"/>
          </a:solidFill>
          <a:ln w="19050">
            <a:solidFill>
              <a:srgbClr val="3FB950"/>
            </a:solidFill>
            <a:prstDash val="solid"/>
          </a:ln>
        </p:spPr>
        <p:txBody>
          <a:bodyPr/>
          <a:lstStyle/>
          <a:p>
            <a:endParaRPr lang="fr-FR"/>
          </a:p>
        </p:txBody>
      </p:sp>
      <p:sp>
        <p:nvSpPr>
          <p:cNvPr id="34" name="Text 32"/>
          <p:cNvSpPr/>
          <p:nvPr/>
        </p:nvSpPr>
        <p:spPr>
          <a:xfrm>
            <a:off x="4846320" y="4251960"/>
            <a:ext cx="3794760" cy="292608"/>
          </a:xfrm>
          <a:prstGeom prst="rect">
            <a:avLst/>
          </a:prstGeom>
          <a:noFill/>
          <a:ln/>
        </p:spPr>
        <p:txBody>
          <a:bodyPr wrap="square" lIns="0" tIns="0" rIns="0" bIns="0" rtlCol="0" anchor="ctr"/>
          <a:lstStyle/>
          <a:p>
            <a:pPr marL="0" indent="0">
              <a:buNone/>
            </a:pPr>
            <a:r>
              <a:rPr lang="en-US" sz="900" dirty="0">
                <a:solidFill>
                  <a:srgbClr val="3FB950"/>
                </a:solidFill>
              </a:rPr>
              <a:t>After step 1:  w = 2.955   b = 9.998   MSE ↓ (getting better!)</a:t>
            </a:r>
            <a:endParaRPr lang="en-US" sz="900" dirty="0"/>
          </a:p>
        </p:txBody>
      </p:sp>
      <p:sp>
        <p:nvSpPr>
          <p:cNvPr id="35" name="Text 33"/>
          <p:cNvSpPr/>
          <p:nvPr/>
        </p:nvSpPr>
        <p:spPr>
          <a:xfrm>
            <a:off x="4800600" y="4617720"/>
            <a:ext cx="3886200" cy="274320"/>
          </a:xfrm>
          <a:prstGeom prst="rect">
            <a:avLst/>
          </a:prstGeom>
          <a:noFill/>
          <a:ln/>
        </p:spPr>
        <p:txBody>
          <a:bodyPr wrap="square" lIns="0" tIns="0" rIns="0" bIns="0" rtlCol="0" anchor="ctr"/>
          <a:lstStyle/>
          <a:p>
            <a:pPr marL="0" indent="0">
              <a:buNone/>
            </a:pPr>
            <a:r>
              <a:rPr lang="en-US" sz="900" i="1" dirty="0">
                <a:solidFill>
                  <a:srgbClr val="E3B341"/>
                </a:solidFill>
              </a:rPr>
              <a:t>→ Repeat this thousands of times to find optimal w* and b*</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FB950"/>
          </a:solidFill>
          <a:ln w="12700">
            <a:solidFill>
              <a:srgbClr val="3FB950"/>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Linear Regression — Complete Training Loop</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3FB950"/>
                </a:solidFill>
              </a:rPr>
              <a:t>Forward → Loss → Backward → Update → Repeat</a:t>
            </a:r>
            <a:endParaRPr lang="en-US" sz="1200" dirty="0"/>
          </a:p>
        </p:txBody>
      </p:sp>
      <p:sp>
        <p:nvSpPr>
          <p:cNvPr id="5" name="Shape 3"/>
          <p:cNvSpPr/>
          <p:nvPr/>
        </p:nvSpPr>
        <p:spPr>
          <a:xfrm>
            <a:off x="320040" y="1024128"/>
            <a:ext cx="8503920" cy="0"/>
          </a:xfrm>
          <a:prstGeom prst="line">
            <a:avLst/>
          </a:prstGeom>
          <a:noFill/>
          <a:ln w="12700">
            <a:solidFill>
              <a:srgbClr val="3FB950"/>
            </a:solidFill>
            <a:prstDash val="solid"/>
          </a:ln>
        </p:spPr>
        <p:txBody>
          <a:bodyPr/>
          <a:lstStyle/>
          <a:p>
            <a:endParaRPr lang="fr-FR"/>
          </a:p>
        </p:txBody>
      </p:sp>
      <p:sp>
        <p:nvSpPr>
          <p:cNvPr id="6" name="Shape 4"/>
          <p:cNvSpPr/>
          <p:nvPr/>
        </p:nvSpPr>
        <p:spPr>
          <a:xfrm>
            <a:off x="777240" y="1170432"/>
            <a:ext cx="640080" cy="640080"/>
          </a:xfrm>
          <a:prstGeom prst="ellipse">
            <a:avLst/>
          </a:prstGeom>
          <a:solidFill>
            <a:srgbClr val="8B949E"/>
          </a:solidFill>
          <a:ln w="12700">
            <a:solidFill>
              <a:srgbClr val="8B949E"/>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777240" y="1170432"/>
            <a:ext cx="640080" cy="640080"/>
          </a:xfrm>
          <a:prstGeom prst="rect">
            <a:avLst/>
          </a:prstGeom>
          <a:noFill/>
          <a:ln/>
        </p:spPr>
        <p:txBody>
          <a:bodyPr wrap="square" lIns="0" tIns="0" rIns="0" bIns="0" rtlCol="0" anchor="ctr"/>
          <a:lstStyle/>
          <a:p>
            <a:pPr marL="0" indent="0" algn="ctr">
              <a:buNone/>
            </a:pPr>
            <a:r>
              <a:rPr lang="en-US" sz="1800" b="1" dirty="0">
                <a:solidFill>
                  <a:srgbClr val="F0F6FC"/>
                </a:solidFill>
              </a:rPr>
              <a:t>1</a:t>
            </a:r>
            <a:endParaRPr lang="en-US" sz="1800" dirty="0"/>
          </a:p>
        </p:txBody>
      </p:sp>
      <p:sp>
        <p:nvSpPr>
          <p:cNvPr id="8" name="Shape 6"/>
          <p:cNvSpPr/>
          <p:nvPr/>
        </p:nvSpPr>
        <p:spPr>
          <a:xfrm>
            <a:off x="274320" y="1901952"/>
            <a:ext cx="1645920" cy="914400"/>
          </a:xfrm>
          <a:prstGeom prst="rect">
            <a:avLst/>
          </a:prstGeom>
          <a:solidFill>
            <a:srgbClr val="161B22"/>
          </a:solidFill>
          <a:ln w="19050">
            <a:solidFill>
              <a:srgbClr val="8B949E"/>
            </a:solidFill>
            <a:prstDash val="solid"/>
          </a:ln>
          <a:effectLst>
            <a:outerShdw blurRad="127000" dist="38100" dir="8100000" algn="bl" rotWithShape="0">
              <a:srgbClr val="000000">
                <a:alpha val="35000"/>
              </a:srgbClr>
            </a:outerShdw>
          </a:effectLst>
        </p:spPr>
        <p:txBody>
          <a:bodyPr/>
          <a:lstStyle/>
          <a:p>
            <a:endParaRPr lang="fr-FR"/>
          </a:p>
        </p:txBody>
      </p:sp>
      <p:sp>
        <p:nvSpPr>
          <p:cNvPr id="9" name="Text 7"/>
          <p:cNvSpPr/>
          <p:nvPr/>
        </p:nvSpPr>
        <p:spPr>
          <a:xfrm>
            <a:off x="329184" y="1920240"/>
            <a:ext cx="1536192" cy="493776"/>
          </a:xfrm>
          <a:prstGeom prst="rect">
            <a:avLst/>
          </a:prstGeom>
          <a:noFill/>
          <a:ln/>
        </p:spPr>
        <p:txBody>
          <a:bodyPr wrap="square" lIns="0" tIns="0" rIns="0" bIns="0" rtlCol="0" anchor="ctr"/>
          <a:lstStyle/>
          <a:p>
            <a:pPr marL="0" indent="0" algn="ctr">
              <a:buNone/>
            </a:pPr>
            <a:r>
              <a:rPr lang="en-US" sz="950" b="1" dirty="0">
                <a:solidFill>
                  <a:srgbClr val="8B949E"/>
                </a:solidFill>
              </a:rPr>
              <a:t>Initialize</a:t>
            </a:r>
            <a:endParaRPr lang="en-US" sz="950" dirty="0"/>
          </a:p>
          <a:p>
            <a:pPr marL="0" indent="0" algn="ctr">
              <a:buNone/>
            </a:pPr>
            <a:r>
              <a:rPr lang="en-US" sz="950" b="1" dirty="0">
                <a:solidFill>
                  <a:srgbClr val="8B949E"/>
                </a:solidFill>
              </a:rPr>
              <a:t>w, b randomly</a:t>
            </a:r>
            <a:endParaRPr lang="en-US" sz="950" dirty="0"/>
          </a:p>
        </p:txBody>
      </p:sp>
      <p:sp>
        <p:nvSpPr>
          <p:cNvPr id="10" name="Shape 8"/>
          <p:cNvSpPr/>
          <p:nvPr/>
        </p:nvSpPr>
        <p:spPr>
          <a:xfrm>
            <a:off x="411480" y="2423160"/>
            <a:ext cx="1371600" cy="0"/>
          </a:xfrm>
          <a:prstGeom prst="line">
            <a:avLst/>
          </a:prstGeom>
          <a:noFill/>
          <a:ln w="10160">
            <a:solidFill>
              <a:srgbClr val="21262D"/>
            </a:solidFill>
            <a:prstDash val="solid"/>
          </a:ln>
        </p:spPr>
        <p:txBody>
          <a:bodyPr/>
          <a:lstStyle/>
          <a:p>
            <a:endParaRPr lang="fr-FR"/>
          </a:p>
        </p:txBody>
      </p:sp>
      <p:sp>
        <p:nvSpPr>
          <p:cNvPr id="11" name="Text 9"/>
          <p:cNvSpPr/>
          <p:nvPr/>
        </p:nvSpPr>
        <p:spPr>
          <a:xfrm>
            <a:off x="329184" y="2450592"/>
            <a:ext cx="1536192" cy="347472"/>
          </a:xfrm>
          <a:prstGeom prst="rect">
            <a:avLst/>
          </a:prstGeom>
          <a:noFill/>
          <a:ln/>
        </p:spPr>
        <p:txBody>
          <a:bodyPr wrap="square" lIns="0" tIns="0" rIns="0" bIns="0" rtlCol="0" anchor="ctr"/>
          <a:lstStyle/>
          <a:p>
            <a:pPr marL="0" indent="0" algn="ctr">
              <a:buNone/>
            </a:pPr>
            <a:r>
              <a:rPr lang="en-US" sz="850" dirty="0">
                <a:solidFill>
                  <a:srgbClr val="8B949E"/>
                </a:solidFill>
              </a:rPr>
              <a:t>w = 3.0</a:t>
            </a:r>
            <a:endParaRPr lang="en-US" sz="850" dirty="0"/>
          </a:p>
          <a:p>
            <a:pPr marL="0" indent="0" algn="ctr">
              <a:buNone/>
            </a:pPr>
            <a:r>
              <a:rPr lang="en-US" sz="850" dirty="0">
                <a:solidFill>
                  <a:srgbClr val="8B949E"/>
                </a:solidFill>
              </a:rPr>
              <a:t>b = 10.0</a:t>
            </a:r>
            <a:endParaRPr lang="en-US" sz="850" dirty="0"/>
          </a:p>
          <a:p>
            <a:pPr marL="0" indent="0" algn="ctr">
              <a:buNone/>
            </a:pPr>
            <a:r>
              <a:rPr lang="en-US" sz="850" dirty="0">
                <a:solidFill>
                  <a:srgbClr val="8B949E"/>
                </a:solidFill>
              </a:rPr>
              <a:t>(random start)</a:t>
            </a:r>
            <a:endParaRPr lang="en-US" sz="850" dirty="0"/>
          </a:p>
        </p:txBody>
      </p:sp>
      <p:sp>
        <p:nvSpPr>
          <p:cNvPr id="12" name="Shape 10"/>
          <p:cNvSpPr/>
          <p:nvPr/>
        </p:nvSpPr>
        <p:spPr>
          <a:xfrm>
            <a:off x="1920240" y="2359152"/>
            <a:ext cx="109728" cy="0"/>
          </a:xfrm>
          <a:prstGeom prst="line">
            <a:avLst/>
          </a:prstGeom>
          <a:noFill/>
          <a:ln w="25400">
            <a:solidFill>
              <a:srgbClr val="8B949E"/>
            </a:solidFill>
            <a:prstDash val="solid"/>
            <a:tailEnd type="arrow"/>
          </a:ln>
        </p:spPr>
        <p:txBody>
          <a:bodyPr/>
          <a:lstStyle/>
          <a:p>
            <a:endParaRPr lang="fr-FR"/>
          </a:p>
        </p:txBody>
      </p:sp>
      <p:sp>
        <p:nvSpPr>
          <p:cNvPr id="13" name="Shape 11"/>
          <p:cNvSpPr/>
          <p:nvPr/>
        </p:nvSpPr>
        <p:spPr>
          <a:xfrm>
            <a:off x="2532888" y="1170432"/>
            <a:ext cx="640080" cy="640080"/>
          </a:xfrm>
          <a:prstGeom prst="ellipse">
            <a:avLst/>
          </a:prstGeom>
          <a:solidFill>
            <a:srgbClr val="58A6FF"/>
          </a:solidFill>
          <a:ln w="1270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14" name="Text 12"/>
          <p:cNvSpPr/>
          <p:nvPr/>
        </p:nvSpPr>
        <p:spPr>
          <a:xfrm>
            <a:off x="2532888" y="1170432"/>
            <a:ext cx="640080" cy="640080"/>
          </a:xfrm>
          <a:prstGeom prst="rect">
            <a:avLst/>
          </a:prstGeom>
          <a:noFill/>
          <a:ln/>
        </p:spPr>
        <p:txBody>
          <a:bodyPr wrap="square" lIns="0" tIns="0" rIns="0" bIns="0" rtlCol="0" anchor="ctr"/>
          <a:lstStyle/>
          <a:p>
            <a:pPr marL="0" indent="0" algn="ctr">
              <a:buNone/>
            </a:pPr>
            <a:r>
              <a:rPr lang="en-US" sz="1800" b="1" dirty="0">
                <a:solidFill>
                  <a:srgbClr val="F0F6FC"/>
                </a:solidFill>
              </a:rPr>
              <a:t>2</a:t>
            </a:r>
            <a:endParaRPr lang="en-US" sz="1800" dirty="0"/>
          </a:p>
        </p:txBody>
      </p:sp>
      <p:sp>
        <p:nvSpPr>
          <p:cNvPr id="15" name="Shape 13"/>
          <p:cNvSpPr/>
          <p:nvPr/>
        </p:nvSpPr>
        <p:spPr>
          <a:xfrm>
            <a:off x="2029968" y="1901952"/>
            <a:ext cx="1645920" cy="914400"/>
          </a:xfrm>
          <a:prstGeom prst="rect">
            <a:avLst/>
          </a:prstGeom>
          <a:solidFill>
            <a:srgbClr val="161B22"/>
          </a:solidFill>
          <a:ln w="1905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16" name="Text 14"/>
          <p:cNvSpPr/>
          <p:nvPr/>
        </p:nvSpPr>
        <p:spPr>
          <a:xfrm>
            <a:off x="2084832" y="1920240"/>
            <a:ext cx="1536192" cy="493776"/>
          </a:xfrm>
          <a:prstGeom prst="rect">
            <a:avLst/>
          </a:prstGeom>
          <a:noFill/>
          <a:ln/>
        </p:spPr>
        <p:txBody>
          <a:bodyPr wrap="square" lIns="0" tIns="0" rIns="0" bIns="0" rtlCol="0" anchor="ctr"/>
          <a:lstStyle/>
          <a:p>
            <a:pPr marL="0" indent="0" algn="ctr">
              <a:buNone/>
            </a:pPr>
            <a:r>
              <a:rPr lang="en-US" sz="950" b="1" dirty="0">
                <a:solidFill>
                  <a:srgbClr val="58A6FF"/>
                </a:solidFill>
              </a:rPr>
              <a:t>Forward Pass</a:t>
            </a:r>
            <a:endParaRPr lang="en-US" sz="950" dirty="0"/>
          </a:p>
          <a:p>
            <a:pPr marL="0" indent="0" algn="ctr">
              <a:buNone/>
            </a:pPr>
            <a:r>
              <a:rPr lang="en-US" sz="950" b="1" dirty="0">
                <a:solidFill>
                  <a:srgbClr val="58A6FF"/>
                </a:solidFill>
              </a:rPr>
              <a:t>ŷ = w·x + b</a:t>
            </a:r>
            <a:endParaRPr lang="en-US" sz="950" dirty="0"/>
          </a:p>
        </p:txBody>
      </p:sp>
      <p:sp>
        <p:nvSpPr>
          <p:cNvPr id="17" name="Shape 15"/>
          <p:cNvSpPr/>
          <p:nvPr/>
        </p:nvSpPr>
        <p:spPr>
          <a:xfrm>
            <a:off x="2167128" y="2423160"/>
            <a:ext cx="1371600" cy="0"/>
          </a:xfrm>
          <a:prstGeom prst="line">
            <a:avLst/>
          </a:prstGeom>
          <a:noFill/>
          <a:ln w="10160">
            <a:solidFill>
              <a:srgbClr val="21262D"/>
            </a:solidFill>
            <a:prstDash val="solid"/>
          </a:ln>
        </p:spPr>
        <p:txBody>
          <a:bodyPr/>
          <a:lstStyle/>
          <a:p>
            <a:endParaRPr lang="fr-FR"/>
          </a:p>
        </p:txBody>
      </p:sp>
      <p:sp>
        <p:nvSpPr>
          <p:cNvPr id="18" name="Text 16"/>
          <p:cNvSpPr/>
          <p:nvPr/>
        </p:nvSpPr>
        <p:spPr>
          <a:xfrm>
            <a:off x="2084832" y="2450592"/>
            <a:ext cx="1536192" cy="347472"/>
          </a:xfrm>
          <a:prstGeom prst="rect">
            <a:avLst/>
          </a:prstGeom>
          <a:noFill/>
          <a:ln/>
        </p:spPr>
        <p:txBody>
          <a:bodyPr wrap="square" lIns="0" tIns="0" rIns="0" bIns="0" rtlCol="0" anchor="ctr"/>
          <a:lstStyle/>
          <a:p>
            <a:pPr marL="0" indent="0" algn="ctr">
              <a:buNone/>
            </a:pPr>
            <a:r>
              <a:rPr lang="en-US" sz="850" dirty="0">
                <a:solidFill>
                  <a:srgbClr val="8B949E"/>
                </a:solidFill>
              </a:rPr>
              <a:t>ŷ = 3.0×50+10</a:t>
            </a:r>
            <a:endParaRPr lang="en-US" sz="850" dirty="0"/>
          </a:p>
          <a:p>
            <a:pPr marL="0" indent="0" algn="ctr">
              <a:buNone/>
            </a:pPr>
            <a:r>
              <a:rPr lang="en-US" sz="850" dirty="0">
                <a:solidFill>
                  <a:srgbClr val="8B949E"/>
                </a:solidFill>
              </a:rPr>
              <a:t>= 160 €k</a:t>
            </a:r>
            <a:endParaRPr lang="en-US" sz="850" dirty="0"/>
          </a:p>
        </p:txBody>
      </p:sp>
      <p:sp>
        <p:nvSpPr>
          <p:cNvPr id="19" name="Shape 17"/>
          <p:cNvSpPr/>
          <p:nvPr/>
        </p:nvSpPr>
        <p:spPr>
          <a:xfrm>
            <a:off x="3675888" y="2359152"/>
            <a:ext cx="109728" cy="0"/>
          </a:xfrm>
          <a:prstGeom prst="line">
            <a:avLst/>
          </a:prstGeom>
          <a:noFill/>
          <a:ln w="25400">
            <a:solidFill>
              <a:srgbClr val="58A6FF"/>
            </a:solidFill>
            <a:prstDash val="solid"/>
            <a:tailEnd type="arrow"/>
          </a:ln>
        </p:spPr>
        <p:txBody>
          <a:bodyPr/>
          <a:lstStyle/>
          <a:p>
            <a:endParaRPr lang="fr-FR"/>
          </a:p>
        </p:txBody>
      </p:sp>
      <p:sp>
        <p:nvSpPr>
          <p:cNvPr id="20" name="Shape 18"/>
          <p:cNvSpPr/>
          <p:nvPr/>
        </p:nvSpPr>
        <p:spPr>
          <a:xfrm>
            <a:off x="4288536" y="1170432"/>
            <a:ext cx="640080" cy="640080"/>
          </a:xfrm>
          <a:prstGeom prst="ellipse">
            <a:avLst/>
          </a:prstGeom>
          <a:solidFill>
            <a:srgbClr val="FF7B72"/>
          </a:solidFill>
          <a:ln w="12700">
            <a:solidFill>
              <a:srgbClr val="FF7B72"/>
            </a:solidFill>
            <a:prstDash val="solid"/>
          </a:ln>
          <a:effectLst>
            <a:outerShdw blurRad="127000" dist="38100" dir="8100000" algn="bl" rotWithShape="0">
              <a:srgbClr val="000000">
                <a:alpha val="35000"/>
              </a:srgbClr>
            </a:outerShdw>
          </a:effectLst>
        </p:spPr>
        <p:txBody>
          <a:bodyPr/>
          <a:lstStyle/>
          <a:p>
            <a:endParaRPr lang="fr-FR"/>
          </a:p>
        </p:txBody>
      </p:sp>
      <p:sp>
        <p:nvSpPr>
          <p:cNvPr id="21" name="Text 19"/>
          <p:cNvSpPr/>
          <p:nvPr/>
        </p:nvSpPr>
        <p:spPr>
          <a:xfrm>
            <a:off x="4288536" y="1170432"/>
            <a:ext cx="640080" cy="640080"/>
          </a:xfrm>
          <a:prstGeom prst="rect">
            <a:avLst/>
          </a:prstGeom>
          <a:noFill/>
          <a:ln/>
        </p:spPr>
        <p:txBody>
          <a:bodyPr wrap="square" lIns="0" tIns="0" rIns="0" bIns="0" rtlCol="0" anchor="ctr"/>
          <a:lstStyle/>
          <a:p>
            <a:pPr marL="0" indent="0" algn="ctr">
              <a:buNone/>
            </a:pPr>
            <a:r>
              <a:rPr lang="en-US" sz="1800" b="1" dirty="0">
                <a:solidFill>
                  <a:srgbClr val="F0F6FC"/>
                </a:solidFill>
              </a:rPr>
              <a:t>3</a:t>
            </a:r>
            <a:endParaRPr lang="en-US" sz="1800" dirty="0"/>
          </a:p>
        </p:txBody>
      </p:sp>
      <p:sp>
        <p:nvSpPr>
          <p:cNvPr id="22" name="Shape 20"/>
          <p:cNvSpPr/>
          <p:nvPr/>
        </p:nvSpPr>
        <p:spPr>
          <a:xfrm>
            <a:off x="3785616" y="1901952"/>
            <a:ext cx="1645920" cy="914400"/>
          </a:xfrm>
          <a:prstGeom prst="rect">
            <a:avLst/>
          </a:prstGeom>
          <a:solidFill>
            <a:srgbClr val="161B22"/>
          </a:solidFill>
          <a:ln w="19050">
            <a:solidFill>
              <a:srgbClr val="FF7B72"/>
            </a:solidFill>
            <a:prstDash val="solid"/>
          </a:ln>
          <a:effectLst>
            <a:outerShdw blurRad="127000" dist="38100" dir="8100000" algn="bl" rotWithShape="0">
              <a:srgbClr val="000000">
                <a:alpha val="35000"/>
              </a:srgbClr>
            </a:outerShdw>
          </a:effectLst>
        </p:spPr>
        <p:txBody>
          <a:bodyPr/>
          <a:lstStyle/>
          <a:p>
            <a:endParaRPr lang="fr-FR"/>
          </a:p>
        </p:txBody>
      </p:sp>
      <p:sp>
        <p:nvSpPr>
          <p:cNvPr id="23" name="Text 21"/>
          <p:cNvSpPr/>
          <p:nvPr/>
        </p:nvSpPr>
        <p:spPr>
          <a:xfrm>
            <a:off x="3840480" y="1920240"/>
            <a:ext cx="1536192" cy="493776"/>
          </a:xfrm>
          <a:prstGeom prst="rect">
            <a:avLst/>
          </a:prstGeom>
          <a:noFill/>
          <a:ln/>
        </p:spPr>
        <p:txBody>
          <a:bodyPr wrap="square" lIns="0" tIns="0" rIns="0" bIns="0" rtlCol="0" anchor="ctr"/>
          <a:lstStyle/>
          <a:p>
            <a:pPr marL="0" indent="0" algn="ctr">
              <a:buNone/>
            </a:pPr>
            <a:r>
              <a:rPr lang="en-US" sz="950" b="1" dirty="0">
                <a:solidFill>
                  <a:srgbClr val="FF7B72"/>
                </a:solidFill>
              </a:rPr>
              <a:t>Compute Loss</a:t>
            </a:r>
            <a:endParaRPr lang="en-US" sz="950" dirty="0"/>
          </a:p>
          <a:p>
            <a:pPr marL="0" indent="0" algn="ctr">
              <a:buNone/>
            </a:pPr>
            <a:r>
              <a:rPr lang="en-US" sz="950" b="1" dirty="0">
                <a:solidFill>
                  <a:srgbClr val="FF7B72"/>
                </a:solidFill>
              </a:rPr>
              <a:t>MSE = (y−ŷ)²/n</a:t>
            </a:r>
            <a:endParaRPr lang="en-US" sz="950" dirty="0"/>
          </a:p>
        </p:txBody>
      </p:sp>
      <p:sp>
        <p:nvSpPr>
          <p:cNvPr id="24" name="Shape 22"/>
          <p:cNvSpPr/>
          <p:nvPr/>
        </p:nvSpPr>
        <p:spPr>
          <a:xfrm>
            <a:off x="3922776" y="2423160"/>
            <a:ext cx="1371600" cy="0"/>
          </a:xfrm>
          <a:prstGeom prst="line">
            <a:avLst/>
          </a:prstGeom>
          <a:noFill/>
          <a:ln w="10160">
            <a:solidFill>
              <a:srgbClr val="21262D"/>
            </a:solidFill>
            <a:prstDash val="solid"/>
          </a:ln>
        </p:spPr>
        <p:txBody>
          <a:bodyPr/>
          <a:lstStyle/>
          <a:p>
            <a:endParaRPr lang="fr-FR"/>
          </a:p>
        </p:txBody>
      </p:sp>
      <p:sp>
        <p:nvSpPr>
          <p:cNvPr id="25" name="Text 23"/>
          <p:cNvSpPr/>
          <p:nvPr/>
        </p:nvSpPr>
        <p:spPr>
          <a:xfrm>
            <a:off x="3840480" y="2450592"/>
            <a:ext cx="1536192" cy="347472"/>
          </a:xfrm>
          <a:prstGeom prst="rect">
            <a:avLst/>
          </a:prstGeom>
          <a:noFill/>
          <a:ln/>
        </p:spPr>
        <p:txBody>
          <a:bodyPr wrap="square" lIns="0" tIns="0" rIns="0" bIns="0" rtlCol="0" anchor="ctr"/>
          <a:lstStyle/>
          <a:p>
            <a:pPr marL="0" indent="0" algn="ctr">
              <a:buNone/>
            </a:pPr>
            <a:r>
              <a:rPr lang="en-US" sz="850" dirty="0">
                <a:solidFill>
                  <a:srgbClr val="8B949E"/>
                </a:solidFill>
              </a:rPr>
              <a:t>MSE = 150</a:t>
            </a:r>
            <a:endParaRPr lang="en-US" sz="850" dirty="0"/>
          </a:p>
          <a:p>
            <a:pPr marL="0" indent="0" algn="ctr">
              <a:buNone/>
            </a:pPr>
            <a:r>
              <a:rPr lang="en-US" sz="850" dirty="0">
                <a:solidFill>
                  <a:srgbClr val="8B949E"/>
                </a:solidFill>
              </a:rPr>
              <a:t>(too high!)</a:t>
            </a:r>
            <a:endParaRPr lang="en-US" sz="850" dirty="0"/>
          </a:p>
        </p:txBody>
      </p:sp>
      <p:sp>
        <p:nvSpPr>
          <p:cNvPr id="26" name="Shape 24"/>
          <p:cNvSpPr/>
          <p:nvPr/>
        </p:nvSpPr>
        <p:spPr>
          <a:xfrm>
            <a:off x="5431536" y="2359152"/>
            <a:ext cx="109728" cy="0"/>
          </a:xfrm>
          <a:prstGeom prst="line">
            <a:avLst/>
          </a:prstGeom>
          <a:noFill/>
          <a:ln w="25400">
            <a:solidFill>
              <a:srgbClr val="FF7B72"/>
            </a:solidFill>
            <a:prstDash val="solid"/>
            <a:tailEnd type="arrow"/>
          </a:ln>
        </p:spPr>
        <p:txBody>
          <a:bodyPr/>
          <a:lstStyle/>
          <a:p>
            <a:endParaRPr lang="fr-FR"/>
          </a:p>
        </p:txBody>
      </p:sp>
      <p:sp>
        <p:nvSpPr>
          <p:cNvPr id="27" name="Shape 25"/>
          <p:cNvSpPr/>
          <p:nvPr/>
        </p:nvSpPr>
        <p:spPr>
          <a:xfrm>
            <a:off x="6044184" y="1170432"/>
            <a:ext cx="640080" cy="640080"/>
          </a:xfrm>
          <a:prstGeom prst="ellipse">
            <a:avLst/>
          </a:prstGeom>
          <a:solidFill>
            <a:srgbClr val="F0883E"/>
          </a:solidFill>
          <a:ln w="12700">
            <a:solidFill>
              <a:srgbClr val="F0883E"/>
            </a:solidFill>
            <a:prstDash val="solid"/>
          </a:ln>
          <a:effectLst>
            <a:outerShdw blurRad="127000" dist="38100" dir="8100000" algn="bl" rotWithShape="0">
              <a:srgbClr val="000000">
                <a:alpha val="35000"/>
              </a:srgbClr>
            </a:outerShdw>
          </a:effectLst>
        </p:spPr>
        <p:txBody>
          <a:bodyPr/>
          <a:lstStyle/>
          <a:p>
            <a:endParaRPr lang="fr-FR"/>
          </a:p>
        </p:txBody>
      </p:sp>
      <p:sp>
        <p:nvSpPr>
          <p:cNvPr id="28" name="Text 26"/>
          <p:cNvSpPr/>
          <p:nvPr/>
        </p:nvSpPr>
        <p:spPr>
          <a:xfrm>
            <a:off x="6044184" y="1170432"/>
            <a:ext cx="640080" cy="640080"/>
          </a:xfrm>
          <a:prstGeom prst="rect">
            <a:avLst/>
          </a:prstGeom>
          <a:noFill/>
          <a:ln/>
        </p:spPr>
        <p:txBody>
          <a:bodyPr wrap="square" lIns="0" tIns="0" rIns="0" bIns="0" rtlCol="0" anchor="ctr"/>
          <a:lstStyle/>
          <a:p>
            <a:pPr marL="0" indent="0" algn="ctr">
              <a:buNone/>
            </a:pPr>
            <a:r>
              <a:rPr lang="en-US" sz="1800" b="1" dirty="0">
                <a:solidFill>
                  <a:srgbClr val="F0F6FC"/>
                </a:solidFill>
              </a:rPr>
              <a:t>4</a:t>
            </a:r>
            <a:endParaRPr lang="en-US" sz="1800" dirty="0"/>
          </a:p>
        </p:txBody>
      </p:sp>
      <p:sp>
        <p:nvSpPr>
          <p:cNvPr id="29" name="Shape 27"/>
          <p:cNvSpPr/>
          <p:nvPr/>
        </p:nvSpPr>
        <p:spPr>
          <a:xfrm>
            <a:off x="5541264" y="1901952"/>
            <a:ext cx="1645920" cy="914400"/>
          </a:xfrm>
          <a:prstGeom prst="rect">
            <a:avLst/>
          </a:prstGeom>
          <a:solidFill>
            <a:srgbClr val="161B22"/>
          </a:solidFill>
          <a:ln w="19050">
            <a:solidFill>
              <a:srgbClr val="F0883E"/>
            </a:solidFill>
            <a:prstDash val="solid"/>
          </a:ln>
          <a:effectLst>
            <a:outerShdw blurRad="127000" dist="38100" dir="8100000" algn="bl" rotWithShape="0">
              <a:srgbClr val="000000">
                <a:alpha val="35000"/>
              </a:srgbClr>
            </a:outerShdw>
          </a:effectLst>
        </p:spPr>
        <p:txBody>
          <a:bodyPr/>
          <a:lstStyle/>
          <a:p>
            <a:endParaRPr lang="fr-FR"/>
          </a:p>
        </p:txBody>
      </p:sp>
      <p:sp>
        <p:nvSpPr>
          <p:cNvPr id="30" name="Text 28"/>
          <p:cNvSpPr/>
          <p:nvPr/>
        </p:nvSpPr>
        <p:spPr>
          <a:xfrm>
            <a:off x="5596128" y="1920240"/>
            <a:ext cx="1536192" cy="493776"/>
          </a:xfrm>
          <a:prstGeom prst="rect">
            <a:avLst/>
          </a:prstGeom>
          <a:noFill/>
          <a:ln/>
        </p:spPr>
        <p:txBody>
          <a:bodyPr wrap="square" lIns="0" tIns="0" rIns="0" bIns="0" rtlCol="0" anchor="ctr"/>
          <a:lstStyle/>
          <a:p>
            <a:pPr marL="0" indent="0" algn="ctr">
              <a:buNone/>
            </a:pPr>
            <a:r>
              <a:rPr lang="en-US" sz="950" b="1" dirty="0">
                <a:solidFill>
                  <a:srgbClr val="F0883E"/>
                </a:solidFill>
              </a:rPr>
              <a:t>Backward Pass</a:t>
            </a:r>
            <a:endParaRPr lang="en-US" sz="950" dirty="0"/>
          </a:p>
          <a:p>
            <a:pPr marL="0" indent="0" algn="ctr">
              <a:buNone/>
            </a:pPr>
            <a:r>
              <a:rPr lang="en-US" sz="950" b="1" dirty="0">
                <a:solidFill>
                  <a:srgbClr val="F0883E"/>
                </a:solidFill>
              </a:rPr>
              <a:t>Compute gradients</a:t>
            </a:r>
            <a:endParaRPr lang="en-US" sz="950" dirty="0"/>
          </a:p>
        </p:txBody>
      </p:sp>
      <p:sp>
        <p:nvSpPr>
          <p:cNvPr id="31" name="Shape 29"/>
          <p:cNvSpPr/>
          <p:nvPr/>
        </p:nvSpPr>
        <p:spPr>
          <a:xfrm>
            <a:off x="5678424" y="2423160"/>
            <a:ext cx="1371600" cy="0"/>
          </a:xfrm>
          <a:prstGeom prst="line">
            <a:avLst/>
          </a:prstGeom>
          <a:noFill/>
          <a:ln w="10160">
            <a:solidFill>
              <a:srgbClr val="21262D"/>
            </a:solidFill>
            <a:prstDash val="solid"/>
          </a:ln>
        </p:spPr>
        <p:txBody>
          <a:bodyPr/>
          <a:lstStyle/>
          <a:p>
            <a:endParaRPr lang="fr-FR"/>
          </a:p>
        </p:txBody>
      </p:sp>
      <p:sp>
        <p:nvSpPr>
          <p:cNvPr id="32" name="Text 30"/>
          <p:cNvSpPr/>
          <p:nvPr/>
        </p:nvSpPr>
        <p:spPr>
          <a:xfrm>
            <a:off x="5596128" y="2450592"/>
            <a:ext cx="1536192" cy="347472"/>
          </a:xfrm>
          <a:prstGeom prst="rect">
            <a:avLst/>
          </a:prstGeom>
          <a:noFill/>
          <a:ln/>
        </p:spPr>
        <p:txBody>
          <a:bodyPr wrap="square" lIns="0" tIns="0" rIns="0" bIns="0" rtlCol="0" anchor="ctr"/>
          <a:lstStyle/>
          <a:p>
            <a:pPr marL="0" indent="0" algn="ctr">
              <a:buNone/>
            </a:pPr>
            <a:r>
              <a:rPr lang="en-US" sz="850" dirty="0">
                <a:solidFill>
                  <a:srgbClr val="8B949E"/>
                </a:solidFill>
              </a:rPr>
              <a:t>∂MSE/∂w = 450</a:t>
            </a:r>
            <a:endParaRPr lang="en-US" sz="850" dirty="0"/>
          </a:p>
          <a:p>
            <a:pPr marL="0" indent="0" algn="ctr">
              <a:buNone/>
            </a:pPr>
            <a:r>
              <a:rPr lang="en-US" sz="850" dirty="0">
                <a:solidFill>
                  <a:srgbClr val="8B949E"/>
                </a:solidFill>
              </a:rPr>
              <a:t>∂MSE/∂b = 20</a:t>
            </a:r>
            <a:endParaRPr lang="en-US" sz="850" dirty="0"/>
          </a:p>
        </p:txBody>
      </p:sp>
      <p:sp>
        <p:nvSpPr>
          <p:cNvPr id="33" name="Shape 31"/>
          <p:cNvSpPr/>
          <p:nvPr/>
        </p:nvSpPr>
        <p:spPr>
          <a:xfrm>
            <a:off x="7187184" y="2359152"/>
            <a:ext cx="109728" cy="0"/>
          </a:xfrm>
          <a:prstGeom prst="line">
            <a:avLst/>
          </a:prstGeom>
          <a:noFill/>
          <a:ln w="25400">
            <a:solidFill>
              <a:srgbClr val="F0883E"/>
            </a:solidFill>
            <a:prstDash val="solid"/>
            <a:tailEnd type="arrow"/>
          </a:ln>
        </p:spPr>
        <p:txBody>
          <a:bodyPr/>
          <a:lstStyle/>
          <a:p>
            <a:endParaRPr lang="fr-FR"/>
          </a:p>
        </p:txBody>
      </p:sp>
      <p:sp>
        <p:nvSpPr>
          <p:cNvPr id="34" name="Shape 32"/>
          <p:cNvSpPr/>
          <p:nvPr/>
        </p:nvSpPr>
        <p:spPr>
          <a:xfrm>
            <a:off x="7799832" y="1170432"/>
            <a:ext cx="640080" cy="640080"/>
          </a:xfrm>
          <a:prstGeom prst="ellipse">
            <a:avLst/>
          </a:prstGeom>
          <a:solidFill>
            <a:srgbClr val="3FB950"/>
          </a:solidFill>
          <a:ln w="1270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35" name="Text 33"/>
          <p:cNvSpPr/>
          <p:nvPr/>
        </p:nvSpPr>
        <p:spPr>
          <a:xfrm>
            <a:off x="7799832" y="1170432"/>
            <a:ext cx="640080" cy="640080"/>
          </a:xfrm>
          <a:prstGeom prst="rect">
            <a:avLst/>
          </a:prstGeom>
          <a:noFill/>
          <a:ln/>
        </p:spPr>
        <p:txBody>
          <a:bodyPr wrap="square" lIns="0" tIns="0" rIns="0" bIns="0" rtlCol="0" anchor="ctr"/>
          <a:lstStyle/>
          <a:p>
            <a:pPr marL="0" indent="0" algn="ctr">
              <a:buNone/>
            </a:pPr>
            <a:r>
              <a:rPr lang="en-US" sz="1800" b="1" dirty="0">
                <a:solidFill>
                  <a:srgbClr val="F0F6FC"/>
                </a:solidFill>
              </a:rPr>
              <a:t>5</a:t>
            </a:r>
            <a:endParaRPr lang="en-US" sz="1800" dirty="0"/>
          </a:p>
        </p:txBody>
      </p:sp>
      <p:sp>
        <p:nvSpPr>
          <p:cNvPr id="36" name="Shape 34"/>
          <p:cNvSpPr/>
          <p:nvPr/>
        </p:nvSpPr>
        <p:spPr>
          <a:xfrm>
            <a:off x="7296912" y="1901952"/>
            <a:ext cx="1645920" cy="914400"/>
          </a:xfrm>
          <a:prstGeom prst="rect">
            <a:avLst/>
          </a:prstGeom>
          <a:solidFill>
            <a:srgbClr val="161B22"/>
          </a:solidFill>
          <a:ln w="1905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37" name="Text 35"/>
          <p:cNvSpPr/>
          <p:nvPr/>
        </p:nvSpPr>
        <p:spPr>
          <a:xfrm>
            <a:off x="7351776" y="1920240"/>
            <a:ext cx="1536192" cy="493776"/>
          </a:xfrm>
          <a:prstGeom prst="rect">
            <a:avLst/>
          </a:prstGeom>
          <a:noFill/>
          <a:ln/>
        </p:spPr>
        <p:txBody>
          <a:bodyPr wrap="square" lIns="0" tIns="0" rIns="0" bIns="0" rtlCol="0" anchor="ctr"/>
          <a:lstStyle/>
          <a:p>
            <a:pPr marL="0" indent="0" algn="ctr">
              <a:buNone/>
            </a:pPr>
            <a:r>
              <a:rPr lang="en-US" sz="950" b="1" dirty="0">
                <a:solidFill>
                  <a:srgbClr val="3FB950"/>
                </a:solidFill>
              </a:rPr>
              <a:t>Update Weights</a:t>
            </a:r>
            <a:endParaRPr lang="en-US" sz="950" dirty="0"/>
          </a:p>
          <a:p>
            <a:pPr marL="0" indent="0" algn="ctr">
              <a:buNone/>
            </a:pPr>
            <a:r>
              <a:rPr lang="en-US" sz="950" b="1" dirty="0">
                <a:solidFill>
                  <a:srgbClr val="3FB950"/>
                </a:solidFill>
              </a:rPr>
              <a:t>w ← w − α·grad</a:t>
            </a:r>
            <a:endParaRPr lang="en-US" sz="950" dirty="0"/>
          </a:p>
        </p:txBody>
      </p:sp>
      <p:sp>
        <p:nvSpPr>
          <p:cNvPr id="38" name="Shape 36"/>
          <p:cNvSpPr/>
          <p:nvPr/>
        </p:nvSpPr>
        <p:spPr>
          <a:xfrm>
            <a:off x="7434072" y="2423160"/>
            <a:ext cx="1371600" cy="0"/>
          </a:xfrm>
          <a:prstGeom prst="line">
            <a:avLst/>
          </a:prstGeom>
          <a:noFill/>
          <a:ln w="10160">
            <a:solidFill>
              <a:srgbClr val="21262D"/>
            </a:solidFill>
            <a:prstDash val="solid"/>
          </a:ln>
        </p:spPr>
        <p:txBody>
          <a:bodyPr/>
          <a:lstStyle/>
          <a:p>
            <a:endParaRPr lang="fr-FR"/>
          </a:p>
        </p:txBody>
      </p:sp>
      <p:sp>
        <p:nvSpPr>
          <p:cNvPr id="39" name="Text 37"/>
          <p:cNvSpPr/>
          <p:nvPr/>
        </p:nvSpPr>
        <p:spPr>
          <a:xfrm>
            <a:off x="7351776" y="2450592"/>
            <a:ext cx="1536192" cy="347472"/>
          </a:xfrm>
          <a:prstGeom prst="rect">
            <a:avLst/>
          </a:prstGeom>
          <a:noFill/>
          <a:ln/>
        </p:spPr>
        <p:txBody>
          <a:bodyPr wrap="square" lIns="0" tIns="0" rIns="0" bIns="0" rtlCol="0" anchor="ctr"/>
          <a:lstStyle/>
          <a:p>
            <a:pPr marL="0" indent="0" algn="ctr">
              <a:buNone/>
            </a:pPr>
            <a:r>
              <a:rPr lang="en-US" sz="850" dirty="0">
                <a:solidFill>
                  <a:srgbClr val="8B949E"/>
                </a:solidFill>
              </a:rPr>
              <a:t>w = 2.955</a:t>
            </a:r>
            <a:endParaRPr lang="en-US" sz="850" dirty="0"/>
          </a:p>
          <a:p>
            <a:pPr marL="0" indent="0" algn="ctr">
              <a:buNone/>
            </a:pPr>
            <a:r>
              <a:rPr lang="en-US" sz="850" dirty="0">
                <a:solidFill>
                  <a:srgbClr val="8B949E"/>
                </a:solidFill>
              </a:rPr>
              <a:t>b = 9.998</a:t>
            </a:r>
            <a:endParaRPr lang="en-US" sz="850" dirty="0"/>
          </a:p>
        </p:txBody>
      </p:sp>
      <p:sp>
        <p:nvSpPr>
          <p:cNvPr id="40" name="Shape 38"/>
          <p:cNvSpPr/>
          <p:nvPr/>
        </p:nvSpPr>
        <p:spPr>
          <a:xfrm>
            <a:off x="347472" y="2971800"/>
            <a:ext cx="8321040" cy="0"/>
          </a:xfrm>
          <a:prstGeom prst="line">
            <a:avLst/>
          </a:prstGeom>
          <a:noFill/>
          <a:ln w="12700">
            <a:solidFill>
              <a:srgbClr val="21262D"/>
            </a:solidFill>
            <a:prstDash val="dash"/>
          </a:ln>
        </p:spPr>
        <p:txBody>
          <a:bodyPr/>
          <a:lstStyle/>
          <a:p>
            <a:endParaRPr lang="fr-FR"/>
          </a:p>
        </p:txBody>
      </p:sp>
      <p:sp>
        <p:nvSpPr>
          <p:cNvPr id="41" name="Shape 39"/>
          <p:cNvSpPr/>
          <p:nvPr/>
        </p:nvSpPr>
        <p:spPr>
          <a:xfrm>
            <a:off x="8641080" y="2816352"/>
            <a:ext cx="0" cy="155448"/>
          </a:xfrm>
          <a:prstGeom prst="line">
            <a:avLst/>
          </a:prstGeom>
          <a:noFill/>
          <a:ln w="25400">
            <a:solidFill>
              <a:srgbClr val="3FB950"/>
            </a:solidFill>
            <a:prstDash val="solid"/>
          </a:ln>
        </p:spPr>
        <p:txBody>
          <a:bodyPr/>
          <a:lstStyle/>
          <a:p>
            <a:endParaRPr lang="fr-FR"/>
          </a:p>
        </p:txBody>
      </p:sp>
      <p:sp>
        <p:nvSpPr>
          <p:cNvPr id="42" name="Shape 40"/>
          <p:cNvSpPr/>
          <p:nvPr/>
        </p:nvSpPr>
        <p:spPr>
          <a:xfrm>
            <a:off x="347472" y="2971800"/>
            <a:ext cx="8293608" cy="0"/>
          </a:xfrm>
          <a:prstGeom prst="line">
            <a:avLst/>
          </a:prstGeom>
          <a:noFill/>
          <a:ln w="19050">
            <a:solidFill>
              <a:srgbClr val="3FB950"/>
            </a:solidFill>
            <a:prstDash val="solid"/>
          </a:ln>
        </p:spPr>
        <p:txBody>
          <a:bodyPr/>
          <a:lstStyle/>
          <a:p>
            <a:endParaRPr lang="fr-FR"/>
          </a:p>
        </p:txBody>
      </p:sp>
      <p:sp>
        <p:nvSpPr>
          <p:cNvPr id="43" name="Shape 41"/>
          <p:cNvSpPr/>
          <p:nvPr/>
        </p:nvSpPr>
        <p:spPr>
          <a:xfrm>
            <a:off x="347472" y="2971800"/>
            <a:ext cx="0" cy="0"/>
          </a:xfrm>
          <a:prstGeom prst="line">
            <a:avLst/>
          </a:prstGeom>
          <a:noFill/>
          <a:ln w="25400">
            <a:solidFill>
              <a:srgbClr val="3FB950"/>
            </a:solidFill>
            <a:prstDash val="solid"/>
          </a:ln>
        </p:spPr>
        <p:txBody>
          <a:bodyPr/>
          <a:lstStyle/>
          <a:p>
            <a:endParaRPr lang="fr-FR"/>
          </a:p>
        </p:txBody>
      </p:sp>
      <p:sp>
        <p:nvSpPr>
          <p:cNvPr id="44" name="Text 42"/>
          <p:cNvSpPr/>
          <p:nvPr/>
        </p:nvSpPr>
        <p:spPr>
          <a:xfrm>
            <a:off x="2743200" y="3017520"/>
            <a:ext cx="4114800" cy="256032"/>
          </a:xfrm>
          <a:prstGeom prst="rect">
            <a:avLst/>
          </a:prstGeom>
          <a:noFill/>
          <a:ln/>
        </p:spPr>
        <p:txBody>
          <a:bodyPr wrap="square" lIns="0" tIns="0" rIns="0" bIns="0" rtlCol="0" anchor="ctr"/>
          <a:lstStyle/>
          <a:p>
            <a:pPr marL="0" indent="0" algn="ctr">
              <a:buNone/>
            </a:pPr>
            <a:r>
              <a:rPr lang="en-US" sz="950" i="1" dirty="0">
                <a:solidFill>
                  <a:srgbClr val="3FB950"/>
                </a:solidFill>
              </a:rPr>
              <a:t>← Repeat until MSE is small enough  (convergence)</a:t>
            </a:r>
            <a:endParaRPr lang="en-US" sz="950" dirty="0"/>
          </a:p>
        </p:txBody>
      </p:sp>
      <p:sp>
        <p:nvSpPr>
          <p:cNvPr id="45" name="Shape 43"/>
          <p:cNvSpPr/>
          <p:nvPr/>
        </p:nvSpPr>
        <p:spPr>
          <a:xfrm>
            <a:off x="320040" y="3364992"/>
            <a:ext cx="8503920" cy="1572768"/>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46" name="Text 44"/>
          <p:cNvSpPr/>
          <p:nvPr/>
        </p:nvSpPr>
        <p:spPr>
          <a:xfrm>
            <a:off x="457200" y="3410712"/>
            <a:ext cx="8229600" cy="256032"/>
          </a:xfrm>
          <a:prstGeom prst="rect">
            <a:avLst/>
          </a:prstGeom>
          <a:noFill/>
          <a:ln/>
        </p:spPr>
        <p:txBody>
          <a:bodyPr wrap="square" lIns="0" tIns="0" rIns="0" bIns="0" rtlCol="0" anchor="ctr"/>
          <a:lstStyle/>
          <a:p>
            <a:pPr marL="0" indent="0">
              <a:buNone/>
            </a:pPr>
            <a:r>
              <a:rPr lang="en-US" sz="1000" dirty="0">
                <a:solidFill>
                  <a:srgbClr val="8B949E"/>
                </a:solidFill>
              </a:rPr>
              <a:t>How w, b and MSE evolve over training iterations:</a:t>
            </a:r>
            <a:endParaRPr lang="en-US" sz="1000" dirty="0"/>
          </a:p>
        </p:txBody>
      </p:sp>
      <p:sp>
        <p:nvSpPr>
          <p:cNvPr id="47" name="Text 45"/>
          <p:cNvSpPr/>
          <p:nvPr/>
        </p:nvSpPr>
        <p:spPr>
          <a:xfrm>
            <a:off x="457200" y="3749040"/>
            <a:ext cx="1188720" cy="256032"/>
          </a:xfrm>
          <a:prstGeom prst="rect">
            <a:avLst/>
          </a:prstGeom>
          <a:noFill/>
          <a:ln/>
        </p:spPr>
        <p:txBody>
          <a:bodyPr wrap="square" lIns="0" tIns="0" rIns="0" bIns="0" rtlCol="0" anchor="ctr"/>
          <a:lstStyle/>
          <a:p>
            <a:pPr marL="0" indent="0">
              <a:buNone/>
            </a:pPr>
            <a:r>
              <a:rPr lang="en-US" sz="900" b="1" dirty="0">
                <a:solidFill>
                  <a:srgbClr val="8B949E"/>
                </a:solidFill>
              </a:rPr>
              <a:t>Iteration</a:t>
            </a:r>
            <a:endParaRPr lang="en-US" sz="900" dirty="0"/>
          </a:p>
        </p:txBody>
      </p:sp>
      <p:sp>
        <p:nvSpPr>
          <p:cNvPr id="48" name="Text 46"/>
          <p:cNvSpPr/>
          <p:nvPr/>
        </p:nvSpPr>
        <p:spPr>
          <a:xfrm>
            <a:off x="2103120" y="3749040"/>
            <a:ext cx="1188720" cy="256032"/>
          </a:xfrm>
          <a:prstGeom prst="rect">
            <a:avLst/>
          </a:prstGeom>
          <a:noFill/>
          <a:ln/>
        </p:spPr>
        <p:txBody>
          <a:bodyPr wrap="square" lIns="0" tIns="0" rIns="0" bIns="0" rtlCol="0" anchor="ctr"/>
          <a:lstStyle/>
          <a:p>
            <a:pPr marL="0" indent="0">
              <a:buNone/>
            </a:pPr>
            <a:r>
              <a:rPr lang="en-US" sz="900" b="1" dirty="0">
                <a:solidFill>
                  <a:srgbClr val="8B949E"/>
                </a:solidFill>
              </a:rPr>
              <a:t>w</a:t>
            </a:r>
            <a:endParaRPr lang="en-US" sz="900" dirty="0"/>
          </a:p>
        </p:txBody>
      </p:sp>
      <p:sp>
        <p:nvSpPr>
          <p:cNvPr id="49" name="Text 47"/>
          <p:cNvSpPr/>
          <p:nvPr/>
        </p:nvSpPr>
        <p:spPr>
          <a:xfrm>
            <a:off x="3474720" y="3749040"/>
            <a:ext cx="1188720" cy="256032"/>
          </a:xfrm>
          <a:prstGeom prst="rect">
            <a:avLst/>
          </a:prstGeom>
          <a:noFill/>
          <a:ln/>
        </p:spPr>
        <p:txBody>
          <a:bodyPr wrap="square" lIns="0" tIns="0" rIns="0" bIns="0" rtlCol="0" anchor="ctr"/>
          <a:lstStyle/>
          <a:p>
            <a:pPr marL="0" indent="0">
              <a:buNone/>
            </a:pPr>
            <a:r>
              <a:rPr lang="en-US" sz="900" b="1" dirty="0">
                <a:solidFill>
                  <a:srgbClr val="8B949E"/>
                </a:solidFill>
              </a:rPr>
              <a:t>b</a:t>
            </a:r>
            <a:endParaRPr lang="en-US" sz="900" dirty="0"/>
          </a:p>
        </p:txBody>
      </p:sp>
      <p:sp>
        <p:nvSpPr>
          <p:cNvPr id="50" name="Text 48"/>
          <p:cNvSpPr/>
          <p:nvPr/>
        </p:nvSpPr>
        <p:spPr>
          <a:xfrm>
            <a:off x="4846320" y="3749040"/>
            <a:ext cx="1188720" cy="256032"/>
          </a:xfrm>
          <a:prstGeom prst="rect">
            <a:avLst/>
          </a:prstGeom>
          <a:noFill/>
          <a:ln/>
        </p:spPr>
        <p:txBody>
          <a:bodyPr wrap="square" lIns="0" tIns="0" rIns="0" bIns="0" rtlCol="0" anchor="ctr"/>
          <a:lstStyle/>
          <a:p>
            <a:pPr marL="0" indent="0">
              <a:buNone/>
            </a:pPr>
            <a:r>
              <a:rPr lang="en-US" sz="900" b="1" dirty="0">
                <a:solidFill>
                  <a:srgbClr val="8B949E"/>
                </a:solidFill>
              </a:rPr>
              <a:t>MSE</a:t>
            </a:r>
            <a:endParaRPr lang="en-US" sz="900" dirty="0"/>
          </a:p>
        </p:txBody>
      </p:sp>
      <p:sp>
        <p:nvSpPr>
          <p:cNvPr id="51" name="Text 49"/>
          <p:cNvSpPr/>
          <p:nvPr/>
        </p:nvSpPr>
        <p:spPr>
          <a:xfrm>
            <a:off x="6035040" y="3749040"/>
            <a:ext cx="1188720" cy="256032"/>
          </a:xfrm>
          <a:prstGeom prst="rect">
            <a:avLst/>
          </a:prstGeom>
          <a:noFill/>
          <a:ln/>
        </p:spPr>
        <p:txBody>
          <a:bodyPr wrap="square" lIns="0" tIns="0" rIns="0" bIns="0" rtlCol="0" anchor="ctr"/>
          <a:lstStyle/>
          <a:p>
            <a:pPr marL="0" indent="0">
              <a:buNone/>
            </a:pPr>
            <a:r>
              <a:rPr lang="en-US" sz="900" b="1" dirty="0">
                <a:solidFill>
                  <a:srgbClr val="8B949E"/>
                </a:solidFill>
              </a:rPr>
              <a:t>Direction</a:t>
            </a:r>
            <a:endParaRPr lang="en-US" sz="900" dirty="0"/>
          </a:p>
        </p:txBody>
      </p:sp>
      <p:sp>
        <p:nvSpPr>
          <p:cNvPr id="52" name="Shape 50"/>
          <p:cNvSpPr/>
          <p:nvPr/>
        </p:nvSpPr>
        <p:spPr>
          <a:xfrm>
            <a:off x="384048" y="4069080"/>
            <a:ext cx="8366760" cy="265176"/>
          </a:xfrm>
          <a:prstGeom prst="rect">
            <a:avLst/>
          </a:prstGeom>
          <a:solidFill>
            <a:srgbClr val="21262D"/>
          </a:solidFill>
          <a:ln w="12700">
            <a:solidFill>
              <a:srgbClr val="21262D"/>
            </a:solidFill>
            <a:prstDash val="solid"/>
          </a:ln>
        </p:spPr>
        <p:txBody>
          <a:bodyPr/>
          <a:lstStyle/>
          <a:p>
            <a:endParaRPr lang="fr-FR"/>
          </a:p>
        </p:txBody>
      </p:sp>
      <p:sp>
        <p:nvSpPr>
          <p:cNvPr id="53" name="Text 51"/>
          <p:cNvSpPr/>
          <p:nvPr/>
        </p:nvSpPr>
        <p:spPr>
          <a:xfrm>
            <a:off x="457200" y="4069080"/>
            <a:ext cx="1554480" cy="265176"/>
          </a:xfrm>
          <a:prstGeom prst="rect">
            <a:avLst/>
          </a:prstGeom>
          <a:noFill/>
          <a:ln/>
        </p:spPr>
        <p:txBody>
          <a:bodyPr wrap="square" lIns="0" tIns="0" rIns="0" bIns="0" rtlCol="0" anchor="ctr"/>
          <a:lstStyle/>
          <a:p>
            <a:pPr marL="0" indent="0">
              <a:buNone/>
            </a:pPr>
            <a:r>
              <a:rPr lang="en-US" sz="900" dirty="0">
                <a:solidFill>
                  <a:srgbClr val="F0F6FC"/>
                </a:solidFill>
              </a:rPr>
              <a:t>Start</a:t>
            </a:r>
            <a:endParaRPr lang="en-US" sz="900" dirty="0"/>
          </a:p>
        </p:txBody>
      </p:sp>
      <p:sp>
        <p:nvSpPr>
          <p:cNvPr id="54" name="Text 52"/>
          <p:cNvSpPr/>
          <p:nvPr/>
        </p:nvSpPr>
        <p:spPr>
          <a:xfrm>
            <a:off x="2103120" y="4069080"/>
            <a:ext cx="1188720" cy="265176"/>
          </a:xfrm>
          <a:prstGeom prst="rect">
            <a:avLst/>
          </a:prstGeom>
          <a:noFill/>
          <a:ln/>
        </p:spPr>
        <p:txBody>
          <a:bodyPr wrap="square" lIns="0" tIns="0" rIns="0" bIns="0" rtlCol="0" anchor="ctr"/>
          <a:lstStyle/>
          <a:p>
            <a:pPr marL="0" indent="0">
              <a:buNone/>
            </a:pPr>
            <a:r>
              <a:rPr lang="en-US" sz="900" dirty="0">
                <a:solidFill>
                  <a:srgbClr val="F0883E"/>
                </a:solidFill>
              </a:rPr>
              <a:t>3.000</a:t>
            </a:r>
            <a:endParaRPr lang="en-US" sz="900" dirty="0"/>
          </a:p>
        </p:txBody>
      </p:sp>
      <p:sp>
        <p:nvSpPr>
          <p:cNvPr id="55" name="Text 53"/>
          <p:cNvSpPr/>
          <p:nvPr/>
        </p:nvSpPr>
        <p:spPr>
          <a:xfrm>
            <a:off x="3474720" y="4069080"/>
            <a:ext cx="1188720" cy="265176"/>
          </a:xfrm>
          <a:prstGeom prst="rect">
            <a:avLst/>
          </a:prstGeom>
          <a:noFill/>
          <a:ln/>
        </p:spPr>
        <p:txBody>
          <a:bodyPr wrap="square" lIns="0" tIns="0" rIns="0" bIns="0" rtlCol="0" anchor="ctr"/>
          <a:lstStyle/>
          <a:p>
            <a:pPr marL="0" indent="0">
              <a:buNone/>
            </a:pPr>
            <a:r>
              <a:rPr lang="en-US" sz="900" dirty="0">
                <a:solidFill>
                  <a:srgbClr val="E3B341"/>
                </a:solidFill>
              </a:rPr>
              <a:t>10.000</a:t>
            </a:r>
            <a:endParaRPr lang="en-US" sz="900" dirty="0"/>
          </a:p>
        </p:txBody>
      </p:sp>
      <p:sp>
        <p:nvSpPr>
          <p:cNvPr id="56" name="Text 54"/>
          <p:cNvSpPr/>
          <p:nvPr/>
        </p:nvSpPr>
        <p:spPr>
          <a:xfrm>
            <a:off x="4846320" y="4069080"/>
            <a:ext cx="1005840" cy="265176"/>
          </a:xfrm>
          <a:prstGeom prst="rect">
            <a:avLst/>
          </a:prstGeom>
          <a:noFill/>
          <a:ln/>
        </p:spPr>
        <p:txBody>
          <a:bodyPr wrap="square" lIns="0" tIns="0" rIns="0" bIns="0" rtlCol="0" anchor="ctr"/>
          <a:lstStyle/>
          <a:p>
            <a:pPr marL="0" indent="0">
              <a:buNone/>
            </a:pPr>
            <a:r>
              <a:rPr lang="en-US" sz="900" dirty="0">
                <a:solidFill>
                  <a:srgbClr val="FF7B72"/>
                </a:solidFill>
              </a:rPr>
              <a:t>150.0</a:t>
            </a:r>
            <a:endParaRPr lang="en-US" sz="900" dirty="0"/>
          </a:p>
        </p:txBody>
      </p:sp>
      <p:sp>
        <p:nvSpPr>
          <p:cNvPr id="57" name="Text 55"/>
          <p:cNvSpPr/>
          <p:nvPr/>
        </p:nvSpPr>
        <p:spPr>
          <a:xfrm>
            <a:off x="6035040" y="4069080"/>
            <a:ext cx="2651760" cy="265176"/>
          </a:xfrm>
          <a:prstGeom prst="rect">
            <a:avLst/>
          </a:prstGeom>
          <a:noFill/>
          <a:ln/>
        </p:spPr>
        <p:txBody>
          <a:bodyPr wrap="square" lIns="0" tIns="0" rIns="0" bIns="0" rtlCol="0" anchor="ctr"/>
          <a:lstStyle/>
          <a:p>
            <a:pPr marL="0" indent="0">
              <a:buNone/>
            </a:pPr>
            <a:r>
              <a:rPr lang="en-US" sz="900" dirty="0">
                <a:solidFill>
                  <a:srgbClr val="8B949E"/>
                </a:solidFill>
              </a:rPr>
              <a:t>initialise</a:t>
            </a:r>
            <a:endParaRPr lang="en-US" sz="900" dirty="0"/>
          </a:p>
        </p:txBody>
      </p:sp>
      <p:sp>
        <p:nvSpPr>
          <p:cNvPr id="58" name="Shape 56"/>
          <p:cNvSpPr/>
          <p:nvPr/>
        </p:nvSpPr>
        <p:spPr>
          <a:xfrm>
            <a:off x="384048" y="4352544"/>
            <a:ext cx="8366760" cy="265176"/>
          </a:xfrm>
          <a:prstGeom prst="rect">
            <a:avLst/>
          </a:prstGeom>
          <a:solidFill>
            <a:srgbClr val="161B22"/>
          </a:solidFill>
          <a:ln w="12700">
            <a:solidFill>
              <a:srgbClr val="161B22"/>
            </a:solidFill>
            <a:prstDash val="solid"/>
          </a:ln>
        </p:spPr>
        <p:txBody>
          <a:bodyPr/>
          <a:lstStyle/>
          <a:p>
            <a:endParaRPr lang="fr-FR"/>
          </a:p>
        </p:txBody>
      </p:sp>
      <p:sp>
        <p:nvSpPr>
          <p:cNvPr id="59" name="Text 57"/>
          <p:cNvSpPr/>
          <p:nvPr/>
        </p:nvSpPr>
        <p:spPr>
          <a:xfrm>
            <a:off x="457200" y="4352544"/>
            <a:ext cx="1554480" cy="265176"/>
          </a:xfrm>
          <a:prstGeom prst="rect">
            <a:avLst/>
          </a:prstGeom>
          <a:noFill/>
          <a:ln/>
        </p:spPr>
        <p:txBody>
          <a:bodyPr wrap="square" lIns="0" tIns="0" rIns="0" bIns="0" rtlCol="0" anchor="ctr"/>
          <a:lstStyle/>
          <a:p>
            <a:pPr marL="0" indent="0">
              <a:buNone/>
            </a:pPr>
            <a:r>
              <a:rPr lang="en-US" sz="900" dirty="0">
                <a:solidFill>
                  <a:srgbClr val="F0F6FC"/>
                </a:solidFill>
              </a:rPr>
              <a:t>Step 1</a:t>
            </a:r>
            <a:endParaRPr lang="en-US" sz="900" dirty="0"/>
          </a:p>
        </p:txBody>
      </p:sp>
      <p:sp>
        <p:nvSpPr>
          <p:cNvPr id="60" name="Text 58"/>
          <p:cNvSpPr/>
          <p:nvPr/>
        </p:nvSpPr>
        <p:spPr>
          <a:xfrm>
            <a:off x="2103120" y="4352544"/>
            <a:ext cx="1188720" cy="265176"/>
          </a:xfrm>
          <a:prstGeom prst="rect">
            <a:avLst/>
          </a:prstGeom>
          <a:noFill/>
          <a:ln/>
        </p:spPr>
        <p:txBody>
          <a:bodyPr wrap="square" lIns="0" tIns="0" rIns="0" bIns="0" rtlCol="0" anchor="ctr"/>
          <a:lstStyle/>
          <a:p>
            <a:pPr marL="0" indent="0">
              <a:buNone/>
            </a:pPr>
            <a:r>
              <a:rPr lang="en-US" sz="900" dirty="0">
                <a:solidFill>
                  <a:srgbClr val="F0883E"/>
                </a:solidFill>
              </a:rPr>
              <a:t>2.955</a:t>
            </a:r>
            <a:endParaRPr lang="en-US" sz="900" dirty="0"/>
          </a:p>
        </p:txBody>
      </p:sp>
      <p:sp>
        <p:nvSpPr>
          <p:cNvPr id="61" name="Text 59"/>
          <p:cNvSpPr/>
          <p:nvPr/>
        </p:nvSpPr>
        <p:spPr>
          <a:xfrm>
            <a:off x="3474720" y="4352544"/>
            <a:ext cx="1188720" cy="265176"/>
          </a:xfrm>
          <a:prstGeom prst="rect">
            <a:avLst/>
          </a:prstGeom>
          <a:noFill/>
          <a:ln/>
        </p:spPr>
        <p:txBody>
          <a:bodyPr wrap="square" lIns="0" tIns="0" rIns="0" bIns="0" rtlCol="0" anchor="ctr"/>
          <a:lstStyle/>
          <a:p>
            <a:pPr marL="0" indent="0">
              <a:buNone/>
            </a:pPr>
            <a:r>
              <a:rPr lang="en-US" sz="900" dirty="0">
                <a:solidFill>
                  <a:srgbClr val="E3B341"/>
                </a:solidFill>
              </a:rPr>
              <a:t>9.998</a:t>
            </a:r>
            <a:endParaRPr lang="en-US" sz="900" dirty="0"/>
          </a:p>
        </p:txBody>
      </p:sp>
      <p:sp>
        <p:nvSpPr>
          <p:cNvPr id="62" name="Text 60"/>
          <p:cNvSpPr/>
          <p:nvPr/>
        </p:nvSpPr>
        <p:spPr>
          <a:xfrm>
            <a:off x="4846320" y="4352544"/>
            <a:ext cx="1005840" cy="265176"/>
          </a:xfrm>
          <a:prstGeom prst="rect">
            <a:avLst/>
          </a:prstGeom>
          <a:noFill/>
          <a:ln/>
        </p:spPr>
        <p:txBody>
          <a:bodyPr wrap="square" lIns="0" tIns="0" rIns="0" bIns="0" rtlCol="0" anchor="ctr"/>
          <a:lstStyle/>
          <a:p>
            <a:pPr marL="0" indent="0">
              <a:buNone/>
            </a:pPr>
            <a:r>
              <a:rPr lang="en-US" sz="900" dirty="0">
                <a:solidFill>
                  <a:srgbClr val="FF7B72"/>
                </a:solidFill>
              </a:rPr>
              <a:t>142.3</a:t>
            </a:r>
            <a:endParaRPr lang="en-US" sz="900" dirty="0"/>
          </a:p>
        </p:txBody>
      </p:sp>
      <p:sp>
        <p:nvSpPr>
          <p:cNvPr id="63" name="Text 61"/>
          <p:cNvSpPr/>
          <p:nvPr/>
        </p:nvSpPr>
        <p:spPr>
          <a:xfrm>
            <a:off x="6035040" y="4352544"/>
            <a:ext cx="2651760" cy="265176"/>
          </a:xfrm>
          <a:prstGeom prst="rect">
            <a:avLst/>
          </a:prstGeom>
          <a:noFill/>
          <a:ln/>
        </p:spPr>
        <p:txBody>
          <a:bodyPr wrap="square" lIns="0" tIns="0" rIns="0" bIns="0" rtlCol="0" anchor="ctr"/>
          <a:lstStyle/>
          <a:p>
            <a:pPr marL="0" indent="0">
              <a:buNone/>
            </a:pPr>
            <a:r>
              <a:rPr lang="en-US" sz="900" dirty="0">
                <a:solidFill>
                  <a:srgbClr val="3FB950"/>
                </a:solidFill>
              </a:rPr>
              <a:t>↓ improving</a:t>
            </a:r>
            <a:endParaRPr lang="en-US" sz="900" dirty="0"/>
          </a:p>
        </p:txBody>
      </p:sp>
      <p:sp>
        <p:nvSpPr>
          <p:cNvPr id="64" name="Shape 62"/>
          <p:cNvSpPr/>
          <p:nvPr/>
        </p:nvSpPr>
        <p:spPr>
          <a:xfrm>
            <a:off x="384048" y="4636008"/>
            <a:ext cx="8366760" cy="265176"/>
          </a:xfrm>
          <a:prstGeom prst="rect">
            <a:avLst/>
          </a:prstGeom>
          <a:solidFill>
            <a:srgbClr val="21262D"/>
          </a:solidFill>
          <a:ln w="12700">
            <a:solidFill>
              <a:srgbClr val="21262D"/>
            </a:solidFill>
            <a:prstDash val="solid"/>
          </a:ln>
        </p:spPr>
        <p:txBody>
          <a:bodyPr/>
          <a:lstStyle/>
          <a:p>
            <a:endParaRPr lang="fr-FR"/>
          </a:p>
        </p:txBody>
      </p:sp>
      <p:sp>
        <p:nvSpPr>
          <p:cNvPr id="65" name="Text 63"/>
          <p:cNvSpPr/>
          <p:nvPr/>
        </p:nvSpPr>
        <p:spPr>
          <a:xfrm>
            <a:off x="457200" y="4636008"/>
            <a:ext cx="1554480" cy="265176"/>
          </a:xfrm>
          <a:prstGeom prst="rect">
            <a:avLst/>
          </a:prstGeom>
          <a:noFill/>
          <a:ln/>
        </p:spPr>
        <p:txBody>
          <a:bodyPr wrap="square" lIns="0" tIns="0" rIns="0" bIns="0" rtlCol="0" anchor="ctr"/>
          <a:lstStyle/>
          <a:p>
            <a:pPr marL="0" indent="0">
              <a:buNone/>
            </a:pPr>
            <a:r>
              <a:rPr lang="en-US" sz="900" dirty="0">
                <a:solidFill>
                  <a:srgbClr val="F0F6FC"/>
                </a:solidFill>
              </a:rPr>
              <a:t>Step 10</a:t>
            </a:r>
            <a:endParaRPr lang="en-US" sz="900" dirty="0"/>
          </a:p>
        </p:txBody>
      </p:sp>
      <p:sp>
        <p:nvSpPr>
          <p:cNvPr id="66" name="Text 64"/>
          <p:cNvSpPr/>
          <p:nvPr/>
        </p:nvSpPr>
        <p:spPr>
          <a:xfrm>
            <a:off x="2103120" y="4636008"/>
            <a:ext cx="1188720" cy="265176"/>
          </a:xfrm>
          <a:prstGeom prst="rect">
            <a:avLst/>
          </a:prstGeom>
          <a:noFill/>
          <a:ln/>
        </p:spPr>
        <p:txBody>
          <a:bodyPr wrap="square" lIns="0" tIns="0" rIns="0" bIns="0" rtlCol="0" anchor="ctr"/>
          <a:lstStyle/>
          <a:p>
            <a:pPr marL="0" indent="0">
              <a:buNone/>
            </a:pPr>
            <a:r>
              <a:rPr lang="en-US" sz="900" dirty="0">
                <a:solidFill>
                  <a:srgbClr val="F0883E"/>
                </a:solidFill>
              </a:rPr>
              <a:t>2.66</a:t>
            </a:r>
            <a:endParaRPr lang="en-US" sz="900" dirty="0"/>
          </a:p>
        </p:txBody>
      </p:sp>
      <p:sp>
        <p:nvSpPr>
          <p:cNvPr id="67" name="Text 65"/>
          <p:cNvSpPr/>
          <p:nvPr/>
        </p:nvSpPr>
        <p:spPr>
          <a:xfrm>
            <a:off x="3474720" y="4636008"/>
            <a:ext cx="1188720" cy="265176"/>
          </a:xfrm>
          <a:prstGeom prst="rect">
            <a:avLst/>
          </a:prstGeom>
          <a:noFill/>
          <a:ln/>
        </p:spPr>
        <p:txBody>
          <a:bodyPr wrap="square" lIns="0" tIns="0" rIns="0" bIns="0" rtlCol="0" anchor="ctr"/>
          <a:lstStyle/>
          <a:p>
            <a:pPr marL="0" indent="0">
              <a:buNone/>
            </a:pPr>
            <a:r>
              <a:rPr lang="en-US" sz="900" dirty="0">
                <a:solidFill>
                  <a:srgbClr val="E3B341"/>
                </a:solidFill>
              </a:rPr>
              <a:t>9.982</a:t>
            </a:r>
            <a:endParaRPr lang="en-US" sz="900" dirty="0"/>
          </a:p>
        </p:txBody>
      </p:sp>
      <p:sp>
        <p:nvSpPr>
          <p:cNvPr id="68" name="Text 66"/>
          <p:cNvSpPr/>
          <p:nvPr/>
        </p:nvSpPr>
        <p:spPr>
          <a:xfrm>
            <a:off x="4846320" y="4636008"/>
            <a:ext cx="1005840" cy="265176"/>
          </a:xfrm>
          <a:prstGeom prst="rect">
            <a:avLst/>
          </a:prstGeom>
          <a:noFill/>
          <a:ln/>
        </p:spPr>
        <p:txBody>
          <a:bodyPr wrap="square" lIns="0" tIns="0" rIns="0" bIns="0" rtlCol="0" anchor="ctr"/>
          <a:lstStyle/>
          <a:p>
            <a:pPr marL="0" indent="0">
              <a:buNone/>
            </a:pPr>
            <a:r>
              <a:rPr lang="en-US" sz="900" dirty="0">
                <a:solidFill>
                  <a:srgbClr val="FF7B72"/>
                </a:solidFill>
              </a:rPr>
              <a:t>89.4</a:t>
            </a:r>
            <a:endParaRPr lang="en-US" sz="900" dirty="0"/>
          </a:p>
        </p:txBody>
      </p:sp>
      <p:sp>
        <p:nvSpPr>
          <p:cNvPr id="69" name="Text 67"/>
          <p:cNvSpPr/>
          <p:nvPr/>
        </p:nvSpPr>
        <p:spPr>
          <a:xfrm>
            <a:off x="6035040" y="4636008"/>
            <a:ext cx="2651760" cy="265176"/>
          </a:xfrm>
          <a:prstGeom prst="rect">
            <a:avLst/>
          </a:prstGeom>
          <a:noFill/>
          <a:ln/>
        </p:spPr>
        <p:txBody>
          <a:bodyPr wrap="square" lIns="0" tIns="0" rIns="0" bIns="0" rtlCol="0" anchor="ctr"/>
          <a:lstStyle/>
          <a:p>
            <a:pPr marL="0" indent="0">
              <a:buNone/>
            </a:pPr>
            <a:r>
              <a:rPr lang="en-US" sz="900" dirty="0">
                <a:solidFill>
                  <a:srgbClr val="3FB950"/>
                </a:solidFill>
              </a:rPr>
              <a:t>↓ improving</a:t>
            </a:r>
            <a:endParaRPr lang="en-US" sz="900" dirty="0"/>
          </a:p>
        </p:txBody>
      </p:sp>
      <p:sp>
        <p:nvSpPr>
          <p:cNvPr id="70" name="Shape 68"/>
          <p:cNvSpPr/>
          <p:nvPr/>
        </p:nvSpPr>
        <p:spPr>
          <a:xfrm>
            <a:off x="384048" y="4919472"/>
            <a:ext cx="8366760" cy="265176"/>
          </a:xfrm>
          <a:prstGeom prst="rect">
            <a:avLst/>
          </a:prstGeom>
          <a:solidFill>
            <a:srgbClr val="161B22"/>
          </a:solidFill>
          <a:ln w="12700">
            <a:solidFill>
              <a:srgbClr val="161B22"/>
            </a:solidFill>
            <a:prstDash val="solid"/>
          </a:ln>
        </p:spPr>
        <p:txBody>
          <a:bodyPr/>
          <a:lstStyle/>
          <a:p>
            <a:endParaRPr lang="fr-FR"/>
          </a:p>
        </p:txBody>
      </p:sp>
      <p:sp>
        <p:nvSpPr>
          <p:cNvPr id="71" name="Text 69"/>
          <p:cNvSpPr/>
          <p:nvPr/>
        </p:nvSpPr>
        <p:spPr>
          <a:xfrm>
            <a:off x="457200" y="4919472"/>
            <a:ext cx="1554480" cy="265176"/>
          </a:xfrm>
          <a:prstGeom prst="rect">
            <a:avLst/>
          </a:prstGeom>
          <a:noFill/>
          <a:ln/>
        </p:spPr>
        <p:txBody>
          <a:bodyPr wrap="square" lIns="0" tIns="0" rIns="0" bIns="0" rtlCol="0" anchor="ctr"/>
          <a:lstStyle/>
          <a:p>
            <a:pPr marL="0" indent="0">
              <a:buNone/>
            </a:pPr>
            <a:r>
              <a:rPr lang="en-US" sz="900" dirty="0">
                <a:solidFill>
                  <a:srgbClr val="F0F6FC"/>
                </a:solidFill>
              </a:rPr>
              <a:t>Step 100</a:t>
            </a:r>
            <a:endParaRPr lang="en-US" sz="900" dirty="0"/>
          </a:p>
        </p:txBody>
      </p:sp>
      <p:sp>
        <p:nvSpPr>
          <p:cNvPr id="72" name="Text 70"/>
          <p:cNvSpPr/>
          <p:nvPr/>
        </p:nvSpPr>
        <p:spPr>
          <a:xfrm>
            <a:off x="2103120" y="4919472"/>
            <a:ext cx="1188720" cy="265176"/>
          </a:xfrm>
          <a:prstGeom prst="rect">
            <a:avLst/>
          </a:prstGeom>
          <a:noFill/>
          <a:ln/>
        </p:spPr>
        <p:txBody>
          <a:bodyPr wrap="square" lIns="0" tIns="0" rIns="0" bIns="0" rtlCol="0" anchor="ctr"/>
          <a:lstStyle/>
          <a:p>
            <a:pPr marL="0" indent="0">
              <a:buNone/>
            </a:pPr>
            <a:r>
              <a:rPr lang="en-US" sz="900" dirty="0">
                <a:solidFill>
                  <a:srgbClr val="F0883E"/>
                </a:solidFill>
              </a:rPr>
              <a:t>2.21</a:t>
            </a:r>
            <a:endParaRPr lang="en-US" sz="900" dirty="0"/>
          </a:p>
        </p:txBody>
      </p:sp>
      <p:sp>
        <p:nvSpPr>
          <p:cNvPr id="73" name="Text 71"/>
          <p:cNvSpPr/>
          <p:nvPr/>
        </p:nvSpPr>
        <p:spPr>
          <a:xfrm>
            <a:off x="3474720" y="4919472"/>
            <a:ext cx="1188720" cy="265176"/>
          </a:xfrm>
          <a:prstGeom prst="rect">
            <a:avLst/>
          </a:prstGeom>
          <a:noFill/>
          <a:ln/>
        </p:spPr>
        <p:txBody>
          <a:bodyPr wrap="square" lIns="0" tIns="0" rIns="0" bIns="0" rtlCol="0" anchor="ctr"/>
          <a:lstStyle/>
          <a:p>
            <a:pPr marL="0" indent="0">
              <a:buNone/>
            </a:pPr>
            <a:r>
              <a:rPr lang="en-US" sz="900" dirty="0">
                <a:solidFill>
                  <a:srgbClr val="E3B341"/>
                </a:solidFill>
              </a:rPr>
              <a:t>9.95</a:t>
            </a:r>
            <a:endParaRPr lang="en-US" sz="900" dirty="0"/>
          </a:p>
        </p:txBody>
      </p:sp>
      <p:sp>
        <p:nvSpPr>
          <p:cNvPr id="74" name="Text 72"/>
          <p:cNvSpPr/>
          <p:nvPr/>
        </p:nvSpPr>
        <p:spPr>
          <a:xfrm>
            <a:off x="4846320" y="4919472"/>
            <a:ext cx="1005840" cy="265176"/>
          </a:xfrm>
          <a:prstGeom prst="rect">
            <a:avLst/>
          </a:prstGeom>
          <a:noFill/>
          <a:ln/>
        </p:spPr>
        <p:txBody>
          <a:bodyPr wrap="square" lIns="0" tIns="0" rIns="0" bIns="0" rtlCol="0" anchor="ctr"/>
          <a:lstStyle/>
          <a:p>
            <a:pPr marL="0" indent="0">
              <a:buNone/>
            </a:pPr>
            <a:r>
              <a:rPr lang="en-US" sz="900" dirty="0">
                <a:solidFill>
                  <a:srgbClr val="FF7B72"/>
                </a:solidFill>
              </a:rPr>
              <a:t>18.7</a:t>
            </a:r>
            <a:endParaRPr lang="en-US" sz="900" dirty="0"/>
          </a:p>
        </p:txBody>
      </p:sp>
      <p:sp>
        <p:nvSpPr>
          <p:cNvPr id="75" name="Text 73"/>
          <p:cNvSpPr/>
          <p:nvPr/>
        </p:nvSpPr>
        <p:spPr>
          <a:xfrm>
            <a:off x="6035040" y="4919472"/>
            <a:ext cx="2651760" cy="265176"/>
          </a:xfrm>
          <a:prstGeom prst="rect">
            <a:avLst/>
          </a:prstGeom>
          <a:noFill/>
          <a:ln/>
        </p:spPr>
        <p:txBody>
          <a:bodyPr wrap="square" lIns="0" tIns="0" rIns="0" bIns="0" rtlCol="0" anchor="ctr"/>
          <a:lstStyle/>
          <a:p>
            <a:pPr marL="0" indent="0">
              <a:buNone/>
            </a:pPr>
            <a:r>
              <a:rPr lang="en-US" sz="900" dirty="0">
                <a:solidFill>
                  <a:srgbClr val="3FB950"/>
                </a:solidFill>
              </a:rPr>
              <a:t>↓ improving</a:t>
            </a:r>
            <a:endParaRPr lang="en-US" sz="900" dirty="0"/>
          </a:p>
        </p:txBody>
      </p:sp>
      <p:sp>
        <p:nvSpPr>
          <p:cNvPr id="76" name="Shape 74"/>
          <p:cNvSpPr/>
          <p:nvPr/>
        </p:nvSpPr>
        <p:spPr>
          <a:xfrm>
            <a:off x="384048" y="5202936"/>
            <a:ext cx="8366760" cy="265176"/>
          </a:xfrm>
          <a:prstGeom prst="rect">
            <a:avLst/>
          </a:prstGeom>
          <a:solidFill>
            <a:srgbClr val="21262D"/>
          </a:solidFill>
          <a:ln w="12700">
            <a:solidFill>
              <a:srgbClr val="21262D"/>
            </a:solidFill>
            <a:prstDash val="solid"/>
          </a:ln>
        </p:spPr>
        <p:txBody>
          <a:bodyPr/>
          <a:lstStyle/>
          <a:p>
            <a:endParaRPr lang="fr-FR"/>
          </a:p>
        </p:txBody>
      </p:sp>
      <p:sp>
        <p:nvSpPr>
          <p:cNvPr id="77" name="Text 75"/>
          <p:cNvSpPr/>
          <p:nvPr/>
        </p:nvSpPr>
        <p:spPr>
          <a:xfrm>
            <a:off x="457200" y="5202936"/>
            <a:ext cx="1554480" cy="265176"/>
          </a:xfrm>
          <a:prstGeom prst="rect">
            <a:avLst/>
          </a:prstGeom>
          <a:noFill/>
          <a:ln/>
        </p:spPr>
        <p:txBody>
          <a:bodyPr wrap="square" lIns="0" tIns="0" rIns="0" bIns="0" rtlCol="0" anchor="ctr"/>
          <a:lstStyle/>
          <a:p>
            <a:pPr marL="0" indent="0">
              <a:buNone/>
            </a:pPr>
            <a:r>
              <a:rPr lang="en-US" sz="900" dirty="0">
                <a:solidFill>
                  <a:srgbClr val="F0F6FC"/>
                </a:solidFill>
              </a:rPr>
              <a:t>Step 1000</a:t>
            </a:r>
            <a:endParaRPr lang="en-US" sz="900" dirty="0"/>
          </a:p>
        </p:txBody>
      </p:sp>
      <p:sp>
        <p:nvSpPr>
          <p:cNvPr id="78" name="Text 76"/>
          <p:cNvSpPr/>
          <p:nvPr/>
        </p:nvSpPr>
        <p:spPr>
          <a:xfrm>
            <a:off x="2103120" y="5202936"/>
            <a:ext cx="1188720" cy="265176"/>
          </a:xfrm>
          <a:prstGeom prst="rect">
            <a:avLst/>
          </a:prstGeom>
          <a:noFill/>
          <a:ln/>
        </p:spPr>
        <p:txBody>
          <a:bodyPr wrap="square" lIns="0" tIns="0" rIns="0" bIns="0" rtlCol="0" anchor="ctr"/>
          <a:lstStyle/>
          <a:p>
            <a:pPr marL="0" indent="0">
              <a:buNone/>
            </a:pPr>
            <a:r>
              <a:rPr lang="en-US" sz="900" dirty="0">
                <a:solidFill>
                  <a:srgbClr val="F0883E"/>
                </a:solidFill>
              </a:rPr>
              <a:t>1.98</a:t>
            </a:r>
            <a:endParaRPr lang="en-US" sz="900" dirty="0"/>
          </a:p>
        </p:txBody>
      </p:sp>
      <p:sp>
        <p:nvSpPr>
          <p:cNvPr id="79" name="Text 77"/>
          <p:cNvSpPr/>
          <p:nvPr/>
        </p:nvSpPr>
        <p:spPr>
          <a:xfrm>
            <a:off x="3474720" y="5202936"/>
            <a:ext cx="1188720" cy="265176"/>
          </a:xfrm>
          <a:prstGeom prst="rect">
            <a:avLst/>
          </a:prstGeom>
          <a:noFill/>
          <a:ln/>
        </p:spPr>
        <p:txBody>
          <a:bodyPr wrap="square" lIns="0" tIns="0" rIns="0" bIns="0" rtlCol="0" anchor="ctr"/>
          <a:lstStyle/>
          <a:p>
            <a:pPr marL="0" indent="0">
              <a:buNone/>
            </a:pPr>
            <a:r>
              <a:rPr lang="en-US" sz="900" dirty="0">
                <a:solidFill>
                  <a:srgbClr val="E3B341"/>
                </a:solidFill>
              </a:rPr>
              <a:t>9.92</a:t>
            </a:r>
            <a:endParaRPr lang="en-US" sz="900" dirty="0"/>
          </a:p>
        </p:txBody>
      </p:sp>
      <p:sp>
        <p:nvSpPr>
          <p:cNvPr id="80" name="Text 78"/>
          <p:cNvSpPr/>
          <p:nvPr/>
        </p:nvSpPr>
        <p:spPr>
          <a:xfrm>
            <a:off x="4846320" y="5202936"/>
            <a:ext cx="1005840" cy="265176"/>
          </a:xfrm>
          <a:prstGeom prst="rect">
            <a:avLst/>
          </a:prstGeom>
          <a:noFill/>
          <a:ln/>
        </p:spPr>
        <p:txBody>
          <a:bodyPr wrap="square" lIns="0" tIns="0" rIns="0" bIns="0" rtlCol="0" anchor="ctr"/>
          <a:lstStyle/>
          <a:p>
            <a:pPr marL="0" indent="0">
              <a:buNone/>
            </a:pPr>
            <a:r>
              <a:rPr lang="en-US" sz="900" dirty="0">
                <a:solidFill>
                  <a:srgbClr val="FF7B72"/>
                </a:solidFill>
              </a:rPr>
              <a:t>3.2</a:t>
            </a:r>
            <a:endParaRPr lang="en-US" sz="900" dirty="0"/>
          </a:p>
        </p:txBody>
      </p:sp>
      <p:sp>
        <p:nvSpPr>
          <p:cNvPr id="81" name="Text 79"/>
          <p:cNvSpPr/>
          <p:nvPr/>
        </p:nvSpPr>
        <p:spPr>
          <a:xfrm>
            <a:off x="6035040" y="5202936"/>
            <a:ext cx="2651760" cy="265176"/>
          </a:xfrm>
          <a:prstGeom prst="rect">
            <a:avLst/>
          </a:prstGeom>
          <a:noFill/>
          <a:ln/>
        </p:spPr>
        <p:txBody>
          <a:bodyPr wrap="square" lIns="0" tIns="0" rIns="0" bIns="0" rtlCol="0" anchor="ctr"/>
          <a:lstStyle/>
          <a:p>
            <a:pPr marL="0" indent="0">
              <a:buNone/>
            </a:pPr>
            <a:r>
              <a:rPr lang="en-US" sz="900" dirty="0">
                <a:solidFill>
                  <a:srgbClr val="39D0B0"/>
                </a:solidFill>
              </a:rPr>
              <a:t>↓ nearly there</a:t>
            </a:r>
            <a:endParaRPr lang="en-US" sz="900" dirty="0"/>
          </a:p>
        </p:txBody>
      </p:sp>
      <p:sp>
        <p:nvSpPr>
          <p:cNvPr id="82" name="Shape 80"/>
          <p:cNvSpPr/>
          <p:nvPr/>
        </p:nvSpPr>
        <p:spPr>
          <a:xfrm>
            <a:off x="384048" y="5486400"/>
            <a:ext cx="8366760" cy="265176"/>
          </a:xfrm>
          <a:prstGeom prst="rect">
            <a:avLst/>
          </a:prstGeom>
          <a:solidFill>
            <a:srgbClr val="161B22"/>
          </a:solidFill>
          <a:ln w="12700">
            <a:solidFill>
              <a:srgbClr val="161B22"/>
            </a:solidFill>
            <a:prstDash val="solid"/>
          </a:ln>
        </p:spPr>
        <p:txBody>
          <a:bodyPr/>
          <a:lstStyle/>
          <a:p>
            <a:endParaRPr lang="fr-FR"/>
          </a:p>
        </p:txBody>
      </p:sp>
      <p:sp>
        <p:nvSpPr>
          <p:cNvPr id="83" name="Text 81"/>
          <p:cNvSpPr/>
          <p:nvPr/>
        </p:nvSpPr>
        <p:spPr>
          <a:xfrm>
            <a:off x="457200" y="5486400"/>
            <a:ext cx="1554480" cy="265176"/>
          </a:xfrm>
          <a:prstGeom prst="rect">
            <a:avLst/>
          </a:prstGeom>
          <a:noFill/>
          <a:ln/>
        </p:spPr>
        <p:txBody>
          <a:bodyPr wrap="square" lIns="0" tIns="0" rIns="0" bIns="0" rtlCol="0" anchor="ctr"/>
          <a:lstStyle/>
          <a:p>
            <a:pPr marL="0" indent="0">
              <a:buNone/>
            </a:pPr>
            <a:r>
              <a:rPr lang="en-US" sz="900" dirty="0">
                <a:solidFill>
                  <a:srgbClr val="F0F6FC"/>
                </a:solidFill>
              </a:rPr>
              <a:t>Converged</a:t>
            </a:r>
            <a:endParaRPr lang="en-US" sz="900" dirty="0"/>
          </a:p>
        </p:txBody>
      </p:sp>
      <p:sp>
        <p:nvSpPr>
          <p:cNvPr id="84" name="Text 82"/>
          <p:cNvSpPr/>
          <p:nvPr/>
        </p:nvSpPr>
        <p:spPr>
          <a:xfrm>
            <a:off x="2103120" y="5486400"/>
            <a:ext cx="1188720" cy="265176"/>
          </a:xfrm>
          <a:prstGeom prst="rect">
            <a:avLst/>
          </a:prstGeom>
          <a:noFill/>
          <a:ln/>
        </p:spPr>
        <p:txBody>
          <a:bodyPr wrap="square" lIns="0" tIns="0" rIns="0" bIns="0" rtlCol="0" anchor="ctr"/>
          <a:lstStyle/>
          <a:p>
            <a:pPr marL="0" indent="0">
              <a:buNone/>
            </a:pPr>
            <a:r>
              <a:rPr lang="en-US" sz="900" dirty="0">
                <a:solidFill>
                  <a:srgbClr val="F0883E"/>
                </a:solidFill>
              </a:rPr>
              <a:t>1.95*</a:t>
            </a:r>
            <a:endParaRPr lang="en-US" sz="900" dirty="0"/>
          </a:p>
        </p:txBody>
      </p:sp>
      <p:sp>
        <p:nvSpPr>
          <p:cNvPr id="85" name="Text 83"/>
          <p:cNvSpPr/>
          <p:nvPr/>
        </p:nvSpPr>
        <p:spPr>
          <a:xfrm>
            <a:off x="3474720" y="5486400"/>
            <a:ext cx="1188720" cy="265176"/>
          </a:xfrm>
          <a:prstGeom prst="rect">
            <a:avLst/>
          </a:prstGeom>
          <a:noFill/>
          <a:ln/>
        </p:spPr>
        <p:txBody>
          <a:bodyPr wrap="square" lIns="0" tIns="0" rIns="0" bIns="0" rtlCol="0" anchor="ctr"/>
          <a:lstStyle/>
          <a:p>
            <a:pPr marL="0" indent="0">
              <a:buNone/>
            </a:pPr>
            <a:r>
              <a:rPr lang="en-US" sz="900" dirty="0">
                <a:solidFill>
                  <a:srgbClr val="E3B341"/>
                </a:solidFill>
              </a:rPr>
              <a:t>9.90*</a:t>
            </a:r>
            <a:endParaRPr lang="en-US" sz="900" dirty="0"/>
          </a:p>
        </p:txBody>
      </p:sp>
      <p:sp>
        <p:nvSpPr>
          <p:cNvPr id="86" name="Text 84"/>
          <p:cNvSpPr/>
          <p:nvPr/>
        </p:nvSpPr>
        <p:spPr>
          <a:xfrm>
            <a:off x="4846320" y="5486400"/>
            <a:ext cx="1005840" cy="265176"/>
          </a:xfrm>
          <a:prstGeom prst="rect">
            <a:avLst/>
          </a:prstGeom>
          <a:noFill/>
          <a:ln/>
        </p:spPr>
        <p:txBody>
          <a:bodyPr wrap="square" lIns="0" tIns="0" rIns="0" bIns="0" rtlCol="0" anchor="ctr"/>
          <a:lstStyle/>
          <a:p>
            <a:pPr marL="0" indent="0">
              <a:buNone/>
            </a:pPr>
            <a:r>
              <a:rPr lang="en-US" sz="900" dirty="0">
                <a:solidFill>
                  <a:srgbClr val="FF7B72"/>
                </a:solidFill>
              </a:rPr>
              <a:t>0.8</a:t>
            </a:r>
            <a:endParaRPr lang="en-US" sz="900" dirty="0"/>
          </a:p>
        </p:txBody>
      </p:sp>
      <p:sp>
        <p:nvSpPr>
          <p:cNvPr id="87" name="Text 85"/>
          <p:cNvSpPr/>
          <p:nvPr/>
        </p:nvSpPr>
        <p:spPr>
          <a:xfrm>
            <a:off x="6035040" y="5486400"/>
            <a:ext cx="2651760" cy="265176"/>
          </a:xfrm>
          <a:prstGeom prst="rect">
            <a:avLst/>
          </a:prstGeom>
          <a:noFill/>
          <a:ln/>
        </p:spPr>
        <p:txBody>
          <a:bodyPr wrap="square" lIns="0" tIns="0" rIns="0" bIns="0" rtlCol="0" anchor="ctr"/>
          <a:lstStyle/>
          <a:p>
            <a:pPr marL="0" indent="0">
              <a:buNone/>
            </a:pPr>
            <a:r>
              <a:rPr lang="en-US" sz="900" dirty="0">
                <a:solidFill>
                  <a:srgbClr val="E3B341"/>
                </a:solidFill>
              </a:rPr>
              <a:t>✓ optimal!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BC8CFF"/>
          </a:solidFill>
          <a:ln w="12700">
            <a:solidFill>
              <a:srgbClr val="BC8CFF"/>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Logistic Regression — Classification</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BC8CFF"/>
                </a:solidFill>
              </a:rPr>
              <a:t>Predict a class (0 or 1) using the sigmoid function</a:t>
            </a:r>
            <a:endParaRPr lang="en-US" sz="1200" dirty="0"/>
          </a:p>
        </p:txBody>
      </p:sp>
      <p:sp>
        <p:nvSpPr>
          <p:cNvPr id="5" name="Shape 3"/>
          <p:cNvSpPr/>
          <p:nvPr/>
        </p:nvSpPr>
        <p:spPr>
          <a:xfrm>
            <a:off x="320040" y="1024128"/>
            <a:ext cx="8503920" cy="0"/>
          </a:xfrm>
          <a:prstGeom prst="line">
            <a:avLst/>
          </a:prstGeom>
          <a:noFill/>
          <a:ln w="12700">
            <a:solidFill>
              <a:srgbClr val="BC8CFF"/>
            </a:solidFill>
            <a:prstDash val="solid"/>
          </a:ln>
        </p:spPr>
        <p:txBody>
          <a:bodyPr/>
          <a:lstStyle/>
          <a:p>
            <a:endParaRPr lang="fr-FR"/>
          </a:p>
        </p:txBody>
      </p:sp>
      <p:sp>
        <p:nvSpPr>
          <p:cNvPr id="6" name="Shape 4"/>
          <p:cNvSpPr/>
          <p:nvPr/>
        </p:nvSpPr>
        <p:spPr>
          <a:xfrm>
            <a:off x="320040" y="1188720"/>
            <a:ext cx="2743200" cy="1005840"/>
          </a:xfrm>
          <a:prstGeom prst="roundRect">
            <a:avLst>
              <a:gd name="adj" fmla="val 7273"/>
            </a:avLst>
          </a:prstGeom>
          <a:solidFill>
            <a:srgbClr val="21262D"/>
          </a:solidFill>
          <a:ln w="1905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411480" y="1261872"/>
            <a:ext cx="2560320" cy="553212"/>
          </a:xfrm>
          <a:prstGeom prst="rect">
            <a:avLst/>
          </a:prstGeom>
          <a:noFill/>
          <a:ln/>
        </p:spPr>
        <p:txBody>
          <a:bodyPr wrap="square" lIns="0" tIns="0" rIns="0" bIns="0" rtlCol="0" anchor="ctr"/>
          <a:lstStyle/>
          <a:p>
            <a:pPr marL="0" indent="0" algn="ctr">
              <a:buNone/>
            </a:pPr>
            <a:r>
              <a:rPr lang="en-US" sz="1500" b="1" dirty="0">
                <a:solidFill>
                  <a:srgbClr val="BC8CFF"/>
                </a:solidFill>
              </a:rPr>
              <a:t>sigma(z) = 1/(1+e^-z)</a:t>
            </a:r>
            <a:endParaRPr lang="en-US" sz="1500" dirty="0"/>
          </a:p>
        </p:txBody>
      </p:sp>
      <p:sp>
        <p:nvSpPr>
          <p:cNvPr id="8" name="Text 6"/>
          <p:cNvSpPr/>
          <p:nvPr/>
        </p:nvSpPr>
        <p:spPr>
          <a:xfrm>
            <a:off x="411480" y="1772107"/>
            <a:ext cx="2560320" cy="362102"/>
          </a:xfrm>
          <a:prstGeom prst="rect">
            <a:avLst/>
          </a:prstGeom>
          <a:noFill/>
          <a:ln/>
        </p:spPr>
        <p:txBody>
          <a:bodyPr wrap="square" lIns="0" tIns="0" rIns="0" bIns="0" rtlCol="0" anchor="ctr"/>
          <a:lstStyle/>
          <a:p>
            <a:pPr marL="0" indent="0" algn="ctr">
              <a:buNone/>
            </a:pPr>
            <a:r>
              <a:rPr lang="en-US" sz="900" dirty="0">
                <a:solidFill>
                  <a:srgbClr val="8B949E"/>
                </a:solidFill>
              </a:rPr>
              <a:t>Squishes any number into [0, 1]</a:t>
            </a:r>
            <a:endParaRPr lang="en-US" sz="900" dirty="0"/>
          </a:p>
        </p:txBody>
      </p:sp>
      <p:sp>
        <p:nvSpPr>
          <p:cNvPr id="9" name="Shape 7"/>
          <p:cNvSpPr/>
          <p:nvPr/>
        </p:nvSpPr>
        <p:spPr>
          <a:xfrm>
            <a:off x="3063240" y="1691640"/>
            <a:ext cx="274320" cy="0"/>
          </a:xfrm>
          <a:prstGeom prst="line">
            <a:avLst/>
          </a:prstGeom>
          <a:noFill/>
          <a:ln w="25400">
            <a:solidFill>
              <a:srgbClr val="BC8CFF"/>
            </a:solidFill>
            <a:prstDash val="solid"/>
            <a:tailEnd type="arrow"/>
          </a:ln>
        </p:spPr>
        <p:txBody>
          <a:bodyPr/>
          <a:lstStyle/>
          <a:p>
            <a:endParaRPr lang="fr-FR"/>
          </a:p>
        </p:txBody>
      </p:sp>
      <p:sp>
        <p:nvSpPr>
          <p:cNvPr id="10" name="Shape 8"/>
          <p:cNvSpPr/>
          <p:nvPr/>
        </p:nvSpPr>
        <p:spPr>
          <a:xfrm>
            <a:off x="3337560" y="1188720"/>
            <a:ext cx="2743200" cy="1005840"/>
          </a:xfrm>
          <a:prstGeom prst="roundRect">
            <a:avLst>
              <a:gd name="adj" fmla="val 7273"/>
            </a:avLst>
          </a:prstGeom>
          <a:solidFill>
            <a:srgbClr val="21262D"/>
          </a:solidFill>
          <a:ln w="1905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11" name="Text 9"/>
          <p:cNvSpPr/>
          <p:nvPr/>
        </p:nvSpPr>
        <p:spPr>
          <a:xfrm>
            <a:off x="3429000" y="1261872"/>
            <a:ext cx="2560320" cy="553212"/>
          </a:xfrm>
          <a:prstGeom prst="rect">
            <a:avLst/>
          </a:prstGeom>
          <a:noFill/>
          <a:ln/>
        </p:spPr>
        <p:txBody>
          <a:bodyPr wrap="square" lIns="0" tIns="0" rIns="0" bIns="0" rtlCol="0" anchor="ctr"/>
          <a:lstStyle/>
          <a:p>
            <a:pPr marL="0" indent="0" algn="ctr">
              <a:buNone/>
            </a:pPr>
            <a:r>
              <a:rPr lang="en-US" sz="1500" b="1" dirty="0">
                <a:solidFill>
                  <a:srgbClr val="BC8CFF"/>
                </a:solidFill>
              </a:rPr>
              <a:t>y_hat = sigma(w*x + b)</a:t>
            </a:r>
            <a:endParaRPr lang="en-US" sz="1500" dirty="0"/>
          </a:p>
        </p:txBody>
      </p:sp>
      <p:sp>
        <p:nvSpPr>
          <p:cNvPr id="12" name="Text 10"/>
          <p:cNvSpPr/>
          <p:nvPr/>
        </p:nvSpPr>
        <p:spPr>
          <a:xfrm>
            <a:off x="3429000" y="1772107"/>
            <a:ext cx="2560320" cy="362102"/>
          </a:xfrm>
          <a:prstGeom prst="rect">
            <a:avLst/>
          </a:prstGeom>
          <a:noFill/>
          <a:ln/>
        </p:spPr>
        <p:txBody>
          <a:bodyPr wrap="square" lIns="0" tIns="0" rIns="0" bIns="0" rtlCol="0" anchor="ctr"/>
          <a:lstStyle/>
          <a:p>
            <a:pPr marL="0" indent="0" algn="ctr">
              <a:buNone/>
            </a:pPr>
            <a:r>
              <a:rPr lang="en-US" sz="900" dirty="0">
                <a:solidFill>
                  <a:srgbClr val="8B949E"/>
                </a:solidFill>
              </a:rPr>
              <a:t>Output = probability of class 1</a:t>
            </a:r>
            <a:endParaRPr lang="en-US" sz="900" dirty="0"/>
          </a:p>
        </p:txBody>
      </p:sp>
      <p:sp>
        <p:nvSpPr>
          <p:cNvPr id="13" name="Shape 11"/>
          <p:cNvSpPr/>
          <p:nvPr/>
        </p:nvSpPr>
        <p:spPr>
          <a:xfrm>
            <a:off x="6080760" y="1691640"/>
            <a:ext cx="274320" cy="0"/>
          </a:xfrm>
          <a:prstGeom prst="line">
            <a:avLst/>
          </a:prstGeom>
          <a:noFill/>
          <a:ln w="25400">
            <a:solidFill>
              <a:srgbClr val="BC8CFF"/>
            </a:solidFill>
            <a:prstDash val="solid"/>
            <a:tailEnd type="arrow"/>
          </a:ln>
        </p:spPr>
        <p:txBody>
          <a:bodyPr/>
          <a:lstStyle/>
          <a:p>
            <a:endParaRPr lang="fr-FR"/>
          </a:p>
        </p:txBody>
      </p:sp>
      <p:sp>
        <p:nvSpPr>
          <p:cNvPr id="14" name="Shape 12"/>
          <p:cNvSpPr/>
          <p:nvPr/>
        </p:nvSpPr>
        <p:spPr>
          <a:xfrm>
            <a:off x="6355080" y="1188720"/>
            <a:ext cx="2468880" cy="1005840"/>
          </a:xfrm>
          <a:prstGeom prst="roundRect">
            <a:avLst>
              <a:gd name="adj" fmla="val 7273"/>
            </a:avLst>
          </a:prstGeom>
          <a:solidFill>
            <a:srgbClr val="21262D"/>
          </a:solidFill>
          <a:ln w="1905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15" name="Text 13"/>
          <p:cNvSpPr/>
          <p:nvPr/>
        </p:nvSpPr>
        <p:spPr>
          <a:xfrm>
            <a:off x="6446520" y="1261872"/>
            <a:ext cx="2286000" cy="553212"/>
          </a:xfrm>
          <a:prstGeom prst="rect">
            <a:avLst/>
          </a:prstGeom>
          <a:noFill/>
          <a:ln/>
        </p:spPr>
        <p:txBody>
          <a:bodyPr wrap="square" lIns="0" tIns="0" rIns="0" bIns="0" rtlCol="0" anchor="ctr"/>
          <a:lstStyle/>
          <a:p>
            <a:pPr marL="0" indent="0" algn="ctr">
              <a:buNone/>
            </a:pPr>
            <a:r>
              <a:rPr lang="en-US" sz="1500" b="1" dirty="0">
                <a:solidFill>
                  <a:srgbClr val="BC8CFF"/>
                </a:solidFill>
              </a:rPr>
              <a:t>y_hat &gt;= 0.5 -&gt; 1</a:t>
            </a:r>
            <a:endParaRPr lang="en-US" sz="1500" dirty="0"/>
          </a:p>
          <a:p>
            <a:pPr marL="0" indent="0" algn="ctr">
              <a:buNone/>
            </a:pPr>
            <a:r>
              <a:rPr lang="en-US" sz="1500" b="1" dirty="0">
                <a:solidFill>
                  <a:srgbClr val="BC8CFF"/>
                </a:solidFill>
              </a:rPr>
              <a:t>y_hat &lt; 0.5 -&gt; 0</a:t>
            </a:r>
            <a:endParaRPr lang="en-US" sz="1500" dirty="0"/>
          </a:p>
        </p:txBody>
      </p:sp>
      <p:sp>
        <p:nvSpPr>
          <p:cNvPr id="16" name="Text 14"/>
          <p:cNvSpPr/>
          <p:nvPr/>
        </p:nvSpPr>
        <p:spPr>
          <a:xfrm>
            <a:off x="6446520" y="1772107"/>
            <a:ext cx="2286000" cy="362102"/>
          </a:xfrm>
          <a:prstGeom prst="rect">
            <a:avLst/>
          </a:prstGeom>
          <a:noFill/>
          <a:ln/>
        </p:spPr>
        <p:txBody>
          <a:bodyPr wrap="square" lIns="0" tIns="0" rIns="0" bIns="0" rtlCol="0" anchor="ctr"/>
          <a:lstStyle/>
          <a:p>
            <a:pPr marL="0" indent="0" algn="ctr">
              <a:buNone/>
            </a:pPr>
            <a:r>
              <a:rPr lang="en-US" sz="900" dirty="0">
                <a:solidFill>
                  <a:srgbClr val="8B949E"/>
                </a:solidFill>
              </a:rPr>
              <a:t>Final decision rule</a:t>
            </a:r>
            <a:endParaRPr lang="en-US" sz="900" dirty="0"/>
          </a:p>
        </p:txBody>
      </p:sp>
      <p:sp>
        <p:nvSpPr>
          <p:cNvPr id="17" name="Shape 15"/>
          <p:cNvSpPr/>
          <p:nvPr/>
        </p:nvSpPr>
        <p:spPr>
          <a:xfrm>
            <a:off x="320040" y="2514600"/>
            <a:ext cx="4023360" cy="233172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18" name="Text 16"/>
          <p:cNvSpPr/>
          <p:nvPr/>
        </p:nvSpPr>
        <p:spPr>
          <a:xfrm>
            <a:off x="457200" y="2560320"/>
            <a:ext cx="3749040" cy="274320"/>
          </a:xfrm>
          <a:prstGeom prst="rect">
            <a:avLst/>
          </a:prstGeom>
          <a:noFill/>
          <a:ln/>
        </p:spPr>
        <p:txBody>
          <a:bodyPr wrap="square" lIns="0" tIns="0" rIns="0" bIns="0" rtlCol="0" anchor="ctr"/>
          <a:lstStyle/>
          <a:p>
            <a:pPr marL="0" indent="0" algn="ctr">
              <a:buNone/>
            </a:pPr>
            <a:r>
              <a:rPr lang="en-US" sz="1100" dirty="0">
                <a:solidFill>
                  <a:srgbClr val="8B949E"/>
                </a:solidFill>
              </a:rPr>
              <a:t>Sigmoid Curve  sigma(z)</a:t>
            </a:r>
            <a:endParaRPr lang="en-US" sz="1100" dirty="0"/>
          </a:p>
        </p:txBody>
      </p:sp>
      <p:sp>
        <p:nvSpPr>
          <p:cNvPr id="19" name="Shape 17"/>
          <p:cNvSpPr/>
          <p:nvPr/>
        </p:nvSpPr>
        <p:spPr>
          <a:xfrm>
            <a:off x="685800" y="4617720"/>
            <a:ext cx="3383280" cy="0"/>
          </a:xfrm>
          <a:prstGeom prst="line">
            <a:avLst/>
          </a:prstGeom>
          <a:noFill/>
          <a:ln w="12700">
            <a:solidFill>
              <a:srgbClr val="8B949E"/>
            </a:solidFill>
            <a:prstDash val="solid"/>
          </a:ln>
        </p:spPr>
        <p:txBody>
          <a:bodyPr/>
          <a:lstStyle/>
          <a:p>
            <a:endParaRPr lang="fr-FR"/>
          </a:p>
        </p:txBody>
      </p:sp>
      <p:sp>
        <p:nvSpPr>
          <p:cNvPr id="20" name="Shape 18"/>
          <p:cNvSpPr/>
          <p:nvPr/>
        </p:nvSpPr>
        <p:spPr>
          <a:xfrm>
            <a:off x="2377440" y="2834640"/>
            <a:ext cx="0" cy="1828800"/>
          </a:xfrm>
          <a:prstGeom prst="line">
            <a:avLst/>
          </a:prstGeom>
          <a:noFill/>
          <a:ln w="12700">
            <a:solidFill>
              <a:srgbClr val="8B949E"/>
            </a:solidFill>
            <a:prstDash val="solid"/>
          </a:ln>
        </p:spPr>
        <p:txBody>
          <a:bodyPr/>
          <a:lstStyle/>
          <a:p>
            <a:endParaRPr lang="fr-FR"/>
          </a:p>
        </p:txBody>
      </p:sp>
      <p:sp>
        <p:nvSpPr>
          <p:cNvPr id="21" name="Shape 19"/>
          <p:cNvSpPr/>
          <p:nvPr/>
        </p:nvSpPr>
        <p:spPr>
          <a:xfrm>
            <a:off x="731520" y="4572000"/>
            <a:ext cx="228600" cy="0"/>
          </a:xfrm>
          <a:prstGeom prst="line">
            <a:avLst/>
          </a:prstGeom>
          <a:noFill/>
          <a:ln w="31750">
            <a:solidFill>
              <a:srgbClr val="BC8CFF"/>
            </a:solidFill>
            <a:prstDash val="solid"/>
          </a:ln>
        </p:spPr>
        <p:txBody>
          <a:bodyPr/>
          <a:lstStyle/>
          <a:p>
            <a:endParaRPr lang="fr-FR"/>
          </a:p>
        </p:txBody>
      </p:sp>
      <p:sp>
        <p:nvSpPr>
          <p:cNvPr id="22" name="Shape 20"/>
          <p:cNvSpPr/>
          <p:nvPr/>
        </p:nvSpPr>
        <p:spPr>
          <a:xfrm>
            <a:off x="960120" y="4480560"/>
            <a:ext cx="228600" cy="0"/>
          </a:xfrm>
          <a:prstGeom prst="line">
            <a:avLst/>
          </a:prstGeom>
          <a:noFill/>
          <a:ln w="31750">
            <a:solidFill>
              <a:srgbClr val="BC8CFF"/>
            </a:solidFill>
            <a:prstDash val="solid"/>
          </a:ln>
        </p:spPr>
        <p:txBody>
          <a:bodyPr/>
          <a:lstStyle/>
          <a:p>
            <a:endParaRPr lang="fr-FR"/>
          </a:p>
        </p:txBody>
      </p:sp>
      <p:sp>
        <p:nvSpPr>
          <p:cNvPr id="23" name="Shape 21"/>
          <p:cNvSpPr/>
          <p:nvPr/>
        </p:nvSpPr>
        <p:spPr>
          <a:xfrm>
            <a:off x="1188720" y="4297680"/>
            <a:ext cx="228600" cy="0"/>
          </a:xfrm>
          <a:prstGeom prst="line">
            <a:avLst/>
          </a:prstGeom>
          <a:noFill/>
          <a:ln w="31750">
            <a:solidFill>
              <a:srgbClr val="BC8CFF"/>
            </a:solidFill>
            <a:prstDash val="solid"/>
          </a:ln>
        </p:spPr>
        <p:txBody>
          <a:bodyPr/>
          <a:lstStyle/>
          <a:p>
            <a:endParaRPr lang="fr-FR"/>
          </a:p>
        </p:txBody>
      </p:sp>
      <p:sp>
        <p:nvSpPr>
          <p:cNvPr id="24" name="Shape 22"/>
          <p:cNvSpPr/>
          <p:nvPr/>
        </p:nvSpPr>
        <p:spPr>
          <a:xfrm>
            <a:off x="1417320" y="4069080"/>
            <a:ext cx="274320" cy="0"/>
          </a:xfrm>
          <a:prstGeom prst="line">
            <a:avLst/>
          </a:prstGeom>
          <a:noFill/>
          <a:ln w="31750">
            <a:solidFill>
              <a:srgbClr val="BC8CFF"/>
            </a:solidFill>
            <a:prstDash val="solid"/>
          </a:ln>
        </p:spPr>
        <p:txBody>
          <a:bodyPr/>
          <a:lstStyle/>
          <a:p>
            <a:endParaRPr lang="fr-FR"/>
          </a:p>
        </p:txBody>
      </p:sp>
      <p:sp>
        <p:nvSpPr>
          <p:cNvPr id="25" name="Shape 23"/>
          <p:cNvSpPr/>
          <p:nvPr/>
        </p:nvSpPr>
        <p:spPr>
          <a:xfrm>
            <a:off x="1691640" y="3730752"/>
            <a:ext cx="274320" cy="0"/>
          </a:xfrm>
          <a:prstGeom prst="line">
            <a:avLst/>
          </a:prstGeom>
          <a:noFill/>
          <a:ln w="31750">
            <a:solidFill>
              <a:srgbClr val="BC8CFF"/>
            </a:solidFill>
            <a:prstDash val="solid"/>
          </a:ln>
        </p:spPr>
        <p:txBody>
          <a:bodyPr/>
          <a:lstStyle/>
          <a:p>
            <a:endParaRPr lang="fr-FR"/>
          </a:p>
        </p:txBody>
      </p:sp>
      <p:sp>
        <p:nvSpPr>
          <p:cNvPr id="26" name="Shape 24"/>
          <p:cNvSpPr/>
          <p:nvPr/>
        </p:nvSpPr>
        <p:spPr>
          <a:xfrm>
            <a:off x="1965960" y="3429000"/>
            <a:ext cx="228600" cy="0"/>
          </a:xfrm>
          <a:prstGeom prst="line">
            <a:avLst/>
          </a:prstGeom>
          <a:noFill/>
          <a:ln w="31750">
            <a:solidFill>
              <a:srgbClr val="BC8CFF"/>
            </a:solidFill>
            <a:prstDash val="solid"/>
          </a:ln>
        </p:spPr>
        <p:txBody>
          <a:bodyPr/>
          <a:lstStyle/>
          <a:p>
            <a:endParaRPr lang="fr-FR"/>
          </a:p>
        </p:txBody>
      </p:sp>
      <p:sp>
        <p:nvSpPr>
          <p:cNvPr id="27" name="Shape 25"/>
          <p:cNvSpPr/>
          <p:nvPr/>
        </p:nvSpPr>
        <p:spPr>
          <a:xfrm>
            <a:off x="2194560" y="3246120"/>
            <a:ext cx="228600" cy="0"/>
          </a:xfrm>
          <a:prstGeom prst="line">
            <a:avLst/>
          </a:prstGeom>
          <a:noFill/>
          <a:ln w="31750">
            <a:solidFill>
              <a:srgbClr val="BC8CFF"/>
            </a:solidFill>
            <a:prstDash val="solid"/>
          </a:ln>
        </p:spPr>
        <p:txBody>
          <a:bodyPr/>
          <a:lstStyle/>
          <a:p>
            <a:endParaRPr lang="fr-FR"/>
          </a:p>
        </p:txBody>
      </p:sp>
      <p:sp>
        <p:nvSpPr>
          <p:cNvPr id="28" name="Shape 26"/>
          <p:cNvSpPr/>
          <p:nvPr/>
        </p:nvSpPr>
        <p:spPr>
          <a:xfrm>
            <a:off x="2423160" y="3127248"/>
            <a:ext cx="228600" cy="0"/>
          </a:xfrm>
          <a:prstGeom prst="line">
            <a:avLst/>
          </a:prstGeom>
          <a:noFill/>
          <a:ln w="31750">
            <a:solidFill>
              <a:srgbClr val="BC8CFF"/>
            </a:solidFill>
            <a:prstDash val="solid"/>
          </a:ln>
        </p:spPr>
        <p:txBody>
          <a:bodyPr/>
          <a:lstStyle/>
          <a:p>
            <a:endParaRPr lang="fr-FR"/>
          </a:p>
        </p:txBody>
      </p:sp>
      <p:sp>
        <p:nvSpPr>
          <p:cNvPr id="29" name="Shape 27"/>
          <p:cNvSpPr/>
          <p:nvPr/>
        </p:nvSpPr>
        <p:spPr>
          <a:xfrm>
            <a:off x="2651760" y="3063240"/>
            <a:ext cx="274320" cy="0"/>
          </a:xfrm>
          <a:prstGeom prst="line">
            <a:avLst/>
          </a:prstGeom>
          <a:noFill/>
          <a:ln w="31750">
            <a:solidFill>
              <a:srgbClr val="BC8CFF"/>
            </a:solidFill>
            <a:prstDash val="solid"/>
          </a:ln>
        </p:spPr>
        <p:txBody>
          <a:bodyPr/>
          <a:lstStyle/>
          <a:p>
            <a:endParaRPr lang="fr-FR"/>
          </a:p>
        </p:txBody>
      </p:sp>
      <p:sp>
        <p:nvSpPr>
          <p:cNvPr id="30" name="Shape 28"/>
          <p:cNvSpPr/>
          <p:nvPr/>
        </p:nvSpPr>
        <p:spPr>
          <a:xfrm>
            <a:off x="2926080" y="2999232"/>
            <a:ext cx="274320" cy="0"/>
          </a:xfrm>
          <a:prstGeom prst="line">
            <a:avLst/>
          </a:prstGeom>
          <a:noFill/>
          <a:ln w="31750">
            <a:solidFill>
              <a:srgbClr val="BC8CFF"/>
            </a:solidFill>
            <a:prstDash val="solid"/>
          </a:ln>
        </p:spPr>
        <p:txBody>
          <a:bodyPr/>
          <a:lstStyle/>
          <a:p>
            <a:endParaRPr lang="fr-FR"/>
          </a:p>
        </p:txBody>
      </p:sp>
      <p:sp>
        <p:nvSpPr>
          <p:cNvPr id="31" name="Shape 29"/>
          <p:cNvSpPr/>
          <p:nvPr/>
        </p:nvSpPr>
        <p:spPr>
          <a:xfrm>
            <a:off x="3200400" y="2962656"/>
            <a:ext cx="274320" cy="0"/>
          </a:xfrm>
          <a:prstGeom prst="line">
            <a:avLst/>
          </a:prstGeom>
          <a:noFill/>
          <a:ln w="31750">
            <a:solidFill>
              <a:srgbClr val="BC8CFF"/>
            </a:solidFill>
            <a:prstDash val="solid"/>
          </a:ln>
        </p:spPr>
        <p:txBody>
          <a:bodyPr/>
          <a:lstStyle/>
          <a:p>
            <a:endParaRPr lang="fr-FR"/>
          </a:p>
        </p:txBody>
      </p:sp>
      <p:sp>
        <p:nvSpPr>
          <p:cNvPr id="32" name="Shape 30"/>
          <p:cNvSpPr/>
          <p:nvPr/>
        </p:nvSpPr>
        <p:spPr>
          <a:xfrm>
            <a:off x="3474720" y="2944368"/>
            <a:ext cx="274320" cy="0"/>
          </a:xfrm>
          <a:prstGeom prst="line">
            <a:avLst/>
          </a:prstGeom>
          <a:noFill/>
          <a:ln w="31750">
            <a:solidFill>
              <a:srgbClr val="BC8CFF"/>
            </a:solidFill>
            <a:prstDash val="solid"/>
          </a:ln>
        </p:spPr>
        <p:txBody>
          <a:bodyPr/>
          <a:lstStyle/>
          <a:p>
            <a:endParaRPr lang="fr-FR"/>
          </a:p>
        </p:txBody>
      </p:sp>
      <p:sp>
        <p:nvSpPr>
          <p:cNvPr id="33" name="Shape 31"/>
          <p:cNvSpPr/>
          <p:nvPr/>
        </p:nvSpPr>
        <p:spPr>
          <a:xfrm>
            <a:off x="685800" y="3730752"/>
            <a:ext cx="3383280" cy="0"/>
          </a:xfrm>
          <a:prstGeom prst="line">
            <a:avLst/>
          </a:prstGeom>
          <a:noFill/>
          <a:ln w="12700">
            <a:solidFill>
              <a:srgbClr val="58A6FF"/>
            </a:solidFill>
            <a:prstDash val="dash"/>
          </a:ln>
        </p:spPr>
        <p:txBody>
          <a:bodyPr/>
          <a:lstStyle/>
          <a:p>
            <a:endParaRPr lang="fr-FR"/>
          </a:p>
        </p:txBody>
      </p:sp>
      <p:sp>
        <p:nvSpPr>
          <p:cNvPr id="34" name="Text 32"/>
          <p:cNvSpPr/>
          <p:nvPr/>
        </p:nvSpPr>
        <p:spPr>
          <a:xfrm>
            <a:off x="457200" y="3639312"/>
            <a:ext cx="365760" cy="201168"/>
          </a:xfrm>
          <a:prstGeom prst="rect">
            <a:avLst/>
          </a:prstGeom>
          <a:noFill/>
          <a:ln/>
        </p:spPr>
        <p:txBody>
          <a:bodyPr wrap="square" lIns="0" tIns="0" rIns="0" bIns="0" rtlCol="0" anchor="ctr"/>
          <a:lstStyle/>
          <a:p>
            <a:pPr marL="0" indent="0">
              <a:buNone/>
            </a:pPr>
            <a:r>
              <a:rPr lang="en-US" sz="800" dirty="0">
                <a:solidFill>
                  <a:srgbClr val="58A6FF"/>
                </a:solidFill>
              </a:rPr>
              <a:t>0.5</a:t>
            </a:r>
            <a:endParaRPr lang="en-US" sz="800" dirty="0"/>
          </a:p>
        </p:txBody>
      </p:sp>
      <p:sp>
        <p:nvSpPr>
          <p:cNvPr id="35" name="Text 33"/>
          <p:cNvSpPr/>
          <p:nvPr/>
        </p:nvSpPr>
        <p:spPr>
          <a:xfrm>
            <a:off x="457200" y="2889504"/>
            <a:ext cx="365760" cy="201168"/>
          </a:xfrm>
          <a:prstGeom prst="rect">
            <a:avLst/>
          </a:prstGeom>
          <a:noFill/>
          <a:ln/>
        </p:spPr>
        <p:txBody>
          <a:bodyPr wrap="square" lIns="0" tIns="0" rIns="0" bIns="0" rtlCol="0" anchor="ctr"/>
          <a:lstStyle/>
          <a:p>
            <a:pPr marL="0" indent="0">
              <a:buNone/>
            </a:pPr>
            <a:r>
              <a:rPr lang="en-US" sz="800" dirty="0">
                <a:solidFill>
                  <a:srgbClr val="8B949E"/>
                </a:solidFill>
              </a:rPr>
              <a:t>1.0</a:t>
            </a:r>
            <a:endParaRPr lang="en-US" sz="800" dirty="0"/>
          </a:p>
        </p:txBody>
      </p:sp>
      <p:sp>
        <p:nvSpPr>
          <p:cNvPr id="36" name="Shape 34"/>
          <p:cNvSpPr/>
          <p:nvPr/>
        </p:nvSpPr>
        <p:spPr>
          <a:xfrm>
            <a:off x="4709160" y="2514600"/>
            <a:ext cx="4114800" cy="233172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37" name="Text 35"/>
          <p:cNvSpPr/>
          <p:nvPr/>
        </p:nvSpPr>
        <p:spPr>
          <a:xfrm>
            <a:off x="4846320" y="2560320"/>
            <a:ext cx="3840480" cy="274320"/>
          </a:xfrm>
          <a:prstGeom prst="rect">
            <a:avLst/>
          </a:prstGeom>
          <a:noFill/>
          <a:ln/>
        </p:spPr>
        <p:txBody>
          <a:bodyPr wrap="square" lIns="0" tIns="0" rIns="0" bIns="0" rtlCol="0" anchor="ctr"/>
          <a:lstStyle/>
          <a:p>
            <a:pPr marL="0" indent="0" algn="ctr">
              <a:buNone/>
            </a:pPr>
            <a:r>
              <a:rPr lang="en-US" sz="1100" dirty="0">
                <a:solidFill>
                  <a:srgbClr val="8B949E"/>
                </a:solidFill>
              </a:rPr>
              <a:t>Binary Cross-Entropy Loss</a:t>
            </a:r>
            <a:endParaRPr lang="en-US" sz="1100" dirty="0"/>
          </a:p>
        </p:txBody>
      </p:sp>
      <p:sp>
        <p:nvSpPr>
          <p:cNvPr id="38" name="Text 36"/>
          <p:cNvSpPr/>
          <p:nvPr/>
        </p:nvSpPr>
        <p:spPr>
          <a:xfrm>
            <a:off x="4800600" y="2880360"/>
            <a:ext cx="3977640" cy="548640"/>
          </a:xfrm>
          <a:prstGeom prst="rect">
            <a:avLst/>
          </a:prstGeom>
          <a:noFill/>
          <a:ln/>
        </p:spPr>
        <p:txBody>
          <a:bodyPr wrap="square" lIns="0" tIns="0" rIns="0" bIns="0" rtlCol="0" anchor="ctr"/>
          <a:lstStyle/>
          <a:p>
            <a:pPr marL="0" indent="0" algn="ctr">
              <a:buNone/>
            </a:pPr>
            <a:r>
              <a:rPr lang="en-US" sz="1100" b="1" dirty="0">
                <a:solidFill>
                  <a:srgbClr val="BC8CFF"/>
                </a:solidFill>
              </a:rPr>
              <a:t>L = -1/n * S[ y*log(y_hat) + (1-y)*log(1-y_hat) ]</a:t>
            </a:r>
            <a:endParaRPr lang="en-US" sz="1100" dirty="0"/>
          </a:p>
        </p:txBody>
      </p:sp>
      <p:sp>
        <p:nvSpPr>
          <p:cNvPr id="39" name="Text 37"/>
          <p:cNvSpPr/>
          <p:nvPr/>
        </p:nvSpPr>
        <p:spPr>
          <a:xfrm>
            <a:off x="4846320" y="3493008"/>
            <a:ext cx="3931920" cy="1188720"/>
          </a:xfrm>
          <a:prstGeom prst="rect">
            <a:avLst/>
          </a:prstGeom>
          <a:noFill/>
          <a:ln/>
        </p:spPr>
        <p:txBody>
          <a:bodyPr wrap="square" lIns="0" tIns="0" rIns="0" bIns="0" rtlCol="0" anchor="ctr"/>
          <a:lstStyle/>
          <a:p>
            <a:pPr marL="0" indent="0">
              <a:buNone/>
            </a:pPr>
            <a:r>
              <a:rPr lang="en-US" sz="1100" dirty="0">
                <a:solidFill>
                  <a:srgbClr val="F0F6FC"/>
                </a:solidFill>
              </a:rPr>
              <a:t>- When y=1: penalizes low y_hat
- When y=0: penalizes high y_hat
</a:t>
            </a:r>
            <a:r>
              <a:rPr lang="en-US" sz="1100" dirty="0">
                <a:solidFill>
                  <a:srgbClr val="3FB950"/>
                </a:solidFill>
              </a:rPr>
              <a:t>- Perfect prediction: Loss = 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BC8CFF"/>
          </a:solidFill>
          <a:ln w="12700">
            <a:solidFill>
              <a:srgbClr val="BC8C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0F6FC"/>
                </a:solidFill>
                <a:effectLst/>
                <a:uLnTx/>
                <a:uFillTx/>
                <a:latin typeface="Calibri" panose="020F0502020204030204"/>
                <a:ea typeface="+mn-ea"/>
                <a:cs typeface="+mn-cs"/>
              </a:rPr>
              <a:t>Logistic Regression — Numeric Example</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BC8CFF"/>
                </a:solidFill>
                <a:effectLst/>
                <a:uLnTx/>
                <a:uFillTx/>
                <a:latin typeface="Calibri" panose="020F0502020204030204"/>
                <a:ea typeface="+mn-ea"/>
                <a:cs typeface="+mn-cs"/>
              </a:rPr>
              <a:t>Spam detection: is this email spam?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320040" y="1024128"/>
            <a:ext cx="8503920" cy="0"/>
          </a:xfrm>
          <a:prstGeom prst="line">
            <a:avLst/>
          </a:prstGeom>
          <a:noFill/>
          <a:ln w="12700">
            <a:solidFill>
              <a:srgbClr val="BC8C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320040" y="1170432"/>
            <a:ext cx="8503920" cy="594360"/>
          </a:xfrm>
          <a:prstGeom prst="rect">
            <a:avLst/>
          </a:prstGeom>
          <a:solidFill>
            <a:srgbClr val="21262D"/>
          </a:solidFill>
          <a:ln w="19050">
            <a:solidFill>
              <a:srgbClr val="BC8CFF"/>
            </a:solidFill>
            <a:prstDash val="solid"/>
          </a:ln>
          <a:effectLst>
            <a:outerShdw blurRad="127000" dist="38100" dir="81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502920" y="1170432"/>
            <a:ext cx="83210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BC8CFF"/>
                </a:solidFill>
                <a:effectLst/>
                <a:uLnTx/>
                <a:uFillTx/>
                <a:latin typeface="Calibri" panose="020F0502020204030204"/>
                <a:ea typeface="+mn-ea"/>
                <a:cs typeface="+mn-cs"/>
              </a:rPr>
              <a:t>Task: </a:t>
            </a:r>
            <a:r>
              <a:rPr kumimoji="0" lang="en-US" sz="1200" b="0" i="0" u="none" strike="noStrike" kern="1200" cap="none" spc="0" normalizeH="0" baseline="0" noProof="0" dirty="0">
                <a:ln>
                  <a:noFill/>
                </a:ln>
                <a:solidFill>
                  <a:srgbClr val="F0F6FC"/>
                </a:solidFill>
                <a:effectLst/>
                <a:uLnTx/>
                <a:uFillTx/>
                <a:latin typeface="Calibri" panose="020F0502020204030204"/>
                <a:ea typeface="+mn-ea"/>
                <a:cs typeface="+mn-cs"/>
              </a:rPr>
              <a:t>Given 3 features of an email, predict </a:t>
            </a:r>
            <a:r>
              <a:rPr kumimoji="0" lang="en-US" sz="1200" b="1" i="0" u="none" strike="noStrike" kern="1200" cap="none" spc="0" normalizeH="0" baseline="0" noProof="0" dirty="0">
                <a:ln>
                  <a:noFill/>
                </a:ln>
                <a:solidFill>
                  <a:srgbClr val="FF7B72"/>
                </a:solidFill>
                <a:effectLst/>
                <a:uLnTx/>
                <a:uFillTx/>
                <a:latin typeface="Calibri" panose="020F0502020204030204"/>
                <a:ea typeface="+mn-ea"/>
                <a:cs typeface="+mn-cs"/>
              </a:rPr>
              <a:t>SPAM (1)  </a:t>
            </a:r>
            <a:r>
              <a:rPr kumimoji="0" lang="en-US" sz="1200" b="0" i="0" u="none" strike="noStrike" kern="1200" cap="none" spc="0" normalizeH="0" baseline="0" noProof="0" dirty="0">
                <a:ln>
                  <a:noFill/>
                </a:ln>
                <a:solidFill>
                  <a:srgbClr val="F0F6FC"/>
                </a:solidFill>
                <a:effectLst/>
                <a:uLnTx/>
                <a:uFillTx/>
                <a:latin typeface="Calibri" panose="020F0502020204030204"/>
                <a:ea typeface="+mn-ea"/>
                <a:cs typeface="+mn-cs"/>
              </a:rPr>
              <a:t>or  </a:t>
            </a:r>
            <a:r>
              <a:rPr kumimoji="0" lang="en-US" sz="1200" b="1" i="0" u="none" strike="noStrike" kern="1200" cap="none" spc="0" normalizeH="0" baseline="0" noProof="0" dirty="0">
                <a:ln>
                  <a:noFill/>
                </a:ln>
                <a:solidFill>
                  <a:srgbClr val="3FB950"/>
                </a:solidFill>
                <a:effectLst/>
                <a:uLnTx/>
                <a:uFillTx/>
                <a:latin typeface="Calibri" panose="020F0502020204030204"/>
                <a:ea typeface="+mn-ea"/>
                <a:cs typeface="+mn-cs"/>
              </a:rPr>
              <a:t>NOT SPAM (0)</a:t>
            </a:r>
            <a:r>
              <a:rPr kumimoji="0" lang="en-US" sz="1200" b="0" i="0" u="none" strike="noStrike" kern="1200" cap="none" spc="0" normalizeH="0" baseline="0" noProof="0" dirty="0">
                <a:ln>
                  <a:noFill/>
                </a:ln>
                <a:solidFill>
                  <a:srgbClr val="8B949E"/>
                </a:solidFill>
                <a:effectLst/>
                <a:uLnTx/>
                <a:uFillTx/>
                <a:latin typeface="Calibri" panose="020F0502020204030204"/>
                <a:ea typeface="+mn-ea"/>
                <a:cs typeface="+mn-cs"/>
              </a:rPr>
              <a:t>    — using weights  w = [0.8, 1.2, −0.5]  and bias  b = −1.0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20040" y="1874520"/>
            <a:ext cx="3200400" cy="301752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920240"/>
            <a:ext cx="29260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B949E"/>
                </a:solidFill>
                <a:effectLst/>
                <a:uLnTx/>
                <a:uFillTx/>
                <a:latin typeface="Calibri" panose="020F0502020204030204"/>
                <a:ea typeface="+mn-ea"/>
                <a:cs typeface="+mn-cs"/>
              </a:rPr>
              <a:t>Input Email Features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411480" y="2304288"/>
            <a:ext cx="3017520" cy="694944"/>
          </a:xfrm>
          <a:prstGeom prst="roundRect">
            <a:avLst>
              <a:gd name="adj" fmla="val 7895"/>
            </a:avLst>
          </a:prstGeom>
          <a:solidFill>
            <a:srgbClr val="21262D"/>
          </a:solidFill>
          <a:ln w="15240">
            <a:solidFill>
              <a:srgbClr val="FF7B7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502920" y="2340864"/>
            <a:ext cx="3657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7B72"/>
                </a:solidFill>
                <a:effectLst/>
                <a:uLnTx/>
                <a:uFillTx/>
                <a:latin typeface="Calibri" panose="020F0502020204030204"/>
                <a:ea typeface="+mn-ea"/>
                <a:cs typeface="+mn-cs"/>
              </a:rPr>
              <a:t>x₁</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896112" y="2340864"/>
            <a:ext cx="2423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7B72"/>
                </a:solidFill>
                <a:effectLst/>
                <a:uLnTx/>
                <a:uFillTx/>
                <a:latin typeface="Calibri" panose="020F0502020204030204"/>
                <a:ea typeface="+mn-ea"/>
                <a:cs typeface="+mn-cs"/>
              </a:rPr>
              <a:t># of links in email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896112" y="2578608"/>
            <a:ext cx="100584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F0F6FC"/>
                </a:solidFill>
                <a:effectLst/>
                <a:uLnTx/>
                <a:uFillTx/>
                <a:latin typeface="Calibri" panose="020F0502020204030204"/>
                <a:ea typeface="+mn-ea"/>
                <a:cs typeface="+mn-cs"/>
              </a:rPr>
              <a:t>= 3</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938528" y="2578608"/>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B949E"/>
                </a:solidFill>
                <a:effectLst/>
                <a:uLnTx/>
                <a:uFillTx/>
                <a:latin typeface="Calibri" panose="020F0502020204030204"/>
                <a:ea typeface="+mn-ea"/>
                <a:cs typeface="+mn-cs"/>
              </a:rPr>
              <a:t>w = 0.8</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502920" y="2798064"/>
            <a:ext cx="28803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dirty="0">
                <a:ln>
                  <a:noFill/>
                </a:ln>
                <a:solidFill>
                  <a:srgbClr val="8B949E"/>
                </a:solidFill>
                <a:effectLst/>
                <a:uLnTx/>
                <a:uFillTx/>
                <a:latin typeface="Calibri" panose="020F0502020204030204"/>
                <a:ea typeface="+mn-ea"/>
                <a:cs typeface="+mn-cs"/>
              </a:rPr>
              <a:t>Many links = suspicious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411480" y="3108960"/>
            <a:ext cx="3017520" cy="694944"/>
          </a:xfrm>
          <a:prstGeom prst="roundRect">
            <a:avLst>
              <a:gd name="adj" fmla="val 7895"/>
            </a:avLst>
          </a:prstGeom>
          <a:solidFill>
            <a:srgbClr val="21262D"/>
          </a:solidFill>
          <a:ln w="1524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502920" y="3145536"/>
            <a:ext cx="3657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0883E"/>
                </a:solidFill>
                <a:effectLst/>
                <a:uLnTx/>
                <a:uFillTx/>
                <a:latin typeface="Calibri" panose="020F0502020204030204"/>
                <a:ea typeface="+mn-ea"/>
                <a:cs typeface="+mn-cs"/>
              </a:rPr>
              <a:t>x₂</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896112" y="3145536"/>
            <a:ext cx="2423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0883E"/>
                </a:solidFill>
                <a:effectLst/>
                <a:uLnTx/>
                <a:uFillTx/>
                <a:latin typeface="Calibri" panose="020F0502020204030204"/>
                <a:ea typeface="+mn-ea"/>
                <a:cs typeface="+mn-cs"/>
              </a:rPr>
              <a:t>Contains 'FREE'?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96112" y="3383280"/>
            <a:ext cx="100584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F0F6FC"/>
                </a:solidFill>
                <a:effectLst/>
                <a:uLnTx/>
                <a:uFillTx/>
                <a:latin typeface="Calibri" panose="020F0502020204030204"/>
                <a:ea typeface="+mn-ea"/>
                <a:cs typeface="+mn-cs"/>
              </a:rPr>
              <a:t>= 1  (yes)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938528" y="3383280"/>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B949E"/>
                </a:solidFill>
                <a:effectLst/>
                <a:uLnTx/>
                <a:uFillTx/>
                <a:latin typeface="Calibri" panose="020F0502020204030204"/>
                <a:ea typeface="+mn-ea"/>
                <a:cs typeface="+mn-cs"/>
              </a:rPr>
              <a:t>w = 1.2</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3602736"/>
            <a:ext cx="28803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dirty="0">
                <a:ln>
                  <a:noFill/>
                </a:ln>
                <a:solidFill>
                  <a:srgbClr val="8B949E"/>
                </a:solidFill>
                <a:effectLst/>
                <a:uLnTx/>
                <a:uFillTx/>
                <a:latin typeface="Calibri" panose="020F0502020204030204"/>
                <a:ea typeface="+mn-ea"/>
                <a:cs typeface="+mn-cs"/>
              </a:rPr>
              <a:t>Spam keyword flag</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11480" y="3913632"/>
            <a:ext cx="3017520" cy="694944"/>
          </a:xfrm>
          <a:prstGeom prst="roundRect">
            <a:avLst>
              <a:gd name="adj" fmla="val 7895"/>
            </a:avLst>
          </a:prstGeom>
          <a:solidFill>
            <a:srgbClr val="21262D"/>
          </a:solidFill>
          <a:ln w="15240">
            <a:solidFill>
              <a:srgbClr val="58A6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502920" y="3950208"/>
            <a:ext cx="3657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58A6FF"/>
                </a:solidFill>
                <a:effectLst/>
                <a:uLnTx/>
                <a:uFillTx/>
                <a:latin typeface="Calibri" panose="020F0502020204030204"/>
                <a:ea typeface="+mn-ea"/>
                <a:cs typeface="+mn-cs"/>
              </a:rPr>
              <a:t>x₃</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896112" y="3950208"/>
            <a:ext cx="24231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58A6FF"/>
                </a:solidFill>
                <a:effectLst/>
                <a:uLnTx/>
                <a:uFillTx/>
                <a:latin typeface="Calibri" panose="020F0502020204030204"/>
                <a:ea typeface="+mn-ea"/>
                <a:cs typeface="+mn-cs"/>
              </a:rPr>
              <a:t>Email length (100s)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896112" y="4187952"/>
            <a:ext cx="100584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F0F6FC"/>
                </a:solidFill>
                <a:effectLst/>
                <a:uLnTx/>
                <a:uFillTx/>
                <a:latin typeface="Calibri" panose="020F0502020204030204"/>
                <a:ea typeface="+mn-ea"/>
                <a:cs typeface="+mn-cs"/>
              </a:rPr>
              <a:t>= 0.5</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1938528" y="4187952"/>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B949E"/>
                </a:solidFill>
                <a:effectLst/>
                <a:uLnTx/>
                <a:uFillTx/>
                <a:latin typeface="Calibri" panose="020F0502020204030204"/>
                <a:ea typeface="+mn-ea"/>
                <a:cs typeface="+mn-cs"/>
              </a:rPr>
              <a:t>w = −0.5</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502920" y="4407408"/>
            <a:ext cx="28803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1" u="none" strike="noStrike" kern="1200" cap="none" spc="0" normalizeH="0" baseline="0" noProof="0" dirty="0">
                <a:ln>
                  <a:noFill/>
                </a:ln>
                <a:solidFill>
                  <a:srgbClr val="8B949E"/>
                </a:solidFill>
                <a:effectLst/>
                <a:uLnTx/>
                <a:uFillTx/>
                <a:latin typeface="Calibri" panose="020F0502020204030204"/>
                <a:ea typeface="+mn-ea"/>
                <a:cs typeface="+mn-cs"/>
              </a:rPr>
              <a:t>Very short = suspicious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3657600" y="1874520"/>
            <a:ext cx="2971800" cy="301752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3794760" y="1920240"/>
            <a:ext cx="26974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B949E"/>
                </a:solidFill>
                <a:effectLst/>
                <a:uLnTx/>
                <a:uFillTx/>
                <a:latin typeface="Calibri" panose="020F0502020204030204"/>
                <a:ea typeface="+mn-ea"/>
                <a:cs typeface="+mn-cs"/>
              </a:rPr>
              <a:t>Step-by-Step Computation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3749040" y="2267712"/>
            <a:ext cx="2788920" cy="237744"/>
          </a:xfrm>
          <a:prstGeom prst="rect">
            <a:avLst/>
          </a:prstGeom>
          <a:solidFill>
            <a:srgbClr val="58A6FF"/>
          </a:solidFill>
          <a:ln w="12700">
            <a:solidFill>
              <a:srgbClr val="58A6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3794760" y="2267712"/>
            <a:ext cx="269748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0F6FC"/>
                </a:solidFill>
                <a:effectLst/>
                <a:uLnTx/>
                <a:uFillTx/>
                <a:latin typeface="Calibri" panose="020F0502020204030204"/>
                <a:ea typeface="+mn-ea"/>
                <a:cs typeface="+mn-cs"/>
              </a:rPr>
              <a:t>STEP 1  — Linear combination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3794760" y="2560320"/>
            <a:ext cx="269748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F0F6FC"/>
                </a:solidFill>
                <a:effectLst/>
                <a:uLnTx/>
                <a:uFillTx/>
                <a:latin typeface="Calibri" panose="020F0502020204030204"/>
                <a:ea typeface="+mn-ea"/>
                <a:cs typeface="+mn-cs"/>
              </a:rPr>
              <a:t>z = w₁x₁ + w₂x₂ + w₃x₃ + b</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3794760" y="2788920"/>
            <a:ext cx="269748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B949E"/>
                </a:solidFill>
                <a:effectLst/>
                <a:uLnTx/>
                <a:uFillTx/>
                <a:latin typeface="Calibri" panose="020F0502020204030204"/>
                <a:ea typeface="+mn-ea"/>
                <a:cs typeface="+mn-cs"/>
              </a:rPr>
              <a:t>  = 0.8×3 + 1.2×1 + (−0.5)×0.5 + (−1.0)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3794760" y="2999232"/>
            <a:ext cx="269748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B949E"/>
                </a:solidFill>
                <a:effectLst/>
                <a:uLnTx/>
                <a:uFillTx/>
                <a:latin typeface="Calibri" panose="020F0502020204030204"/>
                <a:ea typeface="+mn-ea"/>
                <a:cs typeface="+mn-cs"/>
              </a:rPr>
              <a:t>  = 2.4 + 1.2 − 0.25 − 1.0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3749040" y="3255264"/>
            <a:ext cx="2788920" cy="256032"/>
          </a:xfrm>
          <a:prstGeom prst="roundRect">
            <a:avLst>
              <a:gd name="adj" fmla="val 17857"/>
            </a:avLst>
          </a:prstGeom>
          <a:solidFill>
            <a:srgbClr val="21262D"/>
          </a:solidFill>
          <a:ln w="12700">
            <a:solidFill>
              <a:srgbClr val="58A6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3822192" y="3255264"/>
            <a:ext cx="2642616"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58A6FF"/>
                </a:solidFill>
                <a:effectLst/>
                <a:uLnTx/>
                <a:uFillTx/>
                <a:latin typeface="Calibri" panose="020F0502020204030204"/>
                <a:ea typeface="+mn-ea"/>
                <a:cs typeface="+mn-cs"/>
              </a:rPr>
              <a:t>z = 2.35</a:t>
            </a:r>
            <a:r>
              <a:rPr kumimoji="0" lang="en-US" sz="950" b="0" i="0" u="none" strike="noStrike" kern="1200" cap="none" spc="0" normalizeH="0" baseline="0" noProof="0" dirty="0">
                <a:ln>
                  <a:noFill/>
                </a:ln>
                <a:solidFill>
                  <a:srgbClr val="8B949E"/>
                </a:solidFill>
                <a:effectLst/>
                <a:uLnTx/>
                <a:uFillTx/>
                <a:latin typeface="Calibri" panose="020F0502020204030204"/>
                <a:ea typeface="+mn-ea"/>
                <a:cs typeface="+mn-cs"/>
              </a:rPr>
              <a:t>  (raw score)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3749040" y="3602736"/>
            <a:ext cx="2788920" cy="237744"/>
          </a:xfrm>
          <a:prstGeom prst="rect">
            <a:avLst/>
          </a:prstGeom>
          <a:solidFill>
            <a:srgbClr val="BC8CFF"/>
          </a:solidFill>
          <a:ln w="12700">
            <a:solidFill>
              <a:srgbClr val="BC8C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3794760" y="3602736"/>
            <a:ext cx="269748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0F6FC"/>
                </a:solidFill>
                <a:effectLst/>
                <a:uLnTx/>
                <a:uFillTx/>
                <a:latin typeface="Calibri" panose="020F0502020204030204"/>
                <a:ea typeface="+mn-ea"/>
                <a:cs typeface="+mn-cs"/>
              </a:rPr>
              <a:t>STEP 2  — Sigmoid activation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3794760" y="3895344"/>
            <a:ext cx="269748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F0F6FC"/>
                </a:solidFill>
                <a:effectLst/>
                <a:uLnTx/>
                <a:uFillTx/>
                <a:latin typeface="Calibri" panose="020F0502020204030204"/>
                <a:ea typeface="+mn-ea"/>
                <a:cs typeface="+mn-cs"/>
              </a:rPr>
              <a:t>σ(z) = 1 / (1 + e^−z)</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3794760" y="4114800"/>
            <a:ext cx="269748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B949E"/>
                </a:solidFill>
                <a:effectLst/>
                <a:uLnTx/>
                <a:uFillTx/>
                <a:latin typeface="Calibri" panose="020F0502020204030204"/>
                <a:ea typeface="+mn-ea"/>
                <a:cs typeface="+mn-cs"/>
              </a:rPr>
              <a:t>     = 1 / (1 + e^−2.35)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3794760" y="4325112"/>
            <a:ext cx="269748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B949E"/>
                </a:solidFill>
                <a:effectLst/>
                <a:uLnTx/>
                <a:uFillTx/>
                <a:latin typeface="Calibri" panose="020F0502020204030204"/>
                <a:ea typeface="+mn-ea"/>
                <a:cs typeface="+mn-cs"/>
              </a:rPr>
              <a:t>     = 1 / (1 + 0.095)  =  1 / 1.095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3749040" y="4590288"/>
            <a:ext cx="2788920" cy="256032"/>
          </a:xfrm>
          <a:prstGeom prst="roundRect">
            <a:avLst>
              <a:gd name="adj" fmla="val 17857"/>
            </a:avLst>
          </a:prstGeom>
          <a:solidFill>
            <a:srgbClr val="21262D"/>
          </a:solidFill>
          <a:ln w="12700">
            <a:solidFill>
              <a:srgbClr val="BC8C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1"/>
          <p:cNvSpPr/>
          <p:nvPr/>
        </p:nvSpPr>
        <p:spPr>
          <a:xfrm>
            <a:off x="3822192" y="4590288"/>
            <a:ext cx="2642616"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BC8CFF"/>
                </a:solidFill>
                <a:effectLst/>
                <a:uLnTx/>
                <a:uFillTx/>
                <a:latin typeface="Calibri" panose="020F0502020204030204"/>
                <a:ea typeface="+mn-ea"/>
                <a:cs typeface="+mn-cs"/>
              </a:rPr>
              <a:t>ŷ = 0.913</a:t>
            </a:r>
            <a:r>
              <a:rPr kumimoji="0" lang="en-US" sz="950" b="0" i="0" u="none" strike="noStrike" kern="1200" cap="none" spc="0" normalizeH="0" baseline="0" noProof="0" dirty="0">
                <a:ln>
                  <a:noFill/>
                </a:ln>
                <a:solidFill>
                  <a:srgbClr val="8B949E"/>
                </a:solidFill>
                <a:effectLst/>
                <a:uLnTx/>
                <a:uFillTx/>
                <a:latin typeface="Calibri" panose="020F0502020204030204"/>
                <a:ea typeface="+mn-ea"/>
                <a:cs typeface="+mn-cs"/>
              </a:rPr>
              <a:t>  (91.3% spam!)</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42"/>
          <p:cNvSpPr/>
          <p:nvPr/>
        </p:nvSpPr>
        <p:spPr>
          <a:xfrm>
            <a:off x="6766560" y="1874520"/>
            <a:ext cx="2057400" cy="301752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Text 43"/>
          <p:cNvSpPr/>
          <p:nvPr/>
        </p:nvSpPr>
        <p:spPr>
          <a:xfrm>
            <a:off x="6858000" y="1920240"/>
            <a:ext cx="18745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B949E"/>
                </a:solidFill>
                <a:effectLst/>
                <a:uLnTx/>
                <a:uFillTx/>
                <a:latin typeface="Calibri" panose="020F0502020204030204"/>
                <a:ea typeface="+mn-ea"/>
                <a:cs typeface="+mn-cs"/>
              </a:rPr>
              <a:t>Decision &amp; Loss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44"/>
          <p:cNvSpPr/>
          <p:nvPr/>
        </p:nvSpPr>
        <p:spPr>
          <a:xfrm>
            <a:off x="6858000" y="2286000"/>
            <a:ext cx="187452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B949E"/>
                </a:solidFill>
                <a:effectLst/>
                <a:uLnTx/>
                <a:uFillTx/>
                <a:latin typeface="Calibri" panose="020F0502020204030204"/>
                <a:ea typeface="+mn-ea"/>
                <a:cs typeface="+mn-cs"/>
              </a:rPr>
              <a:t>P(spam)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5"/>
          <p:cNvSpPr/>
          <p:nvPr/>
        </p:nvSpPr>
        <p:spPr>
          <a:xfrm>
            <a:off x="6931152" y="2542032"/>
            <a:ext cx="1719072" cy="320040"/>
          </a:xfrm>
          <a:prstGeom prst="rect">
            <a:avLst/>
          </a:prstGeom>
          <a:solidFill>
            <a:srgbClr val="21262D"/>
          </a:solidFill>
          <a:ln w="12700">
            <a:solidFill>
              <a:srgbClr val="2126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p:cNvSpPr/>
          <p:nvPr/>
        </p:nvSpPr>
        <p:spPr>
          <a:xfrm>
            <a:off x="6931152" y="2542032"/>
            <a:ext cx="1569513" cy="320040"/>
          </a:xfrm>
          <a:prstGeom prst="rect">
            <a:avLst/>
          </a:prstGeom>
          <a:solidFill>
            <a:srgbClr val="FF7B72"/>
          </a:solidFill>
          <a:ln w="12700">
            <a:solidFill>
              <a:srgbClr val="FF7B7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7"/>
          <p:cNvSpPr/>
          <p:nvPr/>
        </p:nvSpPr>
        <p:spPr>
          <a:xfrm>
            <a:off x="6931152" y="2542032"/>
            <a:ext cx="1719072" cy="320040"/>
          </a:xfrm>
          <a:prstGeom prst="rect">
            <a:avLst/>
          </a:prstGeom>
          <a:noFill/>
          <a:ln/>
        </p:spPr>
        <p:txBody>
          <a:bodyPr wrap="square" lIns="0" tIns="0" rIns="5080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0F6FC"/>
                </a:solidFill>
                <a:effectLst/>
                <a:uLnTx/>
                <a:uFillTx/>
                <a:latin typeface="Calibri" panose="020F0502020204030204"/>
                <a:ea typeface="+mn-ea"/>
                <a:cs typeface="+mn-cs"/>
              </a:rPr>
              <a:t>91.3%</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8"/>
          <p:cNvSpPr/>
          <p:nvPr/>
        </p:nvSpPr>
        <p:spPr>
          <a:xfrm>
            <a:off x="6858000" y="2926080"/>
            <a:ext cx="187452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8B949E"/>
                </a:solidFill>
                <a:effectLst/>
                <a:uLnTx/>
                <a:uFillTx/>
                <a:latin typeface="Calibri" panose="020F0502020204030204"/>
                <a:ea typeface="+mn-ea"/>
                <a:cs typeface="+mn-cs"/>
              </a:rPr>
              <a:t>Threshold = 0.5</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49"/>
          <p:cNvSpPr/>
          <p:nvPr/>
        </p:nvSpPr>
        <p:spPr>
          <a:xfrm>
            <a:off x="6858000" y="3182112"/>
            <a:ext cx="1874520" cy="502920"/>
          </a:xfrm>
          <a:prstGeom prst="roundRect">
            <a:avLst>
              <a:gd name="adj" fmla="val 14545"/>
            </a:avLst>
          </a:prstGeom>
          <a:solidFill>
            <a:srgbClr val="FF7B72"/>
          </a:solidFill>
          <a:ln w="12700">
            <a:solidFill>
              <a:srgbClr val="FF7B7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50"/>
          <p:cNvSpPr/>
          <p:nvPr/>
        </p:nvSpPr>
        <p:spPr>
          <a:xfrm>
            <a:off x="6858000" y="3182112"/>
            <a:ext cx="18745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0F6FC"/>
                </a:solidFill>
                <a:effectLst/>
                <a:uLnTx/>
                <a:uFillTx/>
                <a:latin typeface="Calibri" panose="020F0502020204030204"/>
                <a:ea typeface="+mn-ea"/>
                <a:cs typeface="+mn-cs"/>
              </a:rPr>
              <a:t>SPAM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0F6FC"/>
                </a:solidFill>
                <a:effectLst/>
                <a:uLnTx/>
                <a:uFillTx/>
                <a:latin typeface="Calibri" panose="020F0502020204030204"/>
                <a:ea typeface="+mn-ea"/>
                <a:cs typeface="+mn-cs"/>
              </a:rPr>
              <a:t>(ŷ &gt; 0.5)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1"/>
          <p:cNvSpPr/>
          <p:nvPr/>
        </p:nvSpPr>
        <p:spPr>
          <a:xfrm>
            <a:off x="6858000" y="3785616"/>
            <a:ext cx="1874520" cy="0"/>
          </a:xfrm>
          <a:prstGeom prst="line">
            <a:avLst/>
          </a:prstGeom>
          <a:noFill/>
          <a:ln w="12700">
            <a:solidFill>
              <a:srgbClr val="21262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52"/>
          <p:cNvSpPr/>
          <p:nvPr/>
        </p:nvSpPr>
        <p:spPr>
          <a:xfrm>
            <a:off x="6858000" y="3840480"/>
            <a:ext cx="187452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8B949E"/>
                </a:solidFill>
                <a:effectLst/>
                <a:uLnTx/>
                <a:uFillTx/>
                <a:latin typeface="Calibri" panose="020F0502020204030204"/>
                <a:ea typeface="+mn-ea"/>
                <a:cs typeface="+mn-cs"/>
              </a:rPr>
              <a:t>Cross-Entropy Loss: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53"/>
          <p:cNvSpPr/>
          <p:nvPr/>
        </p:nvSpPr>
        <p:spPr>
          <a:xfrm>
            <a:off x="6858000" y="4096512"/>
            <a:ext cx="187452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F0F6FC"/>
                </a:solidFill>
                <a:effectLst/>
                <a:uLnTx/>
                <a:uFillTx/>
                <a:latin typeface="Calibri" panose="020F0502020204030204"/>
                <a:ea typeface="+mn-ea"/>
                <a:cs typeface="+mn-cs"/>
              </a:rPr>
              <a:t>true label y = 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F0F6FC"/>
                </a:solidFill>
                <a:effectLst/>
                <a:uLnTx/>
                <a:uFillTx/>
                <a:latin typeface="Calibri" panose="020F0502020204030204"/>
                <a:ea typeface="+mn-ea"/>
                <a:cs typeface="+mn-cs"/>
              </a:rPr>
              <a:t>(it IS spam)</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4"/>
          <p:cNvSpPr/>
          <p:nvPr/>
        </p:nvSpPr>
        <p:spPr>
          <a:xfrm>
            <a:off x="6858000" y="4480560"/>
            <a:ext cx="187452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0883E"/>
                </a:solidFill>
                <a:effectLst/>
                <a:uLnTx/>
                <a:uFillTx/>
                <a:latin typeface="Calibri" panose="020F0502020204030204"/>
                <a:ea typeface="+mn-ea"/>
                <a:cs typeface="+mn-cs"/>
              </a:rPr>
              <a:t>L = −log(0.913)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Shape 55"/>
          <p:cNvSpPr/>
          <p:nvPr/>
        </p:nvSpPr>
        <p:spPr>
          <a:xfrm>
            <a:off x="6858000" y="4736592"/>
            <a:ext cx="1874520" cy="256032"/>
          </a:xfrm>
          <a:prstGeom prst="roundRect">
            <a:avLst>
              <a:gd name="adj" fmla="val 17857"/>
            </a:avLst>
          </a:prstGeom>
          <a:solidFill>
            <a:srgbClr val="21262D"/>
          </a:solidFill>
          <a:ln w="19050">
            <a:solidFill>
              <a:srgbClr val="3FB95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6"/>
          <p:cNvSpPr/>
          <p:nvPr/>
        </p:nvSpPr>
        <p:spPr>
          <a:xfrm>
            <a:off x="6858000" y="4736592"/>
            <a:ext cx="18745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3FB950"/>
                </a:solidFill>
                <a:effectLst/>
                <a:uLnTx/>
                <a:uFillTx/>
                <a:latin typeface="Calibri" panose="020F0502020204030204"/>
                <a:ea typeface="+mn-ea"/>
                <a:cs typeface="+mn-cs"/>
              </a:rPr>
              <a:t>L = 0.091  ✓ low!</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58A6FF"/>
          </a:solidFill>
          <a:ln w="12700">
            <a:solidFill>
              <a:srgbClr val="58A6FF"/>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K-Nearest Neighbors (KNN)</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58A6FF"/>
                </a:solidFill>
              </a:rPr>
              <a:t>Tell me who your neighbors are...</a:t>
            </a:r>
            <a:endParaRPr lang="en-US" sz="1200" dirty="0"/>
          </a:p>
        </p:txBody>
      </p:sp>
      <p:sp>
        <p:nvSpPr>
          <p:cNvPr id="5" name="Shape 3"/>
          <p:cNvSpPr/>
          <p:nvPr/>
        </p:nvSpPr>
        <p:spPr>
          <a:xfrm>
            <a:off x="320040" y="1024128"/>
            <a:ext cx="8503920" cy="0"/>
          </a:xfrm>
          <a:prstGeom prst="line">
            <a:avLst/>
          </a:prstGeom>
          <a:noFill/>
          <a:ln w="12700">
            <a:solidFill>
              <a:srgbClr val="58A6FF"/>
            </a:solidFill>
            <a:prstDash val="solid"/>
          </a:ln>
        </p:spPr>
        <p:txBody>
          <a:bodyPr/>
          <a:lstStyle/>
          <a:p>
            <a:endParaRPr lang="fr-FR"/>
          </a:p>
        </p:txBody>
      </p:sp>
      <p:sp>
        <p:nvSpPr>
          <p:cNvPr id="6" name="Shape 4"/>
          <p:cNvSpPr/>
          <p:nvPr/>
        </p:nvSpPr>
        <p:spPr>
          <a:xfrm>
            <a:off x="1234440" y="1170432"/>
            <a:ext cx="640080" cy="640080"/>
          </a:xfrm>
          <a:prstGeom prst="ellipse">
            <a:avLst/>
          </a:prstGeom>
          <a:solidFill>
            <a:srgbClr val="58A6FF"/>
          </a:solidFill>
          <a:ln w="1270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1234440" y="1170432"/>
            <a:ext cx="640080" cy="640080"/>
          </a:xfrm>
          <a:prstGeom prst="rect">
            <a:avLst/>
          </a:prstGeom>
          <a:noFill/>
          <a:ln/>
        </p:spPr>
        <p:txBody>
          <a:bodyPr wrap="square" lIns="0" tIns="0" rIns="0" bIns="0" rtlCol="0" anchor="ctr"/>
          <a:lstStyle/>
          <a:p>
            <a:pPr marL="0" indent="0" algn="ctr">
              <a:buNone/>
            </a:pPr>
            <a:r>
              <a:rPr lang="en-US" sz="1800" b="1" dirty="0">
                <a:solidFill>
                  <a:srgbClr val="F0F6FC"/>
                </a:solidFill>
              </a:rPr>
              <a:t>1</a:t>
            </a:r>
            <a:endParaRPr lang="en-US" sz="1800" dirty="0"/>
          </a:p>
        </p:txBody>
      </p:sp>
      <p:sp>
        <p:nvSpPr>
          <p:cNvPr id="8" name="Shape 6"/>
          <p:cNvSpPr/>
          <p:nvPr/>
        </p:nvSpPr>
        <p:spPr>
          <a:xfrm>
            <a:off x="320040" y="1874520"/>
            <a:ext cx="2651760" cy="1143000"/>
          </a:xfrm>
          <a:prstGeom prst="rect">
            <a:avLst/>
          </a:prstGeom>
          <a:solidFill>
            <a:srgbClr val="161B22"/>
          </a:solidFill>
          <a:ln w="1270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9" name="Text 7"/>
          <p:cNvSpPr/>
          <p:nvPr/>
        </p:nvSpPr>
        <p:spPr>
          <a:xfrm>
            <a:off x="411480" y="1920240"/>
            <a:ext cx="2468880" cy="347472"/>
          </a:xfrm>
          <a:prstGeom prst="rect">
            <a:avLst/>
          </a:prstGeom>
          <a:noFill/>
          <a:ln/>
        </p:spPr>
        <p:txBody>
          <a:bodyPr wrap="square" lIns="0" tIns="0" rIns="0" bIns="0" rtlCol="0" anchor="ctr"/>
          <a:lstStyle/>
          <a:p>
            <a:pPr marL="0" indent="0">
              <a:buNone/>
            </a:pPr>
            <a:r>
              <a:rPr lang="en-US" sz="1300" b="1" dirty="0">
                <a:solidFill>
                  <a:srgbClr val="58A6FF"/>
                </a:solidFill>
              </a:rPr>
              <a:t>Compute distance</a:t>
            </a:r>
            <a:endParaRPr lang="en-US" sz="1300" dirty="0"/>
          </a:p>
        </p:txBody>
      </p:sp>
      <p:sp>
        <p:nvSpPr>
          <p:cNvPr id="10" name="Text 8"/>
          <p:cNvSpPr/>
          <p:nvPr/>
        </p:nvSpPr>
        <p:spPr>
          <a:xfrm>
            <a:off x="411480" y="2286000"/>
            <a:ext cx="2468880" cy="658368"/>
          </a:xfrm>
          <a:prstGeom prst="rect">
            <a:avLst/>
          </a:prstGeom>
          <a:noFill/>
          <a:ln/>
        </p:spPr>
        <p:txBody>
          <a:bodyPr wrap="square" lIns="0" tIns="0" rIns="0" bIns="0" rtlCol="0" anchor="ctr"/>
          <a:lstStyle/>
          <a:p>
            <a:pPr marL="0" indent="0">
              <a:buNone/>
            </a:pPr>
            <a:r>
              <a:rPr lang="en-US" sz="1100" dirty="0">
                <a:solidFill>
                  <a:srgbClr val="8B949E"/>
                </a:solidFill>
              </a:rPr>
              <a:t>Euclidean: d = sqrt( S(a-b)^2 )</a:t>
            </a:r>
            <a:endParaRPr lang="en-US" sz="1100" dirty="0"/>
          </a:p>
        </p:txBody>
      </p:sp>
      <p:sp>
        <p:nvSpPr>
          <p:cNvPr id="11" name="Shape 9"/>
          <p:cNvSpPr/>
          <p:nvPr/>
        </p:nvSpPr>
        <p:spPr>
          <a:xfrm>
            <a:off x="2971800" y="2450592"/>
            <a:ext cx="274320" cy="0"/>
          </a:xfrm>
          <a:prstGeom prst="line">
            <a:avLst/>
          </a:prstGeom>
          <a:noFill/>
          <a:ln w="25400">
            <a:solidFill>
              <a:srgbClr val="58A6FF"/>
            </a:solidFill>
            <a:prstDash val="solid"/>
            <a:tailEnd type="arrow"/>
          </a:ln>
        </p:spPr>
        <p:txBody>
          <a:bodyPr/>
          <a:lstStyle/>
          <a:p>
            <a:endParaRPr lang="fr-FR"/>
          </a:p>
        </p:txBody>
      </p:sp>
      <p:sp>
        <p:nvSpPr>
          <p:cNvPr id="12" name="Shape 10"/>
          <p:cNvSpPr/>
          <p:nvPr/>
        </p:nvSpPr>
        <p:spPr>
          <a:xfrm>
            <a:off x="4160520" y="1170432"/>
            <a:ext cx="640080" cy="640080"/>
          </a:xfrm>
          <a:prstGeom prst="ellipse">
            <a:avLst/>
          </a:prstGeom>
          <a:solidFill>
            <a:srgbClr val="BC8CFF"/>
          </a:solidFill>
          <a:ln w="1270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13" name="Text 11"/>
          <p:cNvSpPr/>
          <p:nvPr/>
        </p:nvSpPr>
        <p:spPr>
          <a:xfrm>
            <a:off x="4160520" y="1170432"/>
            <a:ext cx="640080" cy="640080"/>
          </a:xfrm>
          <a:prstGeom prst="rect">
            <a:avLst/>
          </a:prstGeom>
          <a:noFill/>
          <a:ln/>
        </p:spPr>
        <p:txBody>
          <a:bodyPr wrap="square" lIns="0" tIns="0" rIns="0" bIns="0" rtlCol="0" anchor="ctr"/>
          <a:lstStyle/>
          <a:p>
            <a:pPr marL="0" indent="0" algn="ctr">
              <a:buNone/>
            </a:pPr>
            <a:r>
              <a:rPr lang="en-US" sz="1800" b="1" dirty="0">
                <a:solidFill>
                  <a:srgbClr val="F0F6FC"/>
                </a:solidFill>
              </a:rPr>
              <a:t>2</a:t>
            </a:r>
            <a:endParaRPr lang="en-US" sz="1800" dirty="0"/>
          </a:p>
        </p:txBody>
      </p:sp>
      <p:sp>
        <p:nvSpPr>
          <p:cNvPr id="14" name="Shape 12"/>
          <p:cNvSpPr/>
          <p:nvPr/>
        </p:nvSpPr>
        <p:spPr>
          <a:xfrm>
            <a:off x="3246120" y="1874520"/>
            <a:ext cx="2651760" cy="1143000"/>
          </a:xfrm>
          <a:prstGeom prst="rect">
            <a:avLst/>
          </a:prstGeom>
          <a:solidFill>
            <a:srgbClr val="161B22"/>
          </a:solidFill>
          <a:ln w="1270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15" name="Text 13"/>
          <p:cNvSpPr/>
          <p:nvPr/>
        </p:nvSpPr>
        <p:spPr>
          <a:xfrm>
            <a:off x="3337560" y="1920240"/>
            <a:ext cx="2468880" cy="347472"/>
          </a:xfrm>
          <a:prstGeom prst="rect">
            <a:avLst/>
          </a:prstGeom>
          <a:noFill/>
          <a:ln/>
        </p:spPr>
        <p:txBody>
          <a:bodyPr wrap="square" lIns="0" tIns="0" rIns="0" bIns="0" rtlCol="0" anchor="ctr"/>
          <a:lstStyle/>
          <a:p>
            <a:pPr marL="0" indent="0">
              <a:buNone/>
            </a:pPr>
            <a:r>
              <a:rPr lang="en-US" sz="1300" b="1" dirty="0">
                <a:solidFill>
                  <a:srgbClr val="BC8CFF"/>
                </a:solidFill>
              </a:rPr>
              <a:t>Find K nearest</a:t>
            </a:r>
            <a:endParaRPr lang="en-US" sz="1300" dirty="0"/>
          </a:p>
        </p:txBody>
      </p:sp>
      <p:sp>
        <p:nvSpPr>
          <p:cNvPr id="16" name="Text 14"/>
          <p:cNvSpPr/>
          <p:nvPr/>
        </p:nvSpPr>
        <p:spPr>
          <a:xfrm>
            <a:off x="3337560" y="2286000"/>
            <a:ext cx="2468880" cy="658368"/>
          </a:xfrm>
          <a:prstGeom prst="rect">
            <a:avLst/>
          </a:prstGeom>
          <a:noFill/>
          <a:ln/>
        </p:spPr>
        <p:txBody>
          <a:bodyPr wrap="square" lIns="0" tIns="0" rIns="0" bIns="0" rtlCol="0" anchor="ctr"/>
          <a:lstStyle/>
          <a:p>
            <a:pPr marL="0" indent="0">
              <a:buNone/>
            </a:pPr>
            <a:r>
              <a:rPr lang="en-US" sz="1100" dirty="0">
                <a:solidFill>
                  <a:srgbClr val="8B949E"/>
                </a:solidFill>
              </a:rPr>
              <a:t>Sort all distances, keep K smallest</a:t>
            </a:r>
            <a:endParaRPr lang="en-US" sz="1100" dirty="0"/>
          </a:p>
        </p:txBody>
      </p:sp>
      <p:sp>
        <p:nvSpPr>
          <p:cNvPr id="17" name="Shape 15"/>
          <p:cNvSpPr/>
          <p:nvPr/>
        </p:nvSpPr>
        <p:spPr>
          <a:xfrm>
            <a:off x="5897880" y="2450592"/>
            <a:ext cx="274320" cy="0"/>
          </a:xfrm>
          <a:prstGeom prst="line">
            <a:avLst/>
          </a:prstGeom>
          <a:noFill/>
          <a:ln w="25400">
            <a:solidFill>
              <a:srgbClr val="BC8CFF"/>
            </a:solidFill>
            <a:prstDash val="solid"/>
            <a:tailEnd type="arrow"/>
          </a:ln>
        </p:spPr>
        <p:txBody>
          <a:bodyPr/>
          <a:lstStyle/>
          <a:p>
            <a:endParaRPr lang="fr-FR"/>
          </a:p>
        </p:txBody>
      </p:sp>
      <p:sp>
        <p:nvSpPr>
          <p:cNvPr id="18" name="Shape 16"/>
          <p:cNvSpPr/>
          <p:nvPr/>
        </p:nvSpPr>
        <p:spPr>
          <a:xfrm>
            <a:off x="7086600" y="1170432"/>
            <a:ext cx="640080" cy="640080"/>
          </a:xfrm>
          <a:prstGeom prst="ellipse">
            <a:avLst/>
          </a:prstGeom>
          <a:solidFill>
            <a:srgbClr val="3FB950"/>
          </a:solidFill>
          <a:ln w="1270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19" name="Text 17"/>
          <p:cNvSpPr/>
          <p:nvPr/>
        </p:nvSpPr>
        <p:spPr>
          <a:xfrm>
            <a:off x="7086600" y="1170432"/>
            <a:ext cx="640080" cy="640080"/>
          </a:xfrm>
          <a:prstGeom prst="rect">
            <a:avLst/>
          </a:prstGeom>
          <a:noFill/>
          <a:ln/>
        </p:spPr>
        <p:txBody>
          <a:bodyPr wrap="square" lIns="0" tIns="0" rIns="0" bIns="0" rtlCol="0" anchor="ctr"/>
          <a:lstStyle/>
          <a:p>
            <a:pPr marL="0" indent="0" algn="ctr">
              <a:buNone/>
            </a:pPr>
            <a:r>
              <a:rPr lang="en-US" sz="1800" b="1" dirty="0">
                <a:solidFill>
                  <a:srgbClr val="F0F6FC"/>
                </a:solidFill>
              </a:rPr>
              <a:t>3</a:t>
            </a:r>
            <a:endParaRPr lang="en-US" sz="1800" dirty="0"/>
          </a:p>
        </p:txBody>
      </p:sp>
      <p:sp>
        <p:nvSpPr>
          <p:cNvPr id="20" name="Shape 18"/>
          <p:cNvSpPr/>
          <p:nvPr/>
        </p:nvSpPr>
        <p:spPr>
          <a:xfrm>
            <a:off x="6172200" y="1874520"/>
            <a:ext cx="2651760" cy="1143000"/>
          </a:xfrm>
          <a:prstGeom prst="rect">
            <a:avLst/>
          </a:prstGeom>
          <a:solidFill>
            <a:srgbClr val="161B22"/>
          </a:solidFill>
          <a:ln w="1270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21" name="Text 19"/>
          <p:cNvSpPr/>
          <p:nvPr/>
        </p:nvSpPr>
        <p:spPr>
          <a:xfrm>
            <a:off x="6263640" y="1920240"/>
            <a:ext cx="2468880" cy="347472"/>
          </a:xfrm>
          <a:prstGeom prst="rect">
            <a:avLst/>
          </a:prstGeom>
          <a:noFill/>
          <a:ln/>
        </p:spPr>
        <p:txBody>
          <a:bodyPr wrap="square" lIns="0" tIns="0" rIns="0" bIns="0" rtlCol="0" anchor="ctr"/>
          <a:lstStyle/>
          <a:p>
            <a:pPr marL="0" indent="0">
              <a:buNone/>
            </a:pPr>
            <a:r>
              <a:rPr lang="en-US" sz="1300" b="1" dirty="0">
                <a:solidFill>
                  <a:srgbClr val="3FB950"/>
                </a:solidFill>
              </a:rPr>
              <a:t>Majority vote</a:t>
            </a:r>
            <a:endParaRPr lang="en-US" sz="1300" dirty="0"/>
          </a:p>
        </p:txBody>
      </p:sp>
      <p:sp>
        <p:nvSpPr>
          <p:cNvPr id="22" name="Text 20"/>
          <p:cNvSpPr/>
          <p:nvPr/>
        </p:nvSpPr>
        <p:spPr>
          <a:xfrm>
            <a:off x="6263640" y="2286000"/>
            <a:ext cx="2468880" cy="658368"/>
          </a:xfrm>
          <a:prstGeom prst="rect">
            <a:avLst/>
          </a:prstGeom>
          <a:noFill/>
          <a:ln/>
        </p:spPr>
        <p:txBody>
          <a:bodyPr wrap="square" lIns="0" tIns="0" rIns="0" bIns="0" rtlCol="0" anchor="ctr"/>
          <a:lstStyle/>
          <a:p>
            <a:pPr marL="0" indent="0">
              <a:buNone/>
            </a:pPr>
            <a:r>
              <a:rPr lang="en-US" sz="1100" dirty="0">
                <a:solidFill>
                  <a:srgbClr val="8B949E"/>
                </a:solidFill>
              </a:rPr>
              <a:t>Most common class among K neighbors wins</a:t>
            </a:r>
            <a:endParaRPr lang="en-US" sz="1100" dirty="0"/>
          </a:p>
        </p:txBody>
      </p:sp>
      <p:sp>
        <p:nvSpPr>
          <p:cNvPr id="23" name="Shape 21"/>
          <p:cNvSpPr/>
          <p:nvPr/>
        </p:nvSpPr>
        <p:spPr>
          <a:xfrm>
            <a:off x="320040" y="3200400"/>
            <a:ext cx="8503920" cy="169164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24" name="Text 22"/>
          <p:cNvSpPr/>
          <p:nvPr/>
        </p:nvSpPr>
        <p:spPr>
          <a:xfrm>
            <a:off x="502920" y="3291840"/>
            <a:ext cx="1371600" cy="274320"/>
          </a:xfrm>
          <a:prstGeom prst="rect">
            <a:avLst/>
          </a:prstGeom>
          <a:noFill/>
          <a:ln/>
        </p:spPr>
        <p:txBody>
          <a:bodyPr wrap="square" lIns="0" tIns="0" rIns="0" bIns="0" rtlCol="0" anchor="ctr"/>
          <a:lstStyle/>
          <a:p>
            <a:pPr marL="0" indent="0">
              <a:buNone/>
            </a:pPr>
            <a:r>
              <a:rPr lang="en-US" sz="1100" dirty="0">
                <a:solidFill>
                  <a:srgbClr val="8B949E"/>
                </a:solidFill>
              </a:rPr>
              <a:t>Effect of K:</a:t>
            </a:r>
            <a:endParaRPr lang="en-US" sz="1100" dirty="0"/>
          </a:p>
        </p:txBody>
      </p:sp>
      <p:sp>
        <p:nvSpPr>
          <p:cNvPr id="25" name="Shape 23"/>
          <p:cNvSpPr/>
          <p:nvPr/>
        </p:nvSpPr>
        <p:spPr>
          <a:xfrm>
            <a:off x="457200" y="3611880"/>
            <a:ext cx="2560320" cy="1097280"/>
          </a:xfrm>
          <a:prstGeom prst="roundRect">
            <a:avLst>
              <a:gd name="adj" fmla="val 8333"/>
            </a:avLst>
          </a:prstGeom>
          <a:solidFill>
            <a:srgbClr val="21262D"/>
          </a:solidFill>
          <a:ln w="19050">
            <a:solidFill>
              <a:srgbClr val="FF7B72"/>
            </a:solidFill>
            <a:prstDash val="solid"/>
          </a:ln>
        </p:spPr>
        <p:txBody>
          <a:bodyPr/>
          <a:lstStyle/>
          <a:p>
            <a:endParaRPr lang="fr-FR"/>
          </a:p>
        </p:txBody>
      </p:sp>
      <p:sp>
        <p:nvSpPr>
          <p:cNvPr id="26" name="Text 24"/>
          <p:cNvSpPr/>
          <p:nvPr/>
        </p:nvSpPr>
        <p:spPr>
          <a:xfrm>
            <a:off x="548640" y="3657600"/>
            <a:ext cx="2377440" cy="365760"/>
          </a:xfrm>
          <a:prstGeom prst="rect">
            <a:avLst/>
          </a:prstGeom>
          <a:noFill/>
          <a:ln/>
        </p:spPr>
        <p:txBody>
          <a:bodyPr wrap="square" lIns="0" tIns="0" rIns="0" bIns="0" rtlCol="0" anchor="ctr"/>
          <a:lstStyle/>
          <a:p>
            <a:pPr marL="0" indent="0" algn="ctr">
              <a:buNone/>
            </a:pPr>
            <a:r>
              <a:rPr lang="en-US" sz="1800" b="1" dirty="0">
                <a:solidFill>
                  <a:srgbClr val="FF7B72"/>
                </a:solidFill>
              </a:rPr>
              <a:t>K = 1</a:t>
            </a:r>
            <a:endParaRPr lang="en-US" sz="1800" dirty="0"/>
          </a:p>
        </p:txBody>
      </p:sp>
      <p:sp>
        <p:nvSpPr>
          <p:cNvPr id="27" name="Text 25"/>
          <p:cNvSpPr/>
          <p:nvPr/>
        </p:nvSpPr>
        <p:spPr>
          <a:xfrm>
            <a:off x="548640" y="4023360"/>
            <a:ext cx="2377440" cy="594360"/>
          </a:xfrm>
          <a:prstGeom prst="rect">
            <a:avLst/>
          </a:prstGeom>
          <a:noFill/>
          <a:ln/>
        </p:spPr>
        <p:txBody>
          <a:bodyPr wrap="square" lIns="0" tIns="0" rIns="0" bIns="0" rtlCol="0" anchor="ctr"/>
          <a:lstStyle/>
          <a:p>
            <a:pPr marL="0" indent="0" algn="ctr">
              <a:buNone/>
            </a:pPr>
            <a:r>
              <a:rPr lang="en-US" sz="1100" dirty="0">
                <a:solidFill>
                  <a:srgbClr val="F0F6FC"/>
                </a:solidFill>
              </a:rPr>
              <a:t>Very flexible, overfits easily</a:t>
            </a:r>
            <a:endParaRPr lang="en-US" sz="1100" dirty="0"/>
          </a:p>
        </p:txBody>
      </p:sp>
      <p:sp>
        <p:nvSpPr>
          <p:cNvPr id="28" name="Shape 26"/>
          <p:cNvSpPr/>
          <p:nvPr/>
        </p:nvSpPr>
        <p:spPr>
          <a:xfrm>
            <a:off x="3291840" y="3611880"/>
            <a:ext cx="2560320" cy="1097280"/>
          </a:xfrm>
          <a:prstGeom prst="roundRect">
            <a:avLst>
              <a:gd name="adj" fmla="val 8333"/>
            </a:avLst>
          </a:prstGeom>
          <a:solidFill>
            <a:srgbClr val="21262D"/>
          </a:solidFill>
          <a:ln w="19050">
            <a:solidFill>
              <a:srgbClr val="3FB950"/>
            </a:solidFill>
            <a:prstDash val="solid"/>
          </a:ln>
        </p:spPr>
        <p:txBody>
          <a:bodyPr/>
          <a:lstStyle/>
          <a:p>
            <a:endParaRPr lang="fr-FR"/>
          </a:p>
        </p:txBody>
      </p:sp>
      <p:sp>
        <p:nvSpPr>
          <p:cNvPr id="29" name="Text 27"/>
          <p:cNvSpPr/>
          <p:nvPr/>
        </p:nvSpPr>
        <p:spPr>
          <a:xfrm>
            <a:off x="3383280" y="3657600"/>
            <a:ext cx="2377440" cy="365760"/>
          </a:xfrm>
          <a:prstGeom prst="rect">
            <a:avLst/>
          </a:prstGeom>
          <a:noFill/>
          <a:ln/>
        </p:spPr>
        <p:txBody>
          <a:bodyPr wrap="square" lIns="0" tIns="0" rIns="0" bIns="0" rtlCol="0" anchor="ctr"/>
          <a:lstStyle/>
          <a:p>
            <a:pPr marL="0" indent="0" algn="ctr">
              <a:buNone/>
            </a:pPr>
            <a:r>
              <a:rPr lang="en-US" sz="1800" b="1" dirty="0">
                <a:solidFill>
                  <a:srgbClr val="3FB950"/>
                </a:solidFill>
              </a:rPr>
              <a:t>K = 5</a:t>
            </a:r>
            <a:endParaRPr lang="en-US" sz="1800" dirty="0"/>
          </a:p>
        </p:txBody>
      </p:sp>
      <p:sp>
        <p:nvSpPr>
          <p:cNvPr id="30" name="Text 28"/>
          <p:cNvSpPr/>
          <p:nvPr/>
        </p:nvSpPr>
        <p:spPr>
          <a:xfrm>
            <a:off x="3383280" y="4023360"/>
            <a:ext cx="2377440" cy="594360"/>
          </a:xfrm>
          <a:prstGeom prst="rect">
            <a:avLst/>
          </a:prstGeom>
          <a:noFill/>
          <a:ln/>
        </p:spPr>
        <p:txBody>
          <a:bodyPr wrap="square" lIns="0" tIns="0" rIns="0" bIns="0" rtlCol="0" anchor="ctr"/>
          <a:lstStyle/>
          <a:p>
            <a:pPr marL="0" indent="0" algn="ctr">
              <a:buNone/>
            </a:pPr>
            <a:r>
              <a:rPr lang="en-US" sz="1100" dirty="0">
                <a:solidFill>
                  <a:srgbClr val="F0F6FC"/>
                </a:solidFill>
              </a:rPr>
              <a:t>Good balance  (recommended)</a:t>
            </a:r>
            <a:endParaRPr lang="en-US" sz="1100" dirty="0"/>
          </a:p>
        </p:txBody>
      </p:sp>
      <p:sp>
        <p:nvSpPr>
          <p:cNvPr id="31" name="Shape 29"/>
          <p:cNvSpPr/>
          <p:nvPr/>
        </p:nvSpPr>
        <p:spPr>
          <a:xfrm>
            <a:off x="6126480" y="3611880"/>
            <a:ext cx="2560320" cy="1097280"/>
          </a:xfrm>
          <a:prstGeom prst="roundRect">
            <a:avLst>
              <a:gd name="adj" fmla="val 8333"/>
            </a:avLst>
          </a:prstGeom>
          <a:solidFill>
            <a:srgbClr val="21262D"/>
          </a:solidFill>
          <a:ln w="19050">
            <a:solidFill>
              <a:srgbClr val="8B949E"/>
            </a:solidFill>
            <a:prstDash val="solid"/>
          </a:ln>
        </p:spPr>
        <p:txBody>
          <a:bodyPr/>
          <a:lstStyle/>
          <a:p>
            <a:endParaRPr lang="fr-FR"/>
          </a:p>
        </p:txBody>
      </p:sp>
      <p:sp>
        <p:nvSpPr>
          <p:cNvPr id="32" name="Text 30"/>
          <p:cNvSpPr/>
          <p:nvPr/>
        </p:nvSpPr>
        <p:spPr>
          <a:xfrm>
            <a:off x="6217920" y="3657600"/>
            <a:ext cx="2377440" cy="365760"/>
          </a:xfrm>
          <a:prstGeom prst="rect">
            <a:avLst/>
          </a:prstGeom>
          <a:noFill/>
          <a:ln/>
        </p:spPr>
        <p:txBody>
          <a:bodyPr wrap="square" lIns="0" tIns="0" rIns="0" bIns="0" rtlCol="0" anchor="ctr"/>
          <a:lstStyle/>
          <a:p>
            <a:pPr marL="0" indent="0" algn="ctr">
              <a:buNone/>
            </a:pPr>
            <a:r>
              <a:rPr lang="en-US" sz="1800" b="1" dirty="0">
                <a:solidFill>
                  <a:srgbClr val="8B949E"/>
                </a:solidFill>
              </a:rPr>
              <a:t>K = 20</a:t>
            </a:r>
            <a:endParaRPr lang="en-US" sz="1800" dirty="0"/>
          </a:p>
        </p:txBody>
      </p:sp>
      <p:sp>
        <p:nvSpPr>
          <p:cNvPr id="33" name="Text 31"/>
          <p:cNvSpPr/>
          <p:nvPr/>
        </p:nvSpPr>
        <p:spPr>
          <a:xfrm>
            <a:off x="6217920" y="4023360"/>
            <a:ext cx="2377440" cy="594360"/>
          </a:xfrm>
          <a:prstGeom prst="rect">
            <a:avLst/>
          </a:prstGeom>
          <a:noFill/>
          <a:ln/>
        </p:spPr>
        <p:txBody>
          <a:bodyPr wrap="square" lIns="0" tIns="0" rIns="0" bIns="0" rtlCol="0" anchor="ctr"/>
          <a:lstStyle/>
          <a:p>
            <a:pPr marL="0" indent="0" algn="ctr">
              <a:buNone/>
            </a:pPr>
            <a:r>
              <a:rPr lang="en-US" sz="1100" dirty="0">
                <a:solidFill>
                  <a:srgbClr val="F0F6FC"/>
                </a:solidFill>
              </a:rPr>
              <a:t>Very smooth, may underfit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58A6FF"/>
          </a:solidFill>
          <a:ln w="12700">
            <a:solidFill>
              <a:srgbClr val="58A6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0F6FC"/>
                </a:solidFill>
                <a:effectLst/>
                <a:uLnTx/>
                <a:uFillTx/>
                <a:latin typeface="Calibri" panose="020F0502020204030204"/>
                <a:ea typeface="+mn-ea"/>
                <a:cs typeface="+mn-cs"/>
              </a:rPr>
              <a:t>KNN — Numeric Example  (K = 3)</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58A6FF"/>
                </a:solidFill>
                <a:effectLst/>
                <a:uLnTx/>
                <a:uFillTx/>
                <a:latin typeface="Calibri" panose="020F0502020204030204"/>
                <a:ea typeface="+mn-ea"/>
                <a:cs typeface="+mn-cs"/>
              </a:rPr>
              <a:t>Classifying a fruit by weight &amp; sweetness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320040" y="1024128"/>
            <a:ext cx="8503920" cy="0"/>
          </a:xfrm>
          <a:prstGeom prst="line">
            <a:avLst/>
          </a:prstGeom>
          <a:noFill/>
          <a:ln w="12700">
            <a:solidFill>
              <a:srgbClr val="58A6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320040" y="1170432"/>
            <a:ext cx="8503920" cy="566928"/>
          </a:xfrm>
          <a:prstGeom prst="rect">
            <a:avLst/>
          </a:prstGeom>
          <a:solidFill>
            <a:srgbClr val="21262D"/>
          </a:solidFill>
          <a:ln w="19050">
            <a:solidFill>
              <a:srgbClr val="58A6FF"/>
            </a:solidFill>
            <a:prstDash val="solid"/>
          </a:ln>
          <a:effectLst>
            <a:outerShdw blurRad="127000" dist="38100" dir="81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502920" y="1170432"/>
            <a:ext cx="832104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8A6FF"/>
                </a:solidFill>
                <a:effectLst/>
                <a:uLnTx/>
                <a:uFillTx/>
                <a:latin typeface="Calibri" panose="020F0502020204030204"/>
                <a:ea typeface="+mn-ea"/>
                <a:cs typeface="+mn-cs"/>
              </a:rPr>
              <a:t>New fruit: </a:t>
            </a:r>
            <a:r>
              <a:rPr kumimoji="0" lang="en-US" sz="1200" b="0" i="0" u="none" strike="noStrike" kern="1200" cap="none" spc="0" normalizeH="0" baseline="0" noProof="0" dirty="0">
                <a:ln>
                  <a:noFill/>
                </a:ln>
                <a:solidFill>
                  <a:srgbClr val="F0F6FC"/>
                </a:solidFill>
                <a:effectLst/>
                <a:uLnTx/>
                <a:uFillTx/>
                <a:latin typeface="Calibri" panose="020F0502020204030204"/>
                <a:ea typeface="+mn-ea"/>
                <a:cs typeface="+mn-cs"/>
              </a:rPr>
              <a:t>weight = 160g,  sweetness = 7   </a:t>
            </a:r>
            <a:r>
              <a:rPr kumimoji="0" lang="en-US" sz="1200" b="0" i="0" u="none" strike="noStrike" kern="1200" cap="none" spc="0" normalizeH="0" baseline="0" noProof="0" dirty="0">
                <a:ln>
                  <a:noFill/>
                </a:ln>
                <a:solidFill>
                  <a:srgbClr val="8B949E"/>
                </a:solidFill>
                <a:effectLst/>
                <a:uLnTx/>
                <a:uFillTx/>
                <a:latin typeface="Calibri" panose="020F0502020204030204"/>
                <a:ea typeface="+mn-ea"/>
                <a:cs typeface="+mn-cs"/>
              </a:rPr>
              <a:t>→ Apple 🍎 or Orange 🍊?   </a:t>
            </a:r>
            <a:r>
              <a:rPr kumimoji="0" lang="en-US" sz="1200" b="1" i="0" u="none" strike="noStrike" kern="1200" cap="none" spc="0" normalizeH="0" baseline="0" noProof="0" dirty="0">
                <a:ln>
                  <a:noFill/>
                </a:ln>
                <a:solidFill>
                  <a:srgbClr val="E3B341"/>
                </a:solidFill>
                <a:effectLst/>
                <a:uLnTx/>
                <a:uFillTx/>
                <a:latin typeface="Calibri" panose="020F0502020204030204"/>
                <a:ea typeface="+mn-ea"/>
                <a:cs typeface="+mn-cs"/>
              </a:rPr>
              <a:t>K = 3</a:t>
            </a:r>
            <a:r>
              <a:rPr kumimoji="0" lang="en-US" sz="1200" b="0" i="0" u="none" strike="noStrike" kern="1200" cap="none" spc="0" normalizeH="0" baseline="0" noProof="0" dirty="0">
                <a:ln>
                  <a:noFill/>
                </a:ln>
                <a:solidFill>
                  <a:srgbClr val="8B949E"/>
                </a:solidFill>
                <a:effectLst/>
                <a:uLnTx/>
                <a:uFillTx/>
                <a:latin typeface="Calibri" panose="020F0502020204030204"/>
                <a:ea typeface="+mn-ea"/>
                <a:cs typeface="+mn-cs"/>
              </a:rPr>
              <a:t>  (take a vote among the 3 nearest neighbours)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20040" y="1847088"/>
            <a:ext cx="4663440" cy="3090672"/>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892808"/>
            <a:ext cx="43891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B949E"/>
                </a:solidFill>
                <a:effectLst/>
                <a:uLnTx/>
                <a:uFillTx/>
                <a:latin typeface="Calibri" panose="020F0502020204030204"/>
                <a:ea typeface="+mn-ea"/>
                <a:cs typeface="+mn-cs"/>
              </a:rPr>
              <a:t>Training Data  +  Distance to New Fruit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384048" y="2212848"/>
            <a:ext cx="4526280" cy="274320"/>
          </a:xfrm>
          <a:prstGeom prst="rect">
            <a:avLst/>
          </a:prstGeom>
          <a:solidFill>
            <a:srgbClr val="21262D"/>
          </a:solidFill>
          <a:ln w="12700">
            <a:solidFill>
              <a:srgbClr val="161B2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438912" y="2221992"/>
            <a:ext cx="548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8B949E"/>
                </a:solidFill>
                <a:effectLst/>
                <a:uLnTx/>
                <a:uFillTx/>
                <a:latin typeface="Calibri" panose="020F0502020204030204"/>
                <a:ea typeface="+mn-ea"/>
                <a:cs typeface="+mn-cs"/>
              </a:rPr>
              <a:t>Fruit #</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024128" y="2221992"/>
            <a:ext cx="804672"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8B949E"/>
                </a:solidFill>
                <a:effectLst/>
                <a:uLnTx/>
                <a:uFillTx/>
                <a:latin typeface="Calibri" panose="020F0502020204030204"/>
                <a:ea typeface="+mn-ea"/>
                <a:cs typeface="+mn-cs"/>
              </a:rPr>
              <a:t>Weight (g)</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874520" y="2221992"/>
            <a:ext cx="804672"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8B949E"/>
                </a:solidFill>
                <a:effectLst/>
                <a:uLnTx/>
                <a:uFillTx/>
                <a:latin typeface="Calibri" panose="020F0502020204030204"/>
                <a:ea typeface="+mn-ea"/>
                <a:cs typeface="+mn-cs"/>
              </a:rPr>
              <a:t>Sweetness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724912" y="2221992"/>
            <a:ext cx="6400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8B949E"/>
                </a:solidFill>
                <a:effectLst/>
                <a:uLnTx/>
                <a:uFillTx/>
                <a:latin typeface="Calibri" panose="020F0502020204030204"/>
                <a:ea typeface="+mn-ea"/>
                <a:cs typeface="+mn-cs"/>
              </a:rPr>
              <a:t>Label</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3401568" y="2221992"/>
            <a:ext cx="804672"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8B949E"/>
                </a:solidFill>
                <a:effectLst/>
                <a:uLnTx/>
                <a:uFillTx/>
                <a:latin typeface="Calibri" panose="020F0502020204030204"/>
                <a:ea typeface="+mn-ea"/>
                <a:cs typeface="+mn-cs"/>
              </a:rPr>
              <a:t>Distance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4224528" y="2221992"/>
            <a:ext cx="548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8B949E"/>
                </a:solidFill>
                <a:effectLst/>
                <a:uLnTx/>
                <a:uFillTx/>
                <a:latin typeface="Calibri" panose="020F0502020204030204"/>
                <a:ea typeface="+mn-ea"/>
                <a:cs typeface="+mn-cs"/>
              </a:rPr>
              <a:t>K?</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384048" y="2542032"/>
            <a:ext cx="4526280" cy="329184"/>
          </a:xfrm>
          <a:prstGeom prst="rect">
            <a:avLst/>
          </a:prstGeom>
          <a:solidFill>
            <a:srgbClr val="1A2E1A"/>
          </a:solidFill>
          <a:ln w="15240">
            <a:solidFill>
              <a:srgbClr val="3FB95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438912" y="2542032"/>
            <a:ext cx="54864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B949E"/>
                </a:solidFill>
                <a:effectLst/>
                <a:uLnTx/>
                <a:uFillTx/>
                <a:latin typeface="Calibri" panose="020F0502020204030204"/>
                <a:ea typeface="+mn-ea"/>
                <a:cs typeface="+mn-cs"/>
              </a:rPr>
              <a:t>1</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024128" y="2542032"/>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8A6FF"/>
                </a:solidFill>
                <a:effectLst/>
                <a:uLnTx/>
                <a:uFillTx/>
                <a:latin typeface="Calibri" panose="020F0502020204030204"/>
                <a:ea typeface="+mn-ea"/>
                <a:cs typeface="+mn-cs"/>
              </a:rPr>
              <a:t>150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874520" y="2542032"/>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9D0B0"/>
                </a:solidFill>
                <a:effectLst/>
                <a:uLnTx/>
                <a:uFillTx/>
                <a:latin typeface="Calibri" panose="020F0502020204030204"/>
                <a:ea typeface="+mn-ea"/>
                <a:cs typeface="+mn-cs"/>
              </a:rPr>
              <a:t>6</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2724912" y="2542032"/>
            <a:ext cx="6400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3FB950"/>
                </a:solidFill>
                <a:effectLst/>
                <a:uLnTx/>
                <a:uFillTx/>
                <a:latin typeface="Calibri" panose="020F0502020204030204"/>
                <a:ea typeface="+mn-ea"/>
                <a:cs typeface="+mn-cs"/>
              </a:rPr>
              <a:t>Apple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3401568" y="2542032"/>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E3B341"/>
                </a:solidFill>
                <a:effectLst/>
                <a:uLnTx/>
                <a:uFillTx/>
                <a:latin typeface="Calibri" panose="020F0502020204030204"/>
                <a:ea typeface="+mn-ea"/>
                <a:cs typeface="+mn-cs"/>
              </a:rPr>
              <a:t>10.05</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224528" y="2542032"/>
            <a:ext cx="54864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3B341"/>
                </a:solidFill>
                <a:effectLst/>
                <a:uLnTx/>
                <a:uFillTx/>
                <a:latin typeface="Calibri" panose="020F0502020204030204"/>
                <a:ea typeface="+mn-ea"/>
                <a:cs typeface="+mn-cs"/>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384048" y="2898648"/>
            <a:ext cx="4526280" cy="329184"/>
          </a:xfrm>
          <a:prstGeom prst="rect">
            <a:avLst/>
          </a:prstGeom>
          <a:solidFill>
            <a:srgbClr val="1A2E1A"/>
          </a:solidFill>
          <a:ln w="15240">
            <a:solidFill>
              <a:srgbClr val="3FB95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438912" y="2898648"/>
            <a:ext cx="54864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B949E"/>
                </a:solidFill>
                <a:effectLst/>
                <a:uLnTx/>
                <a:uFillTx/>
                <a:latin typeface="Calibri" panose="020F0502020204030204"/>
                <a:ea typeface="+mn-ea"/>
                <a:cs typeface="+mn-cs"/>
              </a:rPr>
              <a:t>2</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1024128" y="2898648"/>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8A6FF"/>
                </a:solidFill>
                <a:effectLst/>
                <a:uLnTx/>
                <a:uFillTx/>
                <a:latin typeface="Calibri" panose="020F0502020204030204"/>
                <a:ea typeface="+mn-ea"/>
                <a:cs typeface="+mn-cs"/>
              </a:rPr>
              <a:t>170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1874520" y="2898648"/>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9D0B0"/>
                </a:solidFill>
                <a:effectLst/>
                <a:uLnTx/>
                <a:uFillTx/>
                <a:latin typeface="Calibri" panose="020F0502020204030204"/>
                <a:ea typeface="+mn-ea"/>
                <a:cs typeface="+mn-cs"/>
              </a:rPr>
              <a:t>5</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2724912" y="2898648"/>
            <a:ext cx="6400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3FB950"/>
                </a:solidFill>
                <a:effectLst/>
                <a:uLnTx/>
                <a:uFillTx/>
                <a:latin typeface="Calibri" panose="020F0502020204030204"/>
                <a:ea typeface="+mn-ea"/>
                <a:cs typeface="+mn-cs"/>
              </a:rPr>
              <a:t>Apple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3401568" y="2898648"/>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E3B341"/>
                </a:solidFill>
                <a:effectLst/>
                <a:uLnTx/>
                <a:uFillTx/>
                <a:latin typeface="Calibri" panose="020F0502020204030204"/>
                <a:ea typeface="+mn-ea"/>
                <a:cs typeface="+mn-cs"/>
              </a:rPr>
              <a:t>10.20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4224528" y="2898648"/>
            <a:ext cx="54864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3B341"/>
                </a:solidFill>
                <a:effectLst/>
                <a:uLnTx/>
                <a:uFillTx/>
                <a:latin typeface="Calibri" panose="020F0502020204030204"/>
                <a:ea typeface="+mn-ea"/>
                <a:cs typeface="+mn-cs"/>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384048" y="3255264"/>
            <a:ext cx="4526280" cy="329184"/>
          </a:xfrm>
          <a:prstGeom prst="rect">
            <a:avLst/>
          </a:prstGeom>
          <a:solidFill>
            <a:srgbClr val="1A2E1A"/>
          </a:solidFill>
          <a:ln w="15240">
            <a:solidFill>
              <a:srgbClr val="3FB95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438912" y="3255264"/>
            <a:ext cx="54864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B949E"/>
                </a:solidFill>
                <a:effectLst/>
                <a:uLnTx/>
                <a:uFillTx/>
                <a:latin typeface="Calibri" panose="020F0502020204030204"/>
                <a:ea typeface="+mn-ea"/>
                <a:cs typeface="+mn-cs"/>
              </a:rPr>
              <a:t>3</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1024128" y="3255264"/>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8A6FF"/>
                </a:solidFill>
                <a:effectLst/>
                <a:uLnTx/>
                <a:uFillTx/>
                <a:latin typeface="Calibri" panose="020F0502020204030204"/>
                <a:ea typeface="+mn-ea"/>
                <a:cs typeface="+mn-cs"/>
              </a:rPr>
              <a:t>140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1874520" y="3255264"/>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9D0B0"/>
                </a:solidFill>
                <a:effectLst/>
                <a:uLnTx/>
                <a:uFillTx/>
                <a:latin typeface="Calibri" panose="020F0502020204030204"/>
                <a:ea typeface="+mn-ea"/>
                <a:cs typeface="+mn-cs"/>
              </a:rPr>
              <a:t>8</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2724912" y="3255264"/>
            <a:ext cx="6400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3FB950"/>
                </a:solidFill>
                <a:effectLst/>
                <a:uLnTx/>
                <a:uFillTx/>
                <a:latin typeface="Calibri" panose="020F0502020204030204"/>
                <a:ea typeface="+mn-ea"/>
                <a:cs typeface="+mn-cs"/>
              </a:rPr>
              <a:t>Apple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3401568" y="3255264"/>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E3B341"/>
                </a:solidFill>
                <a:effectLst/>
                <a:uLnTx/>
                <a:uFillTx/>
                <a:latin typeface="Calibri" panose="020F0502020204030204"/>
                <a:ea typeface="+mn-ea"/>
                <a:cs typeface="+mn-cs"/>
              </a:rPr>
              <a:t>20.02</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4224528" y="3255264"/>
            <a:ext cx="54864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E3B341"/>
                </a:solidFill>
                <a:effectLst/>
                <a:uLnTx/>
                <a:uFillTx/>
                <a:latin typeface="Calibri" panose="020F0502020204030204"/>
                <a:ea typeface="+mn-ea"/>
                <a:cs typeface="+mn-cs"/>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384048" y="3611880"/>
            <a:ext cx="4526280" cy="329184"/>
          </a:xfrm>
          <a:prstGeom prst="rect">
            <a:avLst/>
          </a:prstGeom>
          <a:solidFill>
            <a:srgbClr val="21262D"/>
          </a:solidFill>
          <a:ln w="6350">
            <a:solidFill>
              <a:srgbClr val="161B2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438912" y="3611880"/>
            <a:ext cx="54864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B949E"/>
                </a:solidFill>
                <a:effectLst/>
                <a:uLnTx/>
                <a:uFillTx/>
                <a:latin typeface="Calibri" panose="020F0502020204030204"/>
                <a:ea typeface="+mn-ea"/>
                <a:cs typeface="+mn-cs"/>
              </a:rPr>
              <a:t>4</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1024128" y="3611880"/>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8A6FF"/>
                </a:solidFill>
                <a:effectLst/>
                <a:uLnTx/>
                <a:uFillTx/>
                <a:latin typeface="Calibri" panose="020F0502020204030204"/>
                <a:ea typeface="+mn-ea"/>
                <a:cs typeface="+mn-cs"/>
              </a:rPr>
              <a:t>200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1874520" y="3611880"/>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9D0B0"/>
                </a:solidFill>
                <a:effectLst/>
                <a:uLnTx/>
                <a:uFillTx/>
                <a:latin typeface="Calibri" panose="020F0502020204030204"/>
                <a:ea typeface="+mn-ea"/>
                <a:cs typeface="+mn-cs"/>
              </a:rPr>
              <a:t>9</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0"/>
          <p:cNvSpPr/>
          <p:nvPr/>
        </p:nvSpPr>
        <p:spPr>
          <a:xfrm>
            <a:off x="2724912" y="3611880"/>
            <a:ext cx="6400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0883E"/>
                </a:solidFill>
                <a:effectLst/>
                <a:uLnTx/>
                <a:uFillTx/>
                <a:latin typeface="Calibri" panose="020F0502020204030204"/>
                <a:ea typeface="+mn-ea"/>
                <a:cs typeface="+mn-cs"/>
              </a:rPr>
              <a:t>Orange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p:cNvSpPr/>
          <p:nvPr/>
        </p:nvSpPr>
        <p:spPr>
          <a:xfrm>
            <a:off x="3401568" y="3611880"/>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B949E"/>
                </a:solidFill>
                <a:effectLst/>
                <a:uLnTx/>
                <a:uFillTx/>
                <a:latin typeface="Calibri" panose="020F0502020204030204"/>
                <a:ea typeface="+mn-ea"/>
                <a:cs typeface="+mn-cs"/>
              </a:rPr>
              <a:t>40.05</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p:nvPr/>
        </p:nvSpPr>
        <p:spPr>
          <a:xfrm>
            <a:off x="4224528" y="3611880"/>
            <a:ext cx="54864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3"/>
          <p:cNvSpPr/>
          <p:nvPr/>
        </p:nvSpPr>
        <p:spPr>
          <a:xfrm>
            <a:off x="384048" y="3968496"/>
            <a:ext cx="4526280" cy="329184"/>
          </a:xfrm>
          <a:prstGeom prst="rect">
            <a:avLst/>
          </a:prstGeom>
          <a:solidFill>
            <a:srgbClr val="161B22"/>
          </a:solidFill>
          <a:ln w="6350">
            <a:solidFill>
              <a:srgbClr val="161B2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4"/>
          <p:cNvSpPr/>
          <p:nvPr/>
        </p:nvSpPr>
        <p:spPr>
          <a:xfrm>
            <a:off x="438912" y="3968496"/>
            <a:ext cx="54864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B949E"/>
                </a:solidFill>
                <a:effectLst/>
                <a:uLnTx/>
                <a:uFillTx/>
                <a:latin typeface="Calibri" panose="020F0502020204030204"/>
                <a:ea typeface="+mn-ea"/>
                <a:cs typeface="+mn-cs"/>
              </a:rPr>
              <a:t>5</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45"/>
          <p:cNvSpPr/>
          <p:nvPr/>
        </p:nvSpPr>
        <p:spPr>
          <a:xfrm>
            <a:off x="1024128" y="3968496"/>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8A6FF"/>
                </a:solidFill>
                <a:effectLst/>
                <a:uLnTx/>
                <a:uFillTx/>
                <a:latin typeface="Calibri" panose="020F0502020204030204"/>
                <a:ea typeface="+mn-ea"/>
                <a:cs typeface="+mn-cs"/>
              </a:rPr>
              <a:t>210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6"/>
          <p:cNvSpPr/>
          <p:nvPr/>
        </p:nvSpPr>
        <p:spPr>
          <a:xfrm>
            <a:off x="1874520" y="3968496"/>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9D0B0"/>
                </a:solidFill>
                <a:effectLst/>
                <a:uLnTx/>
                <a:uFillTx/>
                <a:latin typeface="Calibri" panose="020F0502020204030204"/>
                <a:ea typeface="+mn-ea"/>
                <a:cs typeface="+mn-cs"/>
              </a:rPr>
              <a:t>8</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 47"/>
          <p:cNvSpPr/>
          <p:nvPr/>
        </p:nvSpPr>
        <p:spPr>
          <a:xfrm>
            <a:off x="2724912" y="3968496"/>
            <a:ext cx="6400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0883E"/>
                </a:solidFill>
                <a:effectLst/>
                <a:uLnTx/>
                <a:uFillTx/>
                <a:latin typeface="Calibri" panose="020F0502020204030204"/>
                <a:ea typeface="+mn-ea"/>
                <a:cs typeface="+mn-cs"/>
              </a:rPr>
              <a:t>Orange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8"/>
          <p:cNvSpPr/>
          <p:nvPr/>
        </p:nvSpPr>
        <p:spPr>
          <a:xfrm>
            <a:off x="3401568" y="3968496"/>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B949E"/>
                </a:solidFill>
                <a:effectLst/>
                <a:uLnTx/>
                <a:uFillTx/>
                <a:latin typeface="Calibri" panose="020F0502020204030204"/>
                <a:ea typeface="+mn-ea"/>
                <a:cs typeface="+mn-cs"/>
              </a:rPr>
              <a:t>50.01</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9"/>
          <p:cNvSpPr/>
          <p:nvPr/>
        </p:nvSpPr>
        <p:spPr>
          <a:xfrm>
            <a:off x="4224528" y="3968496"/>
            <a:ext cx="54864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Shape 50"/>
          <p:cNvSpPr/>
          <p:nvPr/>
        </p:nvSpPr>
        <p:spPr>
          <a:xfrm>
            <a:off x="384048" y="4325112"/>
            <a:ext cx="4526280" cy="329184"/>
          </a:xfrm>
          <a:prstGeom prst="rect">
            <a:avLst/>
          </a:prstGeom>
          <a:solidFill>
            <a:srgbClr val="21262D"/>
          </a:solidFill>
          <a:ln w="6350">
            <a:solidFill>
              <a:srgbClr val="161B2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Text 51"/>
          <p:cNvSpPr/>
          <p:nvPr/>
        </p:nvSpPr>
        <p:spPr>
          <a:xfrm>
            <a:off x="438912" y="4325112"/>
            <a:ext cx="54864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B949E"/>
                </a:solidFill>
                <a:effectLst/>
                <a:uLnTx/>
                <a:uFillTx/>
                <a:latin typeface="Calibri" panose="020F0502020204030204"/>
                <a:ea typeface="+mn-ea"/>
                <a:cs typeface="+mn-cs"/>
              </a:rPr>
              <a:t>6</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Text 52"/>
          <p:cNvSpPr/>
          <p:nvPr/>
        </p:nvSpPr>
        <p:spPr>
          <a:xfrm>
            <a:off x="1024128" y="4325112"/>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8A6FF"/>
                </a:solidFill>
                <a:effectLst/>
                <a:uLnTx/>
                <a:uFillTx/>
                <a:latin typeface="Calibri" panose="020F0502020204030204"/>
                <a:ea typeface="+mn-ea"/>
                <a:cs typeface="+mn-cs"/>
              </a:rPr>
              <a:t>190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53"/>
          <p:cNvSpPr/>
          <p:nvPr/>
        </p:nvSpPr>
        <p:spPr>
          <a:xfrm>
            <a:off x="1874520" y="4325112"/>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9D0B0"/>
                </a:solidFill>
                <a:effectLst/>
                <a:uLnTx/>
                <a:uFillTx/>
                <a:latin typeface="Calibri" panose="020F0502020204030204"/>
                <a:ea typeface="+mn-ea"/>
                <a:cs typeface="+mn-cs"/>
              </a:rPr>
              <a:t>10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4"/>
          <p:cNvSpPr/>
          <p:nvPr/>
        </p:nvSpPr>
        <p:spPr>
          <a:xfrm>
            <a:off x="2724912" y="4325112"/>
            <a:ext cx="6400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0883E"/>
                </a:solidFill>
                <a:effectLst/>
                <a:uLnTx/>
                <a:uFillTx/>
                <a:latin typeface="Calibri" panose="020F0502020204030204"/>
                <a:ea typeface="+mn-ea"/>
                <a:cs typeface="+mn-cs"/>
              </a:rPr>
              <a:t>Orange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5"/>
          <p:cNvSpPr/>
          <p:nvPr/>
        </p:nvSpPr>
        <p:spPr>
          <a:xfrm>
            <a:off x="3401568" y="4325112"/>
            <a:ext cx="804672"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B949E"/>
                </a:solidFill>
                <a:effectLst/>
                <a:uLnTx/>
                <a:uFillTx/>
                <a:latin typeface="Calibri" panose="020F0502020204030204"/>
                <a:ea typeface="+mn-ea"/>
                <a:cs typeface="+mn-cs"/>
              </a:rPr>
              <a:t>30.15</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56"/>
          <p:cNvSpPr/>
          <p:nvPr/>
        </p:nvSpPr>
        <p:spPr>
          <a:xfrm>
            <a:off x="4224528" y="4325112"/>
            <a:ext cx="548640"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Shape 57"/>
          <p:cNvSpPr/>
          <p:nvPr/>
        </p:nvSpPr>
        <p:spPr>
          <a:xfrm>
            <a:off x="384048" y="4681728"/>
            <a:ext cx="4526280" cy="256032"/>
          </a:xfrm>
          <a:prstGeom prst="roundRect">
            <a:avLst>
              <a:gd name="adj" fmla="val 17857"/>
            </a:avLst>
          </a:prstGeom>
          <a:solidFill>
            <a:srgbClr val="21262D"/>
          </a:solidFill>
          <a:ln w="12700">
            <a:solidFill>
              <a:srgbClr val="161B2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 58"/>
          <p:cNvSpPr/>
          <p:nvPr/>
        </p:nvSpPr>
        <p:spPr>
          <a:xfrm>
            <a:off x="475488" y="4681728"/>
            <a:ext cx="43434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8B949E"/>
                </a:solidFill>
                <a:effectLst/>
                <a:uLnTx/>
                <a:uFillTx/>
                <a:latin typeface="Calibri" panose="020F0502020204030204"/>
                <a:ea typeface="+mn-ea"/>
                <a:cs typeface="+mn-cs"/>
              </a:rPr>
              <a:t>d = √[ (w₁−w₂)² + (s₁−s₂)² ]   e.g. fruit #1: √[(150−160)²+(6−7)²] = √101 ≈ 10.05</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Shape 59"/>
          <p:cNvSpPr/>
          <p:nvPr/>
        </p:nvSpPr>
        <p:spPr>
          <a:xfrm>
            <a:off x="5120640" y="1847088"/>
            <a:ext cx="3703320" cy="3090672"/>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60"/>
          <p:cNvSpPr/>
          <p:nvPr/>
        </p:nvSpPr>
        <p:spPr>
          <a:xfrm>
            <a:off x="5230368" y="1892808"/>
            <a:ext cx="34747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B949E"/>
                </a:solidFill>
                <a:effectLst/>
                <a:uLnTx/>
                <a:uFillTx/>
                <a:latin typeface="Calibri" panose="020F0502020204030204"/>
                <a:ea typeface="+mn-ea"/>
                <a:cs typeface="+mn-cs"/>
              </a:rPr>
              <a:t>Feature Space  (Weight vs Sweetness)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Shape 61"/>
          <p:cNvSpPr/>
          <p:nvPr/>
        </p:nvSpPr>
        <p:spPr>
          <a:xfrm>
            <a:off x="5394960" y="4663440"/>
            <a:ext cx="3017520" cy="0"/>
          </a:xfrm>
          <a:prstGeom prst="line">
            <a:avLst/>
          </a:prstGeom>
          <a:noFill/>
          <a:ln w="12700">
            <a:solidFill>
              <a:srgbClr val="8B94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p:cNvSpPr/>
          <p:nvPr/>
        </p:nvSpPr>
        <p:spPr>
          <a:xfrm>
            <a:off x="5394960" y="2331720"/>
            <a:ext cx="0" cy="2331720"/>
          </a:xfrm>
          <a:prstGeom prst="line">
            <a:avLst/>
          </a:prstGeom>
          <a:noFill/>
          <a:ln w="12700">
            <a:solidFill>
              <a:srgbClr val="8B94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63"/>
          <p:cNvSpPr/>
          <p:nvPr/>
        </p:nvSpPr>
        <p:spPr>
          <a:xfrm>
            <a:off x="7955280" y="4700016"/>
            <a:ext cx="7315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8B949E"/>
                </a:solidFill>
                <a:effectLst/>
                <a:uLnTx/>
                <a:uFillTx/>
                <a:latin typeface="Calibri" panose="020F0502020204030204"/>
                <a:ea typeface="+mn-ea"/>
                <a:cs typeface="+mn-cs"/>
              </a:rPr>
              <a:t>weight →</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Text 64"/>
          <p:cNvSpPr/>
          <p:nvPr/>
        </p:nvSpPr>
        <p:spPr>
          <a:xfrm>
            <a:off x="5358384" y="2313432"/>
            <a:ext cx="5486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8B949E"/>
                </a:solidFill>
                <a:effectLst/>
                <a:uLnTx/>
                <a:uFillTx/>
                <a:latin typeface="Calibri" panose="020F0502020204030204"/>
                <a:ea typeface="+mn-ea"/>
                <a:cs typeface="+mn-cs"/>
              </a:rPr>
              <a:t>sweet ↑</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Shape 65"/>
          <p:cNvSpPr/>
          <p:nvPr/>
        </p:nvSpPr>
        <p:spPr>
          <a:xfrm>
            <a:off x="5937504" y="3869218"/>
            <a:ext cx="256032" cy="256032"/>
          </a:xfrm>
          <a:prstGeom prst="ellipse">
            <a:avLst/>
          </a:prstGeom>
          <a:solidFill>
            <a:srgbClr val="3FB950"/>
          </a:solidFill>
          <a:ln w="25400">
            <a:solidFill>
              <a:srgbClr val="E3B3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Text 66"/>
          <p:cNvSpPr/>
          <p:nvPr/>
        </p:nvSpPr>
        <p:spPr>
          <a:xfrm>
            <a:off x="5937504" y="3869218"/>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0F6FC"/>
                </a:solidFill>
                <a:effectLst/>
                <a:uLnTx/>
                <a:uFillTx/>
                <a:latin typeface="Calibri" panose="020F0502020204030204"/>
                <a:ea typeface="+mn-ea"/>
                <a:cs typeface="+mn-cs"/>
              </a:rPr>
              <a:t>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Shape 67"/>
          <p:cNvSpPr/>
          <p:nvPr/>
        </p:nvSpPr>
        <p:spPr>
          <a:xfrm>
            <a:off x="6065520" y="3997234"/>
            <a:ext cx="335280" cy="0"/>
          </a:xfrm>
          <a:prstGeom prst="line">
            <a:avLst/>
          </a:prstGeom>
          <a:noFill/>
          <a:ln w="12700">
            <a:solidFill>
              <a:srgbClr val="E3B341"/>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8"/>
          <p:cNvSpPr/>
          <p:nvPr/>
        </p:nvSpPr>
        <p:spPr>
          <a:xfrm>
            <a:off x="6608064" y="4202321"/>
            <a:ext cx="256032" cy="256032"/>
          </a:xfrm>
          <a:prstGeom prst="ellipse">
            <a:avLst/>
          </a:prstGeom>
          <a:solidFill>
            <a:srgbClr val="3FB950"/>
          </a:solidFill>
          <a:ln w="25400">
            <a:solidFill>
              <a:srgbClr val="E3B3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Text 69"/>
          <p:cNvSpPr/>
          <p:nvPr/>
        </p:nvSpPr>
        <p:spPr>
          <a:xfrm>
            <a:off x="6608064" y="4202321"/>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0F6FC"/>
                </a:solidFill>
                <a:effectLst/>
                <a:uLnTx/>
                <a:uFillTx/>
                <a:latin typeface="Calibri" panose="020F0502020204030204"/>
                <a:ea typeface="+mn-ea"/>
                <a:cs typeface="+mn-cs"/>
              </a:rPr>
              <a:t>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Shape 70"/>
          <p:cNvSpPr/>
          <p:nvPr/>
        </p:nvSpPr>
        <p:spPr>
          <a:xfrm>
            <a:off x="6736080" y="4330337"/>
            <a:ext cx="0" cy="0"/>
          </a:xfrm>
          <a:prstGeom prst="line">
            <a:avLst/>
          </a:prstGeom>
          <a:noFill/>
          <a:ln w="12700">
            <a:solidFill>
              <a:srgbClr val="E3B341"/>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71"/>
          <p:cNvSpPr/>
          <p:nvPr/>
        </p:nvSpPr>
        <p:spPr>
          <a:xfrm>
            <a:off x="5602224" y="3203013"/>
            <a:ext cx="256032" cy="256032"/>
          </a:xfrm>
          <a:prstGeom prst="ellipse">
            <a:avLst/>
          </a:prstGeom>
          <a:solidFill>
            <a:srgbClr val="3FB950"/>
          </a:solidFill>
          <a:ln w="25400">
            <a:solidFill>
              <a:srgbClr val="E3B34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Text 72"/>
          <p:cNvSpPr/>
          <p:nvPr/>
        </p:nvSpPr>
        <p:spPr>
          <a:xfrm>
            <a:off x="5602224" y="3203013"/>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0F6FC"/>
                </a:solidFill>
                <a:effectLst/>
                <a:uLnTx/>
                <a:uFillTx/>
                <a:latin typeface="Calibri" panose="020F0502020204030204"/>
                <a:ea typeface="+mn-ea"/>
                <a:cs typeface="+mn-cs"/>
              </a:rPr>
              <a:t>3</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Shape 73"/>
          <p:cNvSpPr/>
          <p:nvPr/>
        </p:nvSpPr>
        <p:spPr>
          <a:xfrm>
            <a:off x="5730240" y="3331029"/>
            <a:ext cx="670560" cy="333103"/>
          </a:xfrm>
          <a:prstGeom prst="line">
            <a:avLst/>
          </a:prstGeom>
          <a:noFill/>
          <a:ln w="12700">
            <a:solidFill>
              <a:srgbClr val="E3B341"/>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p:cNvSpPr/>
          <p:nvPr/>
        </p:nvSpPr>
        <p:spPr>
          <a:xfrm>
            <a:off x="7613904" y="2869910"/>
            <a:ext cx="256032" cy="256032"/>
          </a:xfrm>
          <a:prstGeom prst="ellipse">
            <a:avLst/>
          </a:prstGeom>
          <a:solidFill>
            <a:srgbClr val="F0883E"/>
          </a:solidFill>
          <a:ln w="1016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75"/>
          <p:cNvSpPr/>
          <p:nvPr/>
        </p:nvSpPr>
        <p:spPr>
          <a:xfrm>
            <a:off x="7613904" y="2869910"/>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0F6FC"/>
                </a:solidFill>
                <a:effectLst/>
                <a:uLnTx/>
                <a:uFillTx/>
                <a:latin typeface="Calibri" panose="020F0502020204030204"/>
                <a:ea typeface="+mn-ea"/>
                <a:cs typeface="+mn-cs"/>
              </a:rPr>
              <a:t>4</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8" name="Shape 76"/>
          <p:cNvSpPr/>
          <p:nvPr/>
        </p:nvSpPr>
        <p:spPr>
          <a:xfrm>
            <a:off x="7949184" y="3203013"/>
            <a:ext cx="256032" cy="256032"/>
          </a:xfrm>
          <a:prstGeom prst="ellipse">
            <a:avLst/>
          </a:prstGeom>
          <a:solidFill>
            <a:srgbClr val="F0883E"/>
          </a:solidFill>
          <a:ln w="1016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Text 77"/>
          <p:cNvSpPr/>
          <p:nvPr/>
        </p:nvSpPr>
        <p:spPr>
          <a:xfrm>
            <a:off x="7949184" y="3203013"/>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0F6FC"/>
                </a:solidFill>
                <a:effectLst/>
                <a:uLnTx/>
                <a:uFillTx/>
                <a:latin typeface="Calibri" panose="020F0502020204030204"/>
                <a:ea typeface="+mn-ea"/>
                <a:cs typeface="+mn-cs"/>
              </a:rPr>
              <a:t>5</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Shape 78"/>
          <p:cNvSpPr/>
          <p:nvPr/>
        </p:nvSpPr>
        <p:spPr>
          <a:xfrm>
            <a:off x="7278624" y="2536807"/>
            <a:ext cx="256032" cy="256032"/>
          </a:xfrm>
          <a:prstGeom prst="ellipse">
            <a:avLst/>
          </a:prstGeom>
          <a:solidFill>
            <a:srgbClr val="F0883E"/>
          </a:solidFill>
          <a:ln w="1016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Text 79"/>
          <p:cNvSpPr/>
          <p:nvPr/>
        </p:nvSpPr>
        <p:spPr>
          <a:xfrm>
            <a:off x="7278624" y="2536807"/>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0F6FC"/>
                </a:solidFill>
                <a:effectLst/>
                <a:uLnTx/>
                <a:uFillTx/>
                <a:latin typeface="Calibri" panose="020F0502020204030204"/>
                <a:ea typeface="+mn-ea"/>
                <a:cs typeface="+mn-cs"/>
              </a:rPr>
              <a:t>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Shape 80"/>
          <p:cNvSpPr/>
          <p:nvPr/>
        </p:nvSpPr>
        <p:spPr>
          <a:xfrm>
            <a:off x="6236208" y="3499539"/>
            <a:ext cx="329184" cy="329184"/>
          </a:xfrm>
          <a:prstGeom prst="ellipse">
            <a:avLst/>
          </a:prstGeom>
          <a:solidFill>
            <a:srgbClr val="F0F6FC"/>
          </a:solidFill>
          <a:ln w="31750">
            <a:solidFill>
              <a:srgbClr val="58A6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Text 81"/>
          <p:cNvSpPr/>
          <p:nvPr/>
        </p:nvSpPr>
        <p:spPr>
          <a:xfrm>
            <a:off x="6236208" y="3499539"/>
            <a:ext cx="329184" cy="32918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8A6FF"/>
                </a:solidFill>
                <a:effectLst/>
                <a:uLnTx/>
                <a:uFillTx/>
                <a:latin typeface="Calibri" panose="020F0502020204030204"/>
                <a:ea typeface="+mn-ea"/>
                <a:cs typeface="+mn-cs"/>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Text 82"/>
          <p:cNvSpPr/>
          <p:nvPr/>
        </p:nvSpPr>
        <p:spPr>
          <a:xfrm>
            <a:off x="6437376" y="3462963"/>
            <a:ext cx="50292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8A6FF"/>
                </a:solidFill>
                <a:effectLst/>
                <a:uLnTx/>
                <a:uFillTx/>
                <a:latin typeface="Calibri" panose="020F0502020204030204"/>
                <a:ea typeface="+mn-ea"/>
                <a:cs typeface="+mn-cs"/>
              </a:rPr>
              <a:t>New</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58A6FF"/>
                </a:solidFill>
                <a:effectLst/>
                <a:uLnTx/>
                <a:uFillTx/>
                <a:latin typeface="Calibri" panose="020F0502020204030204"/>
                <a:ea typeface="+mn-ea"/>
                <a:cs typeface="+mn-cs"/>
              </a:rPr>
              <a:t>fruit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5" name="Shape 83"/>
          <p:cNvSpPr/>
          <p:nvPr/>
        </p:nvSpPr>
        <p:spPr>
          <a:xfrm>
            <a:off x="5230368" y="2176272"/>
            <a:ext cx="164592" cy="164592"/>
          </a:xfrm>
          <a:prstGeom prst="ellipse">
            <a:avLst/>
          </a:prstGeom>
          <a:solidFill>
            <a:srgbClr val="3FB950"/>
          </a:solidFill>
          <a:ln w="12700">
            <a:solidFill>
              <a:srgbClr val="3FB95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Text 84"/>
          <p:cNvSpPr/>
          <p:nvPr/>
        </p:nvSpPr>
        <p:spPr>
          <a:xfrm>
            <a:off x="5449824" y="2157984"/>
            <a:ext cx="9144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FB950"/>
                </a:solidFill>
                <a:effectLst/>
                <a:uLnTx/>
                <a:uFillTx/>
                <a:latin typeface="Calibri" panose="020F0502020204030204"/>
                <a:ea typeface="+mn-ea"/>
                <a:cs typeface="+mn-cs"/>
              </a:rPr>
              <a:t>Apple 🍎</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7" name="Shape 85"/>
          <p:cNvSpPr/>
          <p:nvPr/>
        </p:nvSpPr>
        <p:spPr>
          <a:xfrm>
            <a:off x="6400800" y="2176272"/>
            <a:ext cx="164592" cy="164592"/>
          </a:xfrm>
          <a:prstGeom prst="ellipse">
            <a:avLst/>
          </a:prstGeom>
          <a:solidFill>
            <a:srgbClr val="F0883E"/>
          </a:solidFill>
          <a:ln w="12700">
            <a:solidFill>
              <a:srgbClr val="F088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Text 86"/>
          <p:cNvSpPr/>
          <p:nvPr/>
        </p:nvSpPr>
        <p:spPr>
          <a:xfrm>
            <a:off x="6620256" y="2157984"/>
            <a:ext cx="9144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0883E"/>
                </a:solidFill>
                <a:effectLst/>
                <a:uLnTx/>
                <a:uFillTx/>
                <a:latin typeface="Calibri" panose="020F0502020204030204"/>
                <a:ea typeface="+mn-ea"/>
                <a:cs typeface="+mn-cs"/>
              </a:rPr>
              <a:t>Orange 🍊</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Shape 87"/>
          <p:cNvSpPr/>
          <p:nvPr/>
        </p:nvSpPr>
        <p:spPr>
          <a:xfrm>
            <a:off x="7543800" y="2176272"/>
            <a:ext cx="164592" cy="164592"/>
          </a:xfrm>
          <a:prstGeom prst="ellipse">
            <a:avLst/>
          </a:prstGeom>
          <a:solidFill>
            <a:srgbClr val="F0F6FC"/>
          </a:solidFill>
          <a:ln w="19050">
            <a:solidFill>
              <a:srgbClr val="58A6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Text 88"/>
          <p:cNvSpPr/>
          <p:nvPr/>
        </p:nvSpPr>
        <p:spPr>
          <a:xfrm>
            <a:off x="7763256" y="2157984"/>
            <a:ext cx="822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8A6FF"/>
                </a:solidFill>
                <a:effectLst/>
                <a:uLnTx/>
                <a:uFillTx/>
                <a:latin typeface="Calibri" panose="020F0502020204030204"/>
                <a:ea typeface="+mn-ea"/>
                <a:cs typeface="+mn-cs"/>
              </a:rPr>
              <a:t>?  Query</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 name="Shape 89"/>
          <p:cNvSpPr/>
          <p:nvPr/>
        </p:nvSpPr>
        <p:spPr>
          <a:xfrm>
            <a:off x="5120640" y="4251960"/>
            <a:ext cx="3703320" cy="685800"/>
          </a:xfrm>
          <a:prstGeom prst="rect">
            <a:avLst/>
          </a:prstGeom>
          <a:solidFill>
            <a:srgbClr val="21262D"/>
          </a:solidFill>
          <a:ln w="25400">
            <a:solidFill>
              <a:srgbClr val="3FB950"/>
            </a:solidFill>
            <a:prstDash val="solid"/>
          </a:ln>
          <a:effectLst>
            <a:outerShdw blurRad="127000" dist="38100" dir="8100000" algn="bl" rotWithShape="0">
              <a:srgbClr val="00000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Text 90"/>
          <p:cNvSpPr/>
          <p:nvPr/>
        </p:nvSpPr>
        <p:spPr>
          <a:xfrm>
            <a:off x="5230368" y="4251960"/>
            <a:ext cx="3493008"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8B949E"/>
                </a:solidFill>
                <a:effectLst/>
                <a:uLnTx/>
                <a:uFillTx/>
                <a:latin typeface="Calibri" panose="020F0502020204030204"/>
                <a:ea typeface="+mn-ea"/>
                <a:cs typeface="+mn-cs"/>
              </a:rPr>
              <a:t>K=3 Vote: </a:t>
            </a:r>
            <a:r>
              <a:rPr kumimoji="0" lang="en-US" sz="1050" b="1" i="0" u="none" strike="noStrike" kern="1200" cap="none" spc="0" normalizeH="0" baseline="0" noProof="0" dirty="0">
                <a:ln>
                  <a:noFill/>
                </a:ln>
                <a:solidFill>
                  <a:srgbClr val="3FB950"/>
                </a:solidFill>
                <a:effectLst/>
                <a:uLnTx/>
                <a:uFillTx/>
                <a:latin typeface="Calibri" panose="020F0502020204030204"/>
                <a:ea typeface="+mn-ea"/>
                <a:cs typeface="+mn-cs"/>
              </a:rPr>
              <a:t>3× Apple 🍎  </a:t>
            </a:r>
            <a:r>
              <a:rPr kumimoji="0" lang="en-US" sz="1050" b="0" i="0" u="none" strike="noStrike" kern="1200" cap="none" spc="0" normalizeH="0" baseline="0" noProof="0" dirty="0">
                <a:ln>
                  <a:noFill/>
                </a:ln>
                <a:solidFill>
                  <a:srgbClr val="F0883E"/>
                </a:solidFill>
                <a:effectLst/>
                <a:uLnTx/>
                <a:uFillTx/>
                <a:latin typeface="Calibri" panose="020F0502020204030204"/>
                <a:ea typeface="+mn-ea"/>
                <a:cs typeface="+mn-cs"/>
              </a:rPr>
              <a:t>0× Orange 🍊
</a:t>
            </a:r>
            <a:r>
              <a:rPr kumimoji="0" lang="en-US" sz="1050" b="0" i="0" u="none" strike="noStrike" kern="1200" cap="none" spc="0" normalizeH="0" baseline="0" noProof="0" dirty="0">
                <a:ln>
                  <a:noFill/>
                </a:ln>
                <a:solidFill>
                  <a:srgbClr val="F0F6FC"/>
                </a:solidFill>
                <a:effectLst/>
                <a:uLnTx/>
                <a:uFillTx/>
                <a:latin typeface="Calibri" panose="020F0502020204030204"/>
                <a:ea typeface="+mn-ea"/>
                <a:cs typeface="+mn-cs"/>
              </a:rPr>
              <a:t>→ Prediction: </a:t>
            </a:r>
            <a:r>
              <a:rPr kumimoji="0" lang="en-US" sz="1050" b="1" i="0" u="none" strike="noStrike" kern="1200" cap="none" spc="0" normalizeH="0" baseline="0" noProof="0" dirty="0">
                <a:ln>
                  <a:noFill/>
                </a:ln>
                <a:solidFill>
                  <a:srgbClr val="3FB950"/>
                </a:solidFill>
                <a:effectLst/>
                <a:uLnTx/>
                <a:uFillTx/>
                <a:latin typeface="Calibri" panose="020F0502020204030204"/>
                <a:ea typeface="+mn-ea"/>
                <a:cs typeface="+mn-cs"/>
              </a:rPr>
              <a:t>APPLE  ✓</a:t>
            </a:r>
            <a:r>
              <a:rPr kumimoji="0" lang="en-US" sz="1050" b="0" i="0" u="none" strike="noStrike" kern="1200" cap="none" spc="0" normalizeH="0" baseline="0" noProof="0" dirty="0">
                <a:ln>
                  <a:noFill/>
                </a:ln>
                <a:solidFill>
                  <a:srgbClr val="8B949E"/>
                </a:solidFill>
                <a:effectLst/>
                <a:uLnTx/>
                <a:uFillTx/>
                <a:latin typeface="Calibri" panose="020F0502020204030204"/>
                <a:ea typeface="+mn-ea"/>
                <a:cs typeface="+mn-cs"/>
              </a:rPr>
              <a:t>  (unanimous!)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FB950"/>
          </a:solidFill>
          <a:ln w="12700">
            <a:solidFill>
              <a:srgbClr val="3FB950"/>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scikit-learn — Same API, Many Models</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3FB950"/>
                </a:solidFill>
              </a:rPr>
              <a:t>One pattern to rule them all</a:t>
            </a:r>
            <a:endParaRPr lang="en-US" sz="1200" dirty="0"/>
          </a:p>
        </p:txBody>
      </p:sp>
      <p:sp>
        <p:nvSpPr>
          <p:cNvPr id="5" name="Shape 3"/>
          <p:cNvSpPr/>
          <p:nvPr/>
        </p:nvSpPr>
        <p:spPr>
          <a:xfrm>
            <a:off x="320040" y="1024128"/>
            <a:ext cx="8503920" cy="0"/>
          </a:xfrm>
          <a:prstGeom prst="line">
            <a:avLst/>
          </a:prstGeom>
          <a:noFill/>
          <a:ln w="12700">
            <a:solidFill>
              <a:srgbClr val="3FB950"/>
            </a:solidFill>
            <a:prstDash val="solid"/>
          </a:ln>
        </p:spPr>
        <p:txBody>
          <a:bodyPr/>
          <a:lstStyle/>
          <a:p>
            <a:endParaRPr lang="fr-FR"/>
          </a:p>
        </p:txBody>
      </p:sp>
      <p:sp>
        <p:nvSpPr>
          <p:cNvPr id="6" name="Shape 4"/>
          <p:cNvSpPr/>
          <p:nvPr/>
        </p:nvSpPr>
        <p:spPr>
          <a:xfrm>
            <a:off x="320040" y="1188720"/>
            <a:ext cx="3931920" cy="2103120"/>
          </a:xfrm>
          <a:prstGeom prst="rect">
            <a:avLst/>
          </a:prstGeom>
          <a:solidFill>
            <a:srgbClr val="0D1117"/>
          </a:solidFill>
          <a:ln w="1905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457200" y="1298448"/>
            <a:ext cx="3657600" cy="320040"/>
          </a:xfrm>
          <a:prstGeom prst="rect">
            <a:avLst/>
          </a:prstGeom>
          <a:noFill/>
          <a:ln/>
        </p:spPr>
        <p:txBody>
          <a:bodyPr wrap="square" lIns="0" tIns="0" rIns="0" bIns="0" rtlCol="0" anchor="ctr"/>
          <a:lstStyle/>
          <a:p>
            <a:pPr marL="0" indent="0">
              <a:buNone/>
            </a:pPr>
            <a:r>
              <a:rPr lang="en-US" sz="1100" dirty="0">
                <a:solidFill>
                  <a:srgbClr val="BC8CFF"/>
                </a:solidFill>
                <a:latin typeface="Consolas" pitchFamily="34" charset="0"/>
                <a:ea typeface="Consolas" pitchFamily="34" charset="-122"/>
                <a:cs typeface="Consolas" pitchFamily="34" charset="-120"/>
              </a:rPr>
              <a:t>from</a:t>
            </a:r>
            <a:r>
              <a:rPr lang="en-US" sz="1100" dirty="0">
                <a:solidFill>
                  <a:srgbClr val="F0F6FC"/>
                </a:solidFill>
                <a:latin typeface="Consolas" pitchFamily="34" charset="0"/>
                <a:ea typeface="Consolas" pitchFamily="34" charset="-122"/>
                <a:cs typeface="Consolas" pitchFamily="34" charset="-120"/>
              </a:rPr>
              <a:t> sklearn </a:t>
            </a:r>
            <a:r>
              <a:rPr lang="en-US" sz="1100" dirty="0">
                <a:solidFill>
                  <a:srgbClr val="BC8CFF"/>
                </a:solidFill>
                <a:latin typeface="Consolas" pitchFamily="34" charset="0"/>
                <a:ea typeface="Consolas" pitchFamily="34" charset="-122"/>
                <a:cs typeface="Consolas" pitchFamily="34" charset="-120"/>
              </a:rPr>
              <a:t>import</a:t>
            </a:r>
            <a:r>
              <a:rPr lang="en-US" sz="1100" dirty="0">
                <a:solidFill>
                  <a:srgbClr val="58A6FF"/>
                </a:solidFill>
                <a:latin typeface="Consolas" pitchFamily="34" charset="0"/>
                <a:ea typeface="Consolas" pitchFamily="34" charset="-122"/>
                <a:cs typeface="Consolas" pitchFamily="34" charset="-120"/>
              </a:rPr>
              <a:t> Model</a:t>
            </a:r>
            <a:endParaRPr lang="en-US" sz="1100" dirty="0"/>
          </a:p>
        </p:txBody>
      </p:sp>
      <p:sp>
        <p:nvSpPr>
          <p:cNvPr id="8" name="Text 6"/>
          <p:cNvSpPr/>
          <p:nvPr/>
        </p:nvSpPr>
        <p:spPr>
          <a:xfrm>
            <a:off x="457200" y="1636776"/>
            <a:ext cx="3657600" cy="320040"/>
          </a:xfrm>
          <a:prstGeom prst="rect">
            <a:avLst/>
          </a:prstGeom>
          <a:noFill/>
          <a:ln/>
        </p:spPr>
        <p:txBody>
          <a:bodyPr wrap="square" lIns="0" tIns="0" rIns="0" bIns="0" rtlCol="0" anchor="ctr"/>
          <a:lstStyle/>
          <a:p>
            <a:pPr marL="0" indent="0">
              <a:buNone/>
            </a:pPr>
            <a:endParaRPr lang="en-US" sz="1100" dirty="0"/>
          </a:p>
        </p:txBody>
      </p:sp>
      <p:sp>
        <p:nvSpPr>
          <p:cNvPr id="9" name="Text 7"/>
          <p:cNvSpPr/>
          <p:nvPr/>
        </p:nvSpPr>
        <p:spPr>
          <a:xfrm>
            <a:off x="457200" y="1975104"/>
            <a:ext cx="3657600" cy="320040"/>
          </a:xfrm>
          <a:prstGeom prst="rect">
            <a:avLst/>
          </a:prstGeom>
          <a:noFill/>
          <a:ln/>
        </p:spPr>
        <p:txBody>
          <a:bodyPr wrap="square" lIns="0" tIns="0" rIns="0" bIns="0" rtlCol="0" anchor="ctr"/>
          <a:lstStyle/>
          <a:p>
            <a:pPr marL="0" indent="0">
              <a:buNone/>
            </a:pPr>
            <a:r>
              <a:rPr lang="en-US" sz="1100" dirty="0">
                <a:solidFill>
                  <a:srgbClr val="F0883E"/>
                </a:solidFill>
                <a:latin typeface="Consolas" pitchFamily="34" charset="0"/>
                <a:ea typeface="Consolas" pitchFamily="34" charset="-122"/>
                <a:cs typeface="Consolas" pitchFamily="34" charset="-120"/>
              </a:rPr>
              <a:t>model</a:t>
            </a:r>
            <a:r>
              <a:rPr lang="en-US" sz="1100" dirty="0">
                <a:solidFill>
                  <a:srgbClr val="F0F6FC"/>
                </a:solidFill>
                <a:latin typeface="Consolas" pitchFamily="34" charset="0"/>
                <a:ea typeface="Consolas" pitchFamily="34" charset="-122"/>
                <a:cs typeface="Consolas" pitchFamily="34" charset="-120"/>
              </a:rPr>
              <a:t> = </a:t>
            </a:r>
            <a:r>
              <a:rPr lang="en-US" sz="1100" dirty="0">
                <a:solidFill>
                  <a:srgbClr val="58A6FF"/>
                </a:solidFill>
                <a:latin typeface="Consolas" pitchFamily="34" charset="0"/>
                <a:ea typeface="Consolas" pitchFamily="34" charset="-122"/>
                <a:cs typeface="Consolas" pitchFamily="34" charset="-120"/>
              </a:rPr>
              <a:t>Model(</a:t>
            </a:r>
            <a:r>
              <a:rPr lang="en-US" sz="1100" dirty="0">
                <a:solidFill>
                  <a:srgbClr val="E3B341"/>
                </a:solidFill>
                <a:latin typeface="Consolas" pitchFamily="34" charset="0"/>
                <a:ea typeface="Consolas" pitchFamily="34" charset="-122"/>
                <a:cs typeface="Consolas" pitchFamily="34" charset="-120"/>
              </a:rPr>
              <a:t>params</a:t>
            </a:r>
            <a:r>
              <a:rPr lang="en-US" sz="1100" dirty="0">
                <a:solidFill>
                  <a:srgbClr val="58A6FF"/>
                </a:solidFill>
                <a:latin typeface="Consolas" pitchFamily="34" charset="0"/>
                <a:ea typeface="Consolas" pitchFamily="34" charset="-122"/>
                <a:cs typeface="Consolas" pitchFamily="34" charset="-120"/>
              </a:rPr>
              <a:t>)</a:t>
            </a:r>
            <a:endParaRPr lang="en-US" sz="1100" dirty="0"/>
          </a:p>
        </p:txBody>
      </p:sp>
      <p:sp>
        <p:nvSpPr>
          <p:cNvPr id="10" name="Text 8"/>
          <p:cNvSpPr/>
          <p:nvPr/>
        </p:nvSpPr>
        <p:spPr>
          <a:xfrm>
            <a:off x="457200" y="2313432"/>
            <a:ext cx="3657600" cy="320040"/>
          </a:xfrm>
          <a:prstGeom prst="rect">
            <a:avLst/>
          </a:prstGeom>
          <a:noFill/>
          <a:ln/>
        </p:spPr>
        <p:txBody>
          <a:bodyPr wrap="square" lIns="0" tIns="0" rIns="0" bIns="0" rtlCol="0" anchor="ctr"/>
          <a:lstStyle/>
          <a:p>
            <a:pPr marL="0" indent="0">
              <a:buNone/>
            </a:pPr>
            <a:r>
              <a:rPr lang="en-US" sz="1100" dirty="0">
                <a:solidFill>
                  <a:srgbClr val="F0883E"/>
                </a:solidFill>
                <a:latin typeface="Consolas" pitchFamily="34" charset="0"/>
                <a:ea typeface="Consolas" pitchFamily="34" charset="-122"/>
                <a:cs typeface="Consolas" pitchFamily="34" charset="-120"/>
              </a:rPr>
              <a:t>model</a:t>
            </a:r>
            <a:r>
              <a:rPr lang="en-US" sz="1100" dirty="0">
                <a:solidFill>
                  <a:srgbClr val="F0F6FC"/>
                </a:solidFill>
                <a:latin typeface="Consolas" pitchFamily="34" charset="0"/>
                <a:ea typeface="Consolas" pitchFamily="34" charset="-122"/>
                <a:cs typeface="Consolas" pitchFamily="34" charset="-120"/>
              </a:rPr>
              <a:t>.</a:t>
            </a:r>
            <a:r>
              <a:rPr lang="en-US" sz="1100" dirty="0">
                <a:solidFill>
                  <a:srgbClr val="3FB950"/>
                </a:solidFill>
                <a:latin typeface="Consolas" pitchFamily="34" charset="0"/>
                <a:ea typeface="Consolas" pitchFamily="34" charset="-122"/>
                <a:cs typeface="Consolas" pitchFamily="34" charset="-120"/>
              </a:rPr>
              <a:t>fit(</a:t>
            </a:r>
            <a:r>
              <a:rPr lang="en-US" sz="1100" dirty="0">
                <a:solidFill>
                  <a:srgbClr val="E3B341"/>
                </a:solidFill>
                <a:latin typeface="Consolas" pitchFamily="34" charset="0"/>
                <a:ea typeface="Consolas" pitchFamily="34" charset="-122"/>
                <a:cs typeface="Consolas" pitchFamily="34" charset="-120"/>
              </a:rPr>
              <a:t>X_train, y_train</a:t>
            </a:r>
            <a:r>
              <a:rPr lang="en-US" sz="1100" dirty="0">
                <a:solidFill>
                  <a:srgbClr val="3FB950"/>
                </a:solidFill>
                <a:latin typeface="Consolas" pitchFamily="34" charset="0"/>
                <a:ea typeface="Consolas" pitchFamily="34" charset="-122"/>
                <a:cs typeface="Consolas" pitchFamily="34" charset="-120"/>
              </a:rPr>
              <a:t>)</a:t>
            </a:r>
            <a:endParaRPr lang="en-US" sz="1100" dirty="0"/>
          </a:p>
        </p:txBody>
      </p:sp>
      <p:sp>
        <p:nvSpPr>
          <p:cNvPr id="11" name="Text 9"/>
          <p:cNvSpPr/>
          <p:nvPr/>
        </p:nvSpPr>
        <p:spPr>
          <a:xfrm>
            <a:off x="457200" y="2651760"/>
            <a:ext cx="3657600" cy="320040"/>
          </a:xfrm>
          <a:prstGeom prst="rect">
            <a:avLst/>
          </a:prstGeom>
          <a:noFill/>
          <a:ln/>
        </p:spPr>
        <p:txBody>
          <a:bodyPr wrap="square" lIns="0" tIns="0" rIns="0" bIns="0" rtlCol="0" anchor="ctr"/>
          <a:lstStyle/>
          <a:p>
            <a:pPr marL="0" indent="0">
              <a:buNone/>
            </a:pPr>
            <a:r>
              <a:rPr lang="en-US" sz="1100" dirty="0">
                <a:solidFill>
                  <a:srgbClr val="F0883E"/>
                </a:solidFill>
                <a:latin typeface="Consolas" pitchFamily="34" charset="0"/>
                <a:ea typeface="Consolas" pitchFamily="34" charset="-122"/>
                <a:cs typeface="Consolas" pitchFamily="34" charset="-120"/>
              </a:rPr>
              <a:t>y_pred</a:t>
            </a:r>
            <a:r>
              <a:rPr lang="en-US" sz="1100" dirty="0">
                <a:solidFill>
                  <a:srgbClr val="F0F6FC"/>
                </a:solidFill>
                <a:latin typeface="Consolas" pitchFamily="34" charset="0"/>
                <a:ea typeface="Consolas" pitchFamily="34" charset="-122"/>
                <a:cs typeface="Consolas" pitchFamily="34" charset="-120"/>
              </a:rPr>
              <a:t> = model.</a:t>
            </a:r>
            <a:r>
              <a:rPr lang="en-US" sz="1100" dirty="0">
                <a:solidFill>
                  <a:srgbClr val="3FB950"/>
                </a:solidFill>
                <a:latin typeface="Consolas" pitchFamily="34" charset="0"/>
                <a:ea typeface="Consolas" pitchFamily="34" charset="-122"/>
                <a:cs typeface="Consolas" pitchFamily="34" charset="-120"/>
              </a:rPr>
              <a:t>predict(</a:t>
            </a:r>
            <a:r>
              <a:rPr lang="en-US" sz="1100" dirty="0">
                <a:solidFill>
                  <a:srgbClr val="E3B341"/>
                </a:solidFill>
                <a:latin typeface="Consolas" pitchFamily="34" charset="0"/>
                <a:ea typeface="Consolas" pitchFamily="34" charset="-122"/>
                <a:cs typeface="Consolas" pitchFamily="34" charset="-120"/>
              </a:rPr>
              <a:t>X_test</a:t>
            </a:r>
            <a:r>
              <a:rPr lang="en-US" sz="1100" dirty="0">
                <a:solidFill>
                  <a:srgbClr val="3FB950"/>
                </a:solidFill>
                <a:latin typeface="Consolas" pitchFamily="34" charset="0"/>
                <a:ea typeface="Consolas" pitchFamily="34" charset="-122"/>
                <a:cs typeface="Consolas" pitchFamily="34" charset="-120"/>
              </a:rPr>
              <a:t>)</a:t>
            </a:r>
            <a:endParaRPr lang="en-US" sz="1100" dirty="0"/>
          </a:p>
        </p:txBody>
      </p:sp>
      <p:sp>
        <p:nvSpPr>
          <p:cNvPr id="12" name="Shape 10"/>
          <p:cNvSpPr/>
          <p:nvPr/>
        </p:nvSpPr>
        <p:spPr>
          <a:xfrm>
            <a:off x="4572000" y="1188720"/>
            <a:ext cx="4251960" cy="658368"/>
          </a:xfrm>
          <a:prstGeom prst="rect">
            <a:avLst/>
          </a:prstGeom>
          <a:solidFill>
            <a:srgbClr val="161B22"/>
          </a:solidFill>
          <a:ln w="1270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13" name="Shape 11"/>
          <p:cNvSpPr/>
          <p:nvPr/>
        </p:nvSpPr>
        <p:spPr>
          <a:xfrm>
            <a:off x="4572000" y="1188720"/>
            <a:ext cx="73152" cy="658368"/>
          </a:xfrm>
          <a:prstGeom prst="rect">
            <a:avLst/>
          </a:prstGeom>
          <a:solidFill>
            <a:srgbClr val="58A6FF"/>
          </a:solidFill>
          <a:ln w="12700">
            <a:solidFill>
              <a:srgbClr val="58A6FF"/>
            </a:solidFill>
            <a:prstDash val="solid"/>
          </a:ln>
        </p:spPr>
        <p:txBody>
          <a:bodyPr/>
          <a:lstStyle/>
          <a:p>
            <a:endParaRPr lang="fr-FR"/>
          </a:p>
        </p:txBody>
      </p:sp>
      <p:sp>
        <p:nvSpPr>
          <p:cNvPr id="14" name="Text 12"/>
          <p:cNvSpPr/>
          <p:nvPr/>
        </p:nvSpPr>
        <p:spPr>
          <a:xfrm>
            <a:off x="4754880" y="1243584"/>
            <a:ext cx="2286000" cy="274320"/>
          </a:xfrm>
          <a:prstGeom prst="rect">
            <a:avLst/>
          </a:prstGeom>
          <a:noFill/>
          <a:ln/>
        </p:spPr>
        <p:txBody>
          <a:bodyPr wrap="square" lIns="0" tIns="0" rIns="0" bIns="0" rtlCol="0" anchor="ctr"/>
          <a:lstStyle/>
          <a:p>
            <a:pPr marL="0" indent="0">
              <a:buNone/>
            </a:pPr>
            <a:r>
              <a:rPr lang="en-US" sz="1200" b="1" dirty="0">
                <a:solidFill>
                  <a:srgbClr val="58A6FF"/>
                </a:solidFill>
              </a:rPr>
              <a:t>Logistic Regression</a:t>
            </a:r>
            <a:endParaRPr lang="en-US" sz="1200" dirty="0"/>
          </a:p>
        </p:txBody>
      </p:sp>
      <p:sp>
        <p:nvSpPr>
          <p:cNvPr id="15" name="Text 13"/>
          <p:cNvSpPr/>
          <p:nvPr/>
        </p:nvSpPr>
        <p:spPr>
          <a:xfrm>
            <a:off x="4754880" y="1517904"/>
            <a:ext cx="2286000" cy="237744"/>
          </a:xfrm>
          <a:prstGeom prst="rect">
            <a:avLst/>
          </a:prstGeom>
          <a:noFill/>
          <a:ln/>
        </p:spPr>
        <p:txBody>
          <a:bodyPr wrap="square" lIns="0" tIns="0" rIns="0" bIns="0" rtlCol="0" anchor="ctr"/>
          <a:lstStyle/>
          <a:p>
            <a:pPr marL="0" indent="0">
              <a:buNone/>
            </a:pPr>
            <a:r>
              <a:rPr lang="en-US" sz="900" dirty="0">
                <a:solidFill>
                  <a:srgbClr val="8B949E"/>
                </a:solidFill>
              </a:rPr>
              <a:t>Linear boundaries</a:t>
            </a:r>
            <a:endParaRPr lang="en-US" sz="900" dirty="0"/>
          </a:p>
        </p:txBody>
      </p:sp>
      <p:sp>
        <p:nvSpPr>
          <p:cNvPr id="16" name="Text 14"/>
          <p:cNvSpPr/>
          <p:nvPr/>
        </p:nvSpPr>
        <p:spPr>
          <a:xfrm>
            <a:off x="7223760" y="1371600"/>
            <a:ext cx="1463040" cy="274320"/>
          </a:xfrm>
          <a:prstGeom prst="rect">
            <a:avLst/>
          </a:prstGeom>
          <a:noFill/>
          <a:ln/>
        </p:spPr>
        <p:txBody>
          <a:bodyPr wrap="square" lIns="0" tIns="0" rIns="0" bIns="0" rtlCol="0" anchor="ctr"/>
          <a:lstStyle/>
          <a:p>
            <a:pPr marL="0" indent="0" algn="r">
              <a:buNone/>
            </a:pPr>
            <a:r>
              <a:rPr lang="en-US" sz="1100" dirty="0">
                <a:solidFill>
                  <a:srgbClr val="F0F6FC"/>
                </a:solidFill>
              </a:rPr>
              <a:t>Fast</a:t>
            </a:r>
            <a:endParaRPr lang="en-US" sz="1100" dirty="0"/>
          </a:p>
        </p:txBody>
      </p:sp>
      <p:sp>
        <p:nvSpPr>
          <p:cNvPr id="17" name="Shape 15"/>
          <p:cNvSpPr/>
          <p:nvPr/>
        </p:nvSpPr>
        <p:spPr>
          <a:xfrm>
            <a:off x="4572000" y="1938528"/>
            <a:ext cx="4251960" cy="658368"/>
          </a:xfrm>
          <a:prstGeom prst="rect">
            <a:avLst/>
          </a:prstGeom>
          <a:solidFill>
            <a:srgbClr val="161B22"/>
          </a:solidFill>
          <a:ln w="1270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18" name="Shape 16"/>
          <p:cNvSpPr/>
          <p:nvPr/>
        </p:nvSpPr>
        <p:spPr>
          <a:xfrm>
            <a:off x="4572000" y="1938528"/>
            <a:ext cx="73152" cy="658368"/>
          </a:xfrm>
          <a:prstGeom prst="rect">
            <a:avLst/>
          </a:prstGeom>
          <a:solidFill>
            <a:srgbClr val="BC8CFF"/>
          </a:solidFill>
          <a:ln w="12700">
            <a:solidFill>
              <a:srgbClr val="BC8CFF"/>
            </a:solidFill>
            <a:prstDash val="solid"/>
          </a:ln>
        </p:spPr>
        <p:txBody>
          <a:bodyPr/>
          <a:lstStyle/>
          <a:p>
            <a:endParaRPr lang="fr-FR"/>
          </a:p>
        </p:txBody>
      </p:sp>
      <p:sp>
        <p:nvSpPr>
          <p:cNvPr id="19" name="Text 17"/>
          <p:cNvSpPr/>
          <p:nvPr/>
        </p:nvSpPr>
        <p:spPr>
          <a:xfrm>
            <a:off x="4754880" y="1993392"/>
            <a:ext cx="2286000" cy="274320"/>
          </a:xfrm>
          <a:prstGeom prst="rect">
            <a:avLst/>
          </a:prstGeom>
          <a:noFill/>
          <a:ln/>
        </p:spPr>
        <p:txBody>
          <a:bodyPr wrap="square" lIns="0" tIns="0" rIns="0" bIns="0" rtlCol="0" anchor="ctr"/>
          <a:lstStyle/>
          <a:p>
            <a:pPr marL="0" indent="0">
              <a:buNone/>
            </a:pPr>
            <a:r>
              <a:rPr lang="en-US" sz="1200" b="1" dirty="0">
                <a:solidFill>
                  <a:srgbClr val="BC8CFF"/>
                </a:solidFill>
              </a:rPr>
              <a:t>KNN</a:t>
            </a:r>
            <a:endParaRPr lang="en-US" sz="1200" dirty="0"/>
          </a:p>
        </p:txBody>
      </p:sp>
      <p:sp>
        <p:nvSpPr>
          <p:cNvPr id="20" name="Text 18"/>
          <p:cNvSpPr/>
          <p:nvPr/>
        </p:nvSpPr>
        <p:spPr>
          <a:xfrm>
            <a:off x="4754880" y="2267712"/>
            <a:ext cx="2286000" cy="237744"/>
          </a:xfrm>
          <a:prstGeom prst="rect">
            <a:avLst/>
          </a:prstGeom>
          <a:noFill/>
          <a:ln/>
        </p:spPr>
        <p:txBody>
          <a:bodyPr wrap="square" lIns="0" tIns="0" rIns="0" bIns="0" rtlCol="0" anchor="ctr"/>
          <a:lstStyle/>
          <a:p>
            <a:pPr marL="0" indent="0">
              <a:buNone/>
            </a:pPr>
            <a:r>
              <a:rPr lang="en-US" sz="900" dirty="0">
                <a:solidFill>
                  <a:srgbClr val="8B949E"/>
                </a:solidFill>
              </a:rPr>
              <a:t>Local patterns</a:t>
            </a:r>
            <a:endParaRPr lang="en-US" sz="900" dirty="0"/>
          </a:p>
        </p:txBody>
      </p:sp>
      <p:sp>
        <p:nvSpPr>
          <p:cNvPr id="21" name="Text 19"/>
          <p:cNvSpPr/>
          <p:nvPr/>
        </p:nvSpPr>
        <p:spPr>
          <a:xfrm>
            <a:off x="7223760" y="2121408"/>
            <a:ext cx="1463040" cy="274320"/>
          </a:xfrm>
          <a:prstGeom prst="rect">
            <a:avLst/>
          </a:prstGeom>
          <a:noFill/>
          <a:ln/>
        </p:spPr>
        <p:txBody>
          <a:bodyPr wrap="square" lIns="0" tIns="0" rIns="0" bIns="0" rtlCol="0" anchor="ctr"/>
          <a:lstStyle/>
          <a:p>
            <a:pPr marL="0" indent="0" algn="r">
              <a:buNone/>
            </a:pPr>
            <a:r>
              <a:rPr lang="en-US" sz="1100" dirty="0">
                <a:solidFill>
                  <a:srgbClr val="F0F6FC"/>
                </a:solidFill>
              </a:rPr>
              <a:t>Slow on large data</a:t>
            </a:r>
            <a:endParaRPr lang="en-US" sz="1100" dirty="0"/>
          </a:p>
        </p:txBody>
      </p:sp>
      <p:sp>
        <p:nvSpPr>
          <p:cNvPr id="22" name="Shape 20"/>
          <p:cNvSpPr/>
          <p:nvPr/>
        </p:nvSpPr>
        <p:spPr>
          <a:xfrm>
            <a:off x="4572000" y="2688336"/>
            <a:ext cx="4251960" cy="658368"/>
          </a:xfrm>
          <a:prstGeom prst="rect">
            <a:avLst/>
          </a:prstGeom>
          <a:solidFill>
            <a:srgbClr val="161B22"/>
          </a:solidFill>
          <a:ln w="12700">
            <a:solidFill>
              <a:srgbClr val="F0883E"/>
            </a:solidFill>
            <a:prstDash val="solid"/>
          </a:ln>
          <a:effectLst>
            <a:outerShdw blurRad="127000" dist="38100" dir="8100000" algn="bl" rotWithShape="0">
              <a:srgbClr val="000000">
                <a:alpha val="35000"/>
              </a:srgbClr>
            </a:outerShdw>
          </a:effectLst>
        </p:spPr>
        <p:txBody>
          <a:bodyPr/>
          <a:lstStyle/>
          <a:p>
            <a:endParaRPr lang="fr-FR"/>
          </a:p>
        </p:txBody>
      </p:sp>
      <p:sp>
        <p:nvSpPr>
          <p:cNvPr id="23" name="Shape 21"/>
          <p:cNvSpPr/>
          <p:nvPr/>
        </p:nvSpPr>
        <p:spPr>
          <a:xfrm>
            <a:off x="4572000" y="2688336"/>
            <a:ext cx="73152" cy="658368"/>
          </a:xfrm>
          <a:prstGeom prst="rect">
            <a:avLst/>
          </a:prstGeom>
          <a:solidFill>
            <a:srgbClr val="F0883E"/>
          </a:solidFill>
          <a:ln w="12700">
            <a:solidFill>
              <a:srgbClr val="F0883E"/>
            </a:solidFill>
            <a:prstDash val="solid"/>
          </a:ln>
        </p:spPr>
        <p:txBody>
          <a:bodyPr/>
          <a:lstStyle/>
          <a:p>
            <a:endParaRPr lang="fr-FR"/>
          </a:p>
        </p:txBody>
      </p:sp>
      <p:sp>
        <p:nvSpPr>
          <p:cNvPr id="24" name="Text 22"/>
          <p:cNvSpPr/>
          <p:nvPr/>
        </p:nvSpPr>
        <p:spPr>
          <a:xfrm>
            <a:off x="4754880" y="2743200"/>
            <a:ext cx="2286000" cy="274320"/>
          </a:xfrm>
          <a:prstGeom prst="rect">
            <a:avLst/>
          </a:prstGeom>
          <a:noFill/>
          <a:ln/>
        </p:spPr>
        <p:txBody>
          <a:bodyPr wrap="square" lIns="0" tIns="0" rIns="0" bIns="0" rtlCol="0" anchor="ctr"/>
          <a:lstStyle/>
          <a:p>
            <a:pPr marL="0" indent="0">
              <a:buNone/>
            </a:pPr>
            <a:r>
              <a:rPr lang="en-US" sz="1200" b="1" dirty="0">
                <a:solidFill>
                  <a:srgbClr val="F0883E"/>
                </a:solidFill>
              </a:rPr>
              <a:t>Decision Tree</a:t>
            </a:r>
            <a:endParaRPr lang="en-US" sz="1200" dirty="0"/>
          </a:p>
        </p:txBody>
      </p:sp>
      <p:sp>
        <p:nvSpPr>
          <p:cNvPr id="25" name="Text 23"/>
          <p:cNvSpPr/>
          <p:nvPr/>
        </p:nvSpPr>
        <p:spPr>
          <a:xfrm>
            <a:off x="4754880" y="3017520"/>
            <a:ext cx="2286000" cy="237744"/>
          </a:xfrm>
          <a:prstGeom prst="rect">
            <a:avLst/>
          </a:prstGeom>
          <a:noFill/>
          <a:ln/>
        </p:spPr>
        <p:txBody>
          <a:bodyPr wrap="square" lIns="0" tIns="0" rIns="0" bIns="0" rtlCol="0" anchor="ctr"/>
          <a:lstStyle/>
          <a:p>
            <a:pPr marL="0" indent="0">
              <a:buNone/>
            </a:pPr>
            <a:r>
              <a:rPr lang="en-US" sz="900" dirty="0">
                <a:solidFill>
                  <a:srgbClr val="8B949E"/>
                </a:solidFill>
              </a:rPr>
              <a:t>Non-linear, interpretable</a:t>
            </a:r>
            <a:endParaRPr lang="en-US" sz="900" dirty="0"/>
          </a:p>
        </p:txBody>
      </p:sp>
      <p:sp>
        <p:nvSpPr>
          <p:cNvPr id="26" name="Text 24"/>
          <p:cNvSpPr/>
          <p:nvPr/>
        </p:nvSpPr>
        <p:spPr>
          <a:xfrm>
            <a:off x="7223760" y="2871216"/>
            <a:ext cx="1463040" cy="274320"/>
          </a:xfrm>
          <a:prstGeom prst="rect">
            <a:avLst/>
          </a:prstGeom>
          <a:noFill/>
          <a:ln/>
        </p:spPr>
        <p:txBody>
          <a:bodyPr wrap="square" lIns="0" tIns="0" rIns="0" bIns="0" rtlCol="0" anchor="ctr"/>
          <a:lstStyle/>
          <a:p>
            <a:pPr marL="0" indent="0" algn="r">
              <a:buNone/>
            </a:pPr>
            <a:r>
              <a:rPr lang="en-US" sz="1100" dirty="0">
                <a:solidFill>
                  <a:srgbClr val="F0F6FC"/>
                </a:solidFill>
              </a:rPr>
              <a:t>Fast</a:t>
            </a:r>
            <a:endParaRPr lang="en-US" sz="1100" dirty="0"/>
          </a:p>
        </p:txBody>
      </p:sp>
      <p:sp>
        <p:nvSpPr>
          <p:cNvPr id="27" name="Shape 25"/>
          <p:cNvSpPr/>
          <p:nvPr/>
        </p:nvSpPr>
        <p:spPr>
          <a:xfrm>
            <a:off x="4572000" y="3438144"/>
            <a:ext cx="4251960" cy="658368"/>
          </a:xfrm>
          <a:prstGeom prst="rect">
            <a:avLst/>
          </a:prstGeom>
          <a:solidFill>
            <a:srgbClr val="161B22"/>
          </a:solidFill>
          <a:ln w="1270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28" name="Shape 26"/>
          <p:cNvSpPr/>
          <p:nvPr/>
        </p:nvSpPr>
        <p:spPr>
          <a:xfrm>
            <a:off x="4572000" y="3438144"/>
            <a:ext cx="73152" cy="658368"/>
          </a:xfrm>
          <a:prstGeom prst="rect">
            <a:avLst/>
          </a:prstGeom>
          <a:solidFill>
            <a:srgbClr val="3FB950"/>
          </a:solidFill>
          <a:ln w="12700">
            <a:solidFill>
              <a:srgbClr val="3FB950"/>
            </a:solidFill>
            <a:prstDash val="solid"/>
          </a:ln>
        </p:spPr>
        <p:txBody>
          <a:bodyPr/>
          <a:lstStyle/>
          <a:p>
            <a:endParaRPr lang="fr-FR"/>
          </a:p>
        </p:txBody>
      </p:sp>
      <p:sp>
        <p:nvSpPr>
          <p:cNvPr id="29" name="Text 27"/>
          <p:cNvSpPr/>
          <p:nvPr/>
        </p:nvSpPr>
        <p:spPr>
          <a:xfrm>
            <a:off x="4754880" y="3493008"/>
            <a:ext cx="2286000" cy="274320"/>
          </a:xfrm>
          <a:prstGeom prst="rect">
            <a:avLst/>
          </a:prstGeom>
          <a:noFill/>
          <a:ln/>
        </p:spPr>
        <p:txBody>
          <a:bodyPr wrap="square" lIns="0" tIns="0" rIns="0" bIns="0" rtlCol="0" anchor="ctr"/>
          <a:lstStyle/>
          <a:p>
            <a:pPr marL="0" indent="0">
              <a:buNone/>
            </a:pPr>
            <a:r>
              <a:rPr lang="en-US" sz="1200" b="1" dirty="0">
                <a:solidFill>
                  <a:srgbClr val="3FB950"/>
                </a:solidFill>
              </a:rPr>
              <a:t>Random Forest</a:t>
            </a:r>
            <a:endParaRPr lang="en-US" sz="1200" dirty="0"/>
          </a:p>
        </p:txBody>
      </p:sp>
      <p:sp>
        <p:nvSpPr>
          <p:cNvPr id="30" name="Text 28"/>
          <p:cNvSpPr/>
          <p:nvPr/>
        </p:nvSpPr>
        <p:spPr>
          <a:xfrm>
            <a:off x="4754880" y="3767328"/>
            <a:ext cx="2286000" cy="237744"/>
          </a:xfrm>
          <a:prstGeom prst="rect">
            <a:avLst/>
          </a:prstGeom>
          <a:noFill/>
          <a:ln/>
        </p:spPr>
        <p:txBody>
          <a:bodyPr wrap="square" lIns="0" tIns="0" rIns="0" bIns="0" rtlCol="0" anchor="ctr"/>
          <a:lstStyle/>
          <a:p>
            <a:pPr marL="0" indent="0">
              <a:buNone/>
            </a:pPr>
            <a:r>
              <a:rPr lang="en-US" sz="900" dirty="0">
                <a:solidFill>
                  <a:srgbClr val="8B949E"/>
                </a:solidFill>
              </a:rPr>
              <a:t>High accuracy, robust</a:t>
            </a:r>
            <a:endParaRPr lang="en-US" sz="900" dirty="0"/>
          </a:p>
        </p:txBody>
      </p:sp>
      <p:sp>
        <p:nvSpPr>
          <p:cNvPr id="31" name="Text 29"/>
          <p:cNvSpPr/>
          <p:nvPr/>
        </p:nvSpPr>
        <p:spPr>
          <a:xfrm>
            <a:off x="7223760" y="3621024"/>
            <a:ext cx="1463040" cy="274320"/>
          </a:xfrm>
          <a:prstGeom prst="rect">
            <a:avLst/>
          </a:prstGeom>
          <a:noFill/>
          <a:ln/>
        </p:spPr>
        <p:txBody>
          <a:bodyPr wrap="square" lIns="0" tIns="0" rIns="0" bIns="0" rtlCol="0" anchor="ctr"/>
          <a:lstStyle/>
          <a:p>
            <a:pPr marL="0" indent="0" algn="r">
              <a:buNone/>
            </a:pPr>
            <a:r>
              <a:rPr lang="en-US" sz="1100" dirty="0">
                <a:solidFill>
                  <a:srgbClr val="F0F6FC"/>
                </a:solidFill>
              </a:rPr>
              <a:t>Medium</a:t>
            </a:r>
            <a:endParaRPr lang="en-US" sz="1100" dirty="0"/>
          </a:p>
        </p:txBody>
      </p:sp>
      <p:sp>
        <p:nvSpPr>
          <p:cNvPr id="32" name="Shape 30"/>
          <p:cNvSpPr/>
          <p:nvPr/>
        </p:nvSpPr>
        <p:spPr>
          <a:xfrm>
            <a:off x="4572000" y="4187952"/>
            <a:ext cx="4251960" cy="658368"/>
          </a:xfrm>
          <a:prstGeom prst="rect">
            <a:avLst/>
          </a:prstGeom>
          <a:solidFill>
            <a:srgbClr val="161B22"/>
          </a:solidFill>
          <a:ln w="12700">
            <a:solidFill>
              <a:srgbClr val="39D0B0"/>
            </a:solidFill>
            <a:prstDash val="solid"/>
          </a:ln>
          <a:effectLst>
            <a:outerShdw blurRad="127000" dist="38100" dir="8100000" algn="bl" rotWithShape="0">
              <a:srgbClr val="000000">
                <a:alpha val="35000"/>
              </a:srgbClr>
            </a:outerShdw>
          </a:effectLst>
        </p:spPr>
        <p:txBody>
          <a:bodyPr/>
          <a:lstStyle/>
          <a:p>
            <a:endParaRPr lang="fr-FR"/>
          </a:p>
        </p:txBody>
      </p:sp>
      <p:sp>
        <p:nvSpPr>
          <p:cNvPr id="33" name="Shape 31"/>
          <p:cNvSpPr/>
          <p:nvPr/>
        </p:nvSpPr>
        <p:spPr>
          <a:xfrm>
            <a:off x="4572000" y="4187952"/>
            <a:ext cx="73152" cy="658368"/>
          </a:xfrm>
          <a:prstGeom prst="rect">
            <a:avLst/>
          </a:prstGeom>
          <a:solidFill>
            <a:srgbClr val="39D0B0"/>
          </a:solidFill>
          <a:ln w="12700">
            <a:solidFill>
              <a:srgbClr val="39D0B0"/>
            </a:solidFill>
            <a:prstDash val="solid"/>
          </a:ln>
        </p:spPr>
        <p:txBody>
          <a:bodyPr/>
          <a:lstStyle/>
          <a:p>
            <a:endParaRPr lang="fr-FR"/>
          </a:p>
        </p:txBody>
      </p:sp>
      <p:sp>
        <p:nvSpPr>
          <p:cNvPr id="34" name="Text 32"/>
          <p:cNvSpPr/>
          <p:nvPr/>
        </p:nvSpPr>
        <p:spPr>
          <a:xfrm>
            <a:off x="4754880" y="4242816"/>
            <a:ext cx="2286000" cy="274320"/>
          </a:xfrm>
          <a:prstGeom prst="rect">
            <a:avLst/>
          </a:prstGeom>
          <a:noFill/>
          <a:ln/>
        </p:spPr>
        <p:txBody>
          <a:bodyPr wrap="square" lIns="0" tIns="0" rIns="0" bIns="0" rtlCol="0" anchor="ctr"/>
          <a:lstStyle/>
          <a:p>
            <a:pPr marL="0" indent="0">
              <a:buNone/>
            </a:pPr>
            <a:r>
              <a:rPr lang="en-US" sz="1200" b="1" dirty="0">
                <a:solidFill>
                  <a:srgbClr val="39D0B0"/>
                </a:solidFill>
              </a:rPr>
              <a:t>SVM</a:t>
            </a:r>
            <a:endParaRPr lang="en-US" sz="1200" dirty="0"/>
          </a:p>
        </p:txBody>
      </p:sp>
      <p:sp>
        <p:nvSpPr>
          <p:cNvPr id="35" name="Text 33"/>
          <p:cNvSpPr/>
          <p:nvPr/>
        </p:nvSpPr>
        <p:spPr>
          <a:xfrm>
            <a:off x="4754880" y="4517136"/>
            <a:ext cx="2286000" cy="237744"/>
          </a:xfrm>
          <a:prstGeom prst="rect">
            <a:avLst/>
          </a:prstGeom>
          <a:noFill/>
          <a:ln/>
        </p:spPr>
        <p:txBody>
          <a:bodyPr wrap="square" lIns="0" tIns="0" rIns="0" bIns="0" rtlCol="0" anchor="ctr"/>
          <a:lstStyle/>
          <a:p>
            <a:pPr marL="0" indent="0">
              <a:buNone/>
            </a:pPr>
            <a:r>
              <a:rPr lang="en-US" sz="900" dirty="0">
                <a:solidFill>
                  <a:srgbClr val="8B949E"/>
                </a:solidFill>
              </a:rPr>
              <a:t>Best margin classifier</a:t>
            </a:r>
            <a:endParaRPr lang="en-US" sz="900" dirty="0"/>
          </a:p>
        </p:txBody>
      </p:sp>
      <p:sp>
        <p:nvSpPr>
          <p:cNvPr id="36" name="Text 34"/>
          <p:cNvSpPr/>
          <p:nvPr/>
        </p:nvSpPr>
        <p:spPr>
          <a:xfrm>
            <a:off x="7223760" y="4370832"/>
            <a:ext cx="1463040" cy="274320"/>
          </a:xfrm>
          <a:prstGeom prst="rect">
            <a:avLst/>
          </a:prstGeom>
          <a:noFill/>
          <a:ln/>
        </p:spPr>
        <p:txBody>
          <a:bodyPr wrap="square" lIns="0" tIns="0" rIns="0" bIns="0" rtlCol="0" anchor="ctr"/>
          <a:lstStyle/>
          <a:p>
            <a:pPr marL="0" indent="0" algn="r">
              <a:buNone/>
            </a:pPr>
            <a:r>
              <a:rPr lang="en-US" sz="1100" dirty="0">
                <a:solidFill>
                  <a:srgbClr val="F0F6FC"/>
                </a:solidFill>
              </a:rPr>
              <a:t>Medium</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0883E"/>
          </a:solidFill>
          <a:ln w="12700">
            <a:solidFill>
              <a:srgbClr val="F0883E"/>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Overfitting vs Underfitting</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F0883E"/>
                </a:solidFill>
              </a:rPr>
              <a:t>The most important concept in all of ML</a:t>
            </a:r>
            <a:endParaRPr lang="en-US" sz="1200" dirty="0"/>
          </a:p>
        </p:txBody>
      </p:sp>
      <p:sp>
        <p:nvSpPr>
          <p:cNvPr id="5" name="Shape 3"/>
          <p:cNvSpPr/>
          <p:nvPr/>
        </p:nvSpPr>
        <p:spPr>
          <a:xfrm>
            <a:off x="320040" y="1024128"/>
            <a:ext cx="8503920" cy="0"/>
          </a:xfrm>
          <a:prstGeom prst="line">
            <a:avLst/>
          </a:prstGeom>
          <a:noFill/>
          <a:ln w="12700">
            <a:solidFill>
              <a:srgbClr val="F0883E"/>
            </a:solidFill>
            <a:prstDash val="solid"/>
          </a:ln>
        </p:spPr>
        <p:txBody>
          <a:bodyPr/>
          <a:lstStyle/>
          <a:p>
            <a:endParaRPr lang="fr-FR"/>
          </a:p>
        </p:txBody>
      </p:sp>
      <p:sp>
        <p:nvSpPr>
          <p:cNvPr id="6" name="Shape 4"/>
          <p:cNvSpPr/>
          <p:nvPr/>
        </p:nvSpPr>
        <p:spPr>
          <a:xfrm>
            <a:off x="274320" y="1170432"/>
            <a:ext cx="2743200" cy="3749040"/>
          </a:xfrm>
          <a:prstGeom prst="rect">
            <a:avLst/>
          </a:prstGeom>
          <a:solidFill>
            <a:srgbClr val="161B22"/>
          </a:solidFill>
          <a:ln w="25400">
            <a:solidFill>
              <a:srgbClr val="8B949E"/>
            </a:solidFill>
            <a:prstDash val="solid"/>
          </a:ln>
          <a:effectLst>
            <a:outerShdw blurRad="127000" dist="38100" dir="8100000" algn="bl" rotWithShape="0">
              <a:srgbClr val="000000">
                <a:alpha val="35000"/>
              </a:srgbClr>
            </a:outerShdw>
          </a:effectLst>
        </p:spPr>
        <p:txBody>
          <a:bodyPr/>
          <a:lstStyle/>
          <a:p>
            <a:endParaRPr lang="fr-FR"/>
          </a:p>
        </p:txBody>
      </p:sp>
      <p:sp>
        <p:nvSpPr>
          <p:cNvPr id="7" name="Shape 5"/>
          <p:cNvSpPr/>
          <p:nvPr/>
        </p:nvSpPr>
        <p:spPr>
          <a:xfrm>
            <a:off x="274320" y="1170432"/>
            <a:ext cx="2743200" cy="438912"/>
          </a:xfrm>
          <a:prstGeom prst="rect">
            <a:avLst/>
          </a:prstGeom>
          <a:solidFill>
            <a:srgbClr val="8B949E"/>
          </a:solidFill>
          <a:ln w="12700">
            <a:solidFill>
              <a:srgbClr val="8B949E"/>
            </a:solidFill>
            <a:prstDash val="solid"/>
          </a:ln>
        </p:spPr>
        <p:txBody>
          <a:bodyPr/>
          <a:lstStyle/>
          <a:p>
            <a:endParaRPr lang="fr-FR"/>
          </a:p>
        </p:txBody>
      </p:sp>
      <p:sp>
        <p:nvSpPr>
          <p:cNvPr id="8" name="Text 6"/>
          <p:cNvSpPr/>
          <p:nvPr/>
        </p:nvSpPr>
        <p:spPr>
          <a:xfrm>
            <a:off x="365760" y="1179576"/>
            <a:ext cx="2560320" cy="411480"/>
          </a:xfrm>
          <a:prstGeom prst="rect">
            <a:avLst/>
          </a:prstGeom>
          <a:noFill/>
          <a:ln/>
        </p:spPr>
        <p:txBody>
          <a:bodyPr wrap="square" lIns="0" tIns="0" rIns="0" bIns="0" rtlCol="0" anchor="ctr"/>
          <a:lstStyle/>
          <a:p>
            <a:pPr marL="0" indent="0" algn="ctr">
              <a:buNone/>
            </a:pPr>
            <a:r>
              <a:rPr lang="en-US" sz="1400" b="1" dirty="0">
                <a:solidFill>
                  <a:srgbClr val="F0F6FC"/>
                </a:solidFill>
              </a:rPr>
              <a:t>Underfitting</a:t>
            </a:r>
            <a:endParaRPr lang="en-US" sz="1400" dirty="0"/>
          </a:p>
        </p:txBody>
      </p:sp>
      <p:sp>
        <p:nvSpPr>
          <p:cNvPr id="9" name="Text 7"/>
          <p:cNvSpPr/>
          <p:nvPr/>
        </p:nvSpPr>
        <p:spPr>
          <a:xfrm>
            <a:off x="365760" y="1691640"/>
            <a:ext cx="2560320" cy="320040"/>
          </a:xfrm>
          <a:prstGeom prst="rect">
            <a:avLst/>
          </a:prstGeom>
          <a:noFill/>
          <a:ln/>
        </p:spPr>
        <p:txBody>
          <a:bodyPr wrap="square" lIns="0" tIns="0" rIns="0" bIns="0" rtlCol="0" anchor="ctr"/>
          <a:lstStyle/>
          <a:p>
            <a:pPr marL="0" indent="0" algn="ctr">
              <a:buNone/>
            </a:pPr>
            <a:r>
              <a:rPr lang="en-US" sz="1100" dirty="0">
                <a:solidFill>
                  <a:srgbClr val="8B949E"/>
                </a:solidFill>
              </a:rPr>
              <a:t>Model too simple</a:t>
            </a:r>
            <a:endParaRPr lang="en-US" sz="1100" dirty="0"/>
          </a:p>
        </p:txBody>
      </p:sp>
      <p:sp>
        <p:nvSpPr>
          <p:cNvPr id="10" name="Text 8"/>
          <p:cNvSpPr/>
          <p:nvPr/>
        </p:nvSpPr>
        <p:spPr>
          <a:xfrm>
            <a:off x="457200" y="2240280"/>
            <a:ext cx="1097280" cy="256032"/>
          </a:xfrm>
          <a:prstGeom prst="rect">
            <a:avLst/>
          </a:prstGeom>
          <a:noFill/>
          <a:ln/>
        </p:spPr>
        <p:txBody>
          <a:bodyPr wrap="square" lIns="0" tIns="0" rIns="0" bIns="0" rtlCol="0" anchor="ctr"/>
          <a:lstStyle/>
          <a:p>
            <a:pPr marL="0" indent="0">
              <a:buNone/>
            </a:pPr>
            <a:r>
              <a:rPr lang="en-US" sz="1000" dirty="0">
                <a:solidFill>
                  <a:srgbClr val="8B949E"/>
                </a:solidFill>
              </a:rPr>
              <a:t>Train Acc</a:t>
            </a:r>
            <a:endParaRPr lang="en-US" sz="1000" dirty="0"/>
          </a:p>
        </p:txBody>
      </p:sp>
      <p:sp>
        <p:nvSpPr>
          <p:cNvPr id="11" name="Shape 9"/>
          <p:cNvSpPr/>
          <p:nvPr/>
        </p:nvSpPr>
        <p:spPr>
          <a:xfrm>
            <a:off x="457200" y="2496312"/>
            <a:ext cx="2377440" cy="201168"/>
          </a:xfrm>
          <a:prstGeom prst="rect">
            <a:avLst/>
          </a:prstGeom>
          <a:solidFill>
            <a:srgbClr val="21262D"/>
          </a:solidFill>
          <a:ln w="12700">
            <a:solidFill>
              <a:srgbClr val="21262D"/>
            </a:solidFill>
            <a:prstDash val="solid"/>
          </a:ln>
        </p:spPr>
        <p:txBody>
          <a:bodyPr/>
          <a:lstStyle/>
          <a:p>
            <a:endParaRPr lang="fr-FR"/>
          </a:p>
        </p:txBody>
      </p:sp>
      <p:sp>
        <p:nvSpPr>
          <p:cNvPr id="12" name="Shape 10"/>
          <p:cNvSpPr/>
          <p:nvPr/>
        </p:nvSpPr>
        <p:spPr>
          <a:xfrm>
            <a:off x="457200" y="2496312"/>
            <a:ext cx="1426464" cy="201168"/>
          </a:xfrm>
          <a:prstGeom prst="rect">
            <a:avLst/>
          </a:prstGeom>
          <a:solidFill>
            <a:srgbClr val="58A6FF"/>
          </a:solidFill>
          <a:ln w="12700">
            <a:solidFill>
              <a:srgbClr val="58A6FF"/>
            </a:solidFill>
            <a:prstDash val="solid"/>
          </a:ln>
        </p:spPr>
        <p:txBody>
          <a:bodyPr/>
          <a:lstStyle/>
          <a:p>
            <a:endParaRPr lang="fr-FR"/>
          </a:p>
        </p:txBody>
      </p:sp>
      <p:sp>
        <p:nvSpPr>
          <p:cNvPr id="13" name="Text 11"/>
          <p:cNvSpPr/>
          <p:nvPr/>
        </p:nvSpPr>
        <p:spPr>
          <a:xfrm>
            <a:off x="457200" y="2496312"/>
            <a:ext cx="2377440" cy="201168"/>
          </a:xfrm>
          <a:prstGeom prst="rect">
            <a:avLst/>
          </a:prstGeom>
          <a:noFill/>
          <a:ln/>
        </p:spPr>
        <p:txBody>
          <a:bodyPr wrap="square" lIns="0" tIns="0" rIns="0" bIns="0" rtlCol="0" anchor="ctr"/>
          <a:lstStyle/>
          <a:p>
            <a:pPr marL="0" indent="0" algn="r">
              <a:buNone/>
            </a:pPr>
            <a:r>
              <a:rPr lang="en-US" sz="900" b="1" dirty="0">
                <a:solidFill>
                  <a:srgbClr val="F0F6FC"/>
                </a:solidFill>
              </a:rPr>
              <a:t>60%</a:t>
            </a:r>
            <a:endParaRPr lang="en-US" sz="900" dirty="0"/>
          </a:p>
        </p:txBody>
      </p:sp>
      <p:sp>
        <p:nvSpPr>
          <p:cNvPr id="14" name="Text 12"/>
          <p:cNvSpPr/>
          <p:nvPr/>
        </p:nvSpPr>
        <p:spPr>
          <a:xfrm>
            <a:off x="457200" y="3044952"/>
            <a:ext cx="1097280" cy="256032"/>
          </a:xfrm>
          <a:prstGeom prst="rect">
            <a:avLst/>
          </a:prstGeom>
          <a:noFill/>
          <a:ln/>
        </p:spPr>
        <p:txBody>
          <a:bodyPr wrap="square" lIns="0" tIns="0" rIns="0" bIns="0" rtlCol="0" anchor="ctr"/>
          <a:lstStyle/>
          <a:p>
            <a:pPr marL="0" indent="0">
              <a:buNone/>
            </a:pPr>
            <a:r>
              <a:rPr lang="en-US" sz="1000" dirty="0">
                <a:solidFill>
                  <a:srgbClr val="8B949E"/>
                </a:solidFill>
              </a:rPr>
              <a:t>Test Acc</a:t>
            </a:r>
            <a:endParaRPr lang="en-US" sz="1000" dirty="0"/>
          </a:p>
        </p:txBody>
      </p:sp>
      <p:sp>
        <p:nvSpPr>
          <p:cNvPr id="15" name="Shape 13"/>
          <p:cNvSpPr/>
          <p:nvPr/>
        </p:nvSpPr>
        <p:spPr>
          <a:xfrm>
            <a:off x="457200" y="3300984"/>
            <a:ext cx="2377440" cy="201168"/>
          </a:xfrm>
          <a:prstGeom prst="rect">
            <a:avLst/>
          </a:prstGeom>
          <a:solidFill>
            <a:srgbClr val="21262D"/>
          </a:solidFill>
          <a:ln w="12700">
            <a:solidFill>
              <a:srgbClr val="21262D"/>
            </a:solidFill>
            <a:prstDash val="solid"/>
          </a:ln>
        </p:spPr>
        <p:txBody>
          <a:bodyPr/>
          <a:lstStyle/>
          <a:p>
            <a:endParaRPr lang="fr-FR"/>
          </a:p>
        </p:txBody>
      </p:sp>
      <p:sp>
        <p:nvSpPr>
          <p:cNvPr id="16" name="Shape 14"/>
          <p:cNvSpPr/>
          <p:nvPr/>
        </p:nvSpPr>
        <p:spPr>
          <a:xfrm>
            <a:off x="457200" y="3300984"/>
            <a:ext cx="1402690" cy="201168"/>
          </a:xfrm>
          <a:prstGeom prst="rect">
            <a:avLst/>
          </a:prstGeom>
          <a:solidFill>
            <a:srgbClr val="8B949E"/>
          </a:solidFill>
          <a:ln w="12700">
            <a:solidFill>
              <a:srgbClr val="8B949E"/>
            </a:solidFill>
            <a:prstDash val="solid"/>
          </a:ln>
        </p:spPr>
        <p:txBody>
          <a:bodyPr/>
          <a:lstStyle/>
          <a:p>
            <a:endParaRPr lang="fr-FR"/>
          </a:p>
        </p:txBody>
      </p:sp>
      <p:sp>
        <p:nvSpPr>
          <p:cNvPr id="17" name="Text 15"/>
          <p:cNvSpPr/>
          <p:nvPr/>
        </p:nvSpPr>
        <p:spPr>
          <a:xfrm>
            <a:off x="457200" y="3300984"/>
            <a:ext cx="2377440" cy="201168"/>
          </a:xfrm>
          <a:prstGeom prst="rect">
            <a:avLst/>
          </a:prstGeom>
          <a:noFill/>
          <a:ln/>
        </p:spPr>
        <p:txBody>
          <a:bodyPr wrap="square" lIns="0" tIns="0" rIns="0" bIns="0" rtlCol="0" anchor="ctr"/>
          <a:lstStyle/>
          <a:p>
            <a:pPr marL="0" indent="0" algn="r">
              <a:buNone/>
            </a:pPr>
            <a:r>
              <a:rPr lang="en-US" sz="900" b="1" dirty="0">
                <a:solidFill>
                  <a:srgbClr val="F0F6FC"/>
                </a:solidFill>
              </a:rPr>
              <a:t>59%</a:t>
            </a:r>
            <a:endParaRPr lang="en-US" sz="900" dirty="0"/>
          </a:p>
        </p:txBody>
      </p:sp>
      <p:sp>
        <p:nvSpPr>
          <p:cNvPr id="18" name="Shape 16"/>
          <p:cNvSpPr/>
          <p:nvPr/>
        </p:nvSpPr>
        <p:spPr>
          <a:xfrm>
            <a:off x="457200" y="3749040"/>
            <a:ext cx="2377440" cy="0"/>
          </a:xfrm>
          <a:prstGeom prst="line">
            <a:avLst/>
          </a:prstGeom>
          <a:noFill/>
          <a:ln w="12700">
            <a:solidFill>
              <a:srgbClr val="21262D"/>
            </a:solidFill>
            <a:prstDash val="solid"/>
          </a:ln>
        </p:spPr>
        <p:txBody>
          <a:bodyPr/>
          <a:lstStyle/>
          <a:p>
            <a:endParaRPr lang="fr-FR"/>
          </a:p>
        </p:txBody>
      </p:sp>
      <p:sp>
        <p:nvSpPr>
          <p:cNvPr id="19" name="Text 17"/>
          <p:cNvSpPr/>
          <p:nvPr/>
        </p:nvSpPr>
        <p:spPr>
          <a:xfrm>
            <a:off x="411480" y="3822192"/>
            <a:ext cx="2468880" cy="594360"/>
          </a:xfrm>
          <a:prstGeom prst="rect">
            <a:avLst/>
          </a:prstGeom>
          <a:noFill/>
          <a:ln/>
        </p:spPr>
        <p:txBody>
          <a:bodyPr wrap="square" lIns="0" tIns="0" rIns="0" bIns="0" rtlCol="0" anchor="ctr"/>
          <a:lstStyle/>
          <a:p>
            <a:pPr marL="0" indent="0" algn="ctr">
              <a:buNone/>
            </a:pPr>
            <a:r>
              <a:rPr lang="en-US" sz="1100" dirty="0">
                <a:solidFill>
                  <a:srgbClr val="8B949E"/>
                </a:solidFill>
              </a:rPr>
              <a:t>Needs more complexity</a:t>
            </a:r>
            <a:endParaRPr lang="en-US" sz="1100" dirty="0"/>
          </a:p>
        </p:txBody>
      </p:sp>
      <p:sp>
        <p:nvSpPr>
          <p:cNvPr id="20" name="Shape 18"/>
          <p:cNvSpPr/>
          <p:nvPr/>
        </p:nvSpPr>
        <p:spPr>
          <a:xfrm>
            <a:off x="3246120" y="1170432"/>
            <a:ext cx="2743200" cy="3749040"/>
          </a:xfrm>
          <a:prstGeom prst="rect">
            <a:avLst/>
          </a:prstGeom>
          <a:solidFill>
            <a:srgbClr val="161B22"/>
          </a:solidFill>
          <a:ln w="2540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21" name="Shape 19"/>
          <p:cNvSpPr/>
          <p:nvPr/>
        </p:nvSpPr>
        <p:spPr>
          <a:xfrm>
            <a:off x="3246120" y="1170432"/>
            <a:ext cx="2743200" cy="438912"/>
          </a:xfrm>
          <a:prstGeom prst="rect">
            <a:avLst/>
          </a:prstGeom>
          <a:solidFill>
            <a:srgbClr val="3FB950"/>
          </a:solidFill>
          <a:ln w="12700">
            <a:solidFill>
              <a:srgbClr val="3FB950"/>
            </a:solidFill>
            <a:prstDash val="solid"/>
          </a:ln>
        </p:spPr>
        <p:txBody>
          <a:bodyPr/>
          <a:lstStyle/>
          <a:p>
            <a:endParaRPr lang="fr-FR"/>
          </a:p>
        </p:txBody>
      </p:sp>
      <p:sp>
        <p:nvSpPr>
          <p:cNvPr id="22" name="Text 20"/>
          <p:cNvSpPr/>
          <p:nvPr/>
        </p:nvSpPr>
        <p:spPr>
          <a:xfrm>
            <a:off x="3337560" y="1179576"/>
            <a:ext cx="2560320" cy="411480"/>
          </a:xfrm>
          <a:prstGeom prst="rect">
            <a:avLst/>
          </a:prstGeom>
          <a:noFill/>
          <a:ln/>
        </p:spPr>
        <p:txBody>
          <a:bodyPr wrap="square" lIns="0" tIns="0" rIns="0" bIns="0" rtlCol="0" anchor="ctr"/>
          <a:lstStyle/>
          <a:p>
            <a:pPr marL="0" indent="0" algn="ctr">
              <a:buNone/>
            </a:pPr>
            <a:r>
              <a:rPr lang="en-US" sz="1400" b="1" dirty="0">
                <a:solidFill>
                  <a:srgbClr val="0D1117"/>
                </a:solidFill>
              </a:rPr>
              <a:t>Good Fit</a:t>
            </a:r>
            <a:endParaRPr lang="en-US" sz="1400" dirty="0"/>
          </a:p>
        </p:txBody>
      </p:sp>
      <p:sp>
        <p:nvSpPr>
          <p:cNvPr id="23" name="Text 21"/>
          <p:cNvSpPr/>
          <p:nvPr/>
        </p:nvSpPr>
        <p:spPr>
          <a:xfrm>
            <a:off x="3337560" y="1691640"/>
            <a:ext cx="2560320" cy="320040"/>
          </a:xfrm>
          <a:prstGeom prst="rect">
            <a:avLst/>
          </a:prstGeom>
          <a:noFill/>
          <a:ln/>
        </p:spPr>
        <p:txBody>
          <a:bodyPr wrap="square" lIns="0" tIns="0" rIns="0" bIns="0" rtlCol="0" anchor="ctr"/>
          <a:lstStyle/>
          <a:p>
            <a:pPr marL="0" indent="0" algn="ctr">
              <a:buNone/>
            </a:pPr>
            <a:r>
              <a:rPr lang="en-US" sz="1100" dirty="0">
                <a:solidFill>
                  <a:srgbClr val="8B949E"/>
                </a:solidFill>
              </a:rPr>
              <a:t>Model just right</a:t>
            </a:r>
            <a:endParaRPr lang="en-US" sz="1100" dirty="0"/>
          </a:p>
        </p:txBody>
      </p:sp>
      <p:sp>
        <p:nvSpPr>
          <p:cNvPr id="24" name="Text 22"/>
          <p:cNvSpPr/>
          <p:nvPr/>
        </p:nvSpPr>
        <p:spPr>
          <a:xfrm>
            <a:off x="3429000" y="2240280"/>
            <a:ext cx="1097280" cy="256032"/>
          </a:xfrm>
          <a:prstGeom prst="rect">
            <a:avLst/>
          </a:prstGeom>
          <a:noFill/>
          <a:ln/>
        </p:spPr>
        <p:txBody>
          <a:bodyPr wrap="square" lIns="0" tIns="0" rIns="0" bIns="0" rtlCol="0" anchor="ctr"/>
          <a:lstStyle/>
          <a:p>
            <a:pPr marL="0" indent="0">
              <a:buNone/>
            </a:pPr>
            <a:r>
              <a:rPr lang="en-US" sz="1000" dirty="0">
                <a:solidFill>
                  <a:srgbClr val="8B949E"/>
                </a:solidFill>
              </a:rPr>
              <a:t>Train Acc</a:t>
            </a:r>
            <a:endParaRPr lang="en-US" sz="1000" dirty="0"/>
          </a:p>
        </p:txBody>
      </p:sp>
      <p:sp>
        <p:nvSpPr>
          <p:cNvPr id="25" name="Shape 23"/>
          <p:cNvSpPr/>
          <p:nvPr/>
        </p:nvSpPr>
        <p:spPr>
          <a:xfrm>
            <a:off x="3429000" y="2496312"/>
            <a:ext cx="2377440" cy="201168"/>
          </a:xfrm>
          <a:prstGeom prst="rect">
            <a:avLst/>
          </a:prstGeom>
          <a:solidFill>
            <a:srgbClr val="21262D"/>
          </a:solidFill>
          <a:ln w="12700">
            <a:solidFill>
              <a:srgbClr val="21262D"/>
            </a:solidFill>
            <a:prstDash val="solid"/>
          </a:ln>
        </p:spPr>
        <p:txBody>
          <a:bodyPr/>
          <a:lstStyle/>
          <a:p>
            <a:endParaRPr lang="fr-FR"/>
          </a:p>
        </p:txBody>
      </p:sp>
      <p:sp>
        <p:nvSpPr>
          <p:cNvPr id="26" name="Shape 24"/>
          <p:cNvSpPr/>
          <p:nvPr/>
        </p:nvSpPr>
        <p:spPr>
          <a:xfrm>
            <a:off x="3429000" y="2496312"/>
            <a:ext cx="2187245" cy="201168"/>
          </a:xfrm>
          <a:prstGeom prst="rect">
            <a:avLst/>
          </a:prstGeom>
          <a:solidFill>
            <a:srgbClr val="58A6FF"/>
          </a:solidFill>
          <a:ln w="12700">
            <a:solidFill>
              <a:srgbClr val="58A6FF"/>
            </a:solidFill>
            <a:prstDash val="solid"/>
          </a:ln>
        </p:spPr>
        <p:txBody>
          <a:bodyPr/>
          <a:lstStyle/>
          <a:p>
            <a:endParaRPr lang="fr-FR"/>
          </a:p>
        </p:txBody>
      </p:sp>
      <p:sp>
        <p:nvSpPr>
          <p:cNvPr id="27" name="Text 25"/>
          <p:cNvSpPr/>
          <p:nvPr/>
        </p:nvSpPr>
        <p:spPr>
          <a:xfrm>
            <a:off x="3429000" y="2496312"/>
            <a:ext cx="2377440" cy="201168"/>
          </a:xfrm>
          <a:prstGeom prst="rect">
            <a:avLst/>
          </a:prstGeom>
          <a:noFill/>
          <a:ln/>
        </p:spPr>
        <p:txBody>
          <a:bodyPr wrap="square" lIns="0" tIns="0" rIns="0" bIns="0" rtlCol="0" anchor="ctr"/>
          <a:lstStyle/>
          <a:p>
            <a:pPr marL="0" indent="0" algn="r">
              <a:buNone/>
            </a:pPr>
            <a:r>
              <a:rPr lang="en-US" sz="900" b="1" dirty="0">
                <a:solidFill>
                  <a:srgbClr val="F0F6FC"/>
                </a:solidFill>
              </a:rPr>
              <a:t>92%</a:t>
            </a:r>
            <a:endParaRPr lang="en-US" sz="900" dirty="0"/>
          </a:p>
        </p:txBody>
      </p:sp>
      <p:sp>
        <p:nvSpPr>
          <p:cNvPr id="28" name="Text 26"/>
          <p:cNvSpPr/>
          <p:nvPr/>
        </p:nvSpPr>
        <p:spPr>
          <a:xfrm>
            <a:off x="3429000" y="3044952"/>
            <a:ext cx="1097280" cy="256032"/>
          </a:xfrm>
          <a:prstGeom prst="rect">
            <a:avLst/>
          </a:prstGeom>
          <a:noFill/>
          <a:ln/>
        </p:spPr>
        <p:txBody>
          <a:bodyPr wrap="square" lIns="0" tIns="0" rIns="0" bIns="0" rtlCol="0" anchor="ctr"/>
          <a:lstStyle/>
          <a:p>
            <a:pPr marL="0" indent="0">
              <a:buNone/>
            </a:pPr>
            <a:r>
              <a:rPr lang="en-US" sz="1000" dirty="0">
                <a:solidFill>
                  <a:srgbClr val="8B949E"/>
                </a:solidFill>
              </a:rPr>
              <a:t>Test Acc</a:t>
            </a:r>
            <a:endParaRPr lang="en-US" sz="1000" dirty="0"/>
          </a:p>
        </p:txBody>
      </p:sp>
      <p:sp>
        <p:nvSpPr>
          <p:cNvPr id="29" name="Shape 27"/>
          <p:cNvSpPr/>
          <p:nvPr/>
        </p:nvSpPr>
        <p:spPr>
          <a:xfrm>
            <a:off x="3429000" y="3300984"/>
            <a:ext cx="2377440" cy="201168"/>
          </a:xfrm>
          <a:prstGeom prst="rect">
            <a:avLst/>
          </a:prstGeom>
          <a:solidFill>
            <a:srgbClr val="21262D"/>
          </a:solidFill>
          <a:ln w="12700">
            <a:solidFill>
              <a:srgbClr val="21262D"/>
            </a:solidFill>
            <a:prstDash val="solid"/>
          </a:ln>
        </p:spPr>
        <p:txBody>
          <a:bodyPr/>
          <a:lstStyle/>
          <a:p>
            <a:endParaRPr lang="fr-FR"/>
          </a:p>
        </p:txBody>
      </p:sp>
      <p:sp>
        <p:nvSpPr>
          <p:cNvPr id="30" name="Shape 28"/>
          <p:cNvSpPr/>
          <p:nvPr/>
        </p:nvSpPr>
        <p:spPr>
          <a:xfrm>
            <a:off x="3429000" y="3300984"/>
            <a:ext cx="2139696" cy="201168"/>
          </a:xfrm>
          <a:prstGeom prst="rect">
            <a:avLst/>
          </a:prstGeom>
          <a:solidFill>
            <a:srgbClr val="3FB950"/>
          </a:solidFill>
          <a:ln w="12700">
            <a:solidFill>
              <a:srgbClr val="3FB950"/>
            </a:solidFill>
            <a:prstDash val="solid"/>
          </a:ln>
        </p:spPr>
        <p:txBody>
          <a:bodyPr/>
          <a:lstStyle/>
          <a:p>
            <a:endParaRPr lang="fr-FR"/>
          </a:p>
        </p:txBody>
      </p:sp>
      <p:sp>
        <p:nvSpPr>
          <p:cNvPr id="31" name="Text 29"/>
          <p:cNvSpPr/>
          <p:nvPr/>
        </p:nvSpPr>
        <p:spPr>
          <a:xfrm>
            <a:off x="3429000" y="3300984"/>
            <a:ext cx="2377440" cy="201168"/>
          </a:xfrm>
          <a:prstGeom prst="rect">
            <a:avLst/>
          </a:prstGeom>
          <a:noFill/>
          <a:ln/>
        </p:spPr>
        <p:txBody>
          <a:bodyPr wrap="square" lIns="0" tIns="0" rIns="0" bIns="0" rtlCol="0" anchor="ctr"/>
          <a:lstStyle/>
          <a:p>
            <a:pPr marL="0" indent="0" algn="r">
              <a:buNone/>
            </a:pPr>
            <a:r>
              <a:rPr lang="en-US" sz="900" b="1" dirty="0">
                <a:solidFill>
                  <a:srgbClr val="F0F6FC"/>
                </a:solidFill>
              </a:rPr>
              <a:t>90%</a:t>
            </a:r>
            <a:endParaRPr lang="en-US" sz="900" dirty="0"/>
          </a:p>
        </p:txBody>
      </p:sp>
      <p:sp>
        <p:nvSpPr>
          <p:cNvPr id="32" name="Shape 30"/>
          <p:cNvSpPr/>
          <p:nvPr/>
        </p:nvSpPr>
        <p:spPr>
          <a:xfrm>
            <a:off x="3429000" y="3749040"/>
            <a:ext cx="2377440" cy="0"/>
          </a:xfrm>
          <a:prstGeom prst="line">
            <a:avLst/>
          </a:prstGeom>
          <a:noFill/>
          <a:ln w="12700">
            <a:solidFill>
              <a:srgbClr val="21262D"/>
            </a:solidFill>
            <a:prstDash val="solid"/>
          </a:ln>
        </p:spPr>
        <p:txBody>
          <a:bodyPr/>
          <a:lstStyle/>
          <a:p>
            <a:endParaRPr lang="fr-FR"/>
          </a:p>
        </p:txBody>
      </p:sp>
      <p:sp>
        <p:nvSpPr>
          <p:cNvPr id="33" name="Text 31"/>
          <p:cNvSpPr/>
          <p:nvPr/>
        </p:nvSpPr>
        <p:spPr>
          <a:xfrm>
            <a:off x="3383280" y="3822192"/>
            <a:ext cx="2468880" cy="594360"/>
          </a:xfrm>
          <a:prstGeom prst="rect">
            <a:avLst/>
          </a:prstGeom>
          <a:noFill/>
          <a:ln/>
        </p:spPr>
        <p:txBody>
          <a:bodyPr wrap="square" lIns="0" tIns="0" rIns="0" bIns="0" rtlCol="0" anchor="ctr"/>
          <a:lstStyle/>
          <a:p>
            <a:pPr marL="0" indent="0" algn="ctr">
              <a:buNone/>
            </a:pPr>
            <a:r>
              <a:rPr lang="en-US" sz="1100" dirty="0">
                <a:solidFill>
                  <a:srgbClr val="3FB950"/>
                </a:solidFill>
              </a:rPr>
              <a:t>Generalizes well to new data</a:t>
            </a:r>
            <a:endParaRPr lang="en-US" sz="1100" dirty="0"/>
          </a:p>
        </p:txBody>
      </p:sp>
      <p:sp>
        <p:nvSpPr>
          <p:cNvPr id="34" name="Shape 32"/>
          <p:cNvSpPr/>
          <p:nvPr/>
        </p:nvSpPr>
        <p:spPr>
          <a:xfrm>
            <a:off x="6217920" y="1170432"/>
            <a:ext cx="2743200" cy="3749040"/>
          </a:xfrm>
          <a:prstGeom prst="rect">
            <a:avLst/>
          </a:prstGeom>
          <a:solidFill>
            <a:srgbClr val="161B22"/>
          </a:solidFill>
          <a:ln w="25400">
            <a:solidFill>
              <a:srgbClr val="FF7B72"/>
            </a:solidFill>
            <a:prstDash val="solid"/>
          </a:ln>
          <a:effectLst>
            <a:outerShdw blurRad="127000" dist="38100" dir="8100000" algn="bl" rotWithShape="0">
              <a:srgbClr val="000000">
                <a:alpha val="35000"/>
              </a:srgbClr>
            </a:outerShdw>
          </a:effectLst>
        </p:spPr>
        <p:txBody>
          <a:bodyPr/>
          <a:lstStyle/>
          <a:p>
            <a:endParaRPr lang="fr-FR"/>
          </a:p>
        </p:txBody>
      </p:sp>
      <p:sp>
        <p:nvSpPr>
          <p:cNvPr id="35" name="Shape 33"/>
          <p:cNvSpPr/>
          <p:nvPr/>
        </p:nvSpPr>
        <p:spPr>
          <a:xfrm>
            <a:off x="6217920" y="1170432"/>
            <a:ext cx="2743200" cy="438912"/>
          </a:xfrm>
          <a:prstGeom prst="rect">
            <a:avLst/>
          </a:prstGeom>
          <a:solidFill>
            <a:srgbClr val="FF7B72"/>
          </a:solidFill>
          <a:ln w="12700">
            <a:solidFill>
              <a:srgbClr val="FF7B72"/>
            </a:solidFill>
            <a:prstDash val="solid"/>
          </a:ln>
        </p:spPr>
        <p:txBody>
          <a:bodyPr/>
          <a:lstStyle/>
          <a:p>
            <a:endParaRPr lang="fr-FR"/>
          </a:p>
        </p:txBody>
      </p:sp>
      <p:sp>
        <p:nvSpPr>
          <p:cNvPr id="36" name="Text 34"/>
          <p:cNvSpPr/>
          <p:nvPr/>
        </p:nvSpPr>
        <p:spPr>
          <a:xfrm>
            <a:off x="6309360" y="1179576"/>
            <a:ext cx="2560320" cy="411480"/>
          </a:xfrm>
          <a:prstGeom prst="rect">
            <a:avLst/>
          </a:prstGeom>
          <a:noFill/>
          <a:ln/>
        </p:spPr>
        <p:txBody>
          <a:bodyPr wrap="square" lIns="0" tIns="0" rIns="0" bIns="0" rtlCol="0" anchor="ctr"/>
          <a:lstStyle/>
          <a:p>
            <a:pPr marL="0" indent="0" algn="ctr">
              <a:buNone/>
            </a:pPr>
            <a:r>
              <a:rPr lang="en-US" sz="1400" b="1" dirty="0">
                <a:solidFill>
                  <a:srgbClr val="F0F6FC"/>
                </a:solidFill>
              </a:rPr>
              <a:t>Overfitting</a:t>
            </a:r>
            <a:endParaRPr lang="en-US" sz="1400" dirty="0"/>
          </a:p>
        </p:txBody>
      </p:sp>
      <p:sp>
        <p:nvSpPr>
          <p:cNvPr id="37" name="Text 35"/>
          <p:cNvSpPr/>
          <p:nvPr/>
        </p:nvSpPr>
        <p:spPr>
          <a:xfrm>
            <a:off x="6309360" y="1691640"/>
            <a:ext cx="2560320" cy="320040"/>
          </a:xfrm>
          <a:prstGeom prst="rect">
            <a:avLst/>
          </a:prstGeom>
          <a:noFill/>
          <a:ln/>
        </p:spPr>
        <p:txBody>
          <a:bodyPr wrap="square" lIns="0" tIns="0" rIns="0" bIns="0" rtlCol="0" anchor="ctr"/>
          <a:lstStyle/>
          <a:p>
            <a:pPr marL="0" indent="0" algn="ctr">
              <a:buNone/>
            </a:pPr>
            <a:r>
              <a:rPr lang="en-US" sz="1100" dirty="0">
                <a:solidFill>
                  <a:srgbClr val="8B949E"/>
                </a:solidFill>
              </a:rPr>
              <a:t>Model memorized data</a:t>
            </a:r>
            <a:endParaRPr lang="en-US" sz="1100" dirty="0"/>
          </a:p>
        </p:txBody>
      </p:sp>
      <p:sp>
        <p:nvSpPr>
          <p:cNvPr id="38" name="Text 36"/>
          <p:cNvSpPr/>
          <p:nvPr/>
        </p:nvSpPr>
        <p:spPr>
          <a:xfrm>
            <a:off x="6400800" y="2240280"/>
            <a:ext cx="1097280" cy="256032"/>
          </a:xfrm>
          <a:prstGeom prst="rect">
            <a:avLst/>
          </a:prstGeom>
          <a:noFill/>
          <a:ln/>
        </p:spPr>
        <p:txBody>
          <a:bodyPr wrap="square" lIns="0" tIns="0" rIns="0" bIns="0" rtlCol="0" anchor="ctr"/>
          <a:lstStyle/>
          <a:p>
            <a:pPr marL="0" indent="0">
              <a:buNone/>
            </a:pPr>
            <a:r>
              <a:rPr lang="en-US" sz="1000" dirty="0">
                <a:solidFill>
                  <a:srgbClr val="8B949E"/>
                </a:solidFill>
              </a:rPr>
              <a:t>Train Acc</a:t>
            </a:r>
            <a:endParaRPr lang="en-US" sz="1000" dirty="0"/>
          </a:p>
        </p:txBody>
      </p:sp>
      <p:sp>
        <p:nvSpPr>
          <p:cNvPr id="39" name="Shape 37"/>
          <p:cNvSpPr/>
          <p:nvPr/>
        </p:nvSpPr>
        <p:spPr>
          <a:xfrm>
            <a:off x="6400800" y="2496312"/>
            <a:ext cx="2377440" cy="201168"/>
          </a:xfrm>
          <a:prstGeom prst="rect">
            <a:avLst/>
          </a:prstGeom>
          <a:solidFill>
            <a:srgbClr val="21262D"/>
          </a:solidFill>
          <a:ln w="12700">
            <a:solidFill>
              <a:srgbClr val="21262D"/>
            </a:solidFill>
            <a:prstDash val="solid"/>
          </a:ln>
        </p:spPr>
        <p:txBody>
          <a:bodyPr/>
          <a:lstStyle/>
          <a:p>
            <a:endParaRPr lang="fr-FR"/>
          </a:p>
        </p:txBody>
      </p:sp>
      <p:sp>
        <p:nvSpPr>
          <p:cNvPr id="40" name="Shape 38"/>
          <p:cNvSpPr/>
          <p:nvPr/>
        </p:nvSpPr>
        <p:spPr>
          <a:xfrm>
            <a:off x="6400800" y="2496312"/>
            <a:ext cx="2353666" cy="201168"/>
          </a:xfrm>
          <a:prstGeom prst="rect">
            <a:avLst/>
          </a:prstGeom>
          <a:solidFill>
            <a:srgbClr val="58A6FF"/>
          </a:solidFill>
          <a:ln w="12700">
            <a:solidFill>
              <a:srgbClr val="58A6FF"/>
            </a:solidFill>
            <a:prstDash val="solid"/>
          </a:ln>
        </p:spPr>
        <p:txBody>
          <a:bodyPr/>
          <a:lstStyle/>
          <a:p>
            <a:endParaRPr lang="fr-FR"/>
          </a:p>
        </p:txBody>
      </p:sp>
      <p:sp>
        <p:nvSpPr>
          <p:cNvPr id="41" name="Text 39"/>
          <p:cNvSpPr/>
          <p:nvPr/>
        </p:nvSpPr>
        <p:spPr>
          <a:xfrm>
            <a:off x="6400800" y="2496312"/>
            <a:ext cx="2377440" cy="201168"/>
          </a:xfrm>
          <a:prstGeom prst="rect">
            <a:avLst/>
          </a:prstGeom>
          <a:noFill/>
          <a:ln/>
        </p:spPr>
        <p:txBody>
          <a:bodyPr wrap="square" lIns="0" tIns="0" rIns="0" bIns="0" rtlCol="0" anchor="ctr"/>
          <a:lstStyle/>
          <a:p>
            <a:pPr marL="0" indent="0" algn="r">
              <a:buNone/>
            </a:pPr>
            <a:r>
              <a:rPr lang="en-US" sz="900" b="1" dirty="0">
                <a:solidFill>
                  <a:srgbClr val="F0F6FC"/>
                </a:solidFill>
              </a:rPr>
              <a:t>99%</a:t>
            </a:r>
            <a:endParaRPr lang="en-US" sz="900" dirty="0"/>
          </a:p>
        </p:txBody>
      </p:sp>
      <p:sp>
        <p:nvSpPr>
          <p:cNvPr id="42" name="Text 40"/>
          <p:cNvSpPr/>
          <p:nvPr/>
        </p:nvSpPr>
        <p:spPr>
          <a:xfrm>
            <a:off x="6400800" y="3044952"/>
            <a:ext cx="1097280" cy="256032"/>
          </a:xfrm>
          <a:prstGeom prst="rect">
            <a:avLst/>
          </a:prstGeom>
          <a:noFill/>
          <a:ln/>
        </p:spPr>
        <p:txBody>
          <a:bodyPr wrap="square" lIns="0" tIns="0" rIns="0" bIns="0" rtlCol="0" anchor="ctr"/>
          <a:lstStyle/>
          <a:p>
            <a:pPr marL="0" indent="0">
              <a:buNone/>
            </a:pPr>
            <a:r>
              <a:rPr lang="en-US" sz="1000" dirty="0">
                <a:solidFill>
                  <a:srgbClr val="8B949E"/>
                </a:solidFill>
              </a:rPr>
              <a:t>Test Acc</a:t>
            </a:r>
            <a:endParaRPr lang="en-US" sz="1000" dirty="0"/>
          </a:p>
        </p:txBody>
      </p:sp>
      <p:sp>
        <p:nvSpPr>
          <p:cNvPr id="43" name="Shape 41"/>
          <p:cNvSpPr/>
          <p:nvPr/>
        </p:nvSpPr>
        <p:spPr>
          <a:xfrm>
            <a:off x="6400800" y="3300984"/>
            <a:ext cx="2377440" cy="201168"/>
          </a:xfrm>
          <a:prstGeom prst="rect">
            <a:avLst/>
          </a:prstGeom>
          <a:solidFill>
            <a:srgbClr val="21262D"/>
          </a:solidFill>
          <a:ln w="12700">
            <a:solidFill>
              <a:srgbClr val="21262D"/>
            </a:solidFill>
            <a:prstDash val="solid"/>
          </a:ln>
        </p:spPr>
        <p:txBody>
          <a:bodyPr/>
          <a:lstStyle/>
          <a:p>
            <a:endParaRPr lang="fr-FR"/>
          </a:p>
        </p:txBody>
      </p:sp>
      <p:sp>
        <p:nvSpPr>
          <p:cNvPr id="44" name="Shape 42"/>
          <p:cNvSpPr/>
          <p:nvPr/>
        </p:nvSpPr>
        <p:spPr>
          <a:xfrm>
            <a:off x="6400800" y="3300984"/>
            <a:ext cx="1450238" cy="201168"/>
          </a:xfrm>
          <a:prstGeom prst="rect">
            <a:avLst/>
          </a:prstGeom>
          <a:solidFill>
            <a:srgbClr val="FF7B72"/>
          </a:solidFill>
          <a:ln w="12700">
            <a:solidFill>
              <a:srgbClr val="FF7B72"/>
            </a:solidFill>
            <a:prstDash val="solid"/>
          </a:ln>
        </p:spPr>
        <p:txBody>
          <a:bodyPr/>
          <a:lstStyle/>
          <a:p>
            <a:endParaRPr lang="fr-FR"/>
          </a:p>
        </p:txBody>
      </p:sp>
      <p:sp>
        <p:nvSpPr>
          <p:cNvPr id="45" name="Text 43"/>
          <p:cNvSpPr/>
          <p:nvPr/>
        </p:nvSpPr>
        <p:spPr>
          <a:xfrm>
            <a:off x="6400800" y="3300984"/>
            <a:ext cx="2377440" cy="201168"/>
          </a:xfrm>
          <a:prstGeom prst="rect">
            <a:avLst/>
          </a:prstGeom>
          <a:noFill/>
          <a:ln/>
        </p:spPr>
        <p:txBody>
          <a:bodyPr wrap="square" lIns="0" tIns="0" rIns="0" bIns="0" rtlCol="0" anchor="ctr"/>
          <a:lstStyle/>
          <a:p>
            <a:pPr marL="0" indent="0" algn="r">
              <a:buNone/>
            </a:pPr>
            <a:r>
              <a:rPr lang="en-US" sz="900" b="1" dirty="0">
                <a:solidFill>
                  <a:srgbClr val="F0F6FC"/>
                </a:solidFill>
              </a:rPr>
              <a:t>61%</a:t>
            </a:r>
            <a:endParaRPr lang="en-US" sz="900" dirty="0"/>
          </a:p>
        </p:txBody>
      </p:sp>
      <p:sp>
        <p:nvSpPr>
          <p:cNvPr id="46" name="Shape 44"/>
          <p:cNvSpPr/>
          <p:nvPr/>
        </p:nvSpPr>
        <p:spPr>
          <a:xfrm>
            <a:off x="6400800" y="3749040"/>
            <a:ext cx="2377440" cy="0"/>
          </a:xfrm>
          <a:prstGeom prst="line">
            <a:avLst/>
          </a:prstGeom>
          <a:noFill/>
          <a:ln w="12700">
            <a:solidFill>
              <a:srgbClr val="21262D"/>
            </a:solidFill>
            <a:prstDash val="solid"/>
          </a:ln>
        </p:spPr>
        <p:txBody>
          <a:bodyPr/>
          <a:lstStyle/>
          <a:p>
            <a:endParaRPr lang="fr-FR"/>
          </a:p>
        </p:txBody>
      </p:sp>
      <p:sp>
        <p:nvSpPr>
          <p:cNvPr id="47" name="Text 45"/>
          <p:cNvSpPr/>
          <p:nvPr/>
        </p:nvSpPr>
        <p:spPr>
          <a:xfrm>
            <a:off x="6355080" y="3822192"/>
            <a:ext cx="2468880" cy="594360"/>
          </a:xfrm>
          <a:prstGeom prst="rect">
            <a:avLst/>
          </a:prstGeom>
          <a:noFill/>
          <a:ln/>
        </p:spPr>
        <p:txBody>
          <a:bodyPr wrap="square" lIns="0" tIns="0" rIns="0" bIns="0" rtlCol="0" anchor="ctr"/>
          <a:lstStyle/>
          <a:p>
            <a:pPr marL="0" indent="0" algn="ctr">
              <a:buNone/>
            </a:pPr>
            <a:r>
              <a:rPr lang="en-US" sz="1100" dirty="0">
                <a:solidFill>
                  <a:srgbClr val="FF7B72"/>
                </a:solidFill>
              </a:rPr>
              <a:t>Fails on new data! Use regularization</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1B22"/>
          </a:solidFill>
          <a:ln w="12700">
            <a:solidFill>
              <a:srgbClr val="161B22"/>
            </a:solidFill>
            <a:prstDash val="solid"/>
          </a:ln>
        </p:spPr>
        <p:txBody>
          <a:bodyPr/>
          <a:lstStyle/>
          <a:p>
            <a:endParaRPr lang="fr-FR"/>
          </a:p>
        </p:txBody>
      </p:sp>
      <p:sp>
        <p:nvSpPr>
          <p:cNvPr id="3" name="Shape 1"/>
          <p:cNvSpPr/>
          <p:nvPr/>
        </p:nvSpPr>
        <p:spPr>
          <a:xfrm>
            <a:off x="0" y="0"/>
            <a:ext cx="457200" cy="5143500"/>
          </a:xfrm>
          <a:prstGeom prst="rect">
            <a:avLst/>
          </a:prstGeom>
          <a:solidFill>
            <a:srgbClr val="BC8CFF"/>
          </a:solidFill>
          <a:ln w="12700">
            <a:solidFill>
              <a:srgbClr val="BC8CFF"/>
            </a:solidFill>
            <a:prstDash val="solid"/>
          </a:ln>
        </p:spPr>
        <p:txBody>
          <a:bodyPr/>
          <a:lstStyle/>
          <a:p>
            <a:endParaRPr lang="fr-FR"/>
          </a:p>
        </p:txBody>
      </p:sp>
      <p:sp>
        <p:nvSpPr>
          <p:cNvPr id="4" name="Text 2"/>
          <p:cNvSpPr/>
          <p:nvPr/>
        </p:nvSpPr>
        <p:spPr>
          <a:xfrm>
            <a:off x="731520" y="1280160"/>
            <a:ext cx="7772400" cy="457200"/>
          </a:xfrm>
          <a:prstGeom prst="rect">
            <a:avLst/>
          </a:prstGeom>
          <a:noFill/>
          <a:ln/>
        </p:spPr>
        <p:txBody>
          <a:bodyPr wrap="square" lIns="0" tIns="0" rIns="0" bIns="0" rtlCol="0" anchor="ctr"/>
          <a:lstStyle/>
          <a:p>
            <a:pPr marL="0" indent="0">
              <a:buNone/>
            </a:pPr>
            <a:r>
              <a:rPr lang="en-US" sz="1400" b="1" kern="0" spc="800" dirty="0">
                <a:solidFill>
                  <a:srgbClr val="BC8CFF"/>
                </a:solidFill>
              </a:rPr>
              <a:t>PART 2</a:t>
            </a:r>
            <a:endParaRPr lang="en-US" sz="1400" dirty="0"/>
          </a:p>
        </p:txBody>
      </p:sp>
      <p:sp>
        <p:nvSpPr>
          <p:cNvPr id="5" name="Text 3"/>
          <p:cNvSpPr/>
          <p:nvPr/>
        </p:nvSpPr>
        <p:spPr>
          <a:xfrm>
            <a:off x="731520" y="1737360"/>
            <a:ext cx="7772400" cy="1005840"/>
          </a:xfrm>
          <a:prstGeom prst="rect">
            <a:avLst/>
          </a:prstGeom>
          <a:noFill/>
          <a:ln/>
        </p:spPr>
        <p:txBody>
          <a:bodyPr wrap="square" lIns="0" tIns="0" rIns="0" bIns="0" rtlCol="0" anchor="ctr"/>
          <a:lstStyle/>
          <a:p>
            <a:pPr marL="0" indent="0">
              <a:buNone/>
            </a:pPr>
            <a:r>
              <a:rPr lang="en-US" sz="5200" b="1" dirty="0">
                <a:solidFill>
                  <a:srgbClr val="F0F6FC"/>
                </a:solidFill>
              </a:rPr>
              <a:t>Deep Learning</a:t>
            </a:r>
            <a:endParaRPr lang="en-US" sz="5200" dirty="0"/>
          </a:p>
        </p:txBody>
      </p:sp>
      <p:sp>
        <p:nvSpPr>
          <p:cNvPr id="6" name="Text 4"/>
          <p:cNvSpPr/>
          <p:nvPr/>
        </p:nvSpPr>
        <p:spPr>
          <a:xfrm>
            <a:off x="731520" y="2743200"/>
            <a:ext cx="7772400" cy="594360"/>
          </a:xfrm>
          <a:prstGeom prst="rect">
            <a:avLst/>
          </a:prstGeom>
          <a:noFill/>
          <a:ln/>
        </p:spPr>
        <p:txBody>
          <a:bodyPr wrap="square" lIns="0" tIns="0" rIns="0" bIns="0" rtlCol="0" anchor="ctr"/>
          <a:lstStyle/>
          <a:p>
            <a:pPr marL="0" indent="0">
              <a:buNone/>
            </a:pPr>
            <a:r>
              <a:rPr lang="en-US" sz="2400" b="1" dirty="0">
                <a:solidFill>
                  <a:srgbClr val="39D0B0"/>
                </a:solidFill>
              </a:rPr>
              <a:t>&amp; Convolutional Neural Networks</a:t>
            </a:r>
            <a:endParaRPr lang="en-US" sz="2400" dirty="0"/>
          </a:p>
        </p:txBody>
      </p:sp>
      <p:sp>
        <p:nvSpPr>
          <p:cNvPr id="7" name="Text 5"/>
          <p:cNvSpPr/>
          <p:nvPr/>
        </p:nvSpPr>
        <p:spPr>
          <a:xfrm>
            <a:off x="731520" y="3429000"/>
            <a:ext cx="7772400" cy="411480"/>
          </a:xfrm>
          <a:prstGeom prst="rect">
            <a:avLst/>
          </a:prstGeom>
          <a:noFill/>
          <a:ln/>
        </p:spPr>
        <p:txBody>
          <a:bodyPr wrap="square" lIns="0" tIns="0" rIns="0" bIns="0" rtlCol="0" anchor="ctr"/>
          <a:lstStyle/>
          <a:p>
            <a:pPr marL="0" indent="0">
              <a:buNone/>
            </a:pPr>
            <a:r>
              <a:rPr lang="en-US" sz="1600" i="1" dirty="0">
                <a:solidFill>
                  <a:srgbClr val="8B949E"/>
                </a:solidFill>
              </a:rPr>
              <a:t>Theory  ·  Math  ·  PyTorch  ·  Transfer Learning</a:t>
            </a:r>
            <a:endParaRPr lang="en-US" sz="1600" dirty="0"/>
          </a:p>
        </p:txBody>
      </p:sp>
      <p:sp>
        <p:nvSpPr>
          <p:cNvPr id="8" name="Shape 6"/>
          <p:cNvSpPr/>
          <p:nvPr/>
        </p:nvSpPr>
        <p:spPr>
          <a:xfrm>
            <a:off x="731520" y="3931920"/>
            <a:ext cx="274320" cy="274320"/>
          </a:xfrm>
          <a:prstGeom prst="ellipse">
            <a:avLst/>
          </a:prstGeom>
          <a:solidFill>
            <a:srgbClr val="BC8CFF"/>
          </a:solidFill>
          <a:ln w="12700">
            <a:solidFill>
              <a:srgbClr val="BC8CFF"/>
            </a:solidFill>
            <a:prstDash val="solid"/>
          </a:ln>
        </p:spPr>
        <p:txBody>
          <a:bodyPr/>
          <a:lstStyle/>
          <a:p>
            <a:endParaRPr lang="fr-FR"/>
          </a:p>
        </p:txBody>
      </p:sp>
      <p:sp>
        <p:nvSpPr>
          <p:cNvPr id="9" name="Shape 7"/>
          <p:cNvSpPr/>
          <p:nvPr/>
        </p:nvSpPr>
        <p:spPr>
          <a:xfrm>
            <a:off x="1143000" y="3931920"/>
            <a:ext cx="274320" cy="274320"/>
          </a:xfrm>
          <a:prstGeom prst="ellipse">
            <a:avLst/>
          </a:prstGeom>
          <a:solidFill>
            <a:srgbClr val="39D0B0"/>
          </a:solidFill>
          <a:ln w="12700">
            <a:solidFill>
              <a:srgbClr val="39D0B0"/>
            </a:solidFill>
            <a:prstDash val="solid"/>
          </a:ln>
        </p:spPr>
        <p:txBody>
          <a:bodyPr/>
          <a:lstStyle/>
          <a:p>
            <a:endParaRPr lang="fr-FR"/>
          </a:p>
        </p:txBody>
      </p:sp>
      <p:sp>
        <p:nvSpPr>
          <p:cNvPr id="10" name="Shape 8"/>
          <p:cNvSpPr/>
          <p:nvPr/>
        </p:nvSpPr>
        <p:spPr>
          <a:xfrm>
            <a:off x="1554480" y="3931920"/>
            <a:ext cx="274320" cy="274320"/>
          </a:xfrm>
          <a:prstGeom prst="ellipse">
            <a:avLst/>
          </a:prstGeom>
          <a:solidFill>
            <a:srgbClr val="F0883E"/>
          </a:solidFill>
          <a:ln w="12700">
            <a:solidFill>
              <a:srgbClr val="F0883E"/>
            </a:solidFill>
            <a:prstDash val="solid"/>
          </a:ln>
        </p:spPr>
        <p:txBody>
          <a:bodyPr/>
          <a:lstStyle/>
          <a:p>
            <a:endParaRPr lang="fr-F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BC8CFF"/>
          </a:solidFill>
          <a:ln w="12700">
            <a:solidFill>
              <a:srgbClr val="BC8CFF"/>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From One Neuron to Neural Networks</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BC8CFF"/>
                </a:solidFill>
              </a:rPr>
              <a:t>Just stack more layers!</a:t>
            </a:r>
            <a:endParaRPr lang="en-US" sz="1200" dirty="0"/>
          </a:p>
        </p:txBody>
      </p:sp>
      <p:sp>
        <p:nvSpPr>
          <p:cNvPr id="5" name="Shape 3"/>
          <p:cNvSpPr/>
          <p:nvPr/>
        </p:nvSpPr>
        <p:spPr>
          <a:xfrm>
            <a:off x="320040" y="1024128"/>
            <a:ext cx="8503920" cy="0"/>
          </a:xfrm>
          <a:prstGeom prst="line">
            <a:avLst/>
          </a:prstGeom>
          <a:noFill/>
          <a:ln w="12700">
            <a:solidFill>
              <a:srgbClr val="BC8CFF"/>
            </a:solidFill>
            <a:prstDash val="solid"/>
          </a:ln>
        </p:spPr>
        <p:txBody>
          <a:bodyPr/>
          <a:lstStyle/>
          <a:p>
            <a:endParaRPr lang="fr-FR"/>
          </a:p>
        </p:txBody>
      </p:sp>
      <p:sp>
        <p:nvSpPr>
          <p:cNvPr id="6" name="Shape 4"/>
          <p:cNvSpPr/>
          <p:nvPr/>
        </p:nvSpPr>
        <p:spPr>
          <a:xfrm>
            <a:off x="320040" y="1188720"/>
            <a:ext cx="3291840" cy="3566160"/>
          </a:xfrm>
          <a:prstGeom prst="rect">
            <a:avLst/>
          </a:prstGeom>
          <a:solidFill>
            <a:srgbClr val="161B22"/>
          </a:solidFill>
          <a:ln w="12700">
            <a:solidFill>
              <a:srgbClr val="8B949E"/>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457200" y="1234440"/>
            <a:ext cx="3017520" cy="320040"/>
          </a:xfrm>
          <a:prstGeom prst="rect">
            <a:avLst/>
          </a:prstGeom>
          <a:noFill/>
          <a:ln/>
        </p:spPr>
        <p:txBody>
          <a:bodyPr wrap="square" lIns="0" tIns="0" rIns="0" bIns="0" rtlCol="0" anchor="ctr"/>
          <a:lstStyle/>
          <a:p>
            <a:pPr marL="0" indent="0" algn="ctr">
              <a:buNone/>
            </a:pPr>
            <a:r>
              <a:rPr lang="en-US" sz="1100" dirty="0">
                <a:solidFill>
                  <a:srgbClr val="8B949E"/>
                </a:solidFill>
              </a:rPr>
              <a:t>Single Neuron</a:t>
            </a:r>
            <a:endParaRPr lang="en-US" sz="1100" dirty="0"/>
          </a:p>
        </p:txBody>
      </p:sp>
      <p:sp>
        <p:nvSpPr>
          <p:cNvPr id="8" name="Shape 6"/>
          <p:cNvSpPr/>
          <p:nvPr/>
        </p:nvSpPr>
        <p:spPr>
          <a:xfrm>
            <a:off x="484632" y="1664208"/>
            <a:ext cx="274320" cy="274320"/>
          </a:xfrm>
          <a:prstGeom prst="ellipse">
            <a:avLst/>
          </a:prstGeom>
          <a:solidFill>
            <a:srgbClr val="21262D"/>
          </a:solidFill>
          <a:ln w="12700">
            <a:solidFill>
              <a:srgbClr val="58A6FF"/>
            </a:solidFill>
            <a:prstDash val="solid"/>
          </a:ln>
        </p:spPr>
        <p:txBody>
          <a:bodyPr/>
          <a:lstStyle/>
          <a:p>
            <a:endParaRPr lang="fr-FR"/>
          </a:p>
        </p:txBody>
      </p:sp>
      <p:sp>
        <p:nvSpPr>
          <p:cNvPr id="9" name="Shape 7"/>
          <p:cNvSpPr/>
          <p:nvPr/>
        </p:nvSpPr>
        <p:spPr>
          <a:xfrm flipV="1">
            <a:off x="749808" y="2514600"/>
            <a:ext cx="804672" cy="932688"/>
          </a:xfrm>
          <a:prstGeom prst="line">
            <a:avLst/>
          </a:prstGeom>
          <a:noFill/>
          <a:ln w="12700">
            <a:solidFill>
              <a:srgbClr val="58A6FF"/>
            </a:solidFill>
            <a:prstDash val="solid"/>
          </a:ln>
        </p:spPr>
        <p:txBody>
          <a:bodyPr/>
          <a:lstStyle/>
          <a:p>
            <a:endParaRPr lang="fr-FR"/>
          </a:p>
        </p:txBody>
      </p:sp>
      <p:sp>
        <p:nvSpPr>
          <p:cNvPr id="10" name="Shape 8"/>
          <p:cNvSpPr/>
          <p:nvPr/>
        </p:nvSpPr>
        <p:spPr>
          <a:xfrm>
            <a:off x="484632" y="2212848"/>
            <a:ext cx="274320" cy="274320"/>
          </a:xfrm>
          <a:prstGeom prst="ellipse">
            <a:avLst/>
          </a:prstGeom>
          <a:solidFill>
            <a:srgbClr val="21262D"/>
          </a:solidFill>
          <a:ln w="12700">
            <a:solidFill>
              <a:srgbClr val="58A6FF"/>
            </a:solidFill>
            <a:prstDash val="solid"/>
          </a:ln>
        </p:spPr>
        <p:txBody>
          <a:bodyPr/>
          <a:lstStyle/>
          <a:p>
            <a:endParaRPr lang="fr-FR"/>
          </a:p>
        </p:txBody>
      </p:sp>
      <p:sp>
        <p:nvSpPr>
          <p:cNvPr id="11" name="Shape 9"/>
          <p:cNvSpPr/>
          <p:nvPr/>
        </p:nvSpPr>
        <p:spPr>
          <a:xfrm>
            <a:off x="749808" y="1828800"/>
            <a:ext cx="804672" cy="594360"/>
          </a:xfrm>
          <a:prstGeom prst="line">
            <a:avLst/>
          </a:prstGeom>
          <a:noFill/>
          <a:ln w="12700">
            <a:solidFill>
              <a:srgbClr val="58A6FF"/>
            </a:solidFill>
            <a:prstDash val="solid"/>
          </a:ln>
        </p:spPr>
        <p:txBody>
          <a:bodyPr/>
          <a:lstStyle/>
          <a:p>
            <a:endParaRPr lang="fr-FR"/>
          </a:p>
        </p:txBody>
      </p:sp>
      <p:sp>
        <p:nvSpPr>
          <p:cNvPr id="12" name="Shape 10"/>
          <p:cNvSpPr/>
          <p:nvPr/>
        </p:nvSpPr>
        <p:spPr>
          <a:xfrm>
            <a:off x="484632" y="2761488"/>
            <a:ext cx="274320" cy="274320"/>
          </a:xfrm>
          <a:prstGeom prst="ellipse">
            <a:avLst/>
          </a:prstGeom>
          <a:solidFill>
            <a:srgbClr val="21262D"/>
          </a:solidFill>
          <a:ln w="12700">
            <a:solidFill>
              <a:srgbClr val="58A6FF"/>
            </a:solidFill>
            <a:prstDash val="solid"/>
          </a:ln>
        </p:spPr>
        <p:txBody>
          <a:bodyPr/>
          <a:lstStyle/>
          <a:p>
            <a:endParaRPr lang="fr-FR"/>
          </a:p>
        </p:txBody>
      </p:sp>
      <p:sp>
        <p:nvSpPr>
          <p:cNvPr id="13" name="Shape 11"/>
          <p:cNvSpPr/>
          <p:nvPr/>
        </p:nvSpPr>
        <p:spPr>
          <a:xfrm>
            <a:off x="749808" y="2377439"/>
            <a:ext cx="804672" cy="73151"/>
          </a:xfrm>
          <a:prstGeom prst="line">
            <a:avLst/>
          </a:prstGeom>
          <a:noFill/>
          <a:ln w="12700">
            <a:solidFill>
              <a:srgbClr val="58A6FF"/>
            </a:solidFill>
            <a:prstDash val="solid"/>
          </a:ln>
        </p:spPr>
        <p:txBody>
          <a:bodyPr/>
          <a:lstStyle/>
          <a:p>
            <a:endParaRPr lang="fr-FR"/>
          </a:p>
        </p:txBody>
      </p:sp>
      <p:sp>
        <p:nvSpPr>
          <p:cNvPr id="14" name="Shape 12"/>
          <p:cNvSpPr/>
          <p:nvPr/>
        </p:nvSpPr>
        <p:spPr>
          <a:xfrm>
            <a:off x="484632" y="3310128"/>
            <a:ext cx="274320" cy="274320"/>
          </a:xfrm>
          <a:prstGeom prst="ellipse">
            <a:avLst/>
          </a:prstGeom>
          <a:solidFill>
            <a:srgbClr val="21262D"/>
          </a:solidFill>
          <a:ln w="12700">
            <a:solidFill>
              <a:srgbClr val="58A6FF"/>
            </a:solidFill>
            <a:prstDash val="solid"/>
          </a:ln>
        </p:spPr>
        <p:txBody>
          <a:bodyPr/>
          <a:lstStyle/>
          <a:p>
            <a:endParaRPr lang="fr-FR"/>
          </a:p>
        </p:txBody>
      </p:sp>
      <p:sp>
        <p:nvSpPr>
          <p:cNvPr id="15" name="Shape 13"/>
          <p:cNvSpPr/>
          <p:nvPr/>
        </p:nvSpPr>
        <p:spPr>
          <a:xfrm flipV="1">
            <a:off x="749808" y="2514600"/>
            <a:ext cx="804672" cy="411480"/>
          </a:xfrm>
          <a:prstGeom prst="line">
            <a:avLst/>
          </a:prstGeom>
          <a:noFill/>
          <a:ln w="12700">
            <a:solidFill>
              <a:srgbClr val="58A6FF"/>
            </a:solidFill>
            <a:prstDash val="solid"/>
          </a:ln>
        </p:spPr>
        <p:txBody>
          <a:bodyPr/>
          <a:lstStyle/>
          <a:p>
            <a:endParaRPr lang="fr-FR"/>
          </a:p>
        </p:txBody>
      </p:sp>
      <p:sp>
        <p:nvSpPr>
          <p:cNvPr id="16" name="Shape 14"/>
          <p:cNvSpPr/>
          <p:nvPr/>
        </p:nvSpPr>
        <p:spPr>
          <a:xfrm>
            <a:off x="1645920" y="2148840"/>
            <a:ext cx="640080" cy="640080"/>
          </a:xfrm>
          <a:prstGeom prst="ellipse">
            <a:avLst/>
          </a:prstGeom>
          <a:solidFill>
            <a:srgbClr val="BC8CFF"/>
          </a:solidFill>
          <a:ln w="19050">
            <a:solidFill>
              <a:srgbClr val="FFFFFF"/>
            </a:solidFill>
            <a:prstDash val="solid"/>
          </a:ln>
          <a:effectLst>
            <a:outerShdw blurRad="127000" dist="38100" dir="8100000" algn="bl" rotWithShape="0">
              <a:srgbClr val="000000">
                <a:alpha val="35000"/>
              </a:srgbClr>
            </a:outerShdw>
          </a:effectLst>
        </p:spPr>
        <p:txBody>
          <a:bodyPr/>
          <a:lstStyle/>
          <a:p>
            <a:endParaRPr lang="fr-FR"/>
          </a:p>
        </p:txBody>
      </p:sp>
      <p:sp>
        <p:nvSpPr>
          <p:cNvPr id="17" name="Text 15"/>
          <p:cNvSpPr/>
          <p:nvPr/>
        </p:nvSpPr>
        <p:spPr>
          <a:xfrm>
            <a:off x="1645920" y="2148840"/>
            <a:ext cx="640080" cy="640080"/>
          </a:xfrm>
          <a:prstGeom prst="rect">
            <a:avLst/>
          </a:prstGeom>
          <a:noFill/>
          <a:ln/>
        </p:spPr>
        <p:txBody>
          <a:bodyPr wrap="square" lIns="0" tIns="0" rIns="0" bIns="0" rtlCol="0" anchor="ctr"/>
          <a:lstStyle/>
          <a:p>
            <a:pPr marL="0" indent="0" algn="ctr">
              <a:buNone/>
            </a:pPr>
            <a:r>
              <a:rPr lang="en-US" sz="900" b="1" dirty="0">
                <a:solidFill>
                  <a:srgbClr val="F0F6FC"/>
                </a:solidFill>
              </a:rPr>
              <a:t>w*x+b</a:t>
            </a:r>
            <a:endParaRPr lang="en-US" sz="900" dirty="0"/>
          </a:p>
          <a:p>
            <a:pPr marL="0" indent="0" algn="ctr">
              <a:buNone/>
            </a:pPr>
            <a:r>
              <a:rPr lang="en-US" sz="900" b="1" dirty="0">
                <a:solidFill>
                  <a:srgbClr val="F0F6FC"/>
                </a:solidFill>
              </a:rPr>
              <a:t>+</a:t>
            </a:r>
            <a:endParaRPr lang="en-US" sz="900" dirty="0"/>
          </a:p>
          <a:p>
            <a:pPr marL="0" indent="0" algn="ctr">
              <a:buNone/>
            </a:pPr>
            <a:r>
              <a:rPr lang="en-US" sz="900" b="1" dirty="0">
                <a:solidFill>
                  <a:srgbClr val="F0F6FC"/>
                </a:solidFill>
              </a:rPr>
              <a:t>ReLU</a:t>
            </a:r>
            <a:endParaRPr lang="en-US" sz="900" dirty="0"/>
          </a:p>
        </p:txBody>
      </p:sp>
      <p:sp>
        <p:nvSpPr>
          <p:cNvPr id="18" name="Shape 16"/>
          <p:cNvSpPr/>
          <p:nvPr/>
        </p:nvSpPr>
        <p:spPr>
          <a:xfrm>
            <a:off x="2286000" y="2468880"/>
            <a:ext cx="640080" cy="0"/>
          </a:xfrm>
          <a:prstGeom prst="line">
            <a:avLst/>
          </a:prstGeom>
          <a:noFill/>
          <a:ln w="25400">
            <a:solidFill>
              <a:srgbClr val="3FB950"/>
            </a:solidFill>
            <a:prstDash val="solid"/>
            <a:tailEnd type="arrow"/>
          </a:ln>
        </p:spPr>
        <p:txBody>
          <a:bodyPr/>
          <a:lstStyle/>
          <a:p>
            <a:endParaRPr lang="fr-FR"/>
          </a:p>
        </p:txBody>
      </p:sp>
      <p:sp>
        <p:nvSpPr>
          <p:cNvPr id="19" name="Shape 17"/>
          <p:cNvSpPr/>
          <p:nvPr/>
        </p:nvSpPr>
        <p:spPr>
          <a:xfrm>
            <a:off x="2926080" y="2286000"/>
            <a:ext cx="502920" cy="365760"/>
          </a:xfrm>
          <a:prstGeom prst="ellipse">
            <a:avLst/>
          </a:prstGeom>
          <a:solidFill>
            <a:srgbClr val="21262D"/>
          </a:solidFill>
          <a:ln w="19050">
            <a:solidFill>
              <a:srgbClr val="3FB950"/>
            </a:solidFill>
            <a:prstDash val="solid"/>
          </a:ln>
        </p:spPr>
        <p:txBody>
          <a:bodyPr/>
          <a:lstStyle/>
          <a:p>
            <a:endParaRPr lang="fr-FR"/>
          </a:p>
        </p:txBody>
      </p:sp>
      <p:sp>
        <p:nvSpPr>
          <p:cNvPr id="20" name="Text 18"/>
          <p:cNvSpPr/>
          <p:nvPr/>
        </p:nvSpPr>
        <p:spPr>
          <a:xfrm>
            <a:off x="2926080" y="2286000"/>
            <a:ext cx="502920" cy="365760"/>
          </a:xfrm>
          <a:prstGeom prst="rect">
            <a:avLst/>
          </a:prstGeom>
          <a:noFill/>
          <a:ln/>
        </p:spPr>
        <p:txBody>
          <a:bodyPr wrap="square" lIns="0" tIns="0" rIns="0" bIns="0" rtlCol="0" anchor="ctr"/>
          <a:lstStyle/>
          <a:p>
            <a:pPr marL="0" indent="0" algn="ctr">
              <a:buNone/>
            </a:pPr>
            <a:r>
              <a:rPr lang="en-US" sz="1100" b="1" dirty="0">
                <a:solidFill>
                  <a:srgbClr val="3FB950"/>
                </a:solidFill>
              </a:rPr>
              <a:t>y_hat</a:t>
            </a:r>
            <a:endParaRPr lang="en-US" sz="1100" dirty="0"/>
          </a:p>
        </p:txBody>
      </p:sp>
      <p:sp>
        <p:nvSpPr>
          <p:cNvPr id="21" name="Text 19"/>
          <p:cNvSpPr/>
          <p:nvPr/>
        </p:nvSpPr>
        <p:spPr>
          <a:xfrm>
            <a:off x="475488" y="4297680"/>
            <a:ext cx="3017520" cy="320040"/>
          </a:xfrm>
          <a:prstGeom prst="rect">
            <a:avLst/>
          </a:prstGeom>
          <a:noFill/>
          <a:ln/>
        </p:spPr>
        <p:txBody>
          <a:bodyPr wrap="square" lIns="0" tIns="0" rIns="0" bIns="0" rtlCol="0" anchor="ctr"/>
          <a:lstStyle/>
          <a:p>
            <a:pPr marL="0" indent="0" algn="ctr">
              <a:buNone/>
            </a:pPr>
            <a:r>
              <a:rPr lang="en-US" sz="1100" dirty="0">
                <a:solidFill>
                  <a:srgbClr val="BC8CFF"/>
                </a:solidFill>
              </a:rPr>
              <a:t>y_hat = sigma(w*x + b)</a:t>
            </a:r>
            <a:endParaRPr lang="en-US" sz="1100" dirty="0"/>
          </a:p>
        </p:txBody>
      </p:sp>
      <p:sp>
        <p:nvSpPr>
          <p:cNvPr id="22" name="Shape 20"/>
          <p:cNvSpPr/>
          <p:nvPr/>
        </p:nvSpPr>
        <p:spPr>
          <a:xfrm>
            <a:off x="3931920" y="1188720"/>
            <a:ext cx="4892040" cy="3566160"/>
          </a:xfrm>
          <a:prstGeom prst="rect">
            <a:avLst/>
          </a:prstGeom>
          <a:solidFill>
            <a:srgbClr val="161B22"/>
          </a:solidFill>
          <a:ln w="1905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23" name="Text 21"/>
          <p:cNvSpPr/>
          <p:nvPr/>
        </p:nvSpPr>
        <p:spPr>
          <a:xfrm>
            <a:off x="4069080" y="1234440"/>
            <a:ext cx="4617720" cy="320040"/>
          </a:xfrm>
          <a:prstGeom prst="rect">
            <a:avLst/>
          </a:prstGeom>
          <a:noFill/>
          <a:ln/>
        </p:spPr>
        <p:txBody>
          <a:bodyPr wrap="square" lIns="0" tIns="0" rIns="0" bIns="0" rtlCol="0" anchor="ctr"/>
          <a:lstStyle/>
          <a:p>
            <a:pPr marL="0" indent="0" algn="ctr">
              <a:buNone/>
            </a:pPr>
            <a:r>
              <a:rPr lang="en-US" sz="1100" dirty="0">
                <a:solidFill>
                  <a:srgbClr val="BC8CFF"/>
                </a:solidFill>
              </a:rPr>
              <a:t>Neural Network — 4 Layers</a:t>
            </a:r>
            <a:endParaRPr lang="en-US" sz="1100" dirty="0"/>
          </a:p>
        </p:txBody>
      </p:sp>
      <p:sp>
        <p:nvSpPr>
          <p:cNvPr id="24" name="Shape 22"/>
          <p:cNvSpPr/>
          <p:nvPr/>
        </p:nvSpPr>
        <p:spPr>
          <a:xfrm>
            <a:off x="4096512" y="1901952"/>
            <a:ext cx="402336" cy="402336"/>
          </a:xfrm>
          <a:prstGeom prst="ellipse">
            <a:avLst/>
          </a:prstGeom>
          <a:solidFill>
            <a:srgbClr val="58A6FF"/>
          </a:solidFill>
          <a:ln w="19050">
            <a:solidFill>
              <a:srgbClr val="FFFFFF"/>
            </a:solidFill>
            <a:prstDash val="solid"/>
          </a:ln>
          <a:effectLst>
            <a:outerShdw blurRad="127000" dist="38100" dir="8100000" algn="bl" rotWithShape="0">
              <a:srgbClr val="000000">
                <a:alpha val="35000"/>
              </a:srgbClr>
            </a:outerShdw>
          </a:effectLst>
        </p:spPr>
        <p:txBody>
          <a:bodyPr/>
          <a:lstStyle/>
          <a:p>
            <a:endParaRPr lang="fr-FR"/>
          </a:p>
        </p:txBody>
      </p:sp>
      <p:sp>
        <p:nvSpPr>
          <p:cNvPr id="25" name="Shape 23"/>
          <p:cNvSpPr/>
          <p:nvPr/>
        </p:nvSpPr>
        <p:spPr>
          <a:xfrm>
            <a:off x="4096512" y="2542032"/>
            <a:ext cx="402336" cy="402336"/>
          </a:xfrm>
          <a:prstGeom prst="ellipse">
            <a:avLst/>
          </a:prstGeom>
          <a:solidFill>
            <a:srgbClr val="58A6FF"/>
          </a:solidFill>
          <a:ln w="19050">
            <a:solidFill>
              <a:srgbClr val="FFFFFF"/>
            </a:solidFill>
            <a:prstDash val="solid"/>
          </a:ln>
          <a:effectLst>
            <a:outerShdw blurRad="127000" dist="38100" dir="8100000" algn="bl" rotWithShape="0">
              <a:srgbClr val="000000">
                <a:alpha val="35000"/>
              </a:srgbClr>
            </a:outerShdw>
          </a:effectLst>
        </p:spPr>
        <p:txBody>
          <a:bodyPr/>
          <a:lstStyle/>
          <a:p>
            <a:endParaRPr lang="fr-FR"/>
          </a:p>
        </p:txBody>
      </p:sp>
      <p:sp>
        <p:nvSpPr>
          <p:cNvPr id="26" name="Shape 24"/>
          <p:cNvSpPr/>
          <p:nvPr/>
        </p:nvSpPr>
        <p:spPr>
          <a:xfrm>
            <a:off x="4096512" y="3182112"/>
            <a:ext cx="402336" cy="402336"/>
          </a:xfrm>
          <a:prstGeom prst="ellipse">
            <a:avLst/>
          </a:prstGeom>
          <a:solidFill>
            <a:srgbClr val="58A6FF"/>
          </a:solidFill>
          <a:ln w="19050">
            <a:solidFill>
              <a:srgbClr val="FFFFFF"/>
            </a:solidFill>
            <a:prstDash val="solid"/>
          </a:ln>
          <a:effectLst>
            <a:outerShdw blurRad="127000" dist="38100" dir="8100000" algn="bl" rotWithShape="0">
              <a:srgbClr val="000000">
                <a:alpha val="35000"/>
              </a:srgbClr>
            </a:outerShdw>
          </a:effectLst>
        </p:spPr>
        <p:txBody>
          <a:bodyPr/>
          <a:lstStyle/>
          <a:p>
            <a:endParaRPr lang="fr-FR"/>
          </a:p>
        </p:txBody>
      </p:sp>
      <p:sp>
        <p:nvSpPr>
          <p:cNvPr id="27" name="Text 25"/>
          <p:cNvSpPr/>
          <p:nvPr/>
        </p:nvSpPr>
        <p:spPr>
          <a:xfrm>
            <a:off x="3931920" y="4407408"/>
            <a:ext cx="731520" cy="320040"/>
          </a:xfrm>
          <a:prstGeom prst="rect">
            <a:avLst/>
          </a:prstGeom>
          <a:noFill/>
          <a:ln/>
        </p:spPr>
        <p:txBody>
          <a:bodyPr wrap="square" lIns="0" tIns="0" rIns="0" bIns="0" rtlCol="0" anchor="ctr"/>
          <a:lstStyle/>
          <a:p>
            <a:pPr marL="0" indent="0" algn="ctr">
              <a:buNone/>
            </a:pPr>
            <a:r>
              <a:rPr lang="en-US" sz="800" dirty="0">
                <a:solidFill>
                  <a:srgbClr val="58A6FF"/>
                </a:solidFill>
              </a:rPr>
              <a:t>Input</a:t>
            </a:r>
            <a:endParaRPr lang="en-US" sz="800" dirty="0"/>
          </a:p>
        </p:txBody>
      </p:sp>
      <p:sp>
        <p:nvSpPr>
          <p:cNvPr id="28" name="Shape 26"/>
          <p:cNvSpPr/>
          <p:nvPr/>
        </p:nvSpPr>
        <p:spPr>
          <a:xfrm>
            <a:off x="5376672" y="1581912"/>
            <a:ext cx="402336" cy="402336"/>
          </a:xfrm>
          <a:prstGeom prst="ellipse">
            <a:avLst/>
          </a:prstGeom>
          <a:solidFill>
            <a:srgbClr val="BC8CFF"/>
          </a:solidFill>
          <a:ln w="19050">
            <a:solidFill>
              <a:srgbClr val="FFFFFF"/>
            </a:solidFill>
            <a:prstDash val="solid"/>
          </a:ln>
          <a:effectLst>
            <a:outerShdw blurRad="127000" dist="38100" dir="8100000" algn="bl" rotWithShape="0">
              <a:srgbClr val="000000">
                <a:alpha val="35000"/>
              </a:srgbClr>
            </a:outerShdw>
          </a:effectLst>
        </p:spPr>
        <p:txBody>
          <a:bodyPr/>
          <a:lstStyle/>
          <a:p>
            <a:endParaRPr lang="fr-FR"/>
          </a:p>
        </p:txBody>
      </p:sp>
      <p:sp>
        <p:nvSpPr>
          <p:cNvPr id="29" name="Shape 27"/>
          <p:cNvSpPr/>
          <p:nvPr/>
        </p:nvSpPr>
        <p:spPr>
          <a:xfrm>
            <a:off x="5376672" y="2221992"/>
            <a:ext cx="402336" cy="402336"/>
          </a:xfrm>
          <a:prstGeom prst="ellipse">
            <a:avLst/>
          </a:prstGeom>
          <a:solidFill>
            <a:srgbClr val="BC8CFF"/>
          </a:solidFill>
          <a:ln w="19050">
            <a:solidFill>
              <a:srgbClr val="FFFFFF"/>
            </a:solidFill>
            <a:prstDash val="solid"/>
          </a:ln>
          <a:effectLst>
            <a:outerShdw blurRad="127000" dist="38100" dir="8100000" algn="bl" rotWithShape="0">
              <a:srgbClr val="000000">
                <a:alpha val="35000"/>
              </a:srgbClr>
            </a:outerShdw>
          </a:effectLst>
        </p:spPr>
        <p:txBody>
          <a:bodyPr/>
          <a:lstStyle/>
          <a:p>
            <a:endParaRPr lang="fr-FR"/>
          </a:p>
        </p:txBody>
      </p:sp>
      <p:sp>
        <p:nvSpPr>
          <p:cNvPr id="30" name="Shape 28"/>
          <p:cNvSpPr/>
          <p:nvPr/>
        </p:nvSpPr>
        <p:spPr>
          <a:xfrm>
            <a:off x="5376672" y="2862072"/>
            <a:ext cx="402336" cy="402336"/>
          </a:xfrm>
          <a:prstGeom prst="ellipse">
            <a:avLst/>
          </a:prstGeom>
          <a:solidFill>
            <a:srgbClr val="BC8CFF"/>
          </a:solidFill>
          <a:ln w="19050">
            <a:solidFill>
              <a:srgbClr val="FFFFFF"/>
            </a:solidFill>
            <a:prstDash val="solid"/>
          </a:ln>
          <a:effectLst>
            <a:outerShdw blurRad="127000" dist="38100" dir="8100000" algn="bl" rotWithShape="0">
              <a:srgbClr val="000000">
                <a:alpha val="35000"/>
              </a:srgbClr>
            </a:outerShdw>
          </a:effectLst>
        </p:spPr>
        <p:txBody>
          <a:bodyPr/>
          <a:lstStyle/>
          <a:p>
            <a:endParaRPr lang="fr-FR"/>
          </a:p>
        </p:txBody>
      </p:sp>
      <p:sp>
        <p:nvSpPr>
          <p:cNvPr id="31" name="Shape 29"/>
          <p:cNvSpPr/>
          <p:nvPr/>
        </p:nvSpPr>
        <p:spPr>
          <a:xfrm>
            <a:off x="5376672" y="3502152"/>
            <a:ext cx="402336" cy="402336"/>
          </a:xfrm>
          <a:prstGeom prst="ellipse">
            <a:avLst/>
          </a:prstGeom>
          <a:solidFill>
            <a:srgbClr val="BC8CFF"/>
          </a:solidFill>
          <a:ln w="19050">
            <a:solidFill>
              <a:srgbClr val="FFFFFF"/>
            </a:solidFill>
            <a:prstDash val="solid"/>
          </a:ln>
          <a:effectLst>
            <a:outerShdw blurRad="127000" dist="38100" dir="8100000" algn="bl" rotWithShape="0">
              <a:srgbClr val="000000">
                <a:alpha val="35000"/>
              </a:srgbClr>
            </a:outerShdw>
          </a:effectLst>
        </p:spPr>
        <p:txBody>
          <a:bodyPr/>
          <a:lstStyle/>
          <a:p>
            <a:endParaRPr lang="fr-FR"/>
          </a:p>
        </p:txBody>
      </p:sp>
      <p:sp>
        <p:nvSpPr>
          <p:cNvPr id="32" name="Text 30"/>
          <p:cNvSpPr/>
          <p:nvPr/>
        </p:nvSpPr>
        <p:spPr>
          <a:xfrm>
            <a:off x="5212080" y="4407408"/>
            <a:ext cx="731520" cy="320040"/>
          </a:xfrm>
          <a:prstGeom prst="rect">
            <a:avLst/>
          </a:prstGeom>
          <a:noFill/>
          <a:ln/>
        </p:spPr>
        <p:txBody>
          <a:bodyPr wrap="square" lIns="0" tIns="0" rIns="0" bIns="0" rtlCol="0" anchor="ctr"/>
          <a:lstStyle/>
          <a:p>
            <a:pPr marL="0" indent="0" algn="ctr">
              <a:buNone/>
            </a:pPr>
            <a:r>
              <a:rPr lang="en-US" sz="800" dirty="0">
                <a:solidFill>
                  <a:srgbClr val="BC8CFF"/>
                </a:solidFill>
              </a:rPr>
              <a:t>Hidden 1</a:t>
            </a:r>
            <a:endParaRPr lang="en-US" sz="800" dirty="0"/>
          </a:p>
        </p:txBody>
      </p:sp>
      <p:sp>
        <p:nvSpPr>
          <p:cNvPr id="33" name="Shape 31"/>
          <p:cNvSpPr/>
          <p:nvPr/>
        </p:nvSpPr>
        <p:spPr>
          <a:xfrm>
            <a:off x="6656832" y="1581912"/>
            <a:ext cx="402336" cy="402336"/>
          </a:xfrm>
          <a:prstGeom prst="ellipse">
            <a:avLst/>
          </a:prstGeom>
          <a:solidFill>
            <a:srgbClr val="F0883E"/>
          </a:solidFill>
          <a:ln w="19050">
            <a:solidFill>
              <a:srgbClr val="FFFFFF"/>
            </a:solidFill>
            <a:prstDash val="solid"/>
          </a:ln>
          <a:effectLst>
            <a:outerShdw blurRad="127000" dist="38100" dir="8100000" algn="bl" rotWithShape="0">
              <a:srgbClr val="000000">
                <a:alpha val="35000"/>
              </a:srgbClr>
            </a:outerShdw>
          </a:effectLst>
        </p:spPr>
        <p:txBody>
          <a:bodyPr/>
          <a:lstStyle/>
          <a:p>
            <a:endParaRPr lang="fr-FR"/>
          </a:p>
        </p:txBody>
      </p:sp>
      <p:sp>
        <p:nvSpPr>
          <p:cNvPr id="34" name="Shape 32"/>
          <p:cNvSpPr/>
          <p:nvPr/>
        </p:nvSpPr>
        <p:spPr>
          <a:xfrm>
            <a:off x="6656832" y="2221992"/>
            <a:ext cx="402336" cy="402336"/>
          </a:xfrm>
          <a:prstGeom prst="ellipse">
            <a:avLst/>
          </a:prstGeom>
          <a:solidFill>
            <a:srgbClr val="F0883E"/>
          </a:solidFill>
          <a:ln w="19050">
            <a:solidFill>
              <a:srgbClr val="FFFFFF"/>
            </a:solidFill>
            <a:prstDash val="solid"/>
          </a:ln>
          <a:effectLst>
            <a:outerShdw blurRad="127000" dist="38100" dir="8100000" algn="bl" rotWithShape="0">
              <a:srgbClr val="000000">
                <a:alpha val="35000"/>
              </a:srgbClr>
            </a:outerShdw>
          </a:effectLst>
        </p:spPr>
        <p:txBody>
          <a:bodyPr/>
          <a:lstStyle/>
          <a:p>
            <a:endParaRPr lang="fr-FR"/>
          </a:p>
        </p:txBody>
      </p:sp>
      <p:sp>
        <p:nvSpPr>
          <p:cNvPr id="35" name="Shape 33"/>
          <p:cNvSpPr/>
          <p:nvPr/>
        </p:nvSpPr>
        <p:spPr>
          <a:xfrm>
            <a:off x="6656832" y="2862072"/>
            <a:ext cx="402336" cy="402336"/>
          </a:xfrm>
          <a:prstGeom prst="ellipse">
            <a:avLst/>
          </a:prstGeom>
          <a:solidFill>
            <a:srgbClr val="F0883E"/>
          </a:solidFill>
          <a:ln w="19050">
            <a:solidFill>
              <a:srgbClr val="FFFFFF"/>
            </a:solidFill>
            <a:prstDash val="solid"/>
          </a:ln>
          <a:effectLst>
            <a:outerShdw blurRad="127000" dist="38100" dir="8100000" algn="bl" rotWithShape="0">
              <a:srgbClr val="000000">
                <a:alpha val="35000"/>
              </a:srgbClr>
            </a:outerShdw>
          </a:effectLst>
        </p:spPr>
        <p:txBody>
          <a:bodyPr/>
          <a:lstStyle/>
          <a:p>
            <a:endParaRPr lang="fr-FR"/>
          </a:p>
        </p:txBody>
      </p:sp>
      <p:sp>
        <p:nvSpPr>
          <p:cNvPr id="36" name="Shape 34"/>
          <p:cNvSpPr/>
          <p:nvPr/>
        </p:nvSpPr>
        <p:spPr>
          <a:xfrm>
            <a:off x="6656832" y="3502152"/>
            <a:ext cx="402336" cy="402336"/>
          </a:xfrm>
          <a:prstGeom prst="ellipse">
            <a:avLst/>
          </a:prstGeom>
          <a:solidFill>
            <a:srgbClr val="F0883E"/>
          </a:solidFill>
          <a:ln w="19050">
            <a:solidFill>
              <a:srgbClr val="FFFFFF"/>
            </a:solidFill>
            <a:prstDash val="solid"/>
          </a:ln>
          <a:effectLst>
            <a:outerShdw blurRad="127000" dist="38100" dir="8100000" algn="bl" rotWithShape="0">
              <a:srgbClr val="000000">
                <a:alpha val="35000"/>
              </a:srgbClr>
            </a:outerShdw>
          </a:effectLst>
        </p:spPr>
        <p:txBody>
          <a:bodyPr/>
          <a:lstStyle/>
          <a:p>
            <a:endParaRPr lang="fr-FR"/>
          </a:p>
        </p:txBody>
      </p:sp>
      <p:sp>
        <p:nvSpPr>
          <p:cNvPr id="37" name="Text 35"/>
          <p:cNvSpPr/>
          <p:nvPr/>
        </p:nvSpPr>
        <p:spPr>
          <a:xfrm>
            <a:off x="6492240" y="4407408"/>
            <a:ext cx="731520" cy="320040"/>
          </a:xfrm>
          <a:prstGeom prst="rect">
            <a:avLst/>
          </a:prstGeom>
          <a:noFill/>
          <a:ln/>
        </p:spPr>
        <p:txBody>
          <a:bodyPr wrap="square" lIns="0" tIns="0" rIns="0" bIns="0" rtlCol="0" anchor="ctr"/>
          <a:lstStyle/>
          <a:p>
            <a:pPr marL="0" indent="0" algn="ctr">
              <a:buNone/>
            </a:pPr>
            <a:r>
              <a:rPr lang="en-US" sz="800" dirty="0">
                <a:solidFill>
                  <a:srgbClr val="F0883E"/>
                </a:solidFill>
              </a:rPr>
              <a:t>Hidden 2</a:t>
            </a:r>
            <a:endParaRPr lang="en-US" sz="800" dirty="0"/>
          </a:p>
        </p:txBody>
      </p:sp>
      <p:sp>
        <p:nvSpPr>
          <p:cNvPr id="38" name="Shape 36"/>
          <p:cNvSpPr/>
          <p:nvPr/>
        </p:nvSpPr>
        <p:spPr>
          <a:xfrm>
            <a:off x="7936992" y="2221992"/>
            <a:ext cx="402336" cy="402336"/>
          </a:xfrm>
          <a:prstGeom prst="ellipse">
            <a:avLst/>
          </a:prstGeom>
          <a:solidFill>
            <a:srgbClr val="3FB950"/>
          </a:solidFill>
          <a:ln w="19050">
            <a:solidFill>
              <a:srgbClr val="FFFFFF"/>
            </a:solidFill>
            <a:prstDash val="solid"/>
          </a:ln>
          <a:effectLst>
            <a:outerShdw blurRad="127000" dist="38100" dir="8100000" algn="bl" rotWithShape="0">
              <a:srgbClr val="000000">
                <a:alpha val="35000"/>
              </a:srgbClr>
            </a:outerShdw>
          </a:effectLst>
        </p:spPr>
        <p:txBody>
          <a:bodyPr/>
          <a:lstStyle/>
          <a:p>
            <a:endParaRPr lang="fr-FR"/>
          </a:p>
        </p:txBody>
      </p:sp>
      <p:sp>
        <p:nvSpPr>
          <p:cNvPr id="39" name="Shape 37"/>
          <p:cNvSpPr/>
          <p:nvPr/>
        </p:nvSpPr>
        <p:spPr>
          <a:xfrm>
            <a:off x="7936992" y="2862072"/>
            <a:ext cx="402336" cy="402336"/>
          </a:xfrm>
          <a:prstGeom prst="ellipse">
            <a:avLst/>
          </a:prstGeom>
          <a:solidFill>
            <a:srgbClr val="3FB950"/>
          </a:solidFill>
          <a:ln w="19050">
            <a:solidFill>
              <a:srgbClr val="FFFFFF"/>
            </a:solidFill>
            <a:prstDash val="solid"/>
          </a:ln>
          <a:effectLst>
            <a:outerShdw blurRad="127000" dist="38100" dir="8100000" algn="bl" rotWithShape="0">
              <a:srgbClr val="000000">
                <a:alpha val="35000"/>
              </a:srgbClr>
            </a:outerShdw>
          </a:effectLst>
        </p:spPr>
        <p:txBody>
          <a:bodyPr/>
          <a:lstStyle/>
          <a:p>
            <a:endParaRPr lang="fr-FR"/>
          </a:p>
        </p:txBody>
      </p:sp>
      <p:sp>
        <p:nvSpPr>
          <p:cNvPr id="40" name="Text 38"/>
          <p:cNvSpPr/>
          <p:nvPr/>
        </p:nvSpPr>
        <p:spPr>
          <a:xfrm>
            <a:off x="7772400" y="4407408"/>
            <a:ext cx="731520" cy="320040"/>
          </a:xfrm>
          <a:prstGeom prst="rect">
            <a:avLst/>
          </a:prstGeom>
          <a:noFill/>
          <a:ln/>
        </p:spPr>
        <p:txBody>
          <a:bodyPr wrap="square" lIns="0" tIns="0" rIns="0" bIns="0" rtlCol="0" anchor="ctr"/>
          <a:lstStyle/>
          <a:p>
            <a:pPr marL="0" indent="0" algn="ctr">
              <a:buNone/>
            </a:pPr>
            <a:r>
              <a:rPr lang="en-US" sz="800" dirty="0">
                <a:solidFill>
                  <a:srgbClr val="3FB950"/>
                </a:solidFill>
              </a:rPr>
              <a:t>Output</a:t>
            </a:r>
            <a:endParaRPr lang="en-US" sz="800" dirty="0"/>
          </a:p>
        </p:txBody>
      </p:sp>
      <p:sp>
        <p:nvSpPr>
          <p:cNvPr id="41" name="Shape 39"/>
          <p:cNvSpPr/>
          <p:nvPr/>
        </p:nvSpPr>
        <p:spPr>
          <a:xfrm>
            <a:off x="4498848" y="2103120"/>
            <a:ext cx="877824" cy="0"/>
          </a:xfrm>
          <a:prstGeom prst="line">
            <a:avLst/>
          </a:prstGeom>
          <a:noFill/>
          <a:ln w="10160">
            <a:solidFill>
              <a:srgbClr val="21262D"/>
            </a:solidFill>
            <a:prstDash val="solid"/>
          </a:ln>
        </p:spPr>
        <p:txBody>
          <a:bodyPr/>
          <a:lstStyle/>
          <a:p>
            <a:endParaRPr lang="fr-FR"/>
          </a:p>
        </p:txBody>
      </p:sp>
      <p:sp>
        <p:nvSpPr>
          <p:cNvPr id="42" name="Shape 40"/>
          <p:cNvSpPr/>
          <p:nvPr/>
        </p:nvSpPr>
        <p:spPr>
          <a:xfrm>
            <a:off x="4498848" y="2103120"/>
            <a:ext cx="877824" cy="320040"/>
          </a:xfrm>
          <a:prstGeom prst="line">
            <a:avLst/>
          </a:prstGeom>
          <a:noFill/>
          <a:ln w="10160">
            <a:solidFill>
              <a:srgbClr val="21262D"/>
            </a:solidFill>
            <a:prstDash val="solid"/>
          </a:ln>
        </p:spPr>
        <p:txBody>
          <a:bodyPr/>
          <a:lstStyle/>
          <a:p>
            <a:endParaRPr lang="fr-FR"/>
          </a:p>
        </p:txBody>
      </p:sp>
      <p:sp>
        <p:nvSpPr>
          <p:cNvPr id="43" name="Shape 41"/>
          <p:cNvSpPr/>
          <p:nvPr/>
        </p:nvSpPr>
        <p:spPr>
          <a:xfrm>
            <a:off x="4498848" y="2103120"/>
            <a:ext cx="877824" cy="960120"/>
          </a:xfrm>
          <a:prstGeom prst="line">
            <a:avLst/>
          </a:prstGeom>
          <a:noFill/>
          <a:ln w="10160">
            <a:solidFill>
              <a:srgbClr val="21262D"/>
            </a:solidFill>
            <a:prstDash val="solid"/>
          </a:ln>
        </p:spPr>
        <p:txBody>
          <a:bodyPr/>
          <a:lstStyle/>
          <a:p>
            <a:endParaRPr lang="fr-FR"/>
          </a:p>
        </p:txBody>
      </p:sp>
      <p:sp>
        <p:nvSpPr>
          <p:cNvPr id="44" name="Shape 42"/>
          <p:cNvSpPr/>
          <p:nvPr/>
        </p:nvSpPr>
        <p:spPr>
          <a:xfrm>
            <a:off x="4498848" y="2103120"/>
            <a:ext cx="877824" cy="1600200"/>
          </a:xfrm>
          <a:prstGeom prst="line">
            <a:avLst/>
          </a:prstGeom>
          <a:noFill/>
          <a:ln w="10160">
            <a:solidFill>
              <a:srgbClr val="21262D"/>
            </a:solidFill>
            <a:prstDash val="solid"/>
          </a:ln>
        </p:spPr>
        <p:txBody>
          <a:bodyPr/>
          <a:lstStyle/>
          <a:p>
            <a:endParaRPr lang="fr-FR"/>
          </a:p>
        </p:txBody>
      </p:sp>
      <p:sp>
        <p:nvSpPr>
          <p:cNvPr id="45" name="Shape 43"/>
          <p:cNvSpPr/>
          <p:nvPr/>
        </p:nvSpPr>
        <p:spPr>
          <a:xfrm>
            <a:off x="4498848" y="2743200"/>
            <a:ext cx="877824" cy="0"/>
          </a:xfrm>
          <a:prstGeom prst="line">
            <a:avLst/>
          </a:prstGeom>
          <a:noFill/>
          <a:ln w="10160">
            <a:solidFill>
              <a:srgbClr val="21262D"/>
            </a:solidFill>
            <a:prstDash val="solid"/>
          </a:ln>
        </p:spPr>
        <p:txBody>
          <a:bodyPr/>
          <a:lstStyle/>
          <a:p>
            <a:endParaRPr lang="fr-FR"/>
          </a:p>
        </p:txBody>
      </p:sp>
      <p:sp>
        <p:nvSpPr>
          <p:cNvPr id="46" name="Shape 44"/>
          <p:cNvSpPr/>
          <p:nvPr/>
        </p:nvSpPr>
        <p:spPr>
          <a:xfrm>
            <a:off x="4498848" y="2743200"/>
            <a:ext cx="877824" cy="0"/>
          </a:xfrm>
          <a:prstGeom prst="line">
            <a:avLst/>
          </a:prstGeom>
          <a:noFill/>
          <a:ln w="10160">
            <a:solidFill>
              <a:srgbClr val="21262D"/>
            </a:solidFill>
            <a:prstDash val="solid"/>
          </a:ln>
        </p:spPr>
        <p:txBody>
          <a:bodyPr/>
          <a:lstStyle/>
          <a:p>
            <a:endParaRPr lang="fr-FR"/>
          </a:p>
        </p:txBody>
      </p:sp>
      <p:sp>
        <p:nvSpPr>
          <p:cNvPr id="47" name="Shape 45"/>
          <p:cNvSpPr/>
          <p:nvPr/>
        </p:nvSpPr>
        <p:spPr>
          <a:xfrm>
            <a:off x="4498848" y="2743200"/>
            <a:ext cx="877824" cy="320040"/>
          </a:xfrm>
          <a:prstGeom prst="line">
            <a:avLst/>
          </a:prstGeom>
          <a:noFill/>
          <a:ln w="10160">
            <a:solidFill>
              <a:srgbClr val="21262D"/>
            </a:solidFill>
            <a:prstDash val="solid"/>
          </a:ln>
        </p:spPr>
        <p:txBody>
          <a:bodyPr/>
          <a:lstStyle/>
          <a:p>
            <a:endParaRPr lang="fr-FR"/>
          </a:p>
        </p:txBody>
      </p:sp>
      <p:sp>
        <p:nvSpPr>
          <p:cNvPr id="48" name="Shape 46"/>
          <p:cNvSpPr/>
          <p:nvPr/>
        </p:nvSpPr>
        <p:spPr>
          <a:xfrm>
            <a:off x="4498848" y="2743200"/>
            <a:ext cx="877824" cy="960120"/>
          </a:xfrm>
          <a:prstGeom prst="line">
            <a:avLst/>
          </a:prstGeom>
          <a:noFill/>
          <a:ln w="10160">
            <a:solidFill>
              <a:srgbClr val="21262D"/>
            </a:solidFill>
            <a:prstDash val="solid"/>
          </a:ln>
        </p:spPr>
        <p:txBody>
          <a:bodyPr/>
          <a:lstStyle/>
          <a:p>
            <a:endParaRPr lang="fr-FR"/>
          </a:p>
        </p:txBody>
      </p:sp>
      <p:sp>
        <p:nvSpPr>
          <p:cNvPr id="49" name="Shape 47"/>
          <p:cNvSpPr/>
          <p:nvPr/>
        </p:nvSpPr>
        <p:spPr>
          <a:xfrm>
            <a:off x="4498848" y="3383280"/>
            <a:ext cx="877824" cy="0"/>
          </a:xfrm>
          <a:prstGeom prst="line">
            <a:avLst/>
          </a:prstGeom>
          <a:noFill/>
          <a:ln w="10160">
            <a:solidFill>
              <a:srgbClr val="21262D"/>
            </a:solidFill>
            <a:prstDash val="solid"/>
          </a:ln>
        </p:spPr>
        <p:txBody>
          <a:bodyPr/>
          <a:lstStyle/>
          <a:p>
            <a:endParaRPr lang="fr-FR"/>
          </a:p>
        </p:txBody>
      </p:sp>
      <p:sp>
        <p:nvSpPr>
          <p:cNvPr id="50" name="Shape 48"/>
          <p:cNvSpPr/>
          <p:nvPr/>
        </p:nvSpPr>
        <p:spPr>
          <a:xfrm>
            <a:off x="4498848" y="3383280"/>
            <a:ext cx="877824" cy="0"/>
          </a:xfrm>
          <a:prstGeom prst="line">
            <a:avLst/>
          </a:prstGeom>
          <a:noFill/>
          <a:ln w="10160">
            <a:solidFill>
              <a:srgbClr val="21262D"/>
            </a:solidFill>
            <a:prstDash val="solid"/>
          </a:ln>
        </p:spPr>
        <p:txBody>
          <a:bodyPr/>
          <a:lstStyle/>
          <a:p>
            <a:endParaRPr lang="fr-FR"/>
          </a:p>
        </p:txBody>
      </p:sp>
      <p:sp>
        <p:nvSpPr>
          <p:cNvPr id="51" name="Shape 49"/>
          <p:cNvSpPr/>
          <p:nvPr/>
        </p:nvSpPr>
        <p:spPr>
          <a:xfrm>
            <a:off x="4498848" y="3383280"/>
            <a:ext cx="877824" cy="0"/>
          </a:xfrm>
          <a:prstGeom prst="line">
            <a:avLst/>
          </a:prstGeom>
          <a:noFill/>
          <a:ln w="10160">
            <a:solidFill>
              <a:srgbClr val="21262D"/>
            </a:solidFill>
            <a:prstDash val="solid"/>
          </a:ln>
        </p:spPr>
        <p:txBody>
          <a:bodyPr/>
          <a:lstStyle/>
          <a:p>
            <a:endParaRPr lang="fr-FR"/>
          </a:p>
        </p:txBody>
      </p:sp>
      <p:sp>
        <p:nvSpPr>
          <p:cNvPr id="52" name="Shape 50"/>
          <p:cNvSpPr/>
          <p:nvPr/>
        </p:nvSpPr>
        <p:spPr>
          <a:xfrm>
            <a:off x="4498848" y="3383280"/>
            <a:ext cx="877824" cy="320040"/>
          </a:xfrm>
          <a:prstGeom prst="line">
            <a:avLst/>
          </a:prstGeom>
          <a:noFill/>
          <a:ln w="10160">
            <a:solidFill>
              <a:srgbClr val="21262D"/>
            </a:solidFill>
            <a:prstDash val="solid"/>
          </a:ln>
        </p:spPr>
        <p:txBody>
          <a:bodyPr/>
          <a:lstStyle/>
          <a:p>
            <a:endParaRPr lang="fr-FR"/>
          </a:p>
        </p:txBody>
      </p:sp>
      <p:sp>
        <p:nvSpPr>
          <p:cNvPr id="53" name="Shape 51"/>
          <p:cNvSpPr/>
          <p:nvPr/>
        </p:nvSpPr>
        <p:spPr>
          <a:xfrm>
            <a:off x="5779008" y="1783080"/>
            <a:ext cx="877824" cy="0"/>
          </a:xfrm>
          <a:prstGeom prst="line">
            <a:avLst/>
          </a:prstGeom>
          <a:noFill/>
          <a:ln w="10160">
            <a:solidFill>
              <a:srgbClr val="21262D"/>
            </a:solidFill>
            <a:prstDash val="solid"/>
          </a:ln>
        </p:spPr>
        <p:txBody>
          <a:bodyPr/>
          <a:lstStyle/>
          <a:p>
            <a:endParaRPr lang="fr-FR"/>
          </a:p>
        </p:txBody>
      </p:sp>
      <p:sp>
        <p:nvSpPr>
          <p:cNvPr id="54" name="Shape 52"/>
          <p:cNvSpPr/>
          <p:nvPr/>
        </p:nvSpPr>
        <p:spPr>
          <a:xfrm>
            <a:off x="5779008" y="1783080"/>
            <a:ext cx="877824" cy="640080"/>
          </a:xfrm>
          <a:prstGeom prst="line">
            <a:avLst/>
          </a:prstGeom>
          <a:noFill/>
          <a:ln w="10160">
            <a:solidFill>
              <a:srgbClr val="21262D"/>
            </a:solidFill>
            <a:prstDash val="solid"/>
          </a:ln>
        </p:spPr>
        <p:txBody>
          <a:bodyPr/>
          <a:lstStyle/>
          <a:p>
            <a:endParaRPr lang="fr-FR"/>
          </a:p>
        </p:txBody>
      </p:sp>
      <p:sp>
        <p:nvSpPr>
          <p:cNvPr id="55" name="Shape 53"/>
          <p:cNvSpPr/>
          <p:nvPr/>
        </p:nvSpPr>
        <p:spPr>
          <a:xfrm>
            <a:off x="5779008" y="1783080"/>
            <a:ext cx="877824" cy="1280160"/>
          </a:xfrm>
          <a:prstGeom prst="line">
            <a:avLst/>
          </a:prstGeom>
          <a:noFill/>
          <a:ln w="10160">
            <a:solidFill>
              <a:srgbClr val="21262D"/>
            </a:solidFill>
            <a:prstDash val="solid"/>
          </a:ln>
        </p:spPr>
        <p:txBody>
          <a:bodyPr/>
          <a:lstStyle/>
          <a:p>
            <a:endParaRPr lang="fr-FR"/>
          </a:p>
        </p:txBody>
      </p:sp>
      <p:sp>
        <p:nvSpPr>
          <p:cNvPr id="56" name="Shape 54"/>
          <p:cNvSpPr/>
          <p:nvPr/>
        </p:nvSpPr>
        <p:spPr>
          <a:xfrm>
            <a:off x="5779008" y="1783080"/>
            <a:ext cx="877824" cy="1920240"/>
          </a:xfrm>
          <a:prstGeom prst="line">
            <a:avLst/>
          </a:prstGeom>
          <a:noFill/>
          <a:ln w="10160">
            <a:solidFill>
              <a:srgbClr val="21262D"/>
            </a:solidFill>
            <a:prstDash val="solid"/>
          </a:ln>
        </p:spPr>
        <p:txBody>
          <a:bodyPr/>
          <a:lstStyle/>
          <a:p>
            <a:endParaRPr lang="fr-FR"/>
          </a:p>
        </p:txBody>
      </p:sp>
      <p:sp>
        <p:nvSpPr>
          <p:cNvPr id="57" name="Shape 55"/>
          <p:cNvSpPr/>
          <p:nvPr/>
        </p:nvSpPr>
        <p:spPr>
          <a:xfrm>
            <a:off x="5779008" y="2423160"/>
            <a:ext cx="877824" cy="0"/>
          </a:xfrm>
          <a:prstGeom prst="line">
            <a:avLst/>
          </a:prstGeom>
          <a:noFill/>
          <a:ln w="10160">
            <a:solidFill>
              <a:srgbClr val="21262D"/>
            </a:solidFill>
            <a:prstDash val="solid"/>
          </a:ln>
        </p:spPr>
        <p:txBody>
          <a:bodyPr/>
          <a:lstStyle/>
          <a:p>
            <a:endParaRPr lang="fr-FR"/>
          </a:p>
        </p:txBody>
      </p:sp>
      <p:sp>
        <p:nvSpPr>
          <p:cNvPr id="58" name="Shape 56"/>
          <p:cNvSpPr/>
          <p:nvPr/>
        </p:nvSpPr>
        <p:spPr>
          <a:xfrm>
            <a:off x="5779008" y="2423160"/>
            <a:ext cx="877824" cy="0"/>
          </a:xfrm>
          <a:prstGeom prst="line">
            <a:avLst/>
          </a:prstGeom>
          <a:noFill/>
          <a:ln w="10160">
            <a:solidFill>
              <a:srgbClr val="21262D"/>
            </a:solidFill>
            <a:prstDash val="solid"/>
          </a:ln>
        </p:spPr>
        <p:txBody>
          <a:bodyPr/>
          <a:lstStyle/>
          <a:p>
            <a:endParaRPr lang="fr-FR"/>
          </a:p>
        </p:txBody>
      </p:sp>
      <p:sp>
        <p:nvSpPr>
          <p:cNvPr id="59" name="Shape 57"/>
          <p:cNvSpPr/>
          <p:nvPr/>
        </p:nvSpPr>
        <p:spPr>
          <a:xfrm>
            <a:off x="5779008" y="2423160"/>
            <a:ext cx="877824" cy="640080"/>
          </a:xfrm>
          <a:prstGeom prst="line">
            <a:avLst/>
          </a:prstGeom>
          <a:noFill/>
          <a:ln w="10160">
            <a:solidFill>
              <a:srgbClr val="21262D"/>
            </a:solidFill>
            <a:prstDash val="solid"/>
          </a:ln>
        </p:spPr>
        <p:txBody>
          <a:bodyPr/>
          <a:lstStyle/>
          <a:p>
            <a:endParaRPr lang="fr-FR"/>
          </a:p>
        </p:txBody>
      </p:sp>
      <p:sp>
        <p:nvSpPr>
          <p:cNvPr id="60" name="Shape 58"/>
          <p:cNvSpPr/>
          <p:nvPr/>
        </p:nvSpPr>
        <p:spPr>
          <a:xfrm>
            <a:off x="5779008" y="2423160"/>
            <a:ext cx="877824" cy="1280160"/>
          </a:xfrm>
          <a:prstGeom prst="line">
            <a:avLst/>
          </a:prstGeom>
          <a:noFill/>
          <a:ln w="10160">
            <a:solidFill>
              <a:srgbClr val="21262D"/>
            </a:solidFill>
            <a:prstDash val="solid"/>
          </a:ln>
        </p:spPr>
        <p:txBody>
          <a:bodyPr/>
          <a:lstStyle/>
          <a:p>
            <a:endParaRPr lang="fr-FR"/>
          </a:p>
        </p:txBody>
      </p:sp>
      <p:sp>
        <p:nvSpPr>
          <p:cNvPr id="61" name="Shape 59"/>
          <p:cNvSpPr/>
          <p:nvPr/>
        </p:nvSpPr>
        <p:spPr>
          <a:xfrm>
            <a:off x="5779008" y="3063240"/>
            <a:ext cx="877824" cy="0"/>
          </a:xfrm>
          <a:prstGeom prst="line">
            <a:avLst/>
          </a:prstGeom>
          <a:noFill/>
          <a:ln w="10160">
            <a:solidFill>
              <a:srgbClr val="21262D"/>
            </a:solidFill>
            <a:prstDash val="solid"/>
          </a:ln>
        </p:spPr>
        <p:txBody>
          <a:bodyPr/>
          <a:lstStyle/>
          <a:p>
            <a:endParaRPr lang="fr-FR"/>
          </a:p>
        </p:txBody>
      </p:sp>
      <p:sp>
        <p:nvSpPr>
          <p:cNvPr id="62" name="Shape 60"/>
          <p:cNvSpPr/>
          <p:nvPr/>
        </p:nvSpPr>
        <p:spPr>
          <a:xfrm>
            <a:off x="5779008" y="3063240"/>
            <a:ext cx="877824" cy="0"/>
          </a:xfrm>
          <a:prstGeom prst="line">
            <a:avLst/>
          </a:prstGeom>
          <a:noFill/>
          <a:ln w="10160">
            <a:solidFill>
              <a:srgbClr val="21262D"/>
            </a:solidFill>
            <a:prstDash val="solid"/>
          </a:ln>
        </p:spPr>
        <p:txBody>
          <a:bodyPr/>
          <a:lstStyle/>
          <a:p>
            <a:endParaRPr lang="fr-FR"/>
          </a:p>
        </p:txBody>
      </p:sp>
      <p:sp>
        <p:nvSpPr>
          <p:cNvPr id="63" name="Shape 61"/>
          <p:cNvSpPr/>
          <p:nvPr/>
        </p:nvSpPr>
        <p:spPr>
          <a:xfrm>
            <a:off x="5779008" y="3063240"/>
            <a:ext cx="877824" cy="0"/>
          </a:xfrm>
          <a:prstGeom prst="line">
            <a:avLst/>
          </a:prstGeom>
          <a:noFill/>
          <a:ln w="10160">
            <a:solidFill>
              <a:srgbClr val="21262D"/>
            </a:solidFill>
            <a:prstDash val="solid"/>
          </a:ln>
        </p:spPr>
        <p:txBody>
          <a:bodyPr/>
          <a:lstStyle/>
          <a:p>
            <a:endParaRPr lang="fr-FR"/>
          </a:p>
        </p:txBody>
      </p:sp>
      <p:sp>
        <p:nvSpPr>
          <p:cNvPr id="64" name="Shape 62"/>
          <p:cNvSpPr/>
          <p:nvPr/>
        </p:nvSpPr>
        <p:spPr>
          <a:xfrm>
            <a:off x="5779008" y="3063240"/>
            <a:ext cx="877824" cy="640080"/>
          </a:xfrm>
          <a:prstGeom prst="line">
            <a:avLst/>
          </a:prstGeom>
          <a:noFill/>
          <a:ln w="10160">
            <a:solidFill>
              <a:srgbClr val="21262D"/>
            </a:solidFill>
            <a:prstDash val="solid"/>
          </a:ln>
        </p:spPr>
        <p:txBody>
          <a:bodyPr/>
          <a:lstStyle/>
          <a:p>
            <a:endParaRPr lang="fr-FR"/>
          </a:p>
        </p:txBody>
      </p:sp>
      <p:sp>
        <p:nvSpPr>
          <p:cNvPr id="65" name="Shape 63"/>
          <p:cNvSpPr/>
          <p:nvPr/>
        </p:nvSpPr>
        <p:spPr>
          <a:xfrm>
            <a:off x="5779008" y="3703320"/>
            <a:ext cx="877824" cy="0"/>
          </a:xfrm>
          <a:prstGeom prst="line">
            <a:avLst/>
          </a:prstGeom>
          <a:noFill/>
          <a:ln w="10160">
            <a:solidFill>
              <a:srgbClr val="21262D"/>
            </a:solidFill>
            <a:prstDash val="solid"/>
          </a:ln>
        </p:spPr>
        <p:txBody>
          <a:bodyPr/>
          <a:lstStyle/>
          <a:p>
            <a:endParaRPr lang="fr-FR"/>
          </a:p>
        </p:txBody>
      </p:sp>
      <p:sp>
        <p:nvSpPr>
          <p:cNvPr id="66" name="Shape 64"/>
          <p:cNvSpPr/>
          <p:nvPr/>
        </p:nvSpPr>
        <p:spPr>
          <a:xfrm>
            <a:off x="5779008" y="3703320"/>
            <a:ext cx="877824" cy="0"/>
          </a:xfrm>
          <a:prstGeom prst="line">
            <a:avLst/>
          </a:prstGeom>
          <a:noFill/>
          <a:ln w="10160">
            <a:solidFill>
              <a:srgbClr val="21262D"/>
            </a:solidFill>
            <a:prstDash val="solid"/>
          </a:ln>
        </p:spPr>
        <p:txBody>
          <a:bodyPr/>
          <a:lstStyle/>
          <a:p>
            <a:endParaRPr lang="fr-FR"/>
          </a:p>
        </p:txBody>
      </p:sp>
      <p:sp>
        <p:nvSpPr>
          <p:cNvPr id="67" name="Shape 65"/>
          <p:cNvSpPr/>
          <p:nvPr/>
        </p:nvSpPr>
        <p:spPr>
          <a:xfrm>
            <a:off x="5779008" y="3703320"/>
            <a:ext cx="877824" cy="0"/>
          </a:xfrm>
          <a:prstGeom prst="line">
            <a:avLst/>
          </a:prstGeom>
          <a:noFill/>
          <a:ln w="10160">
            <a:solidFill>
              <a:srgbClr val="21262D"/>
            </a:solidFill>
            <a:prstDash val="solid"/>
          </a:ln>
        </p:spPr>
        <p:txBody>
          <a:bodyPr/>
          <a:lstStyle/>
          <a:p>
            <a:endParaRPr lang="fr-FR"/>
          </a:p>
        </p:txBody>
      </p:sp>
      <p:sp>
        <p:nvSpPr>
          <p:cNvPr id="68" name="Shape 66"/>
          <p:cNvSpPr/>
          <p:nvPr/>
        </p:nvSpPr>
        <p:spPr>
          <a:xfrm>
            <a:off x="5779008" y="3703320"/>
            <a:ext cx="877824" cy="0"/>
          </a:xfrm>
          <a:prstGeom prst="line">
            <a:avLst/>
          </a:prstGeom>
          <a:noFill/>
          <a:ln w="10160">
            <a:solidFill>
              <a:srgbClr val="21262D"/>
            </a:solidFill>
            <a:prstDash val="solid"/>
          </a:ln>
        </p:spPr>
        <p:txBody>
          <a:bodyPr/>
          <a:lstStyle/>
          <a:p>
            <a:endParaRPr lang="fr-FR"/>
          </a:p>
        </p:txBody>
      </p:sp>
      <p:sp>
        <p:nvSpPr>
          <p:cNvPr id="69" name="Shape 67"/>
          <p:cNvSpPr/>
          <p:nvPr/>
        </p:nvSpPr>
        <p:spPr>
          <a:xfrm>
            <a:off x="7059168" y="1783080"/>
            <a:ext cx="877824" cy="640080"/>
          </a:xfrm>
          <a:prstGeom prst="line">
            <a:avLst/>
          </a:prstGeom>
          <a:noFill/>
          <a:ln w="10160">
            <a:solidFill>
              <a:srgbClr val="21262D"/>
            </a:solidFill>
            <a:prstDash val="solid"/>
          </a:ln>
        </p:spPr>
        <p:txBody>
          <a:bodyPr/>
          <a:lstStyle/>
          <a:p>
            <a:endParaRPr lang="fr-FR"/>
          </a:p>
        </p:txBody>
      </p:sp>
      <p:sp>
        <p:nvSpPr>
          <p:cNvPr id="70" name="Shape 68"/>
          <p:cNvSpPr/>
          <p:nvPr/>
        </p:nvSpPr>
        <p:spPr>
          <a:xfrm>
            <a:off x="7059168" y="1783080"/>
            <a:ext cx="877824" cy="1280160"/>
          </a:xfrm>
          <a:prstGeom prst="line">
            <a:avLst/>
          </a:prstGeom>
          <a:noFill/>
          <a:ln w="10160">
            <a:solidFill>
              <a:srgbClr val="21262D"/>
            </a:solidFill>
            <a:prstDash val="solid"/>
          </a:ln>
        </p:spPr>
        <p:txBody>
          <a:bodyPr/>
          <a:lstStyle/>
          <a:p>
            <a:endParaRPr lang="fr-FR"/>
          </a:p>
        </p:txBody>
      </p:sp>
      <p:sp>
        <p:nvSpPr>
          <p:cNvPr id="71" name="Shape 69"/>
          <p:cNvSpPr/>
          <p:nvPr/>
        </p:nvSpPr>
        <p:spPr>
          <a:xfrm>
            <a:off x="7059168" y="2423160"/>
            <a:ext cx="877824" cy="0"/>
          </a:xfrm>
          <a:prstGeom prst="line">
            <a:avLst/>
          </a:prstGeom>
          <a:noFill/>
          <a:ln w="10160">
            <a:solidFill>
              <a:srgbClr val="21262D"/>
            </a:solidFill>
            <a:prstDash val="solid"/>
          </a:ln>
        </p:spPr>
        <p:txBody>
          <a:bodyPr/>
          <a:lstStyle/>
          <a:p>
            <a:endParaRPr lang="fr-FR"/>
          </a:p>
        </p:txBody>
      </p:sp>
      <p:sp>
        <p:nvSpPr>
          <p:cNvPr id="72" name="Shape 70"/>
          <p:cNvSpPr/>
          <p:nvPr/>
        </p:nvSpPr>
        <p:spPr>
          <a:xfrm>
            <a:off x="7059168" y="2423160"/>
            <a:ext cx="877824" cy="640080"/>
          </a:xfrm>
          <a:prstGeom prst="line">
            <a:avLst/>
          </a:prstGeom>
          <a:noFill/>
          <a:ln w="10160">
            <a:solidFill>
              <a:srgbClr val="21262D"/>
            </a:solidFill>
            <a:prstDash val="solid"/>
          </a:ln>
        </p:spPr>
        <p:txBody>
          <a:bodyPr/>
          <a:lstStyle/>
          <a:p>
            <a:endParaRPr lang="fr-FR"/>
          </a:p>
        </p:txBody>
      </p:sp>
      <p:sp>
        <p:nvSpPr>
          <p:cNvPr id="73" name="Shape 71"/>
          <p:cNvSpPr/>
          <p:nvPr/>
        </p:nvSpPr>
        <p:spPr>
          <a:xfrm>
            <a:off x="7059168" y="3063240"/>
            <a:ext cx="877824" cy="0"/>
          </a:xfrm>
          <a:prstGeom prst="line">
            <a:avLst/>
          </a:prstGeom>
          <a:noFill/>
          <a:ln w="10160">
            <a:solidFill>
              <a:srgbClr val="21262D"/>
            </a:solidFill>
            <a:prstDash val="solid"/>
          </a:ln>
        </p:spPr>
        <p:txBody>
          <a:bodyPr/>
          <a:lstStyle/>
          <a:p>
            <a:endParaRPr lang="fr-FR"/>
          </a:p>
        </p:txBody>
      </p:sp>
      <p:sp>
        <p:nvSpPr>
          <p:cNvPr id="74" name="Shape 72"/>
          <p:cNvSpPr/>
          <p:nvPr/>
        </p:nvSpPr>
        <p:spPr>
          <a:xfrm>
            <a:off x="7059168" y="3063240"/>
            <a:ext cx="877824" cy="0"/>
          </a:xfrm>
          <a:prstGeom prst="line">
            <a:avLst/>
          </a:prstGeom>
          <a:noFill/>
          <a:ln w="10160">
            <a:solidFill>
              <a:srgbClr val="21262D"/>
            </a:solidFill>
            <a:prstDash val="solid"/>
          </a:ln>
        </p:spPr>
        <p:txBody>
          <a:bodyPr/>
          <a:lstStyle/>
          <a:p>
            <a:endParaRPr lang="fr-FR"/>
          </a:p>
        </p:txBody>
      </p:sp>
      <p:sp>
        <p:nvSpPr>
          <p:cNvPr id="75" name="Shape 73"/>
          <p:cNvSpPr/>
          <p:nvPr/>
        </p:nvSpPr>
        <p:spPr>
          <a:xfrm>
            <a:off x="7059168" y="3703320"/>
            <a:ext cx="877824" cy="0"/>
          </a:xfrm>
          <a:prstGeom prst="line">
            <a:avLst/>
          </a:prstGeom>
          <a:noFill/>
          <a:ln w="10160">
            <a:solidFill>
              <a:srgbClr val="21262D"/>
            </a:solidFill>
            <a:prstDash val="solid"/>
          </a:ln>
        </p:spPr>
        <p:txBody>
          <a:bodyPr/>
          <a:lstStyle/>
          <a:p>
            <a:endParaRPr lang="fr-FR"/>
          </a:p>
        </p:txBody>
      </p:sp>
      <p:sp>
        <p:nvSpPr>
          <p:cNvPr id="76" name="Shape 74"/>
          <p:cNvSpPr/>
          <p:nvPr/>
        </p:nvSpPr>
        <p:spPr>
          <a:xfrm>
            <a:off x="7059168" y="3703320"/>
            <a:ext cx="877824" cy="0"/>
          </a:xfrm>
          <a:prstGeom prst="line">
            <a:avLst/>
          </a:prstGeom>
          <a:noFill/>
          <a:ln w="10160">
            <a:solidFill>
              <a:srgbClr val="21262D"/>
            </a:solidFill>
            <a:prstDash val="solid"/>
          </a:ln>
        </p:spPr>
        <p:txBody>
          <a:bodyPr/>
          <a:lstStyle/>
          <a:p>
            <a:endParaRPr lang="fr-FR"/>
          </a:p>
        </p:txBody>
      </p:sp>
      <p:sp>
        <p:nvSpPr>
          <p:cNvPr id="77" name="Text 75"/>
          <p:cNvSpPr/>
          <p:nvPr/>
        </p:nvSpPr>
        <p:spPr>
          <a:xfrm>
            <a:off x="4069080" y="4133088"/>
            <a:ext cx="4617720" cy="274320"/>
          </a:xfrm>
          <a:prstGeom prst="rect">
            <a:avLst/>
          </a:prstGeom>
          <a:noFill/>
          <a:ln/>
        </p:spPr>
        <p:txBody>
          <a:bodyPr wrap="square" lIns="0" tIns="0" rIns="0" bIns="0" rtlCol="0" anchor="ctr"/>
          <a:lstStyle/>
          <a:p>
            <a:pPr marL="0" indent="0" algn="ctr">
              <a:buNone/>
            </a:pPr>
            <a:r>
              <a:rPr lang="en-US" sz="1000" i="1" dirty="0">
                <a:solidFill>
                  <a:srgbClr val="E3B341"/>
                </a:solidFill>
              </a:rPr>
              <a:t>Stack layers to learn increasingly complex patterns!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0883E"/>
          </a:solidFill>
          <a:ln w="12700">
            <a:solidFill>
              <a:srgbClr val="F0883E"/>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Activation Functions</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F0883E"/>
                </a:solidFill>
              </a:rPr>
              <a:t>Without them, deep networks = useless</a:t>
            </a:r>
            <a:endParaRPr lang="en-US" sz="1200" dirty="0"/>
          </a:p>
        </p:txBody>
      </p:sp>
      <p:sp>
        <p:nvSpPr>
          <p:cNvPr id="5" name="Shape 3"/>
          <p:cNvSpPr/>
          <p:nvPr/>
        </p:nvSpPr>
        <p:spPr>
          <a:xfrm>
            <a:off x="320040" y="1024128"/>
            <a:ext cx="8503920" cy="0"/>
          </a:xfrm>
          <a:prstGeom prst="line">
            <a:avLst/>
          </a:prstGeom>
          <a:noFill/>
          <a:ln w="12700">
            <a:solidFill>
              <a:srgbClr val="F0883E"/>
            </a:solidFill>
            <a:prstDash val="solid"/>
          </a:ln>
        </p:spPr>
        <p:txBody>
          <a:bodyPr/>
          <a:lstStyle/>
          <a:p>
            <a:endParaRPr lang="fr-FR"/>
          </a:p>
        </p:txBody>
      </p:sp>
      <p:sp>
        <p:nvSpPr>
          <p:cNvPr id="6" name="Text 4"/>
          <p:cNvSpPr/>
          <p:nvPr/>
        </p:nvSpPr>
        <p:spPr>
          <a:xfrm>
            <a:off x="320040" y="1097280"/>
            <a:ext cx="8503920" cy="320040"/>
          </a:xfrm>
          <a:prstGeom prst="rect">
            <a:avLst/>
          </a:prstGeom>
          <a:noFill/>
          <a:ln/>
        </p:spPr>
        <p:txBody>
          <a:bodyPr wrap="square" lIns="0" tIns="0" rIns="0" bIns="0" rtlCol="0" anchor="ctr"/>
          <a:lstStyle/>
          <a:p>
            <a:pPr marL="0" indent="0">
              <a:buNone/>
            </a:pPr>
            <a:r>
              <a:rPr lang="en-US" sz="1100" i="1" dirty="0">
                <a:solidFill>
                  <a:srgbClr val="FF7B72"/>
                </a:solidFill>
              </a:rPr>
              <a:t>Without activations: Linear(Linear(x)) = Linear(x)  — stacking layers does NOTHING!</a:t>
            </a:r>
            <a:endParaRPr lang="en-US" sz="1100" dirty="0"/>
          </a:p>
        </p:txBody>
      </p:sp>
      <p:sp>
        <p:nvSpPr>
          <p:cNvPr id="7" name="Shape 5"/>
          <p:cNvSpPr/>
          <p:nvPr/>
        </p:nvSpPr>
        <p:spPr>
          <a:xfrm>
            <a:off x="274320" y="1554480"/>
            <a:ext cx="2011680" cy="3337560"/>
          </a:xfrm>
          <a:prstGeom prst="rect">
            <a:avLst/>
          </a:prstGeom>
          <a:solidFill>
            <a:srgbClr val="161B22"/>
          </a:solidFill>
          <a:ln w="1905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8" name="Shape 6"/>
          <p:cNvSpPr/>
          <p:nvPr/>
        </p:nvSpPr>
        <p:spPr>
          <a:xfrm>
            <a:off x="274320" y="1554480"/>
            <a:ext cx="2011680" cy="411480"/>
          </a:xfrm>
          <a:prstGeom prst="rect">
            <a:avLst/>
          </a:prstGeom>
          <a:solidFill>
            <a:srgbClr val="58A6FF"/>
          </a:solidFill>
          <a:ln w="12700">
            <a:solidFill>
              <a:srgbClr val="58A6FF"/>
            </a:solidFill>
            <a:prstDash val="solid"/>
          </a:ln>
        </p:spPr>
        <p:txBody>
          <a:bodyPr/>
          <a:lstStyle/>
          <a:p>
            <a:endParaRPr lang="fr-FR"/>
          </a:p>
        </p:txBody>
      </p:sp>
      <p:sp>
        <p:nvSpPr>
          <p:cNvPr id="9" name="Text 7"/>
          <p:cNvSpPr/>
          <p:nvPr/>
        </p:nvSpPr>
        <p:spPr>
          <a:xfrm>
            <a:off x="320040" y="1563624"/>
            <a:ext cx="1920240" cy="393192"/>
          </a:xfrm>
          <a:prstGeom prst="rect">
            <a:avLst/>
          </a:prstGeom>
          <a:noFill/>
          <a:ln/>
        </p:spPr>
        <p:txBody>
          <a:bodyPr wrap="square" lIns="0" tIns="0" rIns="0" bIns="0" rtlCol="0" anchor="ctr"/>
          <a:lstStyle/>
          <a:p>
            <a:pPr marL="0" indent="0" algn="ctr">
              <a:buNone/>
            </a:pPr>
            <a:r>
              <a:rPr lang="en-US" sz="1300" b="1" dirty="0">
                <a:solidFill>
                  <a:srgbClr val="F0F6FC"/>
                </a:solidFill>
              </a:rPr>
              <a:t>Sigmoid</a:t>
            </a:r>
            <a:endParaRPr lang="en-US" sz="1300" dirty="0"/>
          </a:p>
        </p:txBody>
      </p:sp>
      <p:sp>
        <p:nvSpPr>
          <p:cNvPr id="10" name="Text 8"/>
          <p:cNvSpPr/>
          <p:nvPr/>
        </p:nvSpPr>
        <p:spPr>
          <a:xfrm>
            <a:off x="347472" y="2029968"/>
            <a:ext cx="1874520" cy="457200"/>
          </a:xfrm>
          <a:prstGeom prst="rect">
            <a:avLst/>
          </a:prstGeom>
          <a:noFill/>
          <a:ln/>
        </p:spPr>
        <p:txBody>
          <a:bodyPr wrap="square" lIns="0" tIns="0" rIns="0" bIns="0" rtlCol="0" anchor="ctr"/>
          <a:lstStyle/>
          <a:p>
            <a:pPr marL="0" indent="0" algn="ctr">
              <a:buNone/>
            </a:pPr>
            <a:r>
              <a:rPr lang="en-US" sz="1100" b="1" dirty="0">
                <a:solidFill>
                  <a:srgbClr val="58A6FF"/>
                </a:solidFill>
              </a:rPr>
              <a:t>1 / (1 + e^-z)</a:t>
            </a:r>
            <a:endParaRPr lang="en-US" sz="1100" dirty="0"/>
          </a:p>
        </p:txBody>
      </p:sp>
      <p:sp>
        <p:nvSpPr>
          <p:cNvPr id="11" name="Text 9"/>
          <p:cNvSpPr/>
          <p:nvPr/>
        </p:nvSpPr>
        <p:spPr>
          <a:xfrm>
            <a:off x="365760" y="2514600"/>
            <a:ext cx="1828800" cy="256032"/>
          </a:xfrm>
          <a:prstGeom prst="rect">
            <a:avLst/>
          </a:prstGeom>
          <a:noFill/>
          <a:ln/>
        </p:spPr>
        <p:txBody>
          <a:bodyPr wrap="square" lIns="0" tIns="0" rIns="0" bIns="0" rtlCol="0" anchor="ctr"/>
          <a:lstStyle/>
          <a:p>
            <a:pPr marL="0" indent="0" algn="ctr">
              <a:buNone/>
            </a:pPr>
            <a:r>
              <a:rPr lang="en-US" sz="900" dirty="0">
                <a:solidFill>
                  <a:srgbClr val="8B949E"/>
                </a:solidFill>
              </a:rPr>
              <a:t>Range: [0, 1]</a:t>
            </a:r>
            <a:endParaRPr lang="en-US" sz="900" dirty="0"/>
          </a:p>
        </p:txBody>
      </p:sp>
      <p:sp>
        <p:nvSpPr>
          <p:cNvPr id="12" name="Text 10"/>
          <p:cNvSpPr/>
          <p:nvPr/>
        </p:nvSpPr>
        <p:spPr>
          <a:xfrm>
            <a:off x="365760" y="2788920"/>
            <a:ext cx="1828800" cy="411480"/>
          </a:xfrm>
          <a:prstGeom prst="rect">
            <a:avLst/>
          </a:prstGeom>
          <a:noFill/>
          <a:ln/>
        </p:spPr>
        <p:txBody>
          <a:bodyPr wrap="square" lIns="0" tIns="0" rIns="0" bIns="0" rtlCol="0" anchor="ctr"/>
          <a:lstStyle/>
          <a:p>
            <a:pPr marL="0" indent="0" algn="ctr">
              <a:buNone/>
            </a:pPr>
            <a:r>
              <a:rPr lang="en-US" sz="900" dirty="0">
                <a:solidFill>
                  <a:srgbClr val="F0F6FC"/>
                </a:solidFill>
              </a:rPr>
              <a:t>Use: Output layer</a:t>
            </a:r>
            <a:endParaRPr lang="en-US" sz="900" dirty="0"/>
          </a:p>
        </p:txBody>
      </p:sp>
      <p:sp>
        <p:nvSpPr>
          <p:cNvPr id="13" name="Shape 11"/>
          <p:cNvSpPr/>
          <p:nvPr/>
        </p:nvSpPr>
        <p:spPr>
          <a:xfrm>
            <a:off x="365760" y="3246120"/>
            <a:ext cx="1828800" cy="0"/>
          </a:xfrm>
          <a:prstGeom prst="line">
            <a:avLst/>
          </a:prstGeom>
          <a:noFill/>
          <a:ln w="12700">
            <a:solidFill>
              <a:srgbClr val="21262D"/>
            </a:solidFill>
            <a:prstDash val="solid"/>
          </a:ln>
        </p:spPr>
        <p:txBody>
          <a:bodyPr/>
          <a:lstStyle/>
          <a:p>
            <a:endParaRPr lang="fr-FR"/>
          </a:p>
        </p:txBody>
      </p:sp>
      <p:sp>
        <p:nvSpPr>
          <p:cNvPr id="14" name="Text 12"/>
          <p:cNvSpPr/>
          <p:nvPr/>
        </p:nvSpPr>
        <p:spPr>
          <a:xfrm>
            <a:off x="365760" y="3310128"/>
            <a:ext cx="1828800" cy="274320"/>
          </a:xfrm>
          <a:prstGeom prst="rect">
            <a:avLst/>
          </a:prstGeom>
          <a:noFill/>
          <a:ln/>
        </p:spPr>
        <p:txBody>
          <a:bodyPr wrap="square" lIns="0" tIns="0" rIns="0" bIns="0" rtlCol="0" anchor="ctr"/>
          <a:lstStyle/>
          <a:p>
            <a:pPr marL="0" indent="0">
              <a:buNone/>
            </a:pPr>
            <a:r>
              <a:rPr lang="en-US" sz="900" dirty="0">
                <a:solidFill>
                  <a:srgbClr val="3FB950"/>
                </a:solidFill>
              </a:rPr>
              <a:t>+ Output = probability</a:t>
            </a:r>
            <a:endParaRPr lang="en-US" sz="900" dirty="0"/>
          </a:p>
        </p:txBody>
      </p:sp>
      <p:sp>
        <p:nvSpPr>
          <p:cNvPr id="15" name="Text 13"/>
          <p:cNvSpPr/>
          <p:nvPr/>
        </p:nvSpPr>
        <p:spPr>
          <a:xfrm>
            <a:off x="365760" y="3611880"/>
            <a:ext cx="1828800" cy="274320"/>
          </a:xfrm>
          <a:prstGeom prst="rect">
            <a:avLst/>
          </a:prstGeom>
          <a:noFill/>
          <a:ln/>
        </p:spPr>
        <p:txBody>
          <a:bodyPr wrap="square" lIns="0" tIns="0" rIns="0" bIns="0" rtlCol="0" anchor="ctr"/>
          <a:lstStyle/>
          <a:p>
            <a:pPr marL="0" indent="0">
              <a:buNone/>
            </a:pPr>
            <a:r>
              <a:rPr lang="en-US" sz="900" dirty="0">
                <a:solidFill>
                  <a:srgbClr val="FF7B72"/>
                </a:solidFill>
              </a:rPr>
              <a:t>- Vanishing gradient</a:t>
            </a:r>
            <a:endParaRPr lang="en-US" sz="900" dirty="0"/>
          </a:p>
        </p:txBody>
      </p:sp>
      <p:sp>
        <p:nvSpPr>
          <p:cNvPr id="16" name="Shape 14"/>
          <p:cNvSpPr/>
          <p:nvPr/>
        </p:nvSpPr>
        <p:spPr>
          <a:xfrm>
            <a:off x="2487168" y="1554480"/>
            <a:ext cx="2011680" cy="3337560"/>
          </a:xfrm>
          <a:prstGeom prst="rect">
            <a:avLst/>
          </a:prstGeom>
          <a:solidFill>
            <a:srgbClr val="161B22"/>
          </a:solidFill>
          <a:ln w="1905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17" name="Shape 15"/>
          <p:cNvSpPr/>
          <p:nvPr/>
        </p:nvSpPr>
        <p:spPr>
          <a:xfrm>
            <a:off x="2487168" y="1554480"/>
            <a:ext cx="2011680" cy="411480"/>
          </a:xfrm>
          <a:prstGeom prst="rect">
            <a:avLst/>
          </a:prstGeom>
          <a:solidFill>
            <a:srgbClr val="BC8CFF"/>
          </a:solidFill>
          <a:ln w="12700">
            <a:solidFill>
              <a:srgbClr val="BC8CFF"/>
            </a:solidFill>
            <a:prstDash val="solid"/>
          </a:ln>
        </p:spPr>
        <p:txBody>
          <a:bodyPr/>
          <a:lstStyle/>
          <a:p>
            <a:endParaRPr lang="fr-FR"/>
          </a:p>
        </p:txBody>
      </p:sp>
      <p:sp>
        <p:nvSpPr>
          <p:cNvPr id="18" name="Text 16"/>
          <p:cNvSpPr/>
          <p:nvPr/>
        </p:nvSpPr>
        <p:spPr>
          <a:xfrm>
            <a:off x="2532888" y="1563624"/>
            <a:ext cx="1920240" cy="393192"/>
          </a:xfrm>
          <a:prstGeom prst="rect">
            <a:avLst/>
          </a:prstGeom>
          <a:noFill/>
          <a:ln/>
        </p:spPr>
        <p:txBody>
          <a:bodyPr wrap="square" lIns="0" tIns="0" rIns="0" bIns="0" rtlCol="0" anchor="ctr"/>
          <a:lstStyle/>
          <a:p>
            <a:pPr marL="0" indent="0" algn="ctr">
              <a:buNone/>
            </a:pPr>
            <a:r>
              <a:rPr lang="en-US" sz="1300" b="1" dirty="0">
                <a:solidFill>
                  <a:srgbClr val="F0F6FC"/>
                </a:solidFill>
              </a:rPr>
              <a:t>Tanh</a:t>
            </a:r>
            <a:endParaRPr lang="en-US" sz="1300" dirty="0"/>
          </a:p>
        </p:txBody>
      </p:sp>
      <p:sp>
        <p:nvSpPr>
          <p:cNvPr id="19" name="Text 17"/>
          <p:cNvSpPr/>
          <p:nvPr/>
        </p:nvSpPr>
        <p:spPr>
          <a:xfrm>
            <a:off x="2560320" y="2029968"/>
            <a:ext cx="1874520" cy="457200"/>
          </a:xfrm>
          <a:prstGeom prst="rect">
            <a:avLst/>
          </a:prstGeom>
          <a:noFill/>
          <a:ln/>
        </p:spPr>
        <p:txBody>
          <a:bodyPr wrap="square" lIns="0" tIns="0" rIns="0" bIns="0" rtlCol="0" anchor="ctr"/>
          <a:lstStyle/>
          <a:p>
            <a:pPr marL="0" indent="0" algn="ctr">
              <a:buNone/>
            </a:pPr>
            <a:r>
              <a:rPr lang="en-US" sz="1100" b="1" dirty="0">
                <a:solidFill>
                  <a:srgbClr val="BC8CFF"/>
                </a:solidFill>
              </a:rPr>
              <a:t>(e^z - e^-z)/(e^z + e^-z)</a:t>
            </a:r>
            <a:endParaRPr lang="en-US" sz="1100" dirty="0"/>
          </a:p>
        </p:txBody>
      </p:sp>
      <p:sp>
        <p:nvSpPr>
          <p:cNvPr id="20" name="Text 18"/>
          <p:cNvSpPr/>
          <p:nvPr/>
        </p:nvSpPr>
        <p:spPr>
          <a:xfrm>
            <a:off x="2578608" y="2514600"/>
            <a:ext cx="1828800" cy="256032"/>
          </a:xfrm>
          <a:prstGeom prst="rect">
            <a:avLst/>
          </a:prstGeom>
          <a:noFill/>
          <a:ln/>
        </p:spPr>
        <p:txBody>
          <a:bodyPr wrap="square" lIns="0" tIns="0" rIns="0" bIns="0" rtlCol="0" anchor="ctr"/>
          <a:lstStyle/>
          <a:p>
            <a:pPr marL="0" indent="0" algn="ctr">
              <a:buNone/>
            </a:pPr>
            <a:r>
              <a:rPr lang="en-US" sz="900" dirty="0">
                <a:solidFill>
                  <a:srgbClr val="8B949E"/>
                </a:solidFill>
              </a:rPr>
              <a:t>Range: [-1, 1]</a:t>
            </a:r>
            <a:endParaRPr lang="en-US" sz="900" dirty="0"/>
          </a:p>
        </p:txBody>
      </p:sp>
      <p:sp>
        <p:nvSpPr>
          <p:cNvPr id="21" name="Text 19"/>
          <p:cNvSpPr/>
          <p:nvPr/>
        </p:nvSpPr>
        <p:spPr>
          <a:xfrm>
            <a:off x="2578608" y="2788920"/>
            <a:ext cx="1828800" cy="411480"/>
          </a:xfrm>
          <a:prstGeom prst="rect">
            <a:avLst/>
          </a:prstGeom>
          <a:noFill/>
          <a:ln/>
        </p:spPr>
        <p:txBody>
          <a:bodyPr wrap="square" lIns="0" tIns="0" rIns="0" bIns="0" rtlCol="0" anchor="ctr"/>
          <a:lstStyle/>
          <a:p>
            <a:pPr marL="0" indent="0" algn="ctr">
              <a:buNone/>
            </a:pPr>
            <a:r>
              <a:rPr lang="en-US" sz="900" dirty="0">
                <a:solidFill>
                  <a:srgbClr val="F0F6FC"/>
                </a:solidFill>
              </a:rPr>
              <a:t>Use: RNNs</a:t>
            </a:r>
            <a:endParaRPr lang="en-US" sz="900" dirty="0"/>
          </a:p>
        </p:txBody>
      </p:sp>
      <p:sp>
        <p:nvSpPr>
          <p:cNvPr id="22" name="Shape 20"/>
          <p:cNvSpPr/>
          <p:nvPr/>
        </p:nvSpPr>
        <p:spPr>
          <a:xfrm>
            <a:off x="2578608" y="3246120"/>
            <a:ext cx="1828800" cy="0"/>
          </a:xfrm>
          <a:prstGeom prst="line">
            <a:avLst/>
          </a:prstGeom>
          <a:noFill/>
          <a:ln w="12700">
            <a:solidFill>
              <a:srgbClr val="21262D"/>
            </a:solidFill>
            <a:prstDash val="solid"/>
          </a:ln>
        </p:spPr>
        <p:txBody>
          <a:bodyPr/>
          <a:lstStyle/>
          <a:p>
            <a:endParaRPr lang="fr-FR"/>
          </a:p>
        </p:txBody>
      </p:sp>
      <p:sp>
        <p:nvSpPr>
          <p:cNvPr id="23" name="Text 21"/>
          <p:cNvSpPr/>
          <p:nvPr/>
        </p:nvSpPr>
        <p:spPr>
          <a:xfrm>
            <a:off x="2578608" y="3310128"/>
            <a:ext cx="1828800" cy="274320"/>
          </a:xfrm>
          <a:prstGeom prst="rect">
            <a:avLst/>
          </a:prstGeom>
          <a:noFill/>
          <a:ln/>
        </p:spPr>
        <p:txBody>
          <a:bodyPr wrap="square" lIns="0" tIns="0" rIns="0" bIns="0" rtlCol="0" anchor="ctr"/>
          <a:lstStyle/>
          <a:p>
            <a:pPr marL="0" indent="0">
              <a:buNone/>
            </a:pPr>
            <a:r>
              <a:rPr lang="en-US" sz="900" dirty="0">
                <a:solidFill>
                  <a:srgbClr val="3FB950"/>
                </a:solidFill>
              </a:rPr>
              <a:t>+ Zero-centered</a:t>
            </a:r>
            <a:endParaRPr lang="en-US" sz="900" dirty="0"/>
          </a:p>
        </p:txBody>
      </p:sp>
      <p:sp>
        <p:nvSpPr>
          <p:cNvPr id="24" name="Text 22"/>
          <p:cNvSpPr/>
          <p:nvPr/>
        </p:nvSpPr>
        <p:spPr>
          <a:xfrm>
            <a:off x="2578608" y="3611880"/>
            <a:ext cx="1828800" cy="274320"/>
          </a:xfrm>
          <a:prstGeom prst="rect">
            <a:avLst/>
          </a:prstGeom>
          <a:noFill/>
          <a:ln/>
        </p:spPr>
        <p:txBody>
          <a:bodyPr wrap="square" lIns="0" tIns="0" rIns="0" bIns="0" rtlCol="0" anchor="ctr"/>
          <a:lstStyle/>
          <a:p>
            <a:pPr marL="0" indent="0">
              <a:buNone/>
            </a:pPr>
            <a:r>
              <a:rPr lang="en-US" sz="900" dirty="0">
                <a:solidFill>
                  <a:srgbClr val="FF7B72"/>
                </a:solidFill>
              </a:rPr>
              <a:t>- Vanishing gradient</a:t>
            </a:r>
            <a:endParaRPr lang="en-US" sz="900" dirty="0"/>
          </a:p>
        </p:txBody>
      </p:sp>
      <p:sp>
        <p:nvSpPr>
          <p:cNvPr id="25" name="Shape 23"/>
          <p:cNvSpPr/>
          <p:nvPr/>
        </p:nvSpPr>
        <p:spPr>
          <a:xfrm>
            <a:off x="4700016" y="1554480"/>
            <a:ext cx="2011680" cy="3337560"/>
          </a:xfrm>
          <a:prstGeom prst="rect">
            <a:avLst/>
          </a:prstGeom>
          <a:solidFill>
            <a:srgbClr val="161B22"/>
          </a:solidFill>
          <a:ln w="19050">
            <a:solidFill>
              <a:srgbClr val="F0883E"/>
            </a:solidFill>
            <a:prstDash val="solid"/>
          </a:ln>
          <a:effectLst>
            <a:outerShdw blurRad="127000" dist="38100" dir="8100000" algn="bl" rotWithShape="0">
              <a:srgbClr val="000000">
                <a:alpha val="35000"/>
              </a:srgbClr>
            </a:outerShdw>
          </a:effectLst>
        </p:spPr>
        <p:txBody>
          <a:bodyPr/>
          <a:lstStyle/>
          <a:p>
            <a:endParaRPr lang="fr-FR"/>
          </a:p>
        </p:txBody>
      </p:sp>
      <p:sp>
        <p:nvSpPr>
          <p:cNvPr id="26" name="Shape 24"/>
          <p:cNvSpPr/>
          <p:nvPr/>
        </p:nvSpPr>
        <p:spPr>
          <a:xfrm>
            <a:off x="4700016" y="1554480"/>
            <a:ext cx="2011680" cy="411480"/>
          </a:xfrm>
          <a:prstGeom prst="rect">
            <a:avLst/>
          </a:prstGeom>
          <a:solidFill>
            <a:srgbClr val="F0883E"/>
          </a:solidFill>
          <a:ln w="12700">
            <a:solidFill>
              <a:srgbClr val="F0883E"/>
            </a:solidFill>
            <a:prstDash val="solid"/>
          </a:ln>
        </p:spPr>
        <p:txBody>
          <a:bodyPr/>
          <a:lstStyle/>
          <a:p>
            <a:endParaRPr lang="fr-FR"/>
          </a:p>
        </p:txBody>
      </p:sp>
      <p:sp>
        <p:nvSpPr>
          <p:cNvPr id="27" name="Text 25"/>
          <p:cNvSpPr/>
          <p:nvPr/>
        </p:nvSpPr>
        <p:spPr>
          <a:xfrm>
            <a:off x="4745736" y="1563624"/>
            <a:ext cx="1920240" cy="393192"/>
          </a:xfrm>
          <a:prstGeom prst="rect">
            <a:avLst/>
          </a:prstGeom>
          <a:noFill/>
          <a:ln/>
        </p:spPr>
        <p:txBody>
          <a:bodyPr wrap="square" lIns="0" tIns="0" rIns="0" bIns="0" rtlCol="0" anchor="ctr"/>
          <a:lstStyle/>
          <a:p>
            <a:pPr marL="0" indent="0" algn="ctr">
              <a:buNone/>
            </a:pPr>
            <a:r>
              <a:rPr lang="en-US" sz="1300" b="1" dirty="0">
                <a:solidFill>
                  <a:srgbClr val="F0F6FC"/>
                </a:solidFill>
              </a:rPr>
              <a:t>ReLU</a:t>
            </a:r>
            <a:endParaRPr lang="en-US" sz="1300" dirty="0"/>
          </a:p>
        </p:txBody>
      </p:sp>
      <p:sp>
        <p:nvSpPr>
          <p:cNvPr id="28" name="Text 26"/>
          <p:cNvSpPr/>
          <p:nvPr/>
        </p:nvSpPr>
        <p:spPr>
          <a:xfrm>
            <a:off x="4773168" y="2029968"/>
            <a:ext cx="1874520" cy="457200"/>
          </a:xfrm>
          <a:prstGeom prst="rect">
            <a:avLst/>
          </a:prstGeom>
          <a:noFill/>
          <a:ln/>
        </p:spPr>
        <p:txBody>
          <a:bodyPr wrap="square" lIns="0" tIns="0" rIns="0" bIns="0" rtlCol="0" anchor="ctr"/>
          <a:lstStyle/>
          <a:p>
            <a:pPr marL="0" indent="0" algn="ctr">
              <a:buNone/>
            </a:pPr>
            <a:r>
              <a:rPr lang="en-US" sz="1100" b="1" dirty="0">
                <a:solidFill>
                  <a:srgbClr val="F0883E"/>
                </a:solidFill>
              </a:rPr>
              <a:t>max(0, z)</a:t>
            </a:r>
            <a:endParaRPr lang="en-US" sz="1100" dirty="0"/>
          </a:p>
        </p:txBody>
      </p:sp>
      <p:sp>
        <p:nvSpPr>
          <p:cNvPr id="29" name="Text 27"/>
          <p:cNvSpPr/>
          <p:nvPr/>
        </p:nvSpPr>
        <p:spPr>
          <a:xfrm>
            <a:off x="4791456" y="2514600"/>
            <a:ext cx="1828800" cy="256032"/>
          </a:xfrm>
          <a:prstGeom prst="rect">
            <a:avLst/>
          </a:prstGeom>
          <a:noFill/>
          <a:ln/>
        </p:spPr>
        <p:txBody>
          <a:bodyPr wrap="square" lIns="0" tIns="0" rIns="0" bIns="0" rtlCol="0" anchor="ctr"/>
          <a:lstStyle/>
          <a:p>
            <a:pPr marL="0" indent="0" algn="ctr">
              <a:buNone/>
            </a:pPr>
            <a:r>
              <a:rPr lang="en-US" sz="900" dirty="0">
                <a:solidFill>
                  <a:srgbClr val="8B949E"/>
                </a:solidFill>
              </a:rPr>
              <a:t>Range: [0, inf)</a:t>
            </a:r>
            <a:endParaRPr lang="en-US" sz="900" dirty="0"/>
          </a:p>
        </p:txBody>
      </p:sp>
      <p:sp>
        <p:nvSpPr>
          <p:cNvPr id="30" name="Text 28"/>
          <p:cNvSpPr/>
          <p:nvPr/>
        </p:nvSpPr>
        <p:spPr>
          <a:xfrm>
            <a:off x="4791456" y="2788920"/>
            <a:ext cx="1828800" cy="411480"/>
          </a:xfrm>
          <a:prstGeom prst="rect">
            <a:avLst/>
          </a:prstGeom>
          <a:noFill/>
          <a:ln/>
        </p:spPr>
        <p:txBody>
          <a:bodyPr wrap="square" lIns="0" tIns="0" rIns="0" bIns="0" rtlCol="0" anchor="ctr"/>
          <a:lstStyle/>
          <a:p>
            <a:pPr marL="0" indent="0" algn="ctr">
              <a:buNone/>
            </a:pPr>
            <a:r>
              <a:rPr lang="en-US" sz="900" dirty="0">
                <a:solidFill>
                  <a:srgbClr val="F0F6FC"/>
                </a:solidFill>
              </a:rPr>
              <a:t>Use: Hidden layers (best!)</a:t>
            </a:r>
            <a:endParaRPr lang="en-US" sz="900" dirty="0"/>
          </a:p>
        </p:txBody>
      </p:sp>
      <p:sp>
        <p:nvSpPr>
          <p:cNvPr id="31" name="Shape 29"/>
          <p:cNvSpPr/>
          <p:nvPr/>
        </p:nvSpPr>
        <p:spPr>
          <a:xfrm>
            <a:off x="4791456" y="3246120"/>
            <a:ext cx="1828800" cy="0"/>
          </a:xfrm>
          <a:prstGeom prst="line">
            <a:avLst/>
          </a:prstGeom>
          <a:noFill/>
          <a:ln w="12700">
            <a:solidFill>
              <a:srgbClr val="21262D"/>
            </a:solidFill>
            <a:prstDash val="solid"/>
          </a:ln>
        </p:spPr>
        <p:txBody>
          <a:bodyPr/>
          <a:lstStyle/>
          <a:p>
            <a:endParaRPr lang="fr-FR"/>
          </a:p>
        </p:txBody>
      </p:sp>
      <p:sp>
        <p:nvSpPr>
          <p:cNvPr id="32" name="Text 30"/>
          <p:cNvSpPr/>
          <p:nvPr/>
        </p:nvSpPr>
        <p:spPr>
          <a:xfrm>
            <a:off x="4791456" y="3310128"/>
            <a:ext cx="1828800" cy="274320"/>
          </a:xfrm>
          <a:prstGeom prst="rect">
            <a:avLst/>
          </a:prstGeom>
          <a:noFill/>
          <a:ln/>
        </p:spPr>
        <p:txBody>
          <a:bodyPr wrap="square" lIns="0" tIns="0" rIns="0" bIns="0" rtlCol="0" anchor="ctr"/>
          <a:lstStyle/>
          <a:p>
            <a:pPr marL="0" indent="0">
              <a:buNone/>
            </a:pPr>
            <a:r>
              <a:rPr lang="en-US" sz="900" dirty="0">
                <a:solidFill>
                  <a:srgbClr val="3FB950"/>
                </a:solidFill>
              </a:rPr>
              <a:t>+ Fast, no vanishing grad</a:t>
            </a:r>
            <a:endParaRPr lang="en-US" sz="900" dirty="0"/>
          </a:p>
        </p:txBody>
      </p:sp>
      <p:sp>
        <p:nvSpPr>
          <p:cNvPr id="33" name="Text 31"/>
          <p:cNvSpPr/>
          <p:nvPr/>
        </p:nvSpPr>
        <p:spPr>
          <a:xfrm>
            <a:off x="4791456" y="3611880"/>
            <a:ext cx="1828800" cy="274320"/>
          </a:xfrm>
          <a:prstGeom prst="rect">
            <a:avLst/>
          </a:prstGeom>
          <a:noFill/>
          <a:ln/>
        </p:spPr>
        <p:txBody>
          <a:bodyPr wrap="square" lIns="0" tIns="0" rIns="0" bIns="0" rtlCol="0" anchor="ctr"/>
          <a:lstStyle/>
          <a:p>
            <a:pPr marL="0" indent="0">
              <a:buNone/>
            </a:pPr>
            <a:r>
              <a:rPr lang="en-US" sz="900" dirty="0">
                <a:solidFill>
                  <a:srgbClr val="FF7B72"/>
                </a:solidFill>
              </a:rPr>
              <a:t>- Dying ReLU problem</a:t>
            </a:r>
            <a:endParaRPr lang="en-US" sz="900" dirty="0"/>
          </a:p>
        </p:txBody>
      </p:sp>
      <p:sp>
        <p:nvSpPr>
          <p:cNvPr id="34" name="Shape 32"/>
          <p:cNvSpPr/>
          <p:nvPr/>
        </p:nvSpPr>
        <p:spPr>
          <a:xfrm>
            <a:off x="6912864" y="1554480"/>
            <a:ext cx="2011680" cy="3337560"/>
          </a:xfrm>
          <a:prstGeom prst="rect">
            <a:avLst/>
          </a:prstGeom>
          <a:solidFill>
            <a:srgbClr val="161B22"/>
          </a:solidFill>
          <a:ln w="19050">
            <a:solidFill>
              <a:srgbClr val="39D0B0"/>
            </a:solidFill>
            <a:prstDash val="solid"/>
          </a:ln>
          <a:effectLst>
            <a:outerShdw blurRad="127000" dist="38100" dir="8100000" algn="bl" rotWithShape="0">
              <a:srgbClr val="000000">
                <a:alpha val="35000"/>
              </a:srgbClr>
            </a:outerShdw>
          </a:effectLst>
        </p:spPr>
        <p:txBody>
          <a:bodyPr/>
          <a:lstStyle/>
          <a:p>
            <a:endParaRPr lang="fr-FR"/>
          </a:p>
        </p:txBody>
      </p:sp>
      <p:sp>
        <p:nvSpPr>
          <p:cNvPr id="35" name="Shape 33"/>
          <p:cNvSpPr/>
          <p:nvPr/>
        </p:nvSpPr>
        <p:spPr>
          <a:xfrm>
            <a:off x="6912864" y="1554480"/>
            <a:ext cx="2011680" cy="411480"/>
          </a:xfrm>
          <a:prstGeom prst="rect">
            <a:avLst/>
          </a:prstGeom>
          <a:solidFill>
            <a:srgbClr val="39D0B0"/>
          </a:solidFill>
          <a:ln w="12700">
            <a:solidFill>
              <a:srgbClr val="39D0B0"/>
            </a:solidFill>
            <a:prstDash val="solid"/>
          </a:ln>
        </p:spPr>
        <p:txBody>
          <a:bodyPr/>
          <a:lstStyle/>
          <a:p>
            <a:endParaRPr lang="fr-FR"/>
          </a:p>
        </p:txBody>
      </p:sp>
      <p:sp>
        <p:nvSpPr>
          <p:cNvPr id="36" name="Text 34"/>
          <p:cNvSpPr/>
          <p:nvPr/>
        </p:nvSpPr>
        <p:spPr>
          <a:xfrm>
            <a:off x="6958584" y="1563624"/>
            <a:ext cx="1920240" cy="393192"/>
          </a:xfrm>
          <a:prstGeom prst="rect">
            <a:avLst/>
          </a:prstGeom>
          <a:noFill/>
          <a:ln/>
        </p:spPr>
        <p:txBody>
          <a:bodyPr wrap="square" lIns="0" tIns="0" rIns="0" bIns="0" rtlCol="0" anchor="ctr"/>
          <a:lstStyle/>
          <a:p>
            <a:pPr marL="0" indent="0" algn="ctr">
              <a:buNone/>
            </a:pPr>
            <a:r>
              <a:rPr lang="en-US" sz="1300" b="1" dirty="0">
                <a:solidFill>
                  <a:srgbClr val="F0F6FC"/>
                </a:solidFill>
              </a:rPr>
              <a:t>Leaky ReLU</a:t>
            </a:r>
            <a:endParaRPr lang="en-US" sz="1300" dirty="0"/>
          </a:p>
        </p:txBody>
      </p:sp>
      <p:sp>
        <p:nvSpPr>
          <p:cNvPr id="37" name="Text 35"/>
          <p:cNvSpPr/>
          <p:nvPr/>
        </p:nvSpPr>
        <p:spPr>
          <a:xfrm>
            <a:off x="6986016" y="2029968"/>
            <a:ext cx="1874520" cy="457200"/>
          </a:xfrm>
          <a:prstGeom prst="rect">
            <a:avLst/>
          </a:prstGeom>
          <a:noFill/>
          <a:ln/>
        </p:spPr>
        <p:txBody>
          <a:bodyPr wrap="square" lIns="0" tIns="0" rIns="0" bIns="0" rtlCol="0" anchor="ctr"/>
          <a:lstStyle/>
          <a:p>
            <a:pPr marL="0" indent="0" algn="ctr">
              <a:buNone/>
            </a:pPr>
            <a:r>
              <a:rPr lang="en-US" sz="1100" b="1" dirty="0">
                <a:solidFill>
                  <a:srgbClr val="39D0B0"/>
                </a:solidFill>
              </a:rPr>
              <a:t>max(0.01z, z)</a:t>
            </a:r>
            <a:endParaRPr lang="en-US" sz="1100" dirty="0"/>
          </a:p>
        </p:txBody>
      </p:sp>
      <p:sp>
        <p:nvSpPr>
          <p:cNvPr id="38" name="Text 36"/>
          <p:cNvSpPr/>
          <p:nvPr/>
        </p:nvSpPr>
        <p:spPr>
          <a:xfrm>
            <a:off x="7004304" y="2514600"/>
            <a:ext cx="1828800" cy="256032"/>
          </a:xfrm>
          <a:prstGeom prst="rect">
            <a:avLst/>
          </a:prstGeom>
          <a:noFill/>
          <a:ln/>
        </p:spPr>
        <p:txBody>
          <a:bodyPr wrap="square" lIns="0" tIns="0" rIns="0" bIns="0" rtlCol="0" anchor="ctr"/>
          <a:lstStyle/>
          <a:p>
            <a:pPr marL="0" indent="0" algn="ctr">
              <a:buNone/>
            </a:pPr>
            <a:r>
              <a:rPr lang="en-US" sz="900" dirty="0">
                <a:solidFill>
                  <a:srgbClr val="8B949E"/>
                </a:solidFill>
              </a:rPr>
              <a:t>Range: (-inf, inf)</a:t>
            </a:r>
            <a:endParaRPr lang="en-US" sz="900" dirty="0"/>
          </a:p>
        </p:txBody>
      </p:sp>
      <p:sp>
        <p:nvSpPr>
          <p:cNvPr id="39" name="Text 37"/>
          <p:cNvSpPr/>
          <p:nvPr/>
        </p:nvSpPr>
        <p:spPr>
          <a:xfrm>
            <a:off x="7004304" y="2788920"/>
            <a:ext cx="1828800" cy="411480"/>
          </a:xfrm>
          <a:prstGeom prst="rect">
            <a:avLst/>
          </a:prstGeom>
          <a:noFill/>
          <a:ln/>
        </p:spPr>
        <p:txBody>
          <a:bodyPr wrap="square" lIns="0" tIns="0" rIns="0" bIns="0" rtlCol="0" anchor="ctr"/>
          <a:lstStyle/>
          <a:p>
            <a:pPr marL="0" indent="0" algn="ctr">
              <a:buNone/>
            </a:pPr>
            <a:r>
              <a:rPr lang="en-US" sz="900" dirty="0">
                <a:solidFill>
                  <a:srgbClr val="F0F6FC"/>
                </a:solidFill>
              </a:rPr>
              <a:t>Use: Hidden layers</a:t>
            </a:r>
            <a:endParaRPr lang="en-US" sz="900" dirty="0"/>
          </a:p>
        </p:txBody>
      </p:sp>
      <p:sp>
        <p:nvSpPr>
          <p:cNvPr id="40" name="Shape 38"/>
          <p:cNvSpPr/>
          <p:nvPr/>
        </p:nvSpPr>
        <p:spPr>
          <a:xfrm>
            <a:off x="7004304" y="3246120"/>
            <a:ext cx="1828800" cy="0"/>
          </a:xfrm>
          <a:prstGeom prst="line">
            <a:avLst/>
          </a:prstGeom>
          <a:noFill/>
          <a:ln w="12700">
            <a:solidFill>
              <a:srgbClr val="21262D"/>
            </a:solidFill>
            <a:prstDash val="solid"/>
          </a:ln>
        </p:spPr>
        <p:txBody>
          <a:bodyPr/>
          <a:lstStyle/>
          <a:p>
            <a:endParaRPr lang="fr-FR"/>
          </a:p>
        </p:txBody>
      </p:sp>
      <p:sp>
        <p:nvSpPr>
          <p:cNvPr id="41" name="Text 39"/>
          <p:cNvSpPr/>
          <p:nvPr/>
        </p:nvSpPr>
        <p:spPr>
          <a:xfrm>
            <a:off x="7004304" y="3310128"/>
            <a:ext cx="1828800" cy="274320"/>
          </a:xfrm>
          <a:prstGeom prst="rect">
            <a:avLst/>
          </a:prstGeom>
          <a:noFill/>
          <a:ln/>
        </p:spPr>
        <p:txBody>
          <a:bodyPr wrap="square" lIns="0" tIns="0" rIns="0" bIns="0" rtlCol="0" anchor="ctr"/>
          <a:lstStyle/>
          <a:p>
            <a:pPr marL="0" indent="0">
              <a:buNone/>
            </a:pPr>
            <a:r>
              <a:rPr lang="en-US" sz="900" dirty="0">
                <a:solidFill>
                  <a:srgbClr val="3FB950"/>
                </a:solidFill>
              </a:rPr>
              <a:t>+ Fixes dying ReLU</a:t>
            </a:r>
            <a:endParaRPr lang="en-US" sz="900" dirty="0"/>
          </a:p>
        </p:txBody>
      </p:sp>
      <p:sp>
        <p:nvSpPr>
          <p:cNvPr id="42" name="Text 40"/>
          <p:cNvSpPr/>
          <p:nvPr/>
        </p:nvSpPr>
        <p:spPr>
          <a:xfrm>
            <a:off x="7004304" y="3611880"/>
            <a:ext cx="1828800" cy="274320"/>
          </a:xfrm>
          <a:prstGeom prst="rect">
            <a:avLst/>
          </a:prstGeom>
          <a:noFill/>
          <a:ln/>
        </p:spPr>
        <p:txBody>
          <a:bodyPr wrap="square" lIns="0" tIns="0" rIns="0" bIns="0" rtlCol="0" anchor="ctr"/>
          <a:lstStyle/>
          <a:p>
            <a:pPr marL="0" indent="0">
              <a:buNone/>
            </a:pPr>
            <a:r>
              <a:rPr lang="en-US" sz="900" dirty="0">
                <a:solidFill>
                  <a:srgbClr val="FF7B72"/>
                </a:solidFill>
              </a:rPr>
              <a:t>- Extra hyperparameter</a:t>
            </a:r>
            <a:endParaRPr lang="en-US" sz="900" dirty="0"/>
          </a:p>
        </p:txBody>
      </p:sp>
      <p:sp>
        <p:nvSpPr>
          <p:cNvPr id="43" name="Text 41"/>
          <p:cNvSpPr/>
          <p:nvPr/>
        </p:nvSpPr>
        <p:spPr>
          <a:xfrm>
            <a:off x="320040" y="4754880"/>
            <a:ext cx="8503920" cy="256032"/>
          </a:xfrm>
          <a:prstGeom prst="rect">
            <a:avLst/>
          </a:prstGeom>
          <a:noFill/>
          <a:ln/>
        </p:spPr>
        <p:txBody>
          <a:bodyPr wrap="square" lIns="0" tIns="0" rIns="0" bIns="0" rtlCol="0" anchor="ctr"/>
          <a:lstStyle/>
          <a:p>
            <a:pPr marL="0" indent="0" algn="ctr">
              <a:buNone/>
            </a:pPr>
            <a:r>
              <a:rPr lang="en-US" sz="1100" i="1" dirty="0">
                <a:solidFill>
                  <a:srgbClr val="E3B341"/>
                </a:solidFill>
              </a:rPr>
              <a:t>Use ReLU for all hidden layers — it's fast and works great!</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BC8CFF"/>
          </a:solidFill>
          <a:ln w="12700">
            <a:solidFill>
              <a:srgbClr val="BC8CFF"/>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Backpropagation — How Neural Networks Learn</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BC8CFF"/>
                </a:solidFill>
              </a:rPr>
              <a:t>Chain rule + Gradient Descent</a:t>
            </a:r>
            <a:endParaRPr lang="en-US" sz="1200" dirty="0"/>
          </a:p>
        </p:txBody>
      </p:sp>
      <p:sp>
        <p:nvSpPr>
          <p:cNvPr id="5" name="Shape 3"/>
          <p:cNvSpPr/>
          <p:nvPr/>
        </p:nvSpPr>
        <p:spPr>
          <a:xfrm>
            <a:off x="320040" y="1024128"/>
            <a:ext cx="8503920" cy="0"/>
          </a:xfrm>
          <a:prstGeom prst="line">
            <a:avLst/>
          </a:prstGeom>
          <a:noFill/>
          <a:ln w="12700">
            <a:solidFill>
              <a:srgbClr val="BC8CFF"/>
            </a:solidFill>
            <a:prstDash val="solid"/>
          </a:ln>
        </p:spPr>
        <p:txBody>
          <a:bodyPr/>
          <a:lstStyle/>
          <a:p>
            <a:endParaRPr lang="fr-FR"/>
          </a:p>
        </p:txBody>
      </p:sp>
      <p:sp>
        <p:nvSpPr>
          <p:cNvPr id="6" name="Text 4"/>
          <p:cNvSpPr/>
          <p:nvPr/>
        </p:nvSpPr>
        <p:spPr>
          <a:xfrm>
            <a:off x="320040" y="1188720"/>
            <a:ext cx="4114800" cy="320040"/>
          </a:xfrm>
          <a:prstGeom prst="rect">
            <a:avLst/>
          </a:prstGeom>
          <a:noFill/>
          <a:ln/>
        </p:spPr>
        <p:txBody>
          <a:bodyPr wrap="square" lIns="0" tIns="0" rIns="0" bIns="0" rtlCol="0" anchor="ctr"/>
          <a:lstStyle/>
          <a:p>
            <a:pPr marL="0" indent="0">
              <a:buNone/>
            </a:pPr>
            <a:r>
              <a:rPr lang="en-US" sz="1300" b="1" dirty="0">
                <a:solidFill>
                  <a:srgbClr val="58A6FF"/>
                </a:solidFill>
              </a:rPr>
              <a:t>Forward Pass:</a:t>
            </a:r>
            <a:endParaRPr lang="en-US" sz="1300" dirty="0"/>
          </a:p>
        </p:txBody>
      </p:sp>
      <p:sp>
        <p:nvSpPr>
          <p:cNvPr id="7" name="Text 5"/>
          <p:cNvSpPr/>
          <p:nvPr/>
        </p:nvSpPr>
        <p:spPr>
          <a:xfrm>
            <a:off x="4754880" y="1188720"/>
            <a:ext cx="4114800" cy="320040"/>
          </a:xfrm>
          <a:prstGeom prst="rect">
            <a:avLst/>
          </a:prstGeom>
          <a:noFill/>
          <a:ln/>
        </p:spPr>
        <p:txBody>
          <a:bodyPr wrap="square" lIns="0" tIns="0" rIns="0" bIns="0" rtlCol="0" anchor="ctr"/>
          <a:lstStyle/>
          <a:p>
            <a:pPr marL="0" indent="0" algn="r">
              <a:buNone/>
            </a:pPr>
            <a:r>
              <a:rPr lang="en-US" sz="1300" b="1" dirty="0">
                <a:solidFill>
                  <a:srgbClr val="F0883E"/>
                </a:solidFill>
              </a:rPr>
              <a:t>Backward Pass:</a:t>
            </a:r>
            <a:endParaRPr lang="en-US" sz="1300" dirty="0"/>
          </a:p>
        </p:txBody>
      </p:sp>
      <p:sp>
        <p:nvSpPr>
          <p:cNvPr id="8" name="Shape 6"/>
          <p:cNvSpPr/>
          <p:nvPr/>
        </p:nvSpPr>
        <p:spPr>
          <a:xfrm>
            <a:off x="320040" y="1627632"/>
            <a:ext cx="1463040" cy="822960"/>
          </a:xfrm>
          <a:prstGeom prst="roundRect">
            <a:avLst>
              <a:gd name="adj" fmla="val 8889"/>
            </a:avLst>
          </a:prstGeom>
          <a:solidFill>
            <a:srgbClr val="161B22"/>
          </a:solidFill>
          <a:ln w="2540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9" name="Text 7"/>
          <p:cNvSpPr/>
          <p:nvPr/>
        </p:nvSpPr>
        <p:spPr>
          <a:xfrm>
            <a:off x="365760" y="1627632"/>
            <a:ext cx="1371600" cy="822960"/>
          </a:xfrm>
          <a:prstGeom prst="rect">
            <a:avLst/>
          </a:prstGeom>
          <a:noFill/>
          <a:ln/>
        </p:spPr>
        <p:txBody>
          <a:bodyPr wrap="square" lIns="0" tIns="0" rIns="0" bIns="0" rtlCol="0" anchor="ctr"/>
          <a:lstStyle/>
          <a:p>
            <a:pPr marL="0" indent="0" algn="ctr">
              <a:buNone/>
            </a:pPr>
            <a:r>
              <a:rPr lang="en-US" sz="1100" b="1" dirty="0">
                <a:solidFill>
                  <a:srgbClr val="58A6FF"/>
                </a:solidFill>
              </a:rPr>
              <a:t>Input X</a:t>
            </a:r>
            <a:endParaRPr lang="en-US" sz="1100" dirty="0"/>
          </a:p>
        </p:txBody>
      </p:sp>
      <p:sp>
        <p:nvSpPr>
          <p:cNvPr id="10" name="Shape 8"/>
          <p:cNvSpPr/>
          <p:nvPr/>
        </p:nvSpPr>
        <p:spPr>
          <a:xfrm>
            <a:off x="1783080" y="2039112"/>
            <a:ext cx="502920" cy="0"/>
          </a:xfrm>
          <a:prstGeom prst="line">
            <a:avLst/>
          </a:prstGeom>
          <a:noFill/>
          <a:ln w="25400">
            <a:solidFill>
              <a:srgbClr val="58A6FF"/>
            </a:solidFill>
            <a:prstDash val="solid"/>
            <a:tailEnd type="arrow"/>
          </a:ln>
        </p:spPr>
        <p:txBody>
          <a:bodyPr/>
          <a:lstStyle/>
          <a:p>
            <a:endParaRPr lang="fr-FR"/>
          </a:p>
        </p:txBody>
      </p:sp>
      <p:sp>
        <p:nvSpPr>
          <p:cNvPr id="11" name="Shape 9"/>
          <p:cNvSpPr/>
          <p:nvPr/>
        </p:nvSpPr>
        <p:spPr>
          <a:xfrm>
            <a:off x="1965960" y="1627632"/>
            <a:ext cx="1463040" cy="822960"/>
          </a:xfrm>
          <a:prstGeom prst="roundRect">
            <a:avLst>
              <a:gd name="adj" fmla="val 8889"/>
            </a:avLst>
          </a:prstGeom>
          <a:solidFill>
            <a:srgbClr val="161B22"/>
          </a:solidFill>
          <a:ln w="2540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12" name="Text 10"/>
          <p:cNvSpPr/>
          <p:nvPr/>
        </p:nvSpPr>
        <p:spPr>
          <a:xfrm>
            <a:off x="2011680" y="1627632"/>
            <a:ext cx="1371600" cy="822960"/>
          </a:xfrm>
          <a:prstGeom prst="rect">
            <a:avLst/>
          </a:prstGeom>
          <a:noFill/>
          <a:ln/>
        </p:spPr>
        <p:txBody>
          <a:bodyPr wrap="square" lIns="0" tIns="0" rIns="0" bIns="0" rtlCol="0" anchor="ctr"/>
          <a:lstStyle/>
          <a:p>
            <a:pPr marL="0" indent="0" algn="ctr">
              <a:buNone/>
            </a:pPr>
            <a:r>
              <a:rPr lang="en-US" sz="1100" b="1" dirty="0">
                <a:solidFill>
                  <a:srgbClr val="BC8CFF"/>
                </a:solidFill>
              </a:rPr>
              <a:t>Layer 1</a:t>
            </a:r>
            <a:endParaRPr lang="en-US" sz="1100" dirty="0"/>
          </a:p>
          <a:p>
            <a:pPr marL="0" indent="0" algn="ctr">
              <a:buNone/>
            </a:pPr>
            <a:r>
              <a:rPr lang="en-US" sz="1100" b="1" dirty="0">
                <a:solidFill>
                  <a:srgbClr val="BC8CFF"/>
                </a:solidFill>
              </a:rPr>
              <a:t>w1*x+b1</a:t>
            </a:r>
            <a:endParaRPr lang="en-US" sz="1100" dirty="0"/>
          </a:p>
        </p:txBody>
      </p:sp>
      <p:sp>
        <p:nvSpPr>
          <p:cNvPr id="13" name="Shape 11"/>
          <p:cNvSpPr/>
          <p:nvPr/>
        </p:nvSpPr>
        <p:spPr>
          <a:xfrm>
            <a:off x="3429000" y="2039112"/>
            <a:ext cx="502920" cy="0"/>
          </a:xfrm>
          <a:prstGeom prst="line">
            <a:avLst/>
          </a:prstGeom>
          <a:noFill/>
          <a:ln w="25400">
            <a:solidFill>
              <a:srgbClr val="58A6FF"/>
            </a:solidFill>
            <a:prstDash val="solid"/>
            <a:tailEnd type="arrow"/>
          </a:ln>
        </p:spPr>
        <p:txBody>
          <a:bodyPr/>
          <a:lstStyle/>
          <a:p>
            <a:endParaRPr lang="fr-FR"/>
          </a:p>
        </p:txBody>
      </p:sp>
      <p:sp>
        <p:nvSpPr>
          <p:cNvPr id="14" name="Shape 12"/>
          <p:cNvSpPr/>
          <p:nvPr/>
        </p:nvSpPr>
        <p:spPr>
          <a:xfrm>
            <a:off x="3611880" y="1627632"/>
            <a:ext cx="1463040" cy="822960"/>
          </a:xfrm>
          <a:prstGeom prst="roundRect">
            <a:avLst>
              <a:gd name="adj" fmla="val 8889"/>
            </a:avLst>
          </a:prstGeom>
          <a:solidFill>
            <a:srgbClr val="161B22"/>
          </a:solidFill>
          <a:ln w="2540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15" name="Text 13"/>
          <p:cNvSpPr/>
          <p:nvPr/>
        </p:nvSpPr>
        <p:spPr>
          <a:xfrm>
            <a:off x="3657600" y="1627632"/>
            <a:ext cx="1371600" cy="822960"/>
          </a:xfrm>
          <a:prstGeom prst="rect">
            <a:avLst/>
          </a:prstGeom>
          <a:noFill/>
          <a:ln/>
        </p:spPr>
        <p:txBody>
          <a:bodyPr wrap="square" lIns="0" tIns="0" rIns="0" bIns="0" rtlCol="0" anchor="ctr"/>
          <a:lstStyle/>
          <a:p>
            <a:pPr marL="0" indent="0" algn="ctr">
              <a:buNone/>
            </a:pPr>
            <a:r>
              <a:rPr lang="en-US" sz="1100" b="1" dirty="0">
                <a:solidFill>
                  <a:srgbClr val="BC8CFF"/>
                </a:solidFill>
              </a:rPr>
              <a:t>Layer 2</a:t>
            </a:r>
            <a:endParaRPr lang="en-US" sz="1100" dirty="0"/>
          </a:p>
          <a:p>
            <a:pPr marL="0" indent="0" algn="ctr">
              <a:buNone/>
            </a:pPr>
            <a:r>
              <a:rPr lang="en-US" sz="1100" b="1" dirty="0">
                <a:solidFill>
                  <a:srgbClr val="BC8CFF"/>
                </a:solidFill>
              </a:rPr>
              <a:t>w2*a+b2</a:t>
            </a:r>
            <a:endParaRPr lang="en-US" sz="1100" dirty="0"/>
          </a:p>
        </p:txBody>
      </p:sp>
      <p:sp>
        <p:nvSpPr>
          <p:cNvPr id="16" name="Shape 14"/>
          <p:cNvSpPr/>
          <p:nvPr/>
        </p:nvSpPr>
        <p:spPr>
          <a:xfrm>
            <a:off x="5074920" y="2039112"/>
            <a:ext cx="502920" cy="0"/>
          </a:xfrm>
          <a:prstGeom prst="line">
            <a:avLst/>
          </a:prstGeom>
          <a:noFill/>
          <a:ln w="25400">
            <a:solidFill>
              <a:srgbClr val="58A6FF"/>
            </a:solidFill>
            <a:prstDash val="solid"/>
            <a:tailEnd type="arrow"/>
          </a:ln>
        </p:spPr>
        <p:txBody>
          <a:bodyPr/>
          <a:lstStyle/>
          <a:p>
            <a:endParaRPr lang="fr-FR"/>
          </a:p>
        </p:txBody>
      </p:sp>
      <p:sp>
        <p:nvSpPr>
          <p:cNvPr id="17" name="Shape 15"/>
          <p:cNvSpPr/>
          <p:nvPr/>
        </p:nvSpPr>
        <p:spPr>
          <a:xfrm>
            <a:off x="5257800" y="1627632"/>
            <a:ext cx="1463040" cy="822960"/>
          </a:xfrm>
          <a:prstGeom prst="roundRect">
            <a:avLst>
              <a:gd name="adj" fmla="val 8889"/>
            </a:avLst>
          </a:prstGeom>
          <a:solidFill>
            <a:srgbClr val="161B22"/>
          </a:solidFill>
          <a:ln w="25400">
            <a:solidFill>
              <a:srgbClr val="FF7B72"/>
            </a:solidFill>
            <a:prstDash val="solid"/>
          </a:ln>
          <a:effectLst>
            <a:outerShdw blurRad="127000" dist="38100" dir="8100000" algn="bl" rotWithShape="0">
              <a:srgbClr val="000000">
                <a:alpha val="35000"/>
              </a:srgbClr>
            </a:outerShdw>
          </a:effectLst>
        </p:spPr>
        <p:txBody>
          <a:bodyPr/>
          <a:lstStyle/>
          <a:p>
            <a:endParaRPr lang="fr-FR"/>
          </a:p>
        </p:txBody>
      </p:sp>
      <p:sp>
        <p:nvSpPr>
          <p:cNvPr id="18" name="Text 16"/>
          <p:cNvSpPr/>
          <p:nvPr/>
        </p:nvSpPr>
        <p:spPr>
          <a:xfrm>
            <a:off x="5303520" y="1627632"/>
            <a:ext cx="1371600" cy="822960"/>
          </a:xfrm>
          <a:prstGeom prst="rect">
            <a:avLst/>
          </a:prstGeom>
          <a:noFill/>
          <a:ln/>
        </p:spPr>
        <p:txBody>
          <a:bodyPr wrap="square" lIns="0" tIns="0" rIns="0" bIns="0" rtlCol="0" anchor="ctr"/>
          <a:lstStyle/>
          <a:p>
            <a:pPr marL="0" indent="0" algn="ctr">
              <a:buNone/>
            </a:pPr>
            <a:r>
              <a:rPr lang="en-US" sz="1100" b="1" dirty="0">
                <a:solidFill>
                  <a:srgbClr val="FF7B72"/>
                </a:solidFill>
              </a:rPr>
              <a:t>Loss L(y, y_hat)</a:t>
            </a:r>
            <a:endParaRPr lang="en-US" sz="1100" dirty="0"/>
          </a:p>
        </p:txBody>
      </p:sp>
      <p:sp>
        <p:nvSpPr>
          <p:cNvPr id="19" name="Shape 17"/>
          <p:cNvSpPr/>
          <p:nvPr/>
        </p:nvSpPr>
        <p:spPr>
          <a:xfrm>
            <a:off x="6720840" y="2651760"/>
            <a:ext cx="0" cy="0"/>
          </a:xfrm>
          <a:prstGeom prst="line">
            <a:avLst/>
          </a:prstGeom>
          <a:noFill/>
          <a:ln w="25400">
            <a:solidFill>
              <a:srgbClr val="F0883E"/>
            </a:solidFill>
            <a:prstDash val="dash"/>
            <a:tailEnd type="arrow"/>
          </a:ln>
        </p:spPr>
        <p:txBody>
          <a:bodyPr/>
          <a:lstStyle/>
          <a:p>
            <a:endParaRPr lang="fr-FR"/>
          </a:p>
        </p:txBody>
      </p:sp>
      <p:sp>
        <p:nvSpPr>
          <p:cNvPr id="20" name="Text 18"/>
          <p:cNvSpPr/>
          <p:nvPr/>
        </p:nvSpPr>
        <p:spPr>
          <a:xfrm>
            <a:off x="3931920" y="2724912"/>
            <a:ext cx="1280160" cy="274320"/>
          </a:xfrm>
          <a:prstGeom prst="rect">
            <a:avLst/>
          </a:prstGeom>
          <a:noFill/>
          <a:ln/>
        </p:spPr>
        <p:txBody>
          <a:bodyPr wrap="square" lIns="0" tIns="0" rIns="0" bIns="0" rtlCol="0" anchor="ctr"/>
          <a:lstStyle/>
          <a:p>
            <a:pPr marL="0" indent="0" algn="ctr">
              <a:buNone/>
            </a:pPr>
            <a:r>
              <a:rPr lang="en-US" sz="1100" dirty="0">
                <a:solidFill>
                  <a:srgbClr val="F0883E"/>
                </a:solidFill>
              </a:rPr>
              <a:t>dL/dw2</a:t>
            </a:r>
            <a:endParaRPr lang="en-US" sz="1100" dirty="0"/>
          </a:p>
        </p:txBody>
      </p:sp>
      <p:sp>
        <p:nvSpPr>
          <p:cNvPr id="21" name="Text 19"/>
          <p:cNvSpPr/>
          <p:nvPr/>
        </p:nvSpPr>
        <p:spPr>
          <a:xfrm>
            <a:off x="2103120" y="2724912"/>
            <a:ext cx="1280160" cy="274320"/>
          </a:xfrm>
          <a:prstGeom prst="rect">
            <a:avLst/>
          </a:prstGeom>
          <a:noFill/>
          <a:ln/>
        </p:spPr>
        <p:txBody>
          <a:bodyPr wrap="square" lIns="0" tIns="0" rIns="0" bIns="0" rtlCol="0" anchor="ctr"/>
          <a:lstStyle/>
          <a:p>
            <a:pPr marL="0" indent="0" algn="ctr">
              <a:buNone/>
            </a:pPr>
            <a:r>
              <a:rPr lang="en-US" sz="1100" dirty="0">
                <a:solidFill>
                  <a:srgbClr val="F0883E"/>
                </a:solidFill>
              </a:rPr>
              <a:t>dL/dw1</a:t>
            </a:r>
            <a:endParaRPr lang="en-US" sz="1100" dirty="0"/>
          </a:p>
        </p:txBody>
      </p:sp>
      <p:sp>
        <p:nvSpPr>
          <p:cNvPr id="22" name="Shape 20"/>
          <p:cNvSpPr/>
          <p:nvPr/>
        </p:nvSpPr>
        <p:spPr>
          <a:xfrm>
            <a:off x="320040" y="3108960"/>
            <a:ext cx="4114800" cy="841248"/>
          </a:xfrm>
          <a:prstGeom prst="rect">
            <a:avLst/>
          </a:prstGeom>
          <a:solidFill>
            <a:srgbClr val="161B22"/>
          </a:solidFill>
          <a:ln w="1905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23" name="Shape 21"/>
          <p:cNvSpPr/>
          <p:nvPr/>
        </p:nvSpPr>
        <p:spPr>
          <a:xfrm>
            <a:off x="411480" y="3291840"/>
            <a:ext cx="457200" cy="457200"/>
          </a:xfrm>
          <a:prstGeom prst="ellipse">
            <a:avLst/>
          </a:prstGeom>
          <a:solidFill>
            <a:srgbClr val="58A6FF"/>
          </a:solidFill>
          <a:ln w="12700">
            <a:solidFill>
              <a:srgbClr val="58A6FF"/>
            </a:solidFill>
            <a:prstDash val="solid"/>
          </a:ln>
        </p:spPr>
        <p:txBody>
          <a:bodyPr/>
          <a:lstStyle/>
          <a:p>
            <a:endParaRPr lang="fr-FR"/>
          </a:p>
        </p:txBody>
      </p:sp>
      <p:sp>
        <p:nvSpPr>
          <p:cNvPr id="24" name="Text 22"/>
          <p:cNvSpPr/>
          <p:nvPr/>
        </p:nvSpPr>
        <p:spPr>
          <a:xfrm>
            <a:off x="411480" y="3291840"/>
            <a:ext cx="457200" cy="457200"/>
          </a:xfrm>
          <a:prstGeom prst="rect">
            <a:avLst/>
          </a:prstGeom>
          <a:noFill/>
          <a:ln/>
        </p:spPr>
        <p:txBody>
          <a:bodyPr wrap="square" lIns="0" tIns="0" rIns="0" bIns="0" rtlCol="0" anchor="ctr"/>
          <a:lstStyle/>
          <a:p>
            <a:pPr marL="0" indent="0" algn="ctr">
              <a:buNone/>
            </a:pPr>
            <a:r>
              <a:rPr lang="en-US" sz="1400" b="1" dirty="0">
                <a:solidFill>
                  <a:srgbClr val="F0F6FC"/>
                </a:solidFill>
              </a:rPr>
              <a:t>1</a:t>
            </a:r>
            <a:endParaRPr lang="en-US" sz="1400" dirty="0"/>
          </a:p>
        </p:txBody>
      </p:sp>
      <p:sp>
        <p:nvSpPr>
          <p:cNvPr id="25" name="Text 23"/>
          <p:cNvSpPr/>
          <p:nvPr/>
        </p:nvSpPr>
        <p:spPr>
          <a:xfrm>
            <a:off x="960120" y="3163824"/>
            <a:ext cx="3383280" cy="320040"/>
          </a:xfrm>
          <a:prstGeom prst="rect">
            <a:avLst/>
          </a:prstGeom>
          <a:noFill/>
          <a:ln/>
        </p:spPr>
        <p:txBody>
          <a:bodyPr wrap="square" lIns="0" tIns="0" rIns="0" bIns="0" rtlCol="0" anchor="ctr"/>
          <a:lstStyle/>
          <a:p>
            <a:pPr marL="0" indent="0">
              <a:buNone/>
            </a:pPr>
            <a:r>
              <a:rPr lang="en-US" sz="1200" b="1" dirty="0">
                <a:solidFill>
                  <a:srgbClr val="58A6FF"/>
                </a:solidFill>
              </a:rPr>
              <a:t>Forward Pass</a:t>
            </a:r>
            <a:endParaRPr lang="en-US" sz="1200" dirty="0"/>
          </a:p>
        </p:txBody>
      </p:sp>
      <p:sp>
        <p:nvSpPr>
          <p:cNvPr id="26" name="Text 24"/>
          <p:cNvSpPr/>
          <p:nvPr/>
        </p:nvSpPr>
        <p:spPr>
          <a:xfrm>
            <a:off x="960120" y="3511296"/>
            <a:ext cx="3383280" cy="320040"/>
          </a:xfrm>
          <a:prstGeom prst="rect">
            <a:avLst/>
          </a:prstGeom>
          <a:noFill/>
          <a:ln/>
        </p:spPr>
        <p:txBody>
          <a:bodyPr wrap="square" lIns="0" tIns="0" rIns="0" bIns="0" rtlCol="0" anchor="ctr"/>
          <a:lstStyle/>
          <a:p>
            <a:pPr marL="0" indent="0">
              <a:buNone/>
            </a:pPr>
            <a:r>
              <a:rPr lang="en-US" sz="1000" dirty="0">
                <a:solidFill>
                  <a:srgbClr val="8B949E"/>
                </a:solidFill>
              </a:rPr>
              <a:t>Compute prediction y_hat = f(X, W)</a:t>
            </a:r>
            <a:endParaRPr lang="en-US" sz="1000" dirty="0"/>
          </a:p>
        </p:txBody>
      </p:sp>
      <p:sp>
        <p:nvSpPr>
          <p:cNvPr id="27" name="Shape 25"/>
          <p:cNvSpPr/>
          <p:nvPr/>
        </p:nvSpPr>
        <p:spPr>
          <a:xfrm>
            <a:off x="4754880" y="3108960"/>
            <a:ext cx="4114800" cy="841248"/>
          </a:xfrm>
          <a:prstGeom prst="rect">
            <a:avLst/>
          </a:prstGeom>
          <a:solidFill>
            <a:srgbClr val="161B22"/>
          </a:solidFill>
          <a:ln w="19050">
            <a:solidFill>
              <a:srgbClr val="FF7B72"/>
            </a:solidFill>
            <a:prstDash val="solid"/>
          </a:ln>
          <a:effectLst>
            <a:outerShdw blurRad="127000" dist="38100" dir="8100000" algn="bl" rotWithShape="0">
              <a:srgbClr val="000000">
                <a:alpha val="35000"/>
              </a:srgbClr>
            </a:outerShdw>
          </a:effectLst>
        </p:spPr>
        <p:txBody>
          <a:bodyPr/>
          <a:lstStyle/>
          <a:p>
            <a:endParaRPr lang="fr-FR"/>
          </a:p>
        </p:txBody>
      </p:sp>
      <p:sp>
        <p:nvSpPr>
          <p:cNvPr id="28" name="Shape 26"/>
          <p:cNvSpPr/>
          <p:nvPr/>
        </p:nvSpPr>
        <p:spPr>
          <a:xfrm>
            <a:off x="4846320" y="3291840"/>
            <a:ext cx="457200" cy="457200"/>
          </a:xfrm>
          <a:prstGeom prst="ellipse">
            <a:avLst/>
          </a:prstGeom>
          <a:solidFill>
            <a:srgbClr val="FF7B72"/>
          </a:solidFill>
          <a:ln w="12700">
            <a:solidFill>
              <a:srgbClr val="FF7B72"/>
            </a:solidFill>
            <a:prstDash val="solid"/>
          </a:ln>
        </p:spPr>
        <p:txBody>
          <a:bodyPr/>
          <a:lstStyle/>
          <a:p>
            <a:endParaRPr lang="fr-FR"/>
          </a:p>
        </p:txBody>
      </p:sp>
      <p:sp>
        <p:nvSpPr>
          <p:cNvPr id="29" name="Text 27"/>
          <p:cNvSpPr/>
          <p:nvPr/>
        </p:nvSpPr>
        <p:spPr>
          <a:xfrm>
            <a:off x="4846320" y="3291840"/>
            <a:ext cx="457200" cy="457200"/>
          </a:xfrm>
          <a:prstGeom prst="rect">
            <a:avLst/>
          </a:prstGeom>
          <a:noFill/>
          <a:ln/>
        </p:spPr>
        <p:txBody>
          <a:bodyPr wrap="square" lIns="0" tIns="0" rIns="0" bIns="0" rtlCol="0" anchor="ctr"/>
          <a:lstStyle/>
          <a:p>
            <a:pPr marL="0" indent="0" algn="ctr">
              <a:buNone/>
            </a:pPr>
            <a:r>
              <a:rPr lang="en-US" sz="1400" b="1" dirty="0">
                <a:solidFill>
                  <a:srgbClr val="F0F6FC"/>
                </a:solidFill>
              </a:rPr>
              <a:t>2</a:t>
            </a:r>
            <a:endParaRPr lang="en-US" sz="1400" dirty="0"/>
          </a:p>
        </p:txBody>
      </p:sp>
      <p:sp>
        <p:nvSpPr>
          <p:cNvPr id="30" name="Text 28"/>
          <p:cNvSpPr/>
          <p:nvPr/>
        </p:nvSpPr>
        <p:spPr>
          <a:xfrm>
            <a:off x="5394960" y="3163824"/>
            <a:ext cx="3383280" cy="320040"/>
          </a:xfrm>
          <a:prstGeom prst="rect">
            <a:avLst/>
          </a:prstGeom>
          <a:noFill/>
          <a:ln/>
        </p:spPr>
        <p:txBody>
          <a:bodyPr wrap="square" lIns="0" tIns="0" rIns="0" bIns="0" rtlCol="0" anchor="ctr"/>
          <a:lstStyle/>
          <a:p>
            <a:pPr marL="0" indent="0">
              <a:buNone/>
            </a:pPr>
            <a:r>
              <a:rPr lang="en-US" sz="1200" b="1" dirty="0">
                <a:solidFill>
                  <a:srgbClr val="FF7B72"/>
                </a:solidFill>
              </a:rPr>
              <a:t>Compute Loss</a:t>
            </a:r>
            <a:endParaRPr lang="en-US" sz="1200" dirty="0"/>
          </a:p>
        </p:txBody>
      </p:sp>
      <p:sp>
        <p:nvSpPr>
          <p:cNvPr id="31" name="Text 29"/>
          <p:cNvSpPr/>
          <p:nvPr/>
        </p:nvSpPr>
        <p:spPr>
          <a:xfrm>
            <a:off x="5394960" y="3511296"/>
            <a:ext cx="3383280" cy="320040"/>
          </a:xfrm>
          <a:prstGeom prst="rect">
            <a:avLst/>
          </a:prstGeom>
          <a:noFill/>
          <a:ln/>
        </p:spPr>
        <p:txBody>
          <a:bodyPr wrap="square" lIns="0" tIns="0" rIns="0" bIns="0" rtlCol="0" anchor="ctr"/>
          <a:lstStyle/>
          <a:p>
            <a:pPr marL="0" indent="0">
              <a:buNone/>
            </a:pPr>
            <a:r>
              <a:rPr lang="en-US" sz="1000" dirty="0">
                <a:solidFill>
                  <a:srgbClr val="8B949E"/>
                </a:solidFill>
              </a:rPr>
              <a:t>L = CrossEntropy(y, y_hat)</a:t>
            </a:r>
            <a:endParaRPr lang="en-US" sz="1000" dirty="0"/>
          </a:p>
        </p:txBody>
      </p:sp>
      <p:sp>
        <p:nvSpPr>
          <p:cNvPr id="32" name="Shape 30"/>
          <p:cNvSpPr/>
          <p:nvPr/>
        </p:nvSpPr>
        <p:spPr>
          <a:xfrm>
            <a:off x="320040" y="4069080"/>
            <a:ext cx="4114800" cy="841248"/>
          </a:xfrm>
          <a:prstGeom prst="rect">
            <a:avLst/>
          </a:prstGeom>
          <a:solidFill>
            <a:srgbClr val="161B22"/>
          </a:solidFill>
          <a:ln w="19050">
            <a:solidFill>
              <a:srgbClr val="F0883E"/>
            </a:solidFill>
            <a:prstDash val="solid"/>
          </a:ln>
          <a:effectLst>
            <a:outerShdw blurRad="127000" dist="38100" dir="8100000" algn="bl" rotWithShape="0">
              <a:srgbClr val="000000">
                <a:alpha val="35000"/>
              </a:srgbClr>
            </a:outerShdw>
          </a:effectLst>
        </p:spPr>
        <p:txBody>
          <a:bodyPr/>
          <a:lstStyle/>
          <a:p>
            <a:endParaRPr lang="fr-FR"/>
          </a:p>
        </p:txBody>
      </p:sp>
      <p:sp>
        <p:nvSpPr>
          <p:cNvPr id="33" name="Shape 31"/>
          <p:cNvSpPr/>
          <p:nvPr/>
        </p:nvSpPr>
        <p:spPr>
          <a:xfrm>
            <a:off x="411480" y="4251960"/>
            <a:ext cx="457200" cy="457200"/>
          </a:xfrm>
          <a:prstGeom prst="ellipse">
            <a:avLst/>
          </a:prstGeom>
          <a:solidFill>
            <a:srgbClr val="F0883E"/>
          </a:solidFill>
          <a:ln w="12700">
            <a:solidFill>
              <a:srgbClr val="F0883E"/>
            </a:solidFill>
            <a:prstDash val="solid"/>
          </a:ln>
        </p:spPr>
        <p:txBody>
          <a:bodyPr/>
          <a:lstStyle/>
          <a:p>
            <a:endParaRPr lang="fr-FR"/>
          </a:p>
        </p:txBody>
      </p:sp>
      <p:sp>
        <p:nvSpPr>
          <p:cNvPr id="34" name="Text 32"/>
          <p:cNvSpPr/>
          <p:nvPr/>
        </p:nvSpPr>
        <p:spPr>
          <a:xfrm>
            <a:off x="411480" y="4251960"/>
            <a:ext cx="457200" cy="457200"/>
          </a:xfrm>
          <a:prstGeom prst="rect">
            <a:avLst/>
          </a:prstGeom>
          <a:noFill/>
          <a:ln/>
        </p:spPr>
        <p:txBody>
          <a:bodyPr wrap="square" lIns="0" tIns="0" rIns="0" bIns="0" rtlCol="0" anchor="ctr"/>
          <a:lstStyle/>
          <a:p>
            <a:pPr marL="0" indent="0" algn="ctr">
              <a:buNone/>
            </a:pPr>
            <a:r>
              <a:rPr lang="en-US" sz="1400" b="1" dirty="0">
                <a:solidFill>
                  <a:srgbClr val="F0F6FC"/>
                </a:solidFill>
              </a:rPr>
              <a:t>3</a:t>
            </a:r>
            <a:endParaRPr lang="en-US" sz="1400" dirty="0"/>
          </a:p>
        </p:txBody>
      </p:sp>
      <p:sp>
        <p:nvSpPr>
          <p:cNvPr id="35" name="Text 33"/>
          <p:cNvSpPr/>
          <p:nvPr/>
        </p:nvSpPr>
        <p:spPr>
          <a:xfrm>
            <a:off x="960120" y="4123944"/>
            <a:ext cx="3383280" cy="320040"/>
          </a:xfrm>
          <a:prstGeom prst="rect">
            <a:avLst/>
          </a:prstGeom>
          <a:noFill/>
          <a:ln/>
        </p:spPr>
        <p:txBody>
          <a:bodyPr wrap="square" lIns="0" tIns="0" rIns="0" bIns="0" rtlCol="0" anchor="ctr"/>
          <a:lstStyle/>
          <a:p>
            <a:pPr marL="0" indent="0">
              <a:buNone/>
            </a:pPr>
            <a:r>
              <a:rPr lang="en-US" sz="1200" b="1" dirty="0">
                <a:solidFill>
                  <a:srgbClr val="F0883E"/>
                </a:solidFill>
              </a:rPr>
              <a:t>Backward Pass</a:t>
            </a:r>
            <a:endParaRPr lang="en-US" sz="1200" dirty="0"/>
          </a:p>
        </p:txBody>
      </p:sp>
      <p:sp>
        <p:nvSpPr>
          <p:cNvPr id="36" name="Text 34"/>
          <p:cNvSpPr/>
          <p:nvPr/>
        </p:nvSpPr>
        <p:spPr>
          <a:xfrm>
            <a:off x="960120" y="4471416"/>
            <a:ext cx="3383280" cy="320040"/>
          </a:xfrm>
          <a:prstGeom prst="rect">
            <a:avLst/>
          </a:prstGeom>
          <a:noFill/>
          <a:ln/>
        </p:spPr>
        <p:txBody>
          <a:bodyPr wrap="square" lIns="0" tIns="0" rIns="0" bIns="0" rtlCol="0" anchor="ctr"/>
          <a:lstStyle/>
          <a:p>
            <a:pPr marL="0" indent="0">
              <a:buNone/>
            </a:pPr>
            <a:r>
              <a:rPr lang="en-US" sz="1000" dirty="0">
                <a:solidFill>
                  <a:srgbClr val="8B949E"/>
                </a:solidFill>
              </a:rPr>
              <a:t>Chain rule: compute dL/dw for each weight</a:t>
            </a:r>
            <a:endParaRPr lang="en-US" sz="1000" dirty="0"/>
          </a:p>
        </p:txBody>
      </p:sp>
      <p:sp>
        <p:nvSpPr>
          <p:cNvPr id="37" name="Shape 35"/>
          <p:cNvSpPr/>
          <p:nvPr/>
        </p:nvSpPr>
        <p:spPr>
          <a:xfrm>
            <a:off x="4754880" y="4069080"/>
            <a:ext cx="4114800" cy="841248"/>
          </a:xfrm>
          <a:prstGeom prst="rect">
            <a:avLst/>
          </a:prstGeom>
          <a:solidFill>
            <a:srgbClr val="161B22"/>
          </a:solidFill>
          <a:ln w="1905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38" name="Shape 36"/>
          <p:cNvSpPr/>
          <p:nvPr/>
        </p:nvSpPr>
        <p:spPr>
          <a:xfrm>
            <a:off x="4846320" y="4251960"/>
            <a:ext cx="457200" cy="457200"/>
          </a:xfrm>
          <a:prstGeom prst="ellipse">
            <a:avLst/>
          </a:prstGeom>
          <a:solidFill>
            <a:srgbClr val="3FB950"/>
          </a:solidFill>
          <a:ln w="12700">
            <a:solidFill>
              <a:srgbClr val="3FB950"/>
            </a:solidFill>
            <a:prstDash val="solid"/>
          </a:ln>
        </p:spPr>
        <p:txBody>
          <a:bodyPr/>
          <a:lstStyle/>
          <a:p>
            <a:endParaRPr lang="fr-FR"/>
          </a:p>
        </p:txBody>
      </p:sp>
      <p:sp>
        <p:nvSpPr>
          <p:cNvPr id="39" name="Text 37"/>
          <p:cNvSpPr/>
          <p:nvPr/>
        </p:nvSpPr>
        <p:spPr>
          <a:xfrm>
            <a:off x="4846320" y="4251960"/>
            <a:ext cx="457200" cy="457200"/>
          </a:xfrm>
          <a:prstGeom prst="rect">
            <a:avLst/>
          </a:prstGeom>
          <a:noFill/>
          <a:ln/>
        </p:spPr>
        <p:txBody>
          <a:bodyPr wrap="square" lIns="0" tIns="0" rIns="0" bIns="0" rtlCol="0" anchor="ctr"/>
          <a:lstStyle/>
          <a:p>
            <a:pPr marL="0" indent="0" algn="ctr">
              <a:buNone/>
            </a:pPr>
            <a:r>
              <a:rPr lang="en-US" sz="1400" b="1" dirty="0">
                <a:solidFill>
                  <a:srgbClr val="F0F6FC"/>
                </a:solidFill>
              </a:rPr>
              <a:t>4</a:t>
            </a:r>
            <a:endParaRPr lang="en-US" sz="1400" dirty="0"/>
          </a:p>
        </p:txBody>
      </p:sp>
      <p:sp>
        <p:nvSpPr>
          <p:cNvPr id="40" name="Text 38"/>
          <p:cNvSpPr/>
          <p:nvPr/>
        </p:nvSpPr>
        <p:spPr>
          <a:xfrm>
            <a:off x="5394960" y="4123944"/>
            <a:ext cx="3383280" cy="320040"/>
          </a:xfrm>
          <a:prstGeom prst="rect">
            <a:avLst/>
          </a:prstGeom>
          <a:noFill/>
          <a:ln/>
        </p:spPr>
        <p:txBody>
          <a:bodyPr wrap="square" lIns="0" tIns="0" rIns="0" bIns="0" rtlCol="0" anchor="ctr"/>
          <a:lstStyle/>
          <a:p>
            <a:pPr marL="0" indent="0">
              <a:buNone/>
            </a:pPr>
            <a:r>
              <a:rPr lang="en-US" sz="1200" b="1" dirty="0">
                <a:solidFill>
                  <a:srgbClr val="3FB950"/>
                </a:solidFill>
              </a:rPr>
              <a:t>Update Weights</a:t>
            </a:r>
            <a:endParaRPr lang="en-US" sz="1200" dirty="0"/>
          </a:p>
        </p:txBody>
      </p:sp>
      <p:sp>
        <p:nvSpPr>
          <p:cNvPr id="41" name="Text 39"/>
          <p:cNvSpPr/>
          <p:nvPr/>
        </p:nvSpPr>
        <p:spPr>
          <a:xfrm>
            <a:off x="5394960" y="4471416"/>
            <a:ext cx="3383280" cy="320040"/>
          </a:xfrm>
          <a:prstGeom prst="rect">
            <a:avLst/>
          </a:prstGeom>
          <a:noFill/>
          <a:ln/>
        </p:spPr>
        <p:txBody>
          <a:bodyPr wrap="square" lIns="0" tIns="0" rIns="0" bIns="0" rtlCol="0" anchor="ctr"/>
          <a:lstStyle/>
          <a:p>
            <a:pPr marL="0" indent="0">
              <a:buNone/>
            </a:pPr>
            <a:r>
              <a:rPr lang="en-US" sz="1000" dirty="0">
                <a:solidFill>
                  <a:srgbClr val="8B949E"/>
                </a:solidFill>
              </a:rPr>
              <a:t>w = w - alpha * dL/dw  (gradient descent)</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1B22"/>
          </a:solidFill>
          <a:ln w="12700">
            <a:solidFill>
              <a:srgbClr val="161B22"/>
            </a:solidFill>
            <a:prstDash val="solid"/>
          </a:ln>
        </p:spPr>
        <p:txBody>
          <a:bodyPr/>
          <a:lstStyle/>
          <a:p>
            <a:endParaRPr lang="fr-FR"/>
          </a:p>
        </p:txBody>
      </p:sp>
      <p:sp>
        <p:nvSpPr>
          <p:cNvPr id="3" name="Shape 1"/>
          <p:cNvSpPr/>
          <p:nvPr/>
        </p:nvSpPr>
        <p:spPr>
          <a:xfrm>
            <a:off x="0" y="0"/>
            <a:ext cx="457200" cy="5143500"/>
          </a:xfrm>
          <a:prstGeom prst="rect">
            <a:avLst/>
          </a:prstGeom>
          <a:solidFill>
            <a:srgbClr val="58A6FF"/>
          </a:solidFill>
          <a:ln w="12700">
            <a:solidFill>
              <a:srgbClr val="58A6FF"/>
            </a:solidFill>
            <a:prstDash val="solid"/>
          </a:ln>
        </p:spPr>
        <p:txBody>
          <a:bodyPr/>
          <a:lstStyle/>
          <a:p>
            <a:endParaRPr lang="fr-FR"/>
          </a:p>
        </p:txBody>
      </p:sp>
      <p:sp>
        <p:nvSpPr>
          <p:cNvPr id="4" name="Shape 2"/>
          <p:cNvSpPr/>
          <p:nvPr/>
        </p:nvSpPr>
        <p:spPr>
          <a:xfrm>
            <a:off x="6858000" y="1097280"/>
            <a:ext cx="1828800" cy="2926080"/>
          </a:xfrm>
          <a:prstGeom prst="rect">
            <a:avLst/>
          </a:prstGeom>
          <a:solidFill>
            <a:srgbClr val="21262D"/>
          </a:solidFill>
          <a:ln w="12700">
            <a:solidFill>
              <a:srgbClr val="21262D"/>
            </a:solidFill>
            <a:prstDash val="solid"/>
          </a:ln>
        </p:spPr>
        <p:txBody>
          <a:bodyPr/>
          <a:lstStyle/>
          <a:p>
            <a:endParaRPr lang="fr-FR"/>
          </a:p>
        </p:txBody>
      </p:sp>
      <p:sp>
        <p:nvSpPr>
          <p:cNvPr id="5" name="Shape 3"/>
          <p:cNvSpPr/>
          <p:nvPr/>
        </p:nvSpPr>
        <p:spPr>
          <a:xfrm>
            <a:off x="7132320" y="1463040"/>
            <a:ext cx="365760" cy="365760"/>
          </a:xfrm>
          <a:prstGeom prst="ellipse">
            <a:avLst/>
          </a:prstGeom>
          <a:solidFill>
            <a:srgbClr val="58A6FF"/>
          </a:solidFill>
          <a:ln w="12700">
            <a:solidFill>
              <a:srgbClr val="58A6FF"/>
            </a:solidFill>
            <a:prstDash val="solid"/>
          </a:ln>
        </p:spPr>
        <p:txBody>
          <a:bodyPr/>
          <a:lstStyle/>
          <a:p>
            <a:endParaRPr lang="fr-FR"/>
          </a:p>
        </p:txBody>
      </p:sp>
      <p:sp>
        <p:nvSpPr>
          <p:cNvPr id="6" name="Shape 4"/>
          <p:cNvSpPr/>
          <p:nvPr/>
        </p:nvSpPr>
        <p:spPr>
          <a:xfrm>
            <a:off x="7132320" y="2103120"/>
            <a:ext cx="365760" cy="365760"/>
          </a:xfrm>
          <a:prstGeom prst="ellipse">
            <a:avLst/>
          </a:prstGeom>
          <a:solidFill>
            <a:srgbClr val="58A6FF"/>
          </a:solidFill>
          <a:ln w="12700">
            <a:solidFill>
              <a:srgbClr val="58A6FF"/>
            </a:solidFill>
            <a:prstDash val="solid"/>
          </a:ln>
        </p:spPr>
        <p:txBody>
          <a:bodyPr/>
          <a:lstStyle/>
          <a:p>
            <a:endParaRPr lang="fr-FR"/>
          </a:p>
        </p:txBody>
      </p:sp>
      <p:sp>
        <p:nvSpPr>
          <p:cNvPr id="7" name="Shape 5"/>
          <p:cNvSpPr/>
          <p:nvPr/>
        </p:nvSpPr>
        <p:spPr>
          <a:xfrm>
            <a:off x="7132320" y="2743200"/>
            <a:ext cx="365760" cy="365760"/>
          </a:xfrm>
          <a:prstGeom prst="ellipse">
            <a:avLst/>
          </a:prstGeom>
          <a:solidFill>
            <a:srgbClr val="58A6FF"/>
          </a:solidFill>
          <a:ln w="12700">
            <a:solidFill>
              <a:srgbClr val="58A6FF"/>
            </a:solidFill>
            <a:prstDash val="solid"/>
          </a:ln>
        </p:spPr>
        <p:txBody>
          <a:bodyPr/>
          <a:lstStyle/>
          <a:p>
            <a:endParaRPr lang="fr-FR"/>
          </a:p>
        </p:txBody>
      </p:sp>
      <p:sp>
        <p:nvSpPr>
          <p:cNvPr id="8" name="Shape 6"/>
          <p:cNvSpPr/>
          <p:nvPr/>
        </p:nvSpPr>
        <p:spPr>
          <a:xfrm>
            <a:off x="7818120" y="1645920"/>
            <a:ext cx="365760" cy="365760"/>
          </a:xfrm>
          <a:prstGeom prst="ellipse">
            <a:avLst/>
          </a:prstGeom>
          <a:solidFill>
            <a:srgbClr val="BC8CFF"/>
          </a:solidFill>
          <a:ln w="12700">
            <a:solidFill>
              <a:srgbClr val="BC8CFF"/>
            </a:solidFill>
            <a:prstDash val="solid"/>
          </a:ln>
        </p:spPr>
        <p:txBody>
          <a:bodyPr/>
          <a:lstStyle/>
          <a:p>
            <a:endParaRPr lang="fr-FR"/>
          </a:p>
        </p:txBody>
      </p:sp>
      <p:sp>
        <p:nvSpPr>
          <p:cNvPr id="9" name="Shape 7"/>
          <p:cNvSpPr/>
          <p:nvPr/>
        </p:nvSpPr>
        <p:spPr>
          <a:xfrm>
            <a:off x="7818120" y="2377440"/>
            <a:ext cx="365760" cy="365760"/>
          </a:xfrm>
          <a:prstGeom prst="ellipse">
            <a:avLst/>
          </a:prstGeom>
          <a:solidFill>
            <a:srgbClr val="BC8CFF"/>
          </a:solidFill>
          <a:ln w="12700">
            <a:solidFill>
              <a:srgbClr val="BC8CFF"/>
            </a:solidFill>
            <a:prstDash val="solid"/>
          </a:ln>
        </p:spPr>
        <p:txBody>
          <a:bodyPr/>
          <a:lstStyle/>
          <a:p>
            <a:endParaRPr lang="fr-FR"/>
          </a:p>
        </p:txBody>
      </p:sp>
      <p:sp>
        <p:nvSpPr>
          <p:cNvPr id="10" name="Shape 8"/>
          <p:cNvSpPr/>
          <p:nvPr/>
        </p:nvSpPr>
        <p:spPr>
          <a:xfrm>
            <a:off x="8503920" y="2103120"/>
            <a:ext cx="365760" cy="365760"/>
          </a:xfrm>
          <a:prstGeom prst="ellipse">
            <a:avLst/>
          </a:prstGeom>
          <a:solidFill>
            <a:srgbClr val="3FB950"/>
          </a:solidFill>
          <a:ln w="12700">
            <a:solidFill>
              <a:srgbClr val="3FB950"/>
            </a:solidFill>
            <a:prstDash val="solid"/>
          </a:ln>
        </p:spPr>
        <p:txBody>
          <a:bodyPr/>
          <a:lstStyle/>
          <a:p>
            <a:endParaRPr lang="fr-FR"/>
          </a:p>
        </p:txBody>
      </p:sp>
      <p:sp>
        <p:nvSpPr>
          <p:cNvPr id="11" name="Shape 9"/>
          <p:cNvSpPr/>
          <p:nvPr/>
        </p:nvSpPr>
        <p:spPr>
          <a:xfrm>
            <a:off x="7498080" y="1645920"/>
            <a:ext cx="320040" cy="182880"/>
          </a:xfrm>
          <a:prstGeom prst="line">
            <a:avLst/>
          </a:prstGeom>
          <a:noFill/>
          <a:ln w="10160">
            <a:solidFill>
              <a:srgbClr val="161B22"/>
            </a:solidFill>
            <a:prstDash val="solid"/>
          </a:ln>
        </p:spPr>
        <p:txBody>
          <a:bodyPr/>
          <a:lstStyle/>
          <a:p>
            <a:endParaRPr lang="fr-FR"/>
          </a:p>
        </p:txBody>
      </p:sp>
      <p:sp>
        <p:nvSpPr>
          <p:cNvPr id="12" name="Shape 10"/>
          <p:cNvSpPr/>
          <p:nvPr/>
        </p:nvSpPr>
        <p:spPr>
          <a:xfrm>
            <a:off x="7498080" y="1645920"/>
            <a:ext cx="320040" cy="914400"/>
          </a:xfrm>
          <a:prstGeom prst="line">
            <a:avLst/>
          </a:prstGeom>
          <a:noFill/>
          <a:ln w="10160">
            <a:solidFill>
              <a:srgbClr val="161B22"/>
            </a:solidFill>
            <a:prstDash val="solid"/>
          </a:ln>
        </p:spPr>
        <p:txBody>
          <a:bodyPr/>
          <a:lstStyle/>
          <a:p>
            <a:endParaRPr lang="fr-FR"/>
          </a:p>
        </p:txBody>
      </p:sp>
      <p:sp>
        <p:nvSpPr>
          <p:cNvPr id="13" name="Shape 11"/>
          <p:cNvSpPr/>
          <p:nvPr/>
        </p:nvSpPr>
        <p:spPr>
          <a:xfrm>
            <a:off x="7498080" y="2286000"/>
            <a:ext cx="320040" cy="0"/>
          </a:xfrm>
          <a:prstGeom prst="line">
            <a:avLst/>
          </a:prstGeom>
          <a:noFill/>
          <a:ln w="10160">
            <a:solidFill>
              <a:srgbClr val="161B22"/>
            </a:solidFill>
            <a:prstDash val="solid"/>
          </a:ln>
        </p:spPr>
        <p:txBody>
          <a:bodyPr/>
          <a:lstStyle/>
          <a:p>
            <a:endParaRPr lang="fr-FR"/>
          </a:p>
        </p:txBody>
      </p:sp>
      <p:sp>
        <p:nvSpPr>
          <p:cNvPr id="14" name="Shape 12"/>
          <p:cNvSpPr/>
          <p:nvPr/>
        </p:nvSpPr>
        <p:spPr>
          <a:xfrm>
            <a:off x="7498080" y="2286000"/>
            <a:ext cx="320040" cy="274320"/>
          </a:xfrm>
          <a:prstGeom prst="line">
            <a:avLst/>
          </a:prstGeom>
          <a:noFill/>
          <a:ln w="10160">
            <a:solidFill>
              <a:srgbClr val="161B22"/>
            </a:solidFill>
            <a:prstDash val="solid"/>
          </a:ln>
        </p:spPr>
        <p:txBody>
          <a:bodyPr/>
          <a:lstStyle/>
          <a:p>
            <a:endParaRPr lang="fr-FR"/>
          </a:p>
        </p:txBody>
      </p:sp>
      <p:sp>
        <p:nvSpPr>
          <p:cNvPr id="15" name="Shape 13"/>
          <p:cNvSpPr/>
          <p:nvPr/>
        </p:nvSpPr>
        <p:spPr>
          <a:xfrm>
            <a:off x="7498080" y="2926080"/>
            <a:ext cx="320040" cy="0"/>
          </a:xfrm>
          <a:prstGeom prst="line">
            <a:avLst/>
          </a:prstGeom>
          <a:noFill/>
          <a:ln w="10160">
            <a:solidFill>
              <a:srgbClr val="161B22"/>
            </a:solidFill>
            <a:prstDash val="solid"/>
          </a:ln>
        </p:spPr>
        <p:txBody>
          <a:bodyPr/>
          <a:lstStyle/>
          <a:p>
            <a:endParaRPr lang="fr-FR"/>
          </a:p>
        </p:txBody>
      </p:sp>
      <p:sp>
        <p:nvSpPr>
          <p:cNvPr id="16" name="Shape 14"/>
          <p:cNvSpPr/>
          <p:nvPr/>
        </p:nvSpPr>
        <p:spPr>
          <a:xfrm>
            <a:off x="7498080" y="2926080"/>
            <a:ext cx="320040" cy="0"/>
          </a:xfrm>
          <a:prstGeom prst="line">
            <a:avLst/>
          </a:prstGeom>
          <a:noFill/>
          <a:ln w="10160">
            <a:solidFill>
              <a:srgbClr val="161B22"/>
            </a:solidFill>
            <a:prstDash val="solid"/>
          </a:ln>
        </p:spPr>
        <p:txBody>
          <a:bodyPr/>
          <a:lstStyle/>
          <a:p>
            <a:endParaRPr lang="fr-FR"/>
          </a:p>
        </p:txBody>
      </p:sp>
      <p:sp>
        <p:nvSpPr>
          <p:cNvPr id="17" name="Shape 15"/>
          <p:cNvSpPr/>
          <p:nvPr/>
        </p:nvSpPr>
        <p:spPr>
          <a:xfrm>
            <a:off x="8183880" y="1828800"/>
            <a:ext cx="137160" cy="457200"/>
          </a:xfrm>
          <a:prstGeom prst="line">
            <a:avLst/>
          </a:prstGeom>
          <a:noFill/>
          <a:ln w="10160">
            <a:solidFill>
              <a:srgbClr val="161B22"/>
            </a:solidFill>
            <a:prstDash val="solid"/>
          </a:ln>
        </p:spPr>
        <p:txBody>
          <a:bodyPr/>
          <a:lstStyle/>
          <a:p>
            <a:endParaRPr lang="fr-FR"/>
          </a:p>
        </p:txBody>
      </p:sp>
      <p:sp>
        <p:nvSpPr>
          <p:cNvPr id="18" name="Shape 16"/>
          <p:cNvSpPr/>
          <p:nvPr/>
        </p:nvSpPr>
        <p:spPr>
          <a:xfrm>
            <a:off x="8183880" y="2560320"/>
            <a:ext cx="137160" cy="0"/>
          </a:xfrm>
          <a:prstGeom prst="line">
            <a:avLst/>
          </a:prstGeom>
          <a:noFill/>
          <a:ln w="10160">
            <a:solidFill>
              <a:srgbClr val="161B22"/>
            </a:solidFill>
            <a:prstDash val="solid"/>
          </a:ln>
        </p:spPr>
        <p:txBody>
          <a:bodyPr/>
          <a:lstStyle/>
          <a:p>
            <a:endParaRPr lang="fr-FR"/>
          </a:p>
        </p:txBody>
      </p:sp>
      <p:sp>
        <p:nvSpPr>
          <p:cNvPr id="19" name="Shape 17"/>
          <p:cNvSpPr/>
          <p:nvPr/>
        </p:nvSpPr>
        <p:spPr>
          <a:xfrm>
            <a:off x="6949440" y="4297680"/>
            <a:ext cx="1828800" cy="0"/>
          </a:xfrm>
          <a:prstGeom prst="line">
            <a:avLst/>
          </a:prstGeom>
          <a:noFill/>
          <a:ln w="31750">
            <a:solidFill>
              <a:srgbClr val="58A6FF"/>
            </a:solidFill>
            <a:prstDash val="solid"/>
            <a:tailEnd type="arrow"/>
          </a:ln>
        </p:spPr>
        <p:txBody>
          <a:bodyPr/>
          <a:lstStyle/>
          <a:p>
            <a:endParaRPr lang="fr-FR"/>
          </a:p>
        </p:txBody>
      </p:sp>
      <p:sp>
        <p:nvSpPr>
          <p:cNvPr id="20" name="Text 18"/>
          <p:cNvSpPr/>
          <p:nvPr/>
        </p:nvSpPr>
        <p:spPr>
          <a:xfrm>
            <a:off x="6931152" y="4370832"/>
            <a:ext cx="1920240" cy="274320"/>
          </a:xfrm>
          <a:prstGeom prst="rect">
            <a:avLst/>
          </a:prstGeom>
          <a:noFill/>
          <a:ln/>
        </p:spPr>
        <p:txBody>
          <a:bodyPr wrap="square" lIns="0" tIns="0" rIns="0" bIns="0" rtlCol="0" anchor="ctr"/>
          <a:lstStyle/>
          <a:p>
            <a:pPr marL="0" indent="0" algn="ctr">
              <a:buNone/>
            </a:pPr>
            <a:r>
              <a:rPr lang="en-US" sz="1000" dirty="0">
                <a:solidFill>
                  <a:srgbClr val="58A6FF"/>
                </a:solidFill>
              </a:rPr>
              <a:t>Forward →</a:t>
            </a:r>
            <a:endParaRPr lang="en-US" sz="1000" dirty="0"/>
          </a:p>
        </p:txBody>
      </p:sp>
      <p:sp>
        <p:nvSpPr>
          <p:cNvPr id="21" name="Text 19"/>
          <p:cNvSpPr/>
          <p:nvPr/>
        </p:nvSpPr>
        <p:spPr>
          <a:xfrm>
            <a:off x="731520" y="1143000"/>
            <a:ext cx="7315200" cy="457200"/>
          </a:xfrm>
          <a:prstGeom prst="rect">
            <a:avLst/>
          </a:prstGeom>
          <a:noFill/>
          <a:ln/>
        </p:spPr>
        <p:txBody>
          <a:bodyPr wrap="square" lIns="0" tIns="0" rIns="0" bIns="0" rtlCol="0" anchor="ctr"/>
          <a:lstStyle/>
          <a:p>
            <a:pPr marL="0" indent="0">
              <a:buNone/>
            </a:pPr>
            <a:r>
              <a:rPr lang="en-US" sz="1400" b="1" kern="0" spc="800" dirty="0">
                <a:solidFill>
                  <a:srgbClr val="58A6FF"/>
                </a:solidFill>
              </a:rPr>
              <a:t>DEEP DIVE</a:t>
            </a:r>
            <a:endParaRPr lang="en-US" sz="1400" dirty="0"/>
          </a:p>
        </p:txBody>
      </p:sp>
      <p:sp>
        <p:nvSpPr>
          <p:cNvPr id="22" name="Text 20"/>
          <p:cNvSpPr/>
          <p:nvPr/>
        </p:nvSpPr>
        <p:spPr>
          <a:xfrm>
            <a:off x="731520" y="1600200"/>
            <a:ext cx="6400800" cy="868680"/>
          </a:xfrm>
          <a:prstGeom prst="rect">
            <a:avLst/>
          </a:prstGeom>
          <a:noFill/>
          <a:ln/>
        </p:spPr>
        <p:txBody>
          <a:bodyPr wrap="square" lIns="0" tIns="0" rIns="0" bIns="0" rtlCol="0" anchor="ctr"/>
          <a:lstStyle/>
          <a:p>
            <a:pPr marL="0" indent="0">
              <a:buNone/>
            </a:pPr>
            <a:r>
              <a:rPr lang="en-US" sz="5600" b="1" dirty="0">
                <a:solidFill>
                  <a:srgbClr val="F0F6FC"/>
                </a:solidFill>
              </a:rPr>
              <a:t>Forward</a:t>
            </a:r>
            <a:endParaRPr lang="en-US" sz="5600" dirty="0"/>
          </a:p>
        </p:txBody>
      </p:sp>
      <p:sp>
        <p:nvSpPr>
          <p:cNvPr id="23" name="Text 21"/>
          <p:cNvSpPr/>
          <p:nvPr/>
        </p:nvSpPr>
        <p:spPr>
          <a:xfrm>
            <a:off x="731520" y="2450592"/>
            <a:ext cx="6400800" cy="777240"/>
          </a:xfrm>
          <a:prstGeom prst="rect">
            <a:avLst/>
          </a:prstGeom>
          <a:noFill/>
          <a:ln/>
        </p:spPr>
        <p:txBody>
          <a:bodyPr wrap="square" lIns="0" tIns="0" rIns="0" bIns="0" rtlCol="0" anchor="ctr"/>
          <a:lstStyle/>
          <a:p>
            <a:pPr marL="0" indent="0">
              <a:buNone/>
            </a:pPr>
            <a:r>
              <a:rPr lang="en-US" sz="4400" b="1" dirty="0">
                <a:solidFill>
                  <a:srgbClr val="58A6FF"/>
                </a:solidFill>
              </a:rPr>
              <a:t>Propagation</a:t>
            </a:r>
            <a:endParaRPr lang="en-US" sz="4400" dirty="0"/>
          </a:p>
        </p:txBody>
      </p:sp>
      <p:sp>
        <p:nvSpPr>
          <p:cNvPr id="24" name="Text 22"/>
          <p:cNvSpPr/>
          <p:nvPr/>
        </p:nvSpPr>
        <p:spPr>
          <a:xfrm>
            <a:off x="731520" y="3310128"/>
            <a:ext cx="6400800" cy="411480"/>
          </a:xfrm>
          <a:prstGeom prst="rect">
            <a:avLst/>
          </a:prstGeom>
          <a:noFill/>
          <a:ln/>
        </p:spPr>
        <p:txBody>
          <a:bodyPr wrap="square" lIns="0" tIns="0" rIns="0" bIns="0" rtlCol="0" anchor="ctr"/>
          <a:lstStyle/>
          <a:p>
            <a:pPr marL="0" indent="0">
              <a:buNone/>
            </a:pPr>
            <a:r>
              <a:rPr lang="en-US" sz="1500" i="1" dirty="0">
                <a:solidFill>
                  <a:srgbClr val="8B949E"/>
                </a:solidFill>
              </a:rPr>
              <a:t>Step-by-step math — from raw input to final prediction</a:t>
            </a:r>
            <a:endParaRPr lang="en-US" sz="1500" dirty="0"/>
          </a:p>
        </p:txBody>
      </p:sp>
      <p:sp>
        <p:nvSpPr>
          <p:cNvPr id="25" name="Shape 23"/>
          <p:cNvSpPr/>
          <p:nvPr/>
        </p:nvSpPr>
        <p:spPr>
          <a:xfrm>
            <a:off x="731520" y="3858768"/>
            <a:ext cx="274320" cy="274320"/>
          </a:xfrm>
          <a:prstGeom prst="ellipse">
            <a:avLst/>
          </a:prstGeom>
          <a:solidFill>
            <a:srgbClr val="58A6FF"/>
          </a:solidFill>
          <a:ln w="12700">
            <a:solidFill>
              <a:srgbClr val="58A6FF"/>
            </a:solidFill>
            <a:prstDash val="solid"/>
          </a:ln>
        </p:spPr>
        <p:txBody>
          <a:bodyPr/>
          <a:lstStyle/>
          <a:p>
            <a:endParaRPr lang="fr-FR"/>
          </a:p>
        </p:txBody>
      </p:sp>
      <p:sp>
        <p:nvSpPr>
          <p:cNvPr id="26" name="Shape 24"/>
          <p:cNvSpPr/>
          <p:nvPr/>
        </p:nvSpPr>
        <p:spPr>
          <a:xfrm>
            <a:off x="1143000" y="3858768"/>
            <a:ext cx="274320" cy="274320"/>
          </a:xfrm>
          <a:prstGeom prst="ellipse">
            <a:avLst/>
          </a:prstGeom>
          <a:solidFill>
            <a:srgbClr val="BC8CFF"/>
          </a:solidFill>
          <a:ln w="12700">
            <a:solidFill>
              <a:srgbClr val="BC8CFF"/>
            </a:solidFill>
            <a:prstDash val="solid"/>
          </a:ln>
        </p:spPr>
        <p:txBody>
          <a:bodyPr/>
          <a:lstStyle/>
          <a:p>
            <a:endParaRPr lang="fr-FR"/>
          </a:p>
        </p:txBody>
      </p:sp>
      <p:sp>
        <p:nvSpPr>
          <p:cNvPr id="27" name="Shape 25"/>
          <p:cNvSpPr/>
          <p:nvPr/>
        </p:nvSpPr>
        <p:spPr>
          <a:xfrm>
            <a:off x="1554480" y="3858768"/>
            <a:ext cx="274320" cy="274320"/>
          </a:xfrm>
          <a:prstGeom prst="ellipse">
            <a:avLst/>
          </a:prstGeom>
          <a:solidFill>
            <a:srgbClr val="3FB950"/>
          </a:solidFill>
          <a:ln w="12700">
            <a:solidFill>
              <a:srgbClr val="3FB950"/>
            </a:solidFill>
            <a:prstDash val="solid"/>
          </a:ln>
        </p:spPr>
        <p:txBody>
          <a:bodyPr/>
          <a:lstStyle/>
          <a:p>
            <a:endParaRPr lang="fr-F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58A6FF"/>
          </a:solidFill>
          <a:ln w="12700">
            <a:solidFill>
              <a:srgbClr val="58A6FF"/>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Forward Pass — The Network Setup</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58A6FF"/>
                </a:solidFill>
              </a:rPr>
              <a:t>A 2-layer network: input(2) -&gt; hidden(3) -&gt; output(1)</a:t>
            </a:r>
            <a:endParaRPr lang="en-US" sz="1200" dirty="0"/>
          </a:p>
        </p:txBody>
      </p:sp>
      <p:sp>
        <p:nvSpPr>
          <p:cNvPr id="5" name="Shape 3"/>
          <p:cNvSpPr/>
          <p:nvPr/>
        </p:nvSpPr>
        <p:spPr>
          <a:xfrm>
            <a:off x="320040" y="1024128"/>
            <a:ext cx="8503920" cy="0"/>
          </a:xfrm>
          <a:prstGeom prst="line">
            <a:avLst/>
          </a:prstGeom>
          <a:noFill/>
          <a:ln w="12700">
            <a:solidFill>
              <a:srgbClr val="58A6FF"/>
            </a:solidFill>
            <a:prstDash val="solid"/>
          </a:ln>
        </p:spPr>
        <p:txBody>
          <a:bodyPr/>
          <a:lstStyle/>
          <a:p>
            <a:endParaRPr lang="fr-FR"/>
          </a:p>
        </p:txBody>
      </p:sp>
      <p:sp>
        <p:nvSpPr>
          <p:cNvPr id="6" name="Shape 4"/>
          <p:cNvSpPr/>
          <p:nvPr/>
        </p:nvSpPr>
        <p:spPr>
          <a:xfrm flipV="1">
            <a:off x="1444752" y="1508760"/>
            <a:ext cx="1728216" cy="320040"/>
          </a:xfrm>
          <a:prstGeom prst="line">
            <a:avLst/>
          </a:prstGeom>
          <a:noFill/>
          <a:ln w="19050">
            <a:solidFill>
              <a:srgbClr val="21262D"/>
            </a:solidFill>
            <a:prstDash val="solid"/>
          </a:ln>
        </p:spPr>
        <p:txBody>
          <a:bodyPr/>
          <a:lstStyle/>
          <a:p>
            <a:endParaRPr lang="fr-FR"/>
          </a:p>
        </p:txBody>
      </p:sp>
      <p:sp>
        <p:nvSpPr>
          <p:cNvPr id="7" name="Shape 5"/>
          <p:cNvSpPr/>
          <p:nvPr/>
        </p:nvSpPr>
        <p:spPr>
          <a:xfrm>
            <a:off x="1444752" y="1828800"/>
            <a:ext cx="1773936" cy="685800"/>
          </a:xfrm>
          <a:prstGeom prst="line">
            <a:avLst/>
          </a:prstGeom>
          <a:noFill/>
          <a:ln w="19050">
            <a:solidFill>
              <a:srgbClr val="21262D"/>
            </a:solidFill>
            <a:prstDash val="solid"/>
          </a:ln>
        </p:spPr>
        <p:txBody>
          <a:bodyPr/>
          <a:lstStyle/>
          <a:p>
            <a:endParaRPr lang="fr-FR"/>
          </a:p>
        </p:txBody>
      </p:sp>
      <p:sp>
        <p:nvSpPr>
          <p:cNvPr id="8" name="Shape 6"/>
          <p:cNvSpPr/>
          <p:nvPr/>
        </p:nvSpPr>
        <p:spPr>
          <a:xfrm>
            <a:off x="1444752" y="1828800"/>
            <a:ext cx="1773936" cy="1828800"/>
          </a:xfrm>
          <a:prstGeom prst="line">
            <a:avLst/>
          </a:prstGeom>
          <a:noFill/>
          <a:ln w="19050">
            <a:solidFill>
              <a:srgbClr val="21262D"/>
            </a:solidFill>
            <a:prstDash val="solid"/>
          </a:ln>
        </p:spPr>
        <p:txBody>
          <a:bodyPr/>
          <a:lstStyle/>
          <a:p>
            <a:endParaRPr lang="fr-FR"/>
          </a:p>
        </p:txBody>
      </p:sp>
      <p:sp>
        <p:nvSpPr>
          <p:cNvPr id="9" name="Shape 7"/>
          <p:cNvSpPr/>
          <p:nvPr/>
        </p:nvSpPr>
        <p:spPr>
          <a:xfrm flipV="1">
            <a:off x="1444752" y="1554480"/>
            <a:ext cx="1783080" cy="1645920"/>
          </a:xfrm>
          <a:prstGeom prst="line">
            <a:avLst/>
          </a:prstGeom>
          <a:noFill/>
          <a:ln w="19050">
            <a:solidFill>
              <a:srgbClr val="21262D"/>
            </a:solidFill>
            <a:prstDash val="solid"/>
          </a:ln>
        </p:spPr>
        <p:txBody>
          <a:bodyPr/>
          <a:lstStyle/>
          <a:p>
            <a:endParaRPr lang="fr-FR"/>
          </a:p>
        </p:txBody>
      </p:sp>
      <p:sp>
        <p:nvSpPr>
          <p:cNvPr id="10" name="Shape 8"/>
          <p:cNvSpPr/>
          <p:nvPr/>
        </p:nvSpPr>
        <p:spPr>
          <a:xfrm flipV="1">
            <a:off x="1444752" y="2514599"/>
            <a:ext cx="1755649" cy="685801"/>
          </a:xfrm>
          <a:prstGeom prst="line">
            <a:avLst/>
          </a:prstGeom>
          <a:noFill/>
          <a:ln w="19050">
            <a:solidFill>
              <a:srgbClr val="21262D"/>
            </a:solidFill>
            <a:prstDash val="solid"/>
          </a:ln>
        </p:spPr>
        <p:txBody>
          <a:bodyPr/>
          <a:lstStyle/>
          <a:p>
            <a:endParaRPr lang="fr-FR"/>
          </a:p>
        </p:txBody>
      </p:sp>
      <p:sp>
        <p:nvSpPr>
          <p:cNvPr id="11" name="Shape 9"/>
          <p:cNvSpPr/>
          <p:nvPr/>
        </p:nvSpPr>
        <p:spPr>
          <a:xfrm>
            <a:off x="1444752" y="3200400"/>
            <a:ext cx="1773936" cy="457200"/>
          </a:xfrm>
          <a:prstGeom prst="line">
            <a:avLst/>
          </a:prstGeom>
          <a:noFill/>
          <a:ln w="19050">
            <a:solidFill>
              <a:srgbClr val="21262D"/>
            </a:solidFill>
            <a:prstDash val="solid"/>
          </a:ln>
        </p:spPr>
        <p:txBody>
          <a:bodyPr/>
          <a:lstStyle/>
          <a:p>
            <a:endParaRPr lang="fr-FR"/>
          </a:p>
        </p:txBody>
      </p:sp>
      <p:sp>
        <p:nvSpPr>
          <p:cNvPr id="12" name="Shape 10"/>
          <p:cNvSpPr/>
          <p:nvPr/>
        </p:nvSpPr>
        <p:spPr>
          <a:xfrm>
            <a:off x="3730752" y="1371600"/>
            <a:ext cx="2231136" cy="1143000"/>
          </a:xfrm>
          <a:prstGeom prst="line">
            <a:avLst/>
          </a:prstGeom>
          <a:noFill/>
          <a:ln w="19050">
            <a:solidFill>
              <a:srgbClr val="21262D"/>
            </a:solidFill>
            <a:prstDash val="solid"/>
          </a:ln>
        </p:spPr>
        <p:txBody>
          <a:bodyPr/>
          <a:lstStyle/>
          <a:p>
            <a:endParaRPr lang="fr-FR"/>
          </a:p>
        </p:txBody>
      </p:sp>
      <p:sp>
        <p:nvSpPr>
          <p:cNvPr id="13" name="Shape 11"/>
          <p:cNvSpPr/>
          <p:nvPr/>
        </p:nvSpPr>
        <p:spPr>
          <a:xfrm>
            <a:off x="3730752" y="2514600"/>
            <a:ext cx="2231136" cy="0"/>
          </a:xfrm>
          <a:prstGeom prst="line">
            <a:avLst/>
          </a:prstGeom>
          <a:noFill/>
          <a:ln w="19050">
            <a:solidFill>
              <a:srgbClr val="21262D"/>
            </a:solidFill>
            <a:prstDash val="solid"/>
          </a:ln>
        </p:spPr>
        <p:txBody>
          <a:bodyPr/>
          <a:lstStyle/>
          <a:p>
            <a:endParaRPr lang="fr-FR"/>
          </a:p>
        </p:txBody>
      </p:sp>
      <p:sp>
        <p:nvSpPr>
          <p:cNvPr id="14" name="Shape 12"/>
          <p:cNvSpPr/>
          <p:nvPr/>
        </p:nvSpPr>
        <p:spPr>
          <a:xfrm flipV="1">
            <a:off x="3730752" y="2571750"/>
            <a:ext cx="2167128" cy="1085850"/>
          </a:xfrm>
          <a:prstGeom prst="line">
            <a:avLst/>
          </a:prstGeom>
          <a:noFill/>
          <a:ln w="19050">
            <a:solidFill>
              <a:srgbClr val="21262D"/>
            </a:solidFill>
            <a:prstDash val="solid"/>
          </a:ln>
        </p:spPr>
        <p:txBody>
          <a:bodyPr/>
          <a:lstStyle/>
          <a:p>
            <a:endParaRPr lang="fr-FR"/>
          </a:p>
        </p:txBody>
      </p:sp>
      <p:sp>
        <p:nvSpPr>
          <p:cNvPr id="15" name="Shape 13"/>
          <p:cNvSpPr/>
          <p:nvPr/>
        </p:nvSpPr>
        <p:spPr>
          <a:xfrm>
            <a:off x="932688" y="1572768"/>
            <a:ext cx="512064" cy="512064"/>
          </a:xfrm>
          <a:prstGeom prst="ellipse">
            <a:avLst/>
          </a:prstGeom>
          <a:solidFill>
            <a:srgbClr val="58A6FF"/>
          </a:solidFill>
          <a:ln w="19050">
            <a:solidFill>
              <a:srgbClr val="F0F6FC"/>
            </a:solidFill>
            <a:prstDash val="solid"/>
          </a:ln>
          <a:effectLst>
            <a:outerShdw blurRad="127000" dist="38100" dir="8100000" algn="bl" rotWithShape="0">
              <a:srgbClr val="000000">
                <a:alpha val="35000"/>
              </a:srgbClr>
            </a:outerShdw>
          </a:effectLst>
        </p:spPr>
        <p:txBody>
          <a:bodyPr/>
          <a:lstStyle/>
          <a:p>
            <a:endParaRPr lang="fr-FR"/>
          </a:p>
        </p:txBody>
      </p:sp>
      <p:sp>
        <p:nvSpPr>
          <p:cNvPr id="16" name="Text 14"/>
          <p:cNvSpPr/>
          <p:nvPr/>
        </p:nvSpPr>
        <p:spPr>
          <a:xfrm>
            <a:off x="932688" y="1572768"/>
            <a:ext cx="512064" cy="512064"/>
          </a:xfrm>
          <a:prstGeom prst="rect">
            <a:avLst/>
          </a:prstGeom>
          <a:noFill/>
          <a:ln/>
        </p:spPr>
        <p:txBody>
          <a:bodyPr wrap="square" lIns="0" tIns="0" rIns="0" bIns="0" rtlCol="0" anchor="ctr"/>
          <a:lstStyle/>
          <a:p>
            <a:pPr marL="0" indent="0" algn="ctr">
              <a:buNone/>
            </a:pPr>
            <a:r>
              <a:rPr lang="en-US" sz="1200" b="1" dirty="0">
                <a:solidFill>
                  <a:srgbClr val="F0F6FC"/>
                </a:solidFill>
              </a:rPr>
              <a:t>x1</a:t>
            </a:r>
            <a:endParaRPr lang="en-US" sz="1200" dirty="0"/>
          </a:p>
        </p:txBody>
      </p:sp>
      <p:sp>
        <p:nvSpPr>
          <p:cNvPr id="17" name="Text 15"/>
          <p:cNvSpPr/>
          <p:nvPr/>
        </p:nvSpPr>
        <p:spPr>
          <a:xfrm>
            <a:off x="292608" y="1691640"/>
            <a:ext cx="594360" cy="274320"/>
          </a:xfrm>
          <a:prstGeom prst="rect">
            <a:avLst/>
          </a:prstGeom>
          <a:noFill/>
          <a:ln/>
        </p:spPr>
        <p:txBody>
          <a:bodyPr wrap="square" lIns="0" tIns="0" rIns="0" bIns="0" rtlCol="0" anchor="ctr"/>
          <a:lstStyle/>
          <a:p>
            <a:pPr marL="0" indent="0" algn="r">
              <a:buNone/>
            </a:pPr>
            <a:r>
              <a:rPr lang="en-US" sz="900" dirty="0">
                <a:solidFill>
                  <a:srgbClr val="58A6FF"/>
                </a:solidFill>
              </a:rPr>
              <a:t>x1 = 0.5</a:t>
            </a:r>
            <a:endParaRPr lang="en-US" sz="900" dirty="0"/>
          </a:p>
        </p:txBody>
      </p:sp>
      <p:sp>
        <p:nvSpPr>
          <p:cNvPr id="18" name="Shape 16"/>
          <p:cNvSpPr/>
          <p:nvPr/>
        </p:nvSpPr>
        <p:spPr>
          <a:xfrm>
            <a:off x="932688" y="2944368"/>
            <a:ext cx="512064" cy="512064"/>
          </a:xfrm>
          <a:prstGeom prst="ellipse">
            <a:avLst/>
          </a:prstGeom>
          <a:solidFill>
            <a:srgbClr val="58A6FF"/>
          </a:solidFill>
          <a:ln w="19050">
            <a:solidFill>
              <a:srgbClr val="F0F6FC"/>
            </a:solidFill>
            <a:prstDash val="solid"/>
          </a:ln>
          <a:effectLst>
            <a:outerShdw blurRad="127000" dist="38100" dir="8100000" algn="bl" rotWithShape="0">
              <a:srgbClr val="000000">
                <a:alpha val="35000"/>
              </a:srgbClr>
            </a:outerShdw>
          </a:effectLst>
        </p:spPr>
        <p:txBody>
          <a:bodyPr/>
          <a:lstStyle/>
          <a:p>
            <a:endParaRPr lang="fr-FR"/>
          </a:p>
        </p:txBody>
      </p:sp>
      <p:sp>
        <p:nvSpPr>
          <p:cNvPr id="19" name="Text 17"/>
          <p:cNvSpPr/>
          <p:nvPr/>
        </p:nvSpPr>
        <p:spPr>
          <a:xfrm>
            <a:off x="932688" y="2944368"/>
            <a:ext cx="512064" cy="512064"/>
          </a:xfrm>
          <a:prstGeom prst="rect">
            <a:avLst/>
          </a:prstGeom>
          <a:noFill/>
          <a:ln/>
        </p:spPr>
        <p:txBody>
          <a:bodyPr wrap="square" lIns="0" tIns="0" rIns="0" bIns="0" rtlCol="0" anchor="ctr"/>
          <a:lstStyle/>
          <a:p>
            <a:pPr marL="0" indent="0" algn="ctr">
              <a:buNone/>
            </a:pPr>
            <a:r>
              <a:rPr lang="en-US" sz="1200" b="1" dirty="0">
                <a:solidFill>
                  <a:srgbClr val="F0F6FC"/>
                </a:solidFill>
              </a:rPr>
              <a:t>x2</a:t>
            </a:r>
            <a:endParaRPr lang="en-US" sz="1200" dirty="0"/>
          </a:p>
        </p:txBody>
      </p:sp>
      <p:sp>
        <p:nvSpPr>
          <p:cNvPr id="20" name="Text 18"/>
          <p:cNvSpPr/>
          <p:nvPr/>
        </p:nvSpPr>
        <p:spPr>
          <a:xfrm>
            <a:off x="292608" y="3063240"/>
            <a:ext cx="594360" cy="274320"/>
          </a:xfrm>
          <a:prstGeom prst="rect">
            <a:avLst/>
          </a:prstGeom>
          <a:noFill/>
          <a:ln/>
        </p:spPr>
        <p:txBody>
          <a:bodyPr wrap="square" lIns="0" tIns="0" rIns="0" bIns="0" rtlCol="0" anchor="ctr"/>
          <a:lstStyle/>
          <a:p>
            <a:pPr marL="0" indent="0" algn="r">
              <a:buNone/>
            </a:pPr>
            <a:r>
              <a:rPr lang="en-US" sz="900" dirty="0">
                <a:solidFill>
                  <a:srgbClr val="58A6FF"/>
                </a:solidFill>
              </a:rPr>
              <a:t>x2 = 0.8</a:t>
            </a:r>
            <a:endParaRPr lang="en-US" sz="900" dirty="0"/>
          </a:p>
        </p:txBody>
      </p:sp>
      <p:sp>
        <p:nvSpPr>
          <p:cNvPr id="21" name="Shape 19"/>
          <p:cNvSpPr/>
          <p:nvPr/>
        </p:nvSpPr>
        <p:spPr>
          <a:xfrm>
            <a:off x="3218688" y="1115568"/>
            <a:ext cx="512064" cy="512064"/>
          </a:xfrm>
          <a:prstGeom prst="ellipse">
            <a:avLst/>
          </a:prstGeom>
          <a:solidFill>
            <a:srgbClr val="BC8CFF"/>
          </a:solidFill>
          <a:ln w="19050">
            <a:solidFill>
              <a:srgbClr val="F0F6FC"/>
            </a:solidFill>
            <a:prstDash val="solid"/>
          </a:ln>
          <a:effectLst>
            <a:outerShdw blurRad="127000" dist="38100" dir="8100000" algn="bl" rotWithShape="0">
              <a:srgbClr val="000000">
                <a:alpha val="35000"/>
              </a:srgbClr>
            </a:outerShdw>
          </a:effectLst>
        </p:spPr>
        <p:txBody>
          <a:bodyPr/>
          <a:lstStyle/>
          <a:p>
            <a:endParaRPr lang="fr-FR"/>
          </a:p>
        </p:txBody>
      </p:sp>
      <p:sp>
        <p:nvSpPr>
          <p:cNvPr id="22" name="Text 20"/>
          <p:cNvSpPr/>
          <p:nvPr/>
        </p:nvSpPr>
        <p:spPr>
          <a:xfrm>
            <a:off x="3218688" y="1115568"/>
            <a:ext cx="512064" cy="512064"/>
          </a:xfrm>
          <a:prstGeom prst="rect">
            <a:avLst/>
          </a:prstGeom>
          <a:noFill/>
          <a:ln/>
        </p:spPr>
        <p:txBody>
          <a:bodyPr wrap="square" lIns="0" tIns="0" rIns="0" bIns="0" rtlCol="0" anchor="ctr"/>
          <a:lstStyle/>
          <a:p>
            <a:pPr marL="0" indent="0" algn="ctr">
              <a:buNone/>
            </a:pPr>
            <a:r>
              <a:rPr lang="en-US" sz="1100" b="1" dirty="0">
                <a:solidFill>
                  <a:srgbClr val="F0F6FC"/>
                </a:solidFill>
              </a:rPr>
              <a:t>h1</a:t>
            </a:r>
            <a:endParaRPr lang="en-US" sz="1100" dirty="0"/>
          </a:p>
        </p:txBody>
      </p:sp>
      <p:sp>
        <p:nvSpPr>
          <p:cNvPr id="23" name="Shape 21"/>
          <p:cNvSpPr/>
          <p:nvPr/>
        </p:nvSpPr>
        <p:spPr>
          <a:xfrm>
            <a:off x="3218688" y="2258568"/>
            <a:ext cx="512064" cy="512064"/>
          </a:xfrm>
          <a:prstGeom prst="ellipse">
            <a:avLst/>
          </a:prstGeom>
          <a:solidFill>
            <a:srgbClr val="BC8CFF"/>
          </a:solidFill>
          <a:ln w="19050">
            <a:solidFill>
              <a:srgbClr val="F0F6FC"/>
            </a:solidFill>
            <a:prstDash val="solid"/>
          </a:ln>
          <a:effectLst>
            <a:outerShdw blurRad="127000" dist="38100" dir="8100000" algn="bl" rotWithShape="0">
              <a:srgbClr val="000000">
                <a:alpha val="35000"/>
              </a:srgbClr>
            </a:outerShdw>
          </a:effectLst>
        </p:spPr>
        <p:txBody>
          <a:bodyPr/>
          <a:lstStyle/>
          <a:p>
            <a:endParaRPr lang="fr-FR"/>
          </a:p>
        </p:txBody>
      </p:sp>
      <p:sp>
        <p:nvSpPr>
          <p:cNvPr id="24" name="Text 22"/>
          <p:cNvSpPr/>
          <p:nvPr/>
        </p:nvSpPr>
        <p:spPr>
          <a:xfrm>
            <a:off x="3218688" y="2258568"/>
            <a:ext cx="512064" cy="512064"/>
          </a:xfrm>
          <a:prstGeom prst="rect">
            <a:avLst/>
          </a:prstGeom>
          <a:noFill/>
          <a:ln/>
        </p:spPr>
        <p:txBody>
          <a:bodyPr wrap="square" lIns="0" tIns="0" rIns="0" bIns="0" rtlCol="0" anchor="ctr"/>
          <a:lstStyle/>
          <a:p>
            <a:pPr marL="0" indent="0" algn="ctr">
              <a:buNone/>
            </a:pPr>
            <a:r>
              <a:rPr lang="en-US" sz="1100" b="1" dirty="0">
                <a:solidFill>
                  <a:srgbClr val="F0F6FC"/>
                </a:solidFill>
              </a:rPr>
              <a:t>h2</a:t>
            </a:r>
            <a:endParaRPr lang="en-US" sz="1100" dirty="0"/>
          </a:p>
        </p:txBody>
      </p:sp>
      <p:sp>
        <p:nvSpPr>
          <p:cNvPr id="25" name="Shape 23"/>
          <p:cNvSpPr/>
          <p:nvPr/>
        </p:nvSpPr>
        <p:spPr>
          <a:xfrm>
            <a:off x="3218688" y="3401568"/>
            <a:ext cx="512064" cy="512064"/>
          </a:xfrm>
          <a:prstGeom prst="ellipse">
            <a:avLst/>
          </a:prstGeom>
          <a:solidFill>
            <a:srgbClr val="BC8CFF"/>
          </a:solidFill>
          <a:ln w="19050">
            <a:solidFill>
              <a:srgbClr val="F0F6FC"/>
            </a:solidFill>
            <a:prstDash val="solid"/>
          </a:ln>
          <a:effectLst>
            <a:outerShdw blurRad="127000" dist="38100" dir="8100000" algn="bl" rotWithShape="0">
              <a:srgbClr val="000000">
                <a:alpha val="35000"/>
              </a:srgbClr>
            </a:outerShdw>
          </a:effectLst>
        </p:spPr>
        <p:txBody>
          <a:bodyPr/>
          <a:lstStyle/>
          <a:p>
            <a:endParaRPr lang="fr-FR"/>
          </a:p>
        </p:txBody>
      </p:sp>
      <p:sp>
        <p:nvSpPr>
          <p:cNvPr id="26" name="Text 24"/>
          <p:cNvSpPr/>
          <p:nvPr/>
        </p:nvSpPr>
        <p:spPr>
          <a:xfrm>
            <a:off x="3218688" y="3401568"/>
            <a:ext cx="512064" cy="512064"/>
          </a:xfrm>
          <a:prstGeom prst="rect">
            <a:avLst/>
          </a:prstGeom>
          <a:noFill/>
          <a:ln/>
        </p:spPr>
        <p:txBody>
          <a:bodyPr wrap="square" lIns="0" tIns="0" rIns="0" bIns="0" rtlCol="0" anchor="ctr"/>
          <a:lstStyle/>
          <a:p>
            <a:pPr marL="0" indent="0" algn="ctr">
              <a:buNone/>
            </a:pPr>
            <a:r>
              <a:rPr lang="en-US" sz="1100" b="1" dirty="0">
                <a:solidFill>
                  <a:srgbClr val="F0F6FC"/>
                </a:solidFill>
              </a:rPr>
              <a:t>h3</a:t>
            </a:r>
            <a:endParaRPr lang="en-US" sz="1100" dirty="0"/>
          </a:p>
        </p:txBody>
      </p:sp>
      <p:sp>
        <p:nvSpPr>
          <p:cNvPr id="27" name="Shape 25"/>
          <p:cNvSpPr/>
          <p:nvPr/>
        </p:nvSpPr>
        <p:spPr>
          <a:xfrm>
            <a:off x="5943600" y="2240280"/>
            <a:ext cx="548640" cy="548640"/>
          </a:xfrm>
          <a:prstGeom prst="ellipse">
            <a:avLst/>
          </a:prstGeom>
          <a:solidFill>
            <a:srgbClr val="3FB950"/>
          </a:solidFill>
          <a:ln w="25400">
            <a:solidFill>
              <a:srgbClr val="F0F6FC"/>
            </a:solidFill>
            <a:prstDash val="solid"/>
          </a:ln>
          <a:effectLst>
            <a:outerShdw blurRad="127000" dist="38100" dir="8100000" algn="bl" rotWithShape="0">
              <a:srgbClr val="000000">
                <a:alpha val="35000"/>
              </a:srgbClr>
            </a:outerShdw>
          </a:effectLst>
        </p:spPr>
        <p:txBody>
          <a:bodyPr/>
          <a:lstStyle/>
          <a:p>
            <a:endParaRPr lang="fr-FR"/>
          </a:p>
        </p:txBody>
      </p:sp>
      <p:sp>
        <p:nvSpPr>
          <p:cNvPr id="28" name="Text 26"/>
          <p:cNvSpPr/>
          <p:nvPr/>
        </p:nvSpPr>
        <p:spPr>
          <a:xfrm>
            <a:off x="5943600" y="2240280"/>
            <a:ext cx="548640" cy="548640"/>
          </a:xfrm>
          <a:prstGeom prst="rect">
            <a:avLst/>
          </a:prstGeom>
          <a:noFill/>
          <a:ln/>
        </p:spPr>
        <p:txBody>
          <a:bodyPr wrap="square" lIns="0" tIns="0" rIns="0" bIns="0" rtlCol="0" anchor="ctr"/>
          <a:lstStyle/>
          <a:p>
            <a:pPr marL="0" indent="0" algn="ctr">
              <a:buNone/>
            </a:pPr>
            <a:r>
              <a:rPr lang="en-US" sz="1300" b="1" dirty="0">
                <a:solidFill>
                  <a:srgbClr val="F0F6FC"/>
                </a:solidFill>
              </a:rPr>
              <a:t>y</a:t>
            </a:r>
            <a:endParaRPr lang="en-US" sz="1300" dirty="0"/>
          </a:p>
        </p:txBody>
      </p:sp>
      <p:sp>
        <p:nvSpPr>
          <p:cNvPr id="29" name="Text 27"/>
          <p:cNvSpPr/>
          <p:nvPr/>
        </p:nvSpPr>
        <p:spPr>
          <a:xfrm>
            <a:off x="868680" y="4160520"/>
            <a:ext cx="658368" cy="502920"/>
          </a:xfrm>
          <a:prstGeom prst="rect">
            <a:avLst/>
          </a:prstGeom>
          <a:noFill/>
          <a:ln/>
        </p:spPr>
        <p:txBody>
          <a:bodyPr wrap="square" lIns="0" tIns="0" rIns="0" bIns="0" rtlCol="0" anchor="ctr"/>
          <a:lstStyle/>
          <a:p>
            <a:pPr marL="0" indent="0" algn="ctr">
              <a:buNone/>
            </a:pPr>
            <a:r>
              <a:rPr lang="en-US" sz="900" dirty="0">
                <a:solidFill>
                  <a:srgbClr val="58A6FF"/>
                </a:solidFill>
              </a:rPr>
              <a:t>Input</a:t>
            </a:r>
            <a:endParaRPr lang="en-US" sz="900" dirty="0"/>
          </a:p>
          <a:p>
            <a:pPr marL="0" indent="0" algn="ctr">
              <a:buNone/>
            </a:pPr>
            <a:r>
              <a:rPr lang="en-US" sz="900" dirty="0">
                <a:solidFill>
                  <a:srgbClr val="58A6FF"/>
                </a:solidFill>
              </a:rPr>
              <a:t>Layer</a:t>
            </a:r>
            <a:endParaRPr lang="en-US" sz="900" dirty="0"/>
          </a:p>
        </p:txBody>
      </p:sp>
      <p:sp>
        <p:nvSpPr>
          <p:cNvPr id="30" name="Text 28"/>
          <p:cNvSpPr/>
          <p:nvPr/>
        </p:nvSpPr>
        <p:spPr>
          <a:xfrm>
            <a:off x="3218688" y="4160520"/>
            <a:ext cx="658368" cy="502920"/>
          </a:xfrm>
          <a:prstGeom prst="rect">
            <a:avLst/>
          </a:prstGeom>
          <a:noFill/>
          <a:ln/>
        </p:spPr>
        <p:txBody>
          <a:bodyPr wrap="square" lIns="0" tIns="0" rIns="0" bIns="0" rtlCol="0" anchor="ctr"/>
          <a:lstStyle/>
          <a:p>
            <a:pPr marL="0" indent="0" algn="ctr">
              <a:buNone/>
            </a:pPr>
            <a:r>
              <a:rPr lang="en-US" sz="900" dirty="0">
                <a:solidFill>
                  <a:srgbClr val="BC8CFF"/>
                </a:solidFill>
              </a:rPr>
              <a:t>Hidden</a:t>
            </a:r>
            <a:endParaRPr lang="en-US" sz="900" dirty="0"/>
          </a:p>
          <a:p>
            <a:pPr marL="0" indent="0" algn="ctr">
              <a:buNone/>
            </a:pPr>
            <a:r>
              <a:rPr lang="en-US" sz="900" dirty="0">
                <a:solidFill>
                  <a:srgbClr val="BC8CFF"/>
                </a:solidFill>
              </a:rPr>
              <a:t>Layer</a:t>
            </a:r>
            <a:endParaRPr lang="en-US" sz="900" dirty="0"/>
          </a:p>
        </p:txBody>
      </p:sp>
      <p:sp>
        <p:nvSpPr>
          <p:cNvPr id="31" name="Text 29"/>
          <p:cNvSpPr/>
          <p:nvPr/>
        </p:nvSpPr>
        <p:spPr>
          <a:xfrm>
            <a:off x="5943600" y="4160520"/>
            <a:ext cx="658368" cy="502920"/>
          </a:xfrm>
          <a:prstGeom prst="rect">
            <a:avLst/>
          </a:prstGeom>
          <a:noFill/>
          <a:ln/>
        </p:spPr>
        <p:txBody>
          <a:bodyPr wrap="square" lIns="0" tIns="0" rIns="0" bIns="0" rtlCol="0" anchor="ctr"/>
          <a:lstStyle/>
          <a:p>
            <a:pPr marL="0" indent="0" algn="ctr">
              <a:buNone/>
            </a:pPr>
            <a:r>
              <a:rPr lang="en-US" sz="900" dirty="0">
                <a:solidFill>
                  <a:srgbClr val="3FB950"/>
                </a:solidFill>
              </a:rPr>
              <a:t>Output</a:t>
            </a:r>
            <a:endParaRPr lang="en-US" sz="900" dirty="0"/>
          </a:p>
          <a:p>
            <a:pPr marL="0" indent="0" algn="ctr">
              <a:buNone/>
            </a:pPr>
            <a:r>
              <a:rPr lang="en-US" sz="900" dirty="0">
                <a:solidFill>
                  <a:srgbClr val="3FB950"/>
                </a:solidFill>
              </a:rPr>
              <a:t>Layer</a:t>
            </a:r>
            <a:endParaRPr lang="en-US" sz="900" dirty="0"/>
          </a:p>
        </p:txBody>
      </p:sp>
      <p:sp>
        <p:nvSpPr>
          <p:cNvPr id="32" name="Text 30"/>
          <p:cNvSpPr/>
          <p:nvPr/>
        </p:nvSpPr>
        <p:spPr>
          <a:xfrm>
            <a:off x="1828800" y="1417320"/>
            <a:ext cx="457200" cy="228600"/>
          </a:xfrm>
          <a:prstGeom prst="rect">
            <a:avLst/>
          </a:prstGeom>
          <a:noFill/>
          <a:ln/>
        </p:spPr>
        <p:txBody>
          <a:bodyPr wrap="square" lIns="0" tIns="0" rIns="0" bIns="0" rtlCol="0" anchor="ctr"/>
          <a:lstStyle/>
          <a:p>
            <a:pPr marL="0" indent="0" algn="ctr">
              <a:buNone/>
            </a:pPr>
            <a:r>
              <a:rPr lang="en-US" sz="800" dirty="0">
                <a:solidFill>
                  <a:srgbClr val="F0883E"/>
                </a:solidFill>
              </a:rPr>
              <a:t>w11</a:t>
            </a:r>
            <a:endParaRPr lang="en-US" sz="800" dirty="0"/>
          </a:p>
        </p:txBody>
      </p:sp>
      <p:sp>
        <p:nvSpPr>
          <p:cNvPr id="33" name="Text 31"/>
          <p:cNvSpPr/>
          <p:nvPr/>
        </p:nvSpPr>
        <p:spPr>
          <a:xfrm>
            <a:off x="1828800" y="2057400"/>
            <a:ext cx="457200" cy="228600"/>
          </a:xfrm>
          <a:prstGeom prst="rect">
            <a:avLst/>
          </a:prstGeom>
          <a:noFill/>
          <a:ln/>
        </p:spPr>
        <p:txBody>
          <a:bodyPr wrap="square" lIns="0" tIns="0" rIns="0" bIns="0" rtlCol="0" anchor="ctr"/>
          <a:lstStyle/>
          <a:p>
            <a:pPr marL="0" indent="0" algn="ctr">
              <a:buNone/>
            </a:pPr>
            <a:r>
              <a:rPr lang="en-US" sz="800" dirty="0">
                <a:solidFill>
                  <a:srgbClr val="F0883E"/>
                </a:solidFill>
              </a:rPr>
              <a:t>w12</a:t>
            </a:r>
            <a:endParaRPr lang="en-US" sz="800" dirty="0"/>
          </a:p>
        </p:txBody>
      </p:sp>
      <p:sp>
        <p:nvSpPr>
          <p:cNvPr id="34" name="Text 32"/>
          <p:cNvSpPr/>
          <p:nvPr/>
        </p:nvSpPr>
        <p:spPr>
          <a:xfrm>
            <a:off x="1828800" y="2697480"/>
            <a:ext cx="457200" cy="228600"/>
          </a:xfrm>
          <a:prstGeom prst="rect">
            <a:avLst/>
          </a:prstGeom>
          <a:noFill/>
          <a:ln/>
        </p:spPr>
        <p:txBody>
          <a:bodyPr wrap="square" lIns="0" tIns="0" rIns="0" bIns="0" rtlCol="0" anchor="ctr"/>
          <a:lstStyle/>
          <a:p>
            <a:pPr marL="0" indent="0" algn="ctr">
              <a:buNone/>
            </a:pPr>
            <a:r>
              <a:rPr lang="en-US" sz="800" dirty="0">
                <a:solidFill>
                  <a:srgbClr val="F0883E"/>
                </a:solidFill>
              </a:rPr>
              <a:t>w21</a:t>
            </a:r>
            <a:endParaRPr lang="en-US" sz="800" dirty="0"/>
          </a:p>
        </p:txBody>
      </p:sp>
      <p:sp>
        <p:nvSpPr>
          <p:cNvPr id="35" name="Shape 33"/>
          <p:cNvSpPr/>
          <p:nvPr/>
        </p:nvSpPr>
        <p:spPr>
          <a:xfrm>
            <a:off x="6903720" y="1170432"/>
            <a:ext cx="1920240" cy="365760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36" name="Text 34"/>
          <p:cNvSpPr/>
          <p:nvPr/>
        </p:nvSpPr>
        <p:spPr>
          <a:xfrm>
            <a:off x="6995160" y="1234440"/>
            <a:ext cx="1737360" cy="274320"/>
          </a:xfrm>
          <a:prstGeom prst="rect">
            <a:avLst/>
          </a:prstGeom>
          <a:noFill/>
          <a:ln/>
        </p:spPr>
        <p:txBody>
          <a:bodyPr wrap="square" lIns="0" tIns="0" rIns="0" bIns="0" rtlCol="0" anchor="ctr"/>
          <a:lstStyle/>
          <a:p>
            <a:pPr marL="0" indent="0" algn="ctr">
              <a:buNone/>
            </a:pPr>
            <a:r>
              <a:rPr lang="en-US" sz="1100" b="1" dirty="0">
                <a:solidFill>
                  <a:srgbClr val="F0F6FC"/>
                </a:solidFill>
              </a:rPr>
              <a:t>Notation</a:t>
            </a:r>
            <a:endParaRPr lang="en-US" sz="1100" dirty="0"/>
          </a:p>
        </p:txBody>
      </p:sp>
      <p:sp>
        <p:nvSpPr>
          <p:cNvPr id="37" name="Shape 35"/>
          <p:cNvSpPr/>
          <p:nvPr/>
        </p:nvSpPr>
        <p:spPr>
          <a:xfrm>
            <a:off x="6995160" y="1536192"/>
            <a:ext cx="1737360" cy="0"/>
          </a:xfrm>
          <a:prstGeom prst="line">
            <a:avLst/>
          </a:prstGeom>
          <a:noFill/>
          <a:ln w="12700">
            <a:solidFill>
              <a:srgbClr val="21262D"/>
            </a:solidFill>
            <a:prstDash val="solid"/>
          </a:ln>
        </p:spPr>
        <p:txBody>
          <a:bodyPr/>
          <a:lstStyle/>
          <a:p>
            <a:endParaRPr lang="fr-FR"/>
          </a:p>
        </p:txBody>
      </p:sp>
      <p:sp>
        <p:nvSpPr>
          <p:cNvPr id="38" name="Shape 36"/>
          <p:cNvSpPr/>
          <p:nvPr/>
        </p:nvSpPr>
        <p:spPr>
          <a:xfrm>
            <a:off x="6995160" y="1627632"/>
            <a:ext cx="329184" cy="329184"/>
          </a:xfrm>
          <a:prstGeom prst="ellipse">
            <a:avLst/>
          </a:prstGeom>
          <a:solidFill>
            <a:srgbClr val="58A6FF"/>
          </a:solidFill>
          <a:ln w="12700">
            <a:solidFill>
              <a:srgbClr val="58A6FF"/>
            </a:solidFill>
            <a:prstDash val="solid"/>
          </a:ln>
        </p:spPr>
        <p:txBody>
          <a:bodyPr/>
          <a:lstStyle/>
          <a:p>
            <a:endParaRPr lang="fr-FR"/>
          </a:p>
        </p:txBody>
      </p:sp>
      <p:sp>
        <p:nvSpPr>
          <p:cNvPr id="39" name="Text 37"/>
          <p:cNvSpPr/>
          <p:nvPr/>
        </p:nvSpPr>
        <p:spPr>
          <a:xfrm>
            <a:off x="6995160" y="1627632"/>
            <a:ext cx="329184" cy="329184"/>
          </a:xfrm>
          <a:prstGeom prst="rect">
            <a:avLst/>
          </a:prstGeom>
          <a:noFill/>
          <a:ln/>
        </p:spPr>
        <p:txBody>
          <a:bodyPr wrap="square" lIns="0" tIns="0" rIns="0" bIns="0" rtlCol="0" anchor="ctr"/>
          <a:lstStyle/>
          <a:p>
            <a:pPr marL="0" indent="0" algn="ctr">
              <a:buNone/>
            </a:pPr>
            <a:r>
              <a:rPr lang="en-US" sz="900" b="1" dirty="0">
                <a:solidFill>
                  <a:srgbClr val="F0F6FC"/>
                </a:solidFill>
              </a:rPr>
              <a:t>x</a:t>
            </a:r>
            <a:endParaRPr lang="en-US" sz="900" dirty="0"/>
          </a:p>
        </p:txBody>
      </p:sp>
      <p:sp>
        <p:nvSpPr>
          <p:cNvPr id="40" name="Text 38"/>
          <p:cNvSpPr/>
          <p:nvPr/>
        </p:nvSpPr>
        <p:spPr>
          <a:xfrm>
            <a:off x="7370064" y="1627632"/>
            <a:ext cx="1371600" cy="329184"/>
          </a:xfrm>
          <a:prstGeom prst="rect">
            <a:avLst/>
          </a:prstGeom>
          <a:noFill/>
          <a:ln/>
        </p:spPr>
        <p:txBody>
          <a:bodyPr wrap="square" lIns="0" tIns="0" rIns="0" bIns="0" rtlCol="0" anchor="ctr"/>
          <a:lstStyle/>
          <a:p>
            <a:pPr marL="0" indent="0">
              <a:buNone/>
            </a:pPr>
            <a:r>
              <a:rPr lang="en-US" sz="850" dirty="0">
                <a:solidFill>
                  <a:srgbClr val="F0F6FC"/>
                </a:solidFill>
              </a:rPr>
              <a:t>Input vector</a:t>
            </a:r>
            <a:endParaRPr lang="en-US" sz="850" dirty="0"/>
          </a:p>
        </p:txBody>
      </p:sp>
      <p:sp>
        <p:nvSpPr>
          <p:cNvPr id="41" name="Shape 39"/>
          <p:cNvSpPr/>
          <p:nvPr/>
        </p:nvSpPr>
        <p:spPr>
          <a:xfrm>
            <a:off x="6995160" y="2112264"/>
            <a:ext cx="329184" cy="329184"/>
          </a:xfrm>
          <a:prstGeom prst="ellipse">
            <a:avLst/>
          </a:prstGeom>
          <a:solidFill>
            <a:srgbClr val="F0883E"/>
          </a:solidFill>
          <a:ln w="12700">
            <a:solidFill>
              <a:srgbClr val="F0883E"/>
            </a:solidFill>
            <a:prstDash val="solid"/>
          </a:ln>
        </p:spPr>
        <p:txBody>
          <a:bodyPr/>
          <a:lstStyle/>
          <a:p>
            <a:endParaRPr lang="fr-FR"/>
          </a:p>
        </p:txBody>
      </p:sp>
      <p:sp>
        <p:nvSpPr>
          <p:cNvPr id="42" name="Text 40"/>
          <p:cNvSpPr/>
          <p:nvPr/>
        </p:nvSpPr>
        <p:spPr>
          <a:xfrm>
            <a:off x="6995160" y="2112264"/>
            <a:ext cx="329184" cy="329184"/>
          </a:xfrm>
          <a:prstGeom prst="rect">
            <a:avLst/>
          </a:prstGeom>
          <a:noFill/>
          <a:ln/>
        </p:spPr>
        <p:txBody>
          <a:bodyPr wrap="square" lIns="0" tIns="0" rIns="0" bIns="0" rtlCol="0" anchor="ctr"/>
          <a:lstStyle/>
          <a:p>
            <a:pPr marL="0" indent="0" algn="ctr">
              <a:buNone/>
            </a:pPr>
            <a:r>
              <a:rPr lang="en-US" sz="900" b="1" dirty="0">
                <a:solidFill>
                  <a:srgbClr val="F0F6FC"/>
                </a:solidFill>
              </a:rPr>
              <a:t>W</a:t>
            </a:r>
            <a:endParaRPr lang="en-US" sz="900" dirty="0"/>
          </a:p>
        </p:txBody>
      </p:sp>
      <p:sp>
        <p:nvSpPr>
          <p:cNvPr id="43" name="Text 41"/>
          <p:cNvSpPr/>
          <p:nvPr/>
        </p:nvSpPr>
        <p:spPr>
          <a:xfrm>
            <a:off x="7370064" y="2112264"/>
            <a:ext cx="1371600" cy="329184"/>
          </a:xfrm>
          <a:prstGeom prst="rect">
            <a:avLst/>
          </a:prstGeom>
          <a:noFill/>
          <a:ln/>
        </p:spPr>
        <p:txBody>
          <a:bodyPr wrap="square" lIns="0" tIns="0" rIns="0" bIns="0" rtlCol="0" anchor="ctr"/>
          <a:lstStyle/>
          <a:p>
            <a:pPr marL="0" indent="0">
              <a:buNone/>
            </a:pPr>
            <a:r>
              <a:rPr lang="en-US" sz="850" dirty="0">
                <a:solidFill>
                  <a:srgbClr val="F0F6FC"/>
                </a:solidFill>
              </a:rPr>
              <a:t>Weight matrix</a:t>
            </a:r>
            <a:endParaRPr lang="en-US" sz="850" dirty="0"/>
          </a:p>
        </p:txBody>
      </p:sp>
      <p:sp>
        <p:nvSpPr>
          <p:cNvPr id="44" name="Shape 42"/>
          <p:cNvSpPr/>
          <p:nvPr/>
        </p:nvSpPr>
        <p:spPr>
          <a:xfrm>
            <a:off x="6995160" y="2596896"/>
            <a:ext cx="329184" cy="329184"/>
          </a:xfrm>
          <a:prstGeom prst="ellipse">
            <a:avLst/>
          </a:prstGeom>
          <a:solidFill>
            <a:srgbClr val="E3B341"/>
          </a:solidFill>
          <a:ln w="12700">
            <a:solidFill>
              <a:srgbClr val="E3B341"/>
            </a:solidFill>
            <a:prstDash val="solid"/>
          </a:ln>
        </p:spPr>
        <p:txBody>
          <a:bodyPr/>
          <a:lstStyle/>
          <a:p>
            <a:endParaRPr lang="fr-FR"/>
          </a:p>
        </p:txBody>
      </p:sp>
      <p:sp>
        <p:nvSpPr>
          <p:cNvPr id="45" name="Text 43"/>
          <p:cNvSpPr/>
          <p:nvPr/>
        </p:nvSpPr>
        <p:spPr>
          <a:xfrm>
            <a:off x="6995160" y="2596896"/>
            <a:ext cx="329184" cy="329184"/>
          </a:xfrm>
          <a:prstGeom prst="rect">
            <a:avLst/>
          </a:prstGeom>
          <a:noFill/>
          <a:ln/>
        </p:spPr>
        <p:txBody>
          <a:bodyPr wrap="square" lIns="0" tIns="0" rIns="0" bIns="0" rtlCol="0" anchor="ctr"/>
          <a:lstStyle/>
          <a:p>
            <a:pPr marL="0" indent="0" algn="ctr">
              <a:buNone/>
            </a:pPr>
            <a:r>
              <a:rPr lang="en-US" sz="900" b="1" dirty="0">
                <a:solidFill>
                  <a:srgbClr val="F0F6FC"/>
                </a:solidFill>
              </a:rPr>
              <a:t>b</a:t>
            </a:r>
            <a:endParaRPr lang="en-US" sz="900" dirty="0"/>
          </a:p>
        </p:txBody>
      </p:sp>
      <p:sp>
        <p:nvSpPr>
          <p:cNvPr id="46" name="Text 44"/>
          <p:cNvSpPr/>
          <p:nvPr/>
        </p:nvSpPr>
        <p:spPr>
          <a:xfrm>
            <a:off x="7370064" y="2596896"/>
            <a:ext cx="1371600" cy="329184"/>
          </a:xfrm>
          <a:prstGeom prst="rect">
            <a:avLst/>
          </a:prstGeom>
          <a:noFill/>
          <a:ln/>
        </p:spPr>
        <p:txBody>
          <a:bodyPr wrap="square" lIns="0" tIns="0" rIns="0" bIns="0" rtlCol="0" anchor="ctr"/>
          <a:lstStyle/>
          <a:p>
            <a:pPr marL="0" indent="0">
              <a:buNone/>
            </a:pPr>
            <a:r>
              <a:rPr lang="en-US" sz="850" dirty="0">
                <a:solidFill>
                  <a:srgbClr val="F0F6FC"/>
                </a:solidFill>
              </a:rPr>
              <a:t>Bias vector</a:t>
            </a:r>
            <a:endParaRPr lang="en-US" sz="850" dirty="0"/>
          </a:p>
        </p:txBody>
      </p:sp>
      <p:sp>
        <p:nvSpPr>
          <p:cNvPr id="47" name="Shape 45"/>
          <p:cNvSpPr/>
          <p:nvPr/>
        </p:nvSpPr>
        <p:spPr>
          <a:xfrm>
            <a:off x="6995160" y="3081528"/>
            <a:ext cx="329184" cy="329184"/>
          </a:xfrm>
          <a:prstGeom prst="ellipse">
            <a:avLst/>
          </a:prstGeom>
          <a:solidFill>
            <a:srgbClr val="BC8CFF"/>
          </a:solidFill>
          <a:ln w="12700">
            <a:solidFill>
              <a:srgbClr val="BC8CFF"/>
            </a:solidFill>
            <a:prstDash val="solid"/>
          </a:ln>
        </p:spPr>
        <p:txBody>
          <a:bodyPr/>
          <a:lstStyle/>
          <a:p>
            <a:endParaRPr lang="fr-FR"/>
          </a:p>
        </p:txBody>
      </p:sp>
      <p:sp>
        <p:nvSpPr>
          <p:cNvPr id="48" name="Text 46"/>
          <p:cNvSpPr/>
          <p:nvPr/>
        </p:nvSpPr>
        <p:spPr>
          <a:xfrm>
            <a:off x="6995160" y="3081528"/>
            <a:ext cx="329184" cy="329184"/>
          </a:xfrm>
          <a:prstGeom prst="rect">
            <a:avLst/>
          </a:prstGeom>
          <a:noFill/>
          <a:ln/>
        </p:spPr>
        <p:txBody>
          <a:bodyPr wrap="square" lIns="0" tIns="0" rIns="0" bIns="0" rtlCol="0" anchor="ctr"/>
          <a:lstStyle/>
          <a:p>
            <a:pPr marL="0" indent="0" algn="ctr">
              <a:buNone/>
            </a:pPr>
            <a:r>
              <a:rPr lang="en-US" sz="900" b="1" dirty="0">
                <a:solidFill>
                  <a:srgbClr val="F0F6FC"/>
                </a:solidFill>
              </a:rPr>
              <a:t>z</a:t>
            </a:r>
            <a:endParaRPr lang="en-US" sz="900" dirty="0"/>
          </a:p>
        </p:txBody>
      </p:sp>
      <p:sp>
        <p:nvSpPr>
          <p:cNvPr id="49" name="Text 47"/>
          <p:cNvSpPr/>
          <p:nvPr/>
        </p:nvSpPr>
        <p:spPr>
          <a:xfrm>
            <a:off x="7370064" y="3081528"/>
            <a:ext cx="1371600" cy="329184"/>
          </a:xfrm>
          <a:prstGeom prst="rect">
            <a:avLst/>
          </a:prstGeom>
          <a:noFill/>
          <a:ln/>
        </p:spPr>
        <p:txBody>
          <a:bodyPr wrap="square" lIns="0" tIns="0" rIns="0" bIns="0" rtlCol="0" anchor="ctr"/>
          <a:lstStyle/>
          <a:p>
            <a:pPr marL="0" indent="0">
              <a:buNone/>
            </a:pPr>
            <a:r>
              <a:rPr lang="en-US" sz="850" dirty="0">
                <a:solidFill>
                  <a:srgbClr val="F0F6FC"/>
                </a:solidFill>
              </a:rPr>
              <a:t>Pre-activation</a:t>
            </a:r>
            <a:endParaRPr lang="en-US" sz="850" dirty="0"/>
          </a:p>
          <a:p>
            <a:pPr marL="0" indent="0">
              <a:buNone/>
            </a:pPr>
            <a:r>
              <a:rPr lang="en-US" sz="850" dirty="0">
                <a:solidFill>
                  <a:srgbClr val="F0F6FC"/>
                </a:solidFill>
              </a:rPr>
              <a:t>(linear sum)</a:t>
            </a:r>
            <a:endParaRPr lang="en-US" sz="850" dirty="0"/>
          </a:p>
        </p:txBody>
      </p:sp>
      <p:sp>
        <p:nvSpPr>
          <p:cNvPr id="50" name="Shape 48"/>
          <p:cNvSpPr/>
          <p:nvPr/>
        </p:nvSpPr>
        <p:spPr>
          <a:xfrm>
            <a:off x="6995160" y="3566160"/>
            <a:ext cx="329184" cy="329184"/>
          </a:xfrm>
          <a:prstGeom prst="ellipse">
            <a:avLst/>
          </a:prstGeom>
          <a:solidFill>
            <a:srgbClr val="39D0B0"/>
          </a:solidFill>
          <a:ln w="12700">
            <a:solidFill>
              <a:srgbClr val="39D0B0"/>
            </a:solidFill>
            <a:prstDash val="solid"/>
          </a:ln>
        </p:spPr>
        <p:txBody>
          <a:bodyPr/>
          <a:lstStyle/>
          <a:p>
            <a:endParaRPr lang="fr-FR"/>
          </a:p>
        </p:txBody>
      </p:sp>
      <p:sp>
        <p:nvSpPr>
          <p:cNvPr id="51" name="Text 49"/>
          <p:cNvSpPr/>
          <p:nvPr/>
        </p:nvSpPr>
        <p:spPr>
          <a:xfrm>
            <a:off x="6995160" y="3566160"/>
            <a:ext cx="329184" cy="329184"/>
          </a:xfrm>
          <a:prstGeom prst="rect">
            <a:avLst/>
          </a:prstGeom>
          <a:noFill/>
          <a:ln/>
        </p:spPr>
        <p:txBody>
          <a:bodyPr wrap="square" lIns="0" tIns="0" rIns="0" bIns="0" rtlCol="0" anchor="ctr"/>
          <a:lstStyle/>
          <a:p>
            <a:pPr marL="0" indent="0" algn="ctr">
              <a:buNone/>
            </a:pPr>
            <a:r>
              <a:rPr lang="en-US" sz="900" b="1" dirty="0">
                <a:solidFill>
                  <a:srgbClr val="F0F6FC"/>
                </a:solidFill>
              </a:rPr>
              <a:t>a</a:t>
            </a:r>
            <a:endParaRPr lang="en-US" sz="900" dirty="0"/>
          </a:p>
        </p:txBody>
      </p:sp>
      <p:sp>
        <p:nvSpPr>
          <p:cNvPr id="52" name="Text 50"/>
          <p:cNvSpPr/>
          <p:nvPr/>
        </p:nvSpPr>
        <p:spPr>
          <a:xfrm>
            <a:off x="7370064" y="3566160"/>
            <a:ext cx="1371600" cy="329184"/>
          </a:xfrm>
          <a:prstGeom prst="rect">
            <a:avLst/>
          </a:prstGeom>
          <a:noFill/>
          <a:ln/>
        </p:spPr>
        <p:txBody>
          <a:bodyPr wrap="square" lIns="0" tIns="0" rIns="0" bIns="0" rtlCol="0" anchor="ctr"/>
          <a:lstStyle/>
          <a:p>
            <a:pPr marL="0" indent="0">
              <a:buNone/>
            </a:pPr>
            <a:r>
              <a:rPr lang="en-US" sz="850" dirty="0">
                <a:solidFill>
                  <a:srgbClr val="F0F6FC"/>
                </a:solidFill>
              </a:rPr>
              <a:t>Post-activation</a:t>
            </a:r>
            <a:endParaRPr lang="en-US" sz="850" dirty="0"/>
          </a:p>
          <a:p>
            <a:pPr marL="0" indent="0">
              <a:buNone/>
            </a:pPr>
            <a:r>
              <a:rPr lang="en-US" sz="850" dirty="0">
                <a:solidFill>
                  <a:srgbClr val="F0F6FC"/>
                </a:solidFill>
              </a:rPr>
              <a:t>(after ReLU/σ)</a:t>
            </a:r>
            <a:endParaRPr lang="en-US" sz="850" dirty="0"/>
          </a:p>
        </p:txBody>
      </p:sp>
      <p:sp>
        <p:nvSpPr>
          <p:cNvPr id="53" name="Shape 51"/>
          <p:cNvSpPr/>
          <p:nvPr/>
        </p:nvSpPr>
        <p:spPr>
          <a:xfrm>
            <a:off x="6995160" y="4050792"/>
            <a:ext cx="329184" cy="329184"/>
          </a:xfrm>
          <a:prstGeom prst="ellipse">
            <a:avLst/>
          </a:prstGeom>
          <a:solidFill>
            <a:srgbClr val="3FB950"/>
          </a:solidFill>
          <a:ln w="12700">
            <a:solidFill>
              <a:srgbClr val="3FB950"/>
            </a:solidFill>
            <a:prstDash val="solid"/>
          </a:ln>
        </p:spPr>
        <p:txBody>
          <a:bodyPr/>
          <a:lstStyle/>
          <a:p>
            <a:endParaRPr lang="fr-FR"/>
          </a:p>
        </p:txBody>
      </p:sp>
      <p:sp>
        <p:nvSpPr>
          <p:cNvPr id="54" name="Text 52"/>
          <p:cNvSpPr/>
          <p:nvPr/>
        </p:nvSpPr>
        <p:spPr>
          <a:xfrm>
            <a:off x="6995160" y="4050792"/>
            <a:ext cx="329184" cy="329184"/>
          </a:xfrm>
          <a:prstGeom prst="rect">
            <a:avLst/>
          </a:prstGeom>
          <a:noFill/>
          <a:ln/>
        </p:spPr>
        <p:txBody>
          <a:bodyPr wrap="square" lIns="0" tIns="0" rIns="0" bIns="0" rtlCol="0" anchor="ctr"/>
          <a:lstStyle/>
          <a:p>
            <a:pPr marL="0" indent="0" algn="ctr">
              <a:buNone/>
            </a:pPr>
            <a:r>
              <a:rPr lang="en-US" sz="900" b="1" dirty="0">
                <a:solidFill>
                  <a:srgbClr val="F0F6FC"/>
                </a:solidFill>
              </a:rPr>
              <a:t>y_hat</a:t>
            </a:r>
            <a:endParaRPr lang="en-US" sz="900" dirty="0"/>
          </a:p>
        </p:txBody>
      </p:sp>
      <p:sp>
        <p:nvSpPr>
          <p:cNvPr id="55" name="Text 53"/>
          <p:cNvSpPr/>
          <p:nvPr/>
        </p:nvSpPr>
        <p:spPr>
          <a:xfrm>
            <a:off x="7370064" y="4050792"/>
            <a:ext cx="1371600" cy="329184"/>
          </a:xfrm>
          <a:prstGeom prst="rect">
            <a:avLst/>
          </a:prstGeom>
          <a:noFill/>
          <a:ln/>
        </p:spPr>
        <p:txBody>
          <a:bodyPr wrap="square" lIns="0" tIns="0" rIns="0" bIns="0" rtlCol="0" anchor="ctr"/>
          <a:lstStyle/>
          <a:p>
            <a:pPr marL="0" indent="0">
              <a:buNone/>
            </a:pPr>
            <a:r>
              <a:rPr lang="en-US" sz="850" dirty="0">
                <a:solidFill>
                  <a:srgbClr val="F0F6FC"/>
                </a:solidFill>
              </a:rPr>
              <a:t>Final prediction</a:t>
            </a:r>
            <a:endParaRPr lang="en-US" sz="850" dirty="0"/>
          </a:p>
        </p:txBody>
      </p:sp>
      <p:sp>
        <p:nvSpPr>
          <p:cNvPr id="56" name="Text 54"/>
          <p:cNvSpPr/>
          <p:nvPr/>
        </p:nvSpPr>
        <p:spPr>
          <a:xfrm>
            <a:off x="320040" y="4709160"/>
            <a:ext cx="8503920" cy="274320"/>
          </a:xfrm>
          <a:prstGeom prst="rect">
            <a:avLst/>
          </a:prstGeom>
          <a:noFill/>
          <a:ln/>
        </p:spPr>
        <p:txBody>
          <a:bodyPr wrap="square" lIns="0" tIns="0" rIns="0" bIns="0" rtlCol="0" anchor="ctr"/>
          <a:lstStyle/>
          <a:p>
            <a:pPr marL="0" indent="0" algn="ctr">
              <a:buNone/>
            </a:pPr>
            <a:r>
              <a:rPr lang="en-US" sz="1000" i="1" dirty="0">
                <a:solidFill>
                  <a:srgbClr val="E3B341"/>
                </a:solidFill>
              </a:rPr>
              <a:t>We will trace ONE forward pass through this network step by step →</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58A6FF"/>
          </a:solidFill>
          <a:ln w="12700">
            <a:solidFill>
              <a:srgbClr val="58A6FF"/>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Forward Pass — Step 1: Linear Combination  z = W·x + b</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58A6FF"/>
                </a:solidFill>
              </a:rPr>
              <a:t>Each neuron computes a weighted sum of its inputs</a:t>
            </a:r>
            <a:endParaRPr lang="en-US" sz="1200" dirty="0"/>
          </a:p>
        </p:txBody>
      </p:sp>
      <p:sp>
        <p:nvSpPr>
          <p:cNvPr id="5" name="Shape 3"/>
          <p:cNvSpPr/>
          <p:nvPr/>
        </p:nvSpPr>
        <p:spPr>
          <a:xfrm>
            <a:off x="320040" y="1024128"/>
            <a:ext cx="8503920" cy="0"/>
          </a:xfrm>
          <a:prstGeom prst="line">
            <a:avLst/>
          </a:prstGeom>
          <a:noFill/>
          <a:ln w="12700">
            <a:solidFill>
              <a:srgbClr val="58A6FF"/>
            </a:solidFill>
            <a:prstDash val="solid"/>
          </a:ln>
        </p:spPr>
        <p:txBody>
          <a:bodyPr/>
          <a:lstStyle/>
          <a:p>
            <a:endParaRPr lang="fr-FR"/>
          </a:p>
        </p:txBody>
      </p:sp>
      <p:sp>
        <p:nvSpPr>
          <p:cNvPr id="6" name="Shape 4"/>
          <p:cNvSpPr/>
          <p:nvPr/>
        </p:nvSpPr>
        <p:spPr>
          <a:xfrm>
            <a:off x="320040" y="1170432"/>
            <a:ext cx="8503920" cy="960120"/>
          </a:xfrm>
          <a:prstGeom prst="rect">
            <a:avLst/>
          </a:prstGeom>
          <a:solidFill>
            <a:srgbClr val="21262D"/>
          </a:solidFill>
          <a:ln w="1905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502920" y="1170432"/>
            <a:ext cx="8321040" cy="960120"/>
          </a:xfrm>
          <a:prstGeom prst="rect">
            <a:avLst/>
          </a:prstGeom>
          <a:noFill/>
          <a:ln/>
        </p:spPr>
        <p:txBody>
          <a:bodyPr wrap="square" lIns="0" tIns="0" rIns="0" bIns="0" rtlCol="0" anchor="ctr"/>
          <a:lstStyle/>
          <a:p>
            <a:pPr marL="0" indent="0">
              <a:buNone/>
            </a:pPr>
            <a:r>
              <a:rPr lang="en-US" sz="2000" b="1" dirty="0">
                <a:solidFill>
                  <a:srgbClr val="F0F6FC"/>
                </a:solidFill>
              </a:rPr>
              <a:t>z  =  </a:t>
            </a:r>
            <a:r>
              <a:rPr lang="en-US" sz="2000" b="1" dirty="0">
                <a:solidFill>
                  <a:srgbClr val="F0883E"/>
                </a:solidFill>
              </a:rPr>
              <a:t>W</a:t>
            </a:r>
            <a:r>
              <a:rPr lang="en-US" sz="2000" dirty="0">
                <a:solidFill>
                  <a:srgbClr val="F0F6FC"/>
                </a:solidFill>
              </a:rPr>
              <a:t> · </a:t>
            </a:r>
            <a:r>
              <a:rPr lang="en-US" sz="2000" b="1" dirty="0">
                <a:solidFill>
                  <a:srgbClr val="58A6FF"/>
                </a:solidFill>
              </a:rPr>
              <a:t>x</a:t>
            </a:r>
            <a:r>
              <a:rPr lang="en-US" sz="2000" dirty="0">
                <a:solidFill>
                  <a:srgbClr val="F0F6FC"/>
                </a:solidFill>
              </a:rPr>
              <a:t>  +  </a:t>
            </a:r>
            <a:r>
              <a:rPr lang="en-US" sz="2000" b="1" dirty="0">
                <a:solidFill>
                  <a:srgbClr val="E3B341"/>
                </a:solidFill>
              </a:rPr>
              <a:t>b</a:t>
            </a:r>
            <a:r>
              <a:rPr lang="en-US" sz="2000" dirty="0">
                <a:solidFill>
                  <a:srgbClr val="8B949E"/>
                </a:solidFill>
              </a:rPr>
              <a:t>       or element-wise:   </a:t>
            </a:r>
            <a:r>
              <a:rPr lang="en-US" sz="2000" b="1" dirty="0">
                <a:solidFill>
                  <a:srgbClr val="BC8CFF"/>
                </a:solidFill>
              </a:rPr>
              <a:t>z₁ = w₁₁·x₁ + w₂₁·x₂ + b₁</a:t>
            </a:r>
            <a:endParaRPr lang="en-US" sz="2000" dirty="0"/>
          </a:p>
        </p:txBody>
      </p:sp>
      <p:sp>
        <p:nvSpPr>
          <p:cNvPr id="8" name="Shape 6"/>
          <p:cNvSpPr/>
          <p:nvPr/>
        </p:nvSpPr>
        <p:spPr>
          <a:xfrm>
            <a:off x="320040" y="2286000"/>
            <a:ext cx="4114800" cy="260604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9" name="Text 7"/>
          <p:cNvSpPr/>
          <p:nvPr/>
        </p:nvSpPr>
        <p:spPr>
          <a:xfrm>
            <a:off x="457200" y="2331720"/>
            <a:ext cx="3840480" cy="274320"/>
          </a:xfrm>
          <a:prstGeom prst="rect">
            <a:avLst/>
          </a:prstGeom>
          <a:noFill/>
          <a:ln/>
        </p:spPr>
        <p:txBody>
          <a:bodyPr wrap="square" lIns="0" tIns="0" rIns="0" bIns="0" rtlCol="0" anchor="ctr"/>
          <a:lstStyle/>
          <a:p>
            <a:pPr marL="0" indent="0" algn="ctr">
              <a:buNone/>
            </a:pPr>
            <a:r>
              <a:rPr lang="en-US" sz="1000" dirty="0">
                <a:solidFill>
                  <a:srgbClr val="8B949E"/>
                </a:solidFill>
              </a:rPr>
              <a:t>Matrix Form  (for all neurons at once)</a:t>
            </a:r>
            <a:endParaRPr lang="en-US" sz="1000" dirty="0"/>
          </a:p>
        </p:txBody>
      </p:sp>
      <p:sp>
        <p:nvSpPr>
          <p:cNvPr id="10" name="Text 8"/>
          <p:cNvSpPr/>
          <p:nvPr/>
        </p:nvSpPr>
        <p:spPr>
          <a:xfrm>
            <a:off x="457200" y="2697480"/>
            <a:ext cx="182880" cy="1005840"/>
          </a:xfrm>
          <a:prstGeom prst="rect">
            <a:avLst/>
          </a:prstGeom>
          <a:noFill/>
          <a:ln/>
        </p:spPr>
        <p:txBody>
          <a:bodyPr wrap="square" lIns="0" tIns="0" rIns="0" bIns="0" rtlCol="0" anchor="ctr"/>
          <a:lstStyle/>
          <a:p>
            <a:pPr marL="0" indent="0" algn="ctr">
              <a:buNone/>
            </a:pPr>
            <a:r>
              <a:rPr lang="en-US" sz="1300" b="1" dirty="0">
                <a:solidFill>
                  <a:srgbClr val="BC8CFF"/>
                </a:solidFill>
              </a:rPr>
              <a:t>z</a:t>
            </a:r>
            <a:endParaRPr lang="en-US" sz="1300" dirty="0"/>
          </a:p>
        </p:txBody>
      </p:sp>
      <p:sp>
        <p:nvSpPr>
          <p:cNvPr id="11" name="Shape 9"/>
          <p:cNvSpPr/>
          <p:nvPr/>
        </p:nvSpPr>
        <p:spPr>
          <a:xfrm>
            <a:off x="658368" y="2670048"/>
            <a:ext cx="502920" cy="1051560"/>
          </a:xfrm>
          <a:prstGeom prst="rect">
            <a:avLst/>
          </a:prstGeom>
          <a:solidFill>
            <a:srgbClr val="21262D"/>
          </a:solidFill>
          <a:ln w="12700">
            <a:solidFill>
              <a:srgbClr val="BC8CFF"/>
            </a:solidFill>
            <a:prstDash val="solid"/>
          </a:ln>
        </p:spPr>
        <p:txBody>
          <a:bodyPr/>
          <a:lstStyle/>
          <a:p>
            <a:endParaRPr lang="fr-FR"/>
          </a:p>
        </p:txBody>
      </p:sp>
      <p:sp>
        <p:nvSpPr>
          <p:cNvPr id="12" name="Text 10"/>
          <p:cNvSpPr/>
          <p:nvPr/>
        </p:nvSpPr>
        <p:spPr>
          <a:xfrm>
            <a:off x="658368" y="2715768"/>
            <a:ext cx="502920" cy="292608"/>
          </a:xfrm>
          <a:prstGeom prst="rect">
            <a:avLst/>
          </a:prstGeom>
          <a:noFill/>
          <a:ln/>
        </p:spPr>
        <p:txBody>
          <a:bodyPr wrap="square" lIns="0" tIns="0" rIns="0" bIns="0" rtlCol="0" anchor="ctr"/>
          <a:lstStyle/>
          <a:p>
            <a:pPr marL="0" indent="0" algn="ctr">
              <a:buNone/>
            </a:pPr>
            <a:r>
              <a:rPr lang="en-US" sz="1000" dirty="0">
                <a:solidFill>
                  <a:srgbClr val="BC8CFF"/>
                </a:solidFill>
              </a:rPr>
              <a:t>z₁</a:t>
            </a:r>
            <a:endParaRPr lang="en-US" sz="1000" dirty="0"/>
          </a:p>
        </p:txBody>
      </p:sp>
      <p:sp>
        <p:nvSpPr>
          <p:cNvPr id="13" name="Text 11"/>
          <p:cNvSpPr/>
          <p:nvPr/>
        </p:nvSpPr>
        <p:spPr>
          <a:xfrm>
            <a:off x="658368" y="3035808"/>
            <a:ext cx="502920" cy="292608"/>
          </a:xfrm>
          <a:prstGeom prst="rect">
            <a:avLst/>
          </a:prstGeom>
          <a:noFill/>
          <a:ln/>
        </p:spPr>
        <p:txBody>
          <a:bodyPr wrap="square" lIns="0" tIns="0" rIns="0" bIns="0" rtlCol="0" anchor="ctr"/>
          <a:lstStyle/>
          <a:p>
            <a:pPr marL="0" indent="0" algn="ctr">
              <a:buNone/>
            </a:pPr>
            <a:r>
              <a:rPr lang="en-US" sz="1000" dirty="0">
                <a:solidFill>
                  <a:srgbClr val="BC8CFF"/>
                </a:solidFill>
              </a:rPr>
              <a:t>z₂</a:t>
            </a:r>
            <a:endParaRPr lang="en-US" sz="1000" dirty="0"/>
          </a:p>
        </p:txBody>
      </p:sp>
      <p:sp>
        <p:nvSpPr>
          <p:cNvPr id="14" name="Text 12"/>
          <p:cNvSpPr/>
          <p:nvPr/>
        </p:nvSpPr>
        <p:spPr>
          <a:xfrm>
            <a:off x="658368" y="3355848"/>
            <a:ext cx="502920" cy="292608"/>
          </a:xfrm>
          <a:prstGeom prst="rect">
            <a:avLst/>
          </a:prstGeom>
          <a:noFill/>
          <a:ln/>
        </p:spPr>
        <p:txBody>
          <a:bodyPr wrap="square" lIns="0" tIns="0" rIns="0" bIns="0" rtlCol="0" anchor="ctr"/>
          <a:lstStyle/>
          <a:p>
            <a:pPr marL="0" indent="0" algn="ctr">
              <a:buNone/>
            </a:pPr>
            <a:r>
              <a:rPr lang="en-US" sz="1000" dirty="0">
                <a:solidFill>
                  <a:srgbClr val="BC8CFF"/>
                </a:solidFill>
              </a:rPr>
              <a:t>z₃</a:t>
            </a:r>
            <a:endParaRPr lang="en-US" sz="1000" dirty="0"/>
          </a:p>
        </p:txBody>
      </p:sp>
      <p:sp>
        <p:nvSpPr>
          <p:cNvPr id="15" name="Text 13"/>
          <p:cNvSpPr/>
          <p:nvPr/>
        </p:nvSpPr>
        <p:spPr>
          <a:xfrm>
            <a:off x="1234440" y="3017520"/>
            <a:ext cx="256032" cy="411480"/>
          </a:xfrm>
          <a:prstGeom prst="rect">
            <a:avLst/>
          </a:prstGeom>
          <a:noFill/>
          <a:ln/>
        </p:spPr>
        <p:txBody>
          <a:bodyPr wrap="square" lIns="0" tIns="0" rIns="0" bIns="0" rtlCol="0" anchor="ctr"/>
          <a:lstStyle/>
          <a:p>
            <a:pPr marL="0" indent="0" algn="ctr">
              <a:buNone/>
            </a:pPr>
            <a:r>
              <a:rPr lang="en-US" sz="1800" dirty="0">
                <a:solidFill>
                  <a:srgbClr val="F0F6FC"/>
                </a:solidFill>
              </a:rPr>
              <a:t>=</a:t>
            </a:r>
            <a:endParaRPr lang="en-US" sz="1800" dirty="0"/>
          </a:p>
        </p:txBody>
      </p:sp>
      <p:sp>
        <p:nvSpPr>
          <p:cNvPr id="16" name="Text 14"/>
          <p:cNvSpPr/>
          <p:nvPr/>
        </p:nvSpPr>
        <p:spPr>
          <a:xfrm>
            <a:off x="1508760" y="2697480"/>
            <a:ext cx="182880" cy="1005840"/>
          </a:xfrm>
          <a:prstGeom prst="rect">
            <a:avLst/>
          </a:prstGeom>
          <a:noFill/>
          <a:ln/>
        </p:spPr>
        <p:txBody>
          <a:bodyPr wrap="square" lIns="0" tIns="0" rIns="0" bIns="0" rtlCol="0" anchor="ctr"/>
          <a:lstStyle/>
          <a:p>
            <a:pPr marL="0" indent="0" algn="ctr">
              <a:buNone/>
            </a:pPr>
            <a:r>
              <a:rPr lang="en-US" sz="1300" b="1" dirty="0">
                <a:solidFill>
                  <a:srgbClr val="F0883E"/>
                </a:solidFill>
              </a:rPr>
              <a:t>W</a:t>
            </a:r>
            <a:endParaRPr lang="en-US" sz="1300" dirty="0"/>
          </a:p>
        </p:txBody>
      </p:sp>
      <p:sp>
        <p:nvSpPr>
          <p:cNvPr id="17" name="Shape 15"/>
          <p:cNvSpPr/>
          <p:nvPr/>
        </p:nvSpPr>
        <p:spPr>
          <a:xfrm>
            <a:off x="1709928" y="2670048"/>
            <a:ext cx="960120" cy="1051560"/>
          </a:xfrm>
          <a:prstGeom prst="rect">
            <a:avLst/>
          </a:prstGeom>
          <a:solidFill>
            <a:srgbClr val="21262D"/>
          </a:solidFill>
          <a:ln w="12700">
            <a:solidFill>
              <a:srgbClr val="F0883E"/>
            </a:solidFill>
            <a:prstDash val="solid"/>
          </a:ln>
        </p:spPr>
        <p:txBody>
          <a:bodyPr/>
          <a:lstStyle/>
          <a:p>
            <a:endParaRPr lang="fr-FR"/>
          </a:p>
        </p:txBody>
      </p:sp>
      <p:sp>
        <p:nvSpPr>
          <p:cNvPr id="18" name="Text 16"/>
          <p:cNvSpPr/>
          <p:nvPr/>
        </p:nvSpPr>
        <p:spPr>
          <a:xfrm>
            <a:off x="1709928" y="2715768"/>
            <a:ext cx="457200" cy="292608"/>
          </a:xfrm>
          <a:prstGeom prst="rect">
            <a:avLst/>
          </a:prstGeom>
          <a:noFill/>
          <a:ln/>
        </p:spPr>
        <p:txBody>
          <a:bodyPr wrap="square" lIns="0" tIns="0" rIns="0" bIns="0" rtlCol="0" anchor="ctr"/>
          <a:lstStyle/>
          <a:p>
            <a:pPr marL="0" indent="0" algn="ctr">
              <a:buNone/>
            </a:pPr>
            <a:r>
              <a:rPr lang="en-US" sz="900" dirty="0">
                <a:solidFill>
                  <a:srgbClr val="F0883E"/>
                </a:solidFill>
              </a:rPr>
              <a:t>w₁₁</a:t>
            </a:r>
            <a:endParaRPr lang="en-US" sz="900" dirty="0"/>
          </a:p>
        </p:txBody>
      </p:sp>
      <p:sp>
        <p:nvSpPr>
          <p:cNvPr id="19" name="Text 17"/>
          <p:cNvSpPr/>
          <p:nvPr/>
        </p:nvSpPr>
        <p:spPr>
          <a:xfrm>
            <a:off x="2167128" y="2715768"/>
            <a:ext cx="457200" cy="292608"/>
          </a:xfrm>
          <a:prstGeom prst="rect">
            <a:avLst/>
          </a:prstGeom>
          <a:noFill/>
          <a:ln/>
        </p:spPr>
        <p:txBody>
          <a:bodyPr wrap="square" lIns="0" tIns="0" rIns="0" bIns="0" rtlCol="0" anchor="ctr"/>
          <a:lstStyle/>
          <a:p>
            <a:pPr marL="0" indent="0" algn="ctr">
              <a:buNone/>
            </a:pPr>
            <a:r>
              <a:rPr lang="en-US" sz="900" dirty="0">
                <a:solidFill>
                  <a:srgbClr val="F0883E"/>
                </a:solidFill>
              </a:rPr>
              <a:t>w₁₂</a:t>
            </a:r>
            <a:endParaRPr lang="en-US" sz="900" dirty="0"/>
          </a:p>
        </p:txBody>
      </p:sp>
      <p:sp>
        <p:nvSpPr>
          <p:cNvPr id="20" name="Text 18"/>
          <p:cNvSpPr/>
          <p:nvPr/>
        </p:nvSpPr>
        <p:spPr>
          <a:xfrm>
            <a:off x="1709928" y="3035808"/>
            <a:ext cx="457200" cy="292608"/>
          </a:xfrm>
          <a:prstGeom prst="rect">
            <a:avLst/>
          </a:prstGeom>
          <a:noFill/>
          <a:ln/>
        </p:spPr>
        <p:txBody>
          <a:bodyPr wrap="square" lIns="0" tIns="0" rIns="0" bIns="0" rtlCol="0" anchor="ctr"/>
          <a:lstStyle/>
          <a:p>
            <a:pPr marL="0" indent="0" algn="ctr">
              <a:buNone/>
            </a:pPr>
            <a:r>
              <a:rPr lang="en-US" sz="900" dirty="0">
                <a:solidFill>
                  <a:srgbClr val="F0883E"/>
                </a:solidFill>
              </a:rPr>
              <a:t>w₂₁</a:t>
            </a:r>
            <a:endParaRPr lang="en-US" sz="900" dirty="0"/>
          </a:p>
        </p:txBody>
      </p:sp>
      <p:sp>
        <p:nvSpPr>
          <p:cNvPr id="21" name="Text 19"/>
          <p:cNvSpPr/>
          <p:nvPr/>
        </p:nvSpPr>
        <p:spPr>
          <a:xfrm>
            <a:off x="2167128" y="3035808"/>
            <a:ext cx="457200" cy="292608"/>
          </a:xfrm>
          <a:prstGeom prst="rect">
            <a:avLst/>
          </a:prstGeom>
          <a:noFill/>
          <a:ln/>
        </p:spPr>
        <p:txBody>
          <a:bodyPr wrap="square" lIns="0" tIns="0" rIns="0" bIns="0" rtlCol="0" anchor="ctr"/>
          <a:lstStyle/>
          <a:p>
            <a:pPr marL="0" indent="0" algn="ctr">
              <a:buNone/>
            </a:pPr>
            <a:r>
              <a:rPr lang="en-US" sz="900" dirty="0">
                <a:solidFill>
                  <a:srgbClr val="F0883E"/>
                </a:solidFill>
              </a:rPr>
              <a:t>w₂₂</a:t>
            </a:r>
            <a:endParaRPr lang="en-US" sz="900" dirty="0"/>
          </a:p>
        </p:txBody>
      </p:sp>
      <p:sp>
        <p:nvSpPr>
          <p:cNvPr id="22" name="Text 20"/>
          <p:cNvSpPr/>
          <p:nvPr/>
        </p:nvSpPr>
        <p:spPr>
          <a:xfrm>
            <a:off x="1709928" y="3355848"/>
            <a:ext cx="457200" cy="292608"/>
          </a:xfrm>
          <a:prstGeom prst="rect">
            <a:avLst/>
          </a:prstGeom>
          <a:noFill/>
          <a:ln/>
        </p:spPr>
        <p:txBody>
          <a:bodyPr wrap="square" lIns="0" tIns="0" rIns="0" bIns="0" rtlCol="0" anchor="ctr"/>
          <a:lstStyle/>
          <a:p>
            <a:pPr marL="0" indent="0" algn="ctr">
              <a:buNone/>
            </a:pPr>
            <a:r>
              <a:rPr lang="en-US" sz="900" dirty="0">
                <a:solidFill>
                  <a:srgbClr val="F0883E"/>
                </a:solidFill>
              </a:rPr>
              <a:t>w₃₁</a:t>
            </a:r>
            <a:endParaRPr lang="en-US" sz="900" dirty="0"/>
          </a:p>
        </p:txBody>
      </p:sp>
      <p:sp>
        <p:nvSpPr>
          <p:cNvPr id="23" name="Text 21"/>
          <p:cNvSpPr/>
          <p:nvPr/>
        </p:nvSpPr>
        <p:spPr>
          <a:xfrm>
            <a:off x="2167128" y="3355848"/>
            <a:ext cx="457200" cy="292608"/>
          </a:xfrm>
          <a:prstGeom prst="rect">
            <a:avLst/>
          </a:prstGeom>
          <a:noFill/>
          <a:ln/>
        </p:spPr>
        <p:txBody>
          <a:bodyPr wrap="square" lIns="0" tIns="0" rIns="0" bIns="0" rtlCol="0" anchor="ctr"/>
          <a:lstStyle/>
          <a:p>
            <a:pPr marL="0" indent="0" algn="ctr">
              <a:buNone/>
            </a:pPr>
            <a:r>
              <a:rPr lang="en-US" sz="900" dirty="0">
                <a:solidFill>
                  <a:srgbClr val="F0883E"/>
                </a:solidFill>
              </a:rPr>
              <a:t>w₃₂</a:t>
            </a:r>
            <a:endParaRPr lang="en-US" sz="900" dirty="0"/>
          </a:p>
        </p:txBody>
      </p:sp>
      <p:sp>
        <p:nvSpPr>
          <p:cNvPr id="24" name="Text 22"/>
          <p:cNvSpPr/>
          <p:nvPr/>
        </p:nvSpPr>
        <p:spPr>
          <a:xfrm>
            <a:off x="2724912" y="3017520"/>
            <a:ext cx="201168" cy="411480"/>
          </a:xfrm>
          <a:prstGeom prst="rect">
            <a:avLst/>
          </a:prstGeom>
          <a:noFill/>
          <a:ln/>
        </p:spPr>
        <p:txBody>
          <a:bodyPr wrap="square" lIns="0" tIns="0" rIns="0" bIns="0" rtlCol="0" anchor="ctr"/>
          <a:lstStyle/>
          <a:p>
            <a:pPr marL="0" indent="0" algn="ctr">
              <a:buNone/>
            </a:pPr>
            <a:r>
              <a:rPr lang="en-US" sz="2200" dirty="0">
                <a:solidFill>
                  <a:srgbClr val="F0F6FC"/>
                </a:solidFill>
              </a:rPr>
              <a:t>·</a:t>
            </a:r>
            <a:endParaRPr lang="en-US" sz="2200" dirty="0"/>
          </a:p>
        </p:txBody>
      </p:sp>
      <p:sp>
        <p:nvSpPr>
          <p:cNvPr id="25" name="Text 23"/>
          <p:cNvSpPr/>
          <p:nvPr/>
        </p:nvSpPr>
        <p:spPr>
          <a:xfrm>
            <a:off x="2944368" y="2697480"/>
            <a:ext cx="182880" cy="1005840"/>
          </a:xfrm>
          <a:prstGeom prst="rect">
            <a:avLst/>
          </a:prstGeom>
          <a:noFill/>
          <a:ln/>
        </p:spPr>
        <p:txBody>
          <a:bodyPr wrap="square" lIns="0" tIns="0" rIns="0" bIns="0" rtlCol="0" anchor="ctr"/>
          <a:lstStyle/>
          <a:p>
            <a:pPr marL="0" indent="0" algn="ctr">
              <a:buNone/>
            </a:pPr>
            <a:r>
              <a:rPr lang="en-US" sz="1300" b="1" dirty="0">
                <a:solidFill>
                  <a:srgbClr val="58A6FF"/>
                </a:solidFill>
              </a:rPr>
              <a:t>x</a:t>
            </a:r>
            <a:endParaRPr lang="en-US" sz="1300" dirty="0"/>
          </a:p>
        </p:txBody>
      </p:sp>
      <p:sp>
        <p:nvSpPr>
          <p:cNvPr id="26" name="Shape 24"/>
          <p:cNvSpPr/>
          <p:nvPr/>
        </p:nvSpPr>
        <p:spPr>
          <a:xfrm>
            <a:off x="3145536" y="2670048"/>
            <a:ext cx="502920" cy="1051560"/>
          </a:xfrm>
          <a:prstGeom prst="rect">
            <a:avLst/>
          </a:prstGeom>
          <a:solidFill>
            <a:srgbClr val="21262D"/>
          </a:solidFill>
          <a:ln w="12700">
            <a:solidFill>
              <a:srgbClr val="58A6FF"/>
            </a:solidFill>
            <a:prstDash val="solid"/>
          </a:ln>
        </p:spPr>
        <p:txBody>
          <a:bodyPr/>
          <a:lstStyle/>
          <a:p>
            <a:endParaRPr lang="fr-FR"/>
          </a:p>
        </p:txBody>
      </p:sp>
      <p:sp>
        <p:nvSpPr>
          <p:cNvPr id="27" name="Text 25"/>
          <p:cNvSpPr/>
          <p:nvPr/>
        </p:nvSpPr>
        <p:spPr>
          <a:xfrm>
            <a:off x="3145536" y="2715768"/>
            <a:ext cx="502920" cy="292608"/>
          </a:xfrm>
          <a:prstGeom prst="rect">
            <a:avLst/>
          </a:prstGeom>
          <a:noFill/>
          <a:ln/>
        </p:spPr>
        <p:txBody>
          <a:bodyPr wrap="square" lIns="0" tIns="0" rIns="0" bIns="0" rtlCol="0" anchor="ctr"/>
          <a:lstStyle/>
          <a:p>
            <a:pPr marL="0" indent="0" algn="ctr">
              <a:buNone/>
            </a:pPr>
            <a:r>
              <a:rPr lang="en-US" sz="1000" dirty="0">
                <a:solidFill>
                  <a:srgbClr val="58A6FF"/>
                </a:solidFill>
              </a:rPr>
              <a:t>x₁</a:t>
            </a:r>
            <a:endParaRPr lang="en-US" sz="1000" dirty="0"/>
          </a:p>
        </p:txBody>
      </p:sp>
      <p:sp>
        <p:nvSpPr>
          <p:cNvPr id="28" name="Text 26"/>
          <p:cNvSpPr/>
          <p:nvPr/>
        </p:nvSpPr>
        <p:spPr>
          <a:xfrm>
            <a:off x="3145536" y="3035808"/>
            <a:ext cx="502920" cy="292608"/>
          </a:xfrm>
          <a:prstGeom prst="rect">
            <a:avLst/>
          </a:prstGeom>
          <a:noFill/>
          <a:ln/>
        </p:spPr>
        <p:txBody>
          <a:bodyPr wrap="square" lIns="0" tIns="0" rIns="0" bIns="0" rtlCol="0" anchor="ctr"/>
          <a:lstStyle/>
          <a:p>
            <a:pPr marL="0" indent="0" algn="ctr">
              <a:buNone/>
            </a:pPr>
            <a:r>
              <a:rPr lang="en-US" sz="1000" dirty="0">
                <a:solidFill>
                  <a:srgbClr val="58A6FF"/>
                </a:solidFill>
              </a:rPr>
              <a:t>x₂</a:t>
            </a:r>
            <a:endParaRPr lang="en-US" sz="1000" dirty="0"/>
          </a:p>
        </p:txBody>
      </p:sp>
      <p:sp>
        <p:nvSpPr>
          <p:cNvPr id="29" name="Text 27"/>
          <p:cNvSpPr/>
          <p:nvPr/>
        </p:nvSpPr>
        <p:spPr>
          <a:xfrm>
            <a:off x="3145536" y="3355848"/>
            <a:ext cx="502920" cy="256032"/>
          </a:xfrm>
          <a:prstGeom prst="rect">
            <a:avLst/>
          </a:prstGeom>
          <a:noFill/>
          <a:ln/>
        </p:spPr>
        <p:txBody>
          <a:bodyPr wrap="square" lIns="0" tIns="0" rIns="0" bIns="0" rtlCol="0" anchor="ctr"/>
          <a:lstStyle/>
          <a:p>
            <a:pPr marL="0" indent="0" algn="ctr">
              <a:buNone/>
            </a:pPr>
            <a:r>
              <a:rPr lang="en-US" sz="700" dirty="0">
                <a:solidFill>
                  <a:srgbClr val="8B949E"/>
                </a:solidFill>
              </a:rPr>
              <a:t>(padded)</a:t>
            </a:r>
            <a:endParaRPr lang="en-US" sz="700" dirty="0"/>
          </a:p>
        </p:txBody>
      </p:sp>
      <p:sp>
        <p:nvSpPr>
          <p:cNvPr id="30" name="Text 28"/>
          <p:cNvSpPr/>
          <p:nvPr/>
        </p:nvSpPr>
        <p:spPr>
          <a:xfrm>
            <a:off x="3675888" y="3017520"/>
            <a:ext cx="201168" cy="411480"/>
          </a:xfrm>
          <a:prstGeom prst="rect">
            <a:avLst/>
          </a:prstGeom>
          <a:noFill/>
          <a:ln/>
        </p:spPr>
        <p:txBody>
          <a:bodyPr wrap="square" lIns="0" tIns="0" rIns="0" bIns="0" rtlCol="0" anchor="ctr"/>
          <a:lstStyle/>
          <a:p>
            <a:pPr marL="0" indent="0" algn="ctr">
              <a:buNone/>
            </a:pPr>
            <a:r>
              <a:rPr lang="en-US" sz="1800" dirty="0">
                <a:solidFill>
                  <a:srgbClr val="F0F6FC"/>
                </a:solidFill>
              </a:rPr>
              <a:t>+</a:t>
            </a:r>
            <a:endParaRPr lang="en-US" sz="1800" dirty="0"/>
          </a:p>
        </p:txBody>
      </p:sp>
      <p:sp>
        <p:nvSpPr>
          <p:cNvPr id="31" name="Text 29"/>
          <p:cNvSpPr/>
          <p:nvPr/>
        </p:nvSpPr>
        <p:spPr>
          <a:xfrm>
            <a:off x="3895344" y="2697480"/>
            <a:ext cx="182880" cy="1005840"/>
          </a:xfrm>
          <a:prstGeom prst="rect">
            <a:avLst/>
          </a:prstGeom>
          <a:noFill/>
          <a:ln/>
        </p:spPr>
        <p:txBody>
          <a:bodyPr wrap="square" lIns="0" tIns="0" rIns="0" bIns="0" rtlCol="0" anchor="ctr"/>
          <a:lstStyle/>
          <a:p>
            <a:pPr marL="0" indent="0" algn="ctr">
              <a:buNone/>
            </a:pPr>
            <a:r>
              <a:rPr lang="en-US" sz="1300" b="1" dirty="0">
                <a:solidFill>
                  <a:srgbClr val="E3B341"/>
                </a:solidFill>
              </a:rPr>
              <a:t>b</a:t>
            </a:r>
            <a:endParaRPr lang="en-US" sz="1300" dirty="0"/>
          </a:p>
        </p:txBody>
      </p:sp>
      <p:sp>
        <p:nvSpPr>
          <p:cNvPr id="32" name="Shape 30"/>
          <p:cNvSpPr/>
          <p:nvPr/>
        </p:nvSpPr>
        <p:spPr>
          <a:xfrm>
            <a:off x="4096512" y="2670048"/>
            <a:ext cx="256032" cy="1051560"/>
          </a:xfrm>
          <a:prstGeom prst="rect">
            <a:avLst/>
          </a:prstGeom>
          <a:solidFill>
            <a:srgbClr val="21262D"/>
          </a:solidFill>
          <a:ln w="12700">
            <a:solidFill>
              <a:srgbClr val="E3B341"/>
            </a:solidFill>
            <a:prstDash val="solid"/>
          </a:ln>
        </p:spPr>
        <p:txBody>
          <a:bodyPr/>
          <a:lstStyle/>
          <a:p>
            <a:endParaRPr lang="fr-FR"/>
          </a:p>
        </p:txBody>
      </p:sp>
      <p:sp>
        <p:nvSpPr>
          <p:cNvPr id="33" name="Text 31"/>
          <p:cNvSpPr/>
          <p:nvPr/>
        </p:nvSpPr>
        <p:spPr>
          <a:xfrm>
            <a:off x="4096512" y="2715768"/>
            <a:ext cx="256032" cy="292608"/>
          </a:xfrm>
          <a:prstGeom prst="rect">
            <a:avLst/>
          </a:prstGeom>
          <a:noFill/>
          <a:ln/>
        </p:spPr>
        <p:txBody>
          <a:bodyPr wrap="square" lIns="0" tIns="0" rIns="0" bIns="0" rtlCol="0" anchor="ctr"/>
          <a:lstStyle/>
          <a:p>
            <a:pPr marL="0" indent="0" algn="ctr">
              <a:buNone/>
            </a:pPr>
            <a:r>
              <a:rPr lang="en-US" sz="900" dirty="0">
                <a:solidFill>
                  <a:srgbClr val="E3B341"/>
                </a:solidFill>
              </a:rPr>
              <a:t>b₁</a:t>
            </a:r>
            <a:endParaRPr lang="en-US" sz="900" dirty="0"/>
          </a:p>
        </p:txBody>
      </p:sp>
      <p:sp>
        <p:nvSpPr>
          <p:cNvPr id="34" name="Text 32"/>
          <p:cNvSpPr/>
          <p:nvPr/>
        </p:nvSpPr>
        <p:spPr>
          <a:xfrm>
            <a:off x="4096512" y="3035808"/>
            <a:ext cx="256032" cy="292608"/>
          </a:xfrm>
          <a:prstGeom prst="rect">
            <a:avLst/>
          </a:prstGeom>
          <a:noFill/>
          <a:ln/>
        </p:spPr>
        <p:txBody>
          <a:bodyPr wrap="square" lIns="0" tIns="0" rIns="0" bIns="0" rtlCol="0" anchor="ctr"/>
          <a:lstStyle/>
          <a:p>
            <a:pPr marL="0" indent="0" algn="ctr">
              <a:buNone/>
            </a:pPr>
            <a:r>
              <a:rPr lang="en-US" sz="900" dirty="0">
                <a:solidFill>
                  <a:srgbClr val="E3B341"/>
                </a:solidFill>
              </a:rPr>
              <a:t>b₂</a:t>
            </a:r>
            <a:endParaRPr lang="en-US" sz="900" dirty="0"/>
          </a:p>
        </p:txBody>
      </p:sp>
      <p:sp>
        <p:nvSpPr>
          <p:cNvPr id="35" name="Text 33"/>
          <p:cNvSpPr/>
          <p:nvPr/>
        </p:nvSpPr>
        <p:spPr>
          <a:xfrm>
            <a:off x="4096512" y="3355848"/>
            <a:ext cx="256032" cy="292608"/>
          </a:xfrm>
          <a:prstGeom prst="rect">
            <a:avLst/>
          </a:prstGeom>
          <a:noFill/>
          <a:ln/>
        </p:spPr>
        <p:txBody>
          <a:bodyPr wrap="square" lIns="0" tIns="0" rIns="0" bIns="0" rtlCol="0" anchor="ctr"/>
          <a:lstStyle/>
          <a:p>
            <a:pPr marL="0" indent="0" algn="ctr">
              <a:buNone/>
            </a:pPr>
            <a:r>
              <a:rPr lang="en-US" sz="900" dirty="0">
                <a:solidFill>
                  <a:srgbClr val="E3B341"/>
                </a:solidFill>
              </a:rPr>
              <a:t>b₃</a:t>
            </a:r>
            <a:endParaRPr lang="en-US" sz="900" dirty="0"/>
          </a:p>
        </p:txBody>
      </p:sp>
      <p:sp>
        <p:nvSpPr>
          <p:cNvPr id="36" name="Shape 34"/>
          <p:cNvSpPr/>
          <p:nvPr/>
        </p:nvSpPr>
        <p:spPr>
          <a:xfrm>
            <a:off x="4709160" y="2286000"/>
            <a:ext cx="4114800" cy="260604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37" name="Text 35"/>
          <p:cNvSpPr/>
          <p:nvPr/>
        </p:nvSpPr>
        <p:spPr>
          <a:xfrm>
            <a:off x="4846320" y="2331720"/>
            <a:ext cx="3840480" cy="274320"/>
          </a:xfrm>
          <a:prstGeom prst="rect">
            <a:avLst/>
          </a:prstGeom>
          <a:noFill/>
          <a:ln/>
        </p:spPr>
        <p:txBody>
          <a:bodyPr wrap="square" lIns="0" tIns="0" rIns="0" bIns="0" rtlCol="0" anchor="ctr"/>
          <a:lstStyle/>
          <a:p>
            <a:pPr marL="0" indent="0" algn="ctr">
              <a:buNone/>
            </a:pPr>
            <a:r>
              <a:rPr lang="en-US" sz="1000" dirty="0">
                <a:solidFill>
                  <a:srgbClr val="8B949E"/>
                </a:solidFill>
              </a:rPr>
              <a:t>Numeric Example  (x₁=0.5, x₂=0.8)</a:t>
            </a:r>
            <a:endParaRPr lang="en-US" sz="1000" dirty="0"/>
          </a:p>
        </p:txBody>
      </p:sp>
      <p:sp>
        <p:nvSpPr>
          <p:cNvPr id="38" name="Text 36"/>
          <p:cNvSpPr/>
          <p:nvPr/>
        </p:nvSpPr>
        <p:spPr>
          <a:xfrm>
            <a:off x="4846320" y="2670048"/>
            <a:ext cx="3840480" cy="274320"/>
          </a:xfrm>
          <a:prstGeom prst="rect">
            <a:avLst/>
          </a:prstGeom>
          <a:noFill/>
          <a:ln/>
        </p:spPr>
        <p:txBody>
          <a:bodyPr wrap="square" lIns="0" tIns="0" rIns="0" bIns="0" rtlCol="0" anchor="ctr"/>
          <a:lstStyle/>
          <a:p>
            <a:pPr marL="0" indent="0">
              <a:buNone/>
            </a:pPr>
            <a:r>
              <a:rPr lang="en-US" sz="1100" dirty="0">
                <a:solidFill>
                  <a:srgbClr val="F0F6FC"/>
                </a:solidFill>
              </a:rPr>
              <a:t>z₁ = w₁₁·x₁ + w₁₂·x₂ + b₁</a:t>
            </a:r>
            <a:endParaRPr lang="en-US" sz="1100" dirty="0"/>
          </a:p>
        </p:txBody>
      </p:sp>
      <p:sp>
        <p:nvSpPr>
          <p:cNvPr id="39" name="Text 37"/>
          <p:cNvSpPr/>
          <p:nvPr/>
        </p:nvSpPr>
        <p:spPr>
          <a:xfrm>
            <a:off x="4846320" y="2944368"/>
            <a:ext cx="3840480" cy="274320"/>
          </a:xfrm>
          <a:prstGeom prst="rect">
            <a:avLst/>
          </a:prstGeom>
          <a:noFill/>
          <a:ln/>
        </p:spPr>
        <p:txBody>
          <a:bodyPr wrap="square" lIns="0" tIns="0" rIns="0" bIns="0" rtlCol="0" anchor="ctr"/>
          <a:lstStyle/>
          <a:p>
            <a:pPr marL="0" indent="0">
              <a:buNone/>
            </a:pPr>
            <a:r>
              <a:rPr lang="en-US" sz="1100" dirty="0">
                <a:solidFill>
                  <a:srgbClr val="F0F6FC"/>
                </a:solidFill>
              </a:rPr>
              <a:t>     = 0.4·0.5 + 0.6·0.8 + 0.1</a:t>
            </a:r>
            <a:endParaRPr lang="en-US" sz="1100" dirty="0"/>
          </a:p>
        </p:txBody>
      </p:sp>
      <p:sp>
        <p:nvSpPr>
          <p:cNvPr id="40" name="Text 38"/>
          <p:cNvSpPr/>
          <p:nvPr/>
        </p:nvSpPr>
        <p:spPr>
          <a:xfrm>
            <a:off x="4846320" y="3218688"/>
            <a:ext cx="3840480" cy="274320"/>
          </a:xfrm>
          <a:prstGeom prst="rect">
            <a:avLst/>
          </a:prstGeom>
          <a:noFill/>
          <a:ln/>
        </p:spPr>
        <p:txBody>
          <a:bodyPr wrap="square" lIns="0" tIns="0" rIns="0" bIns="0" rtlCol="0" anchor="ctr"/>
          <a:lstStyle/>
          <a:p>
            <a:pPr marL="0" indent="0">
              <a:buNone/>
            </a:pPr>
            <a:r>
              <a:rPr lang="en-US" sz="1100" dirty="0">
                <a:solidFill>
                  <a:srgbClr val="8B949E"/>
                </a:solidFill>
              </a:rPr>
              <a:t>     = 0.20 + 0.48 + 0.10</a:t>
            </a:r>
            <a:endParaRPr lang="en-US" sz="1100" dirty="0"/>
          </a:p>
        </p:txBody>
      </p:sp>
      <p:sp>
        <p:nvSpPr>
          <p:cNvPr id="41" name="Shape 39"/>
          <p:cNvSpPr/>
          <p:nvPr/>
        </p:nvSpPr>
        <p:spPr>
          <a:xfrm>
            <a:off x="4846320" y="3547872"/>
            <a:ext cx="3840480" cy="411480"/>
          </a:xfrm>
          <a:prstGeom prst="roundRect">
            <a:avLst>
              <a:gd name="adj" fmla="val 13333"/>
            </a:avLst>
          </a:prstGeom>
          <a:solidFill>
            <a:srgbClr val="21262D"/>
          </a:solidFill>
          <a:ln w="19050">
            <a:solidFill>
              <a:srgbClr val="BC8CFF"/>
            </a:solidFill>
            <a:prstDash val="solid"/>
          </a:ln>
        </p:spPr>
        <p:txBody>
          <a:bodyPr/>
          <a:lstStyle/>
          <a:p>
            <a:endParaRPr lang="fr-FR"/>
          </a:p>
        </p:txBody>
      </p:sp>
      <p:sp>
        <p:nvSpPr>
          <p:cNvPr id="42" name="Text 40"/>
          <p:cNvSpPr/>
          <p:nvPr/>
        </p:nvSpPr>
        <p:spPr>
          <a:xfrm>
            <a:off x="4846320" y="3547872"/>
            <a:ext cx="3840480" cy="411480"/>
          </a:xfrm>
          <a:prstGeom prst="rect">
            <a:avLst/>
          </a:prstGeom>
          <a:noFill/>
          <a:ln/>
        </p:spPr>
        <p:txBody>
          <a:bodyPr wrap="square" lIns="0" tIns="0" rIns="0" bIns="0" rtlCol="0" anchor="ctr"/>
          <a:lstStyle/>
          <a:p>
            <a:pPr marL="0" indent="0">
              <a:buNone/>
            </a:pPr>
            <a:r>
              <a:rPr lang="en-US" sz="1300" b="1" dirty="0">
                <a:solidFill>
                  <a:srgbClr val="BC8CFF"/>
                </a:solidFill>
              </a:rPr>
              <a:t>z₁ = 0.78</a:t>
            </a:r>
            <a:r>
              <a:rPr lang="en-US" sz="1300" dirty="0">
                <a:solidFill>
                  <a:srgbClr val="8B949E"/>
                </a:solidFill>
              </a:rPr>
              <a:t>  ← pre-activation value</a:t>
            </a:r>
            <a:endParaRPr lang="en-US" sz="1300" dirty="0"/>
          </a:p>
        </p:txBody>
      </p:sp>
      <p:sp>
        <p:nvSpPr>
          <p:cNvPr id="43" name="Text 41"/>
          <p:cNvSpPr/>
          <p:nvPr/>
        </p:nvSpPr>
        <p:spPr>
          <a:xfrm>
            <a:off x="4846320" y="4069080"/>
            <a:ext cx="3840480" cy="365760"/>
          </a:xfrm>
          <a:prstGeom prst="rect">
            <a:avLst/>
          </a:prstGeom>
          <a:noFill/>
          <a:ln/>
        </p:spPr>
        <p:txBody>
          <a:bodyPr wrap="square" lIns="0" tIns="0" rIns="0" bIns="0" rtlCol="0" anchor="ctr"/>
          <a:lstStyle/>
          <a:p>
            <a:pPr marL="0" indent="0">
              <a:buNone/>
            </a:pPr>
            <a:r>
              <a:rPr lang="en-US" sz="900" dirty="0">
                <a:solidFill>
                  <a:srgbClr val="8B949E"/>
                </a:solidFill>
              </a:rPr>
              <a:t>Each neuron in the hidden layer computes its own z using different weights.</a:t>
            </a:r>
            <a:endParaRPr lang="en-US" sz="900" dirty="0"/>
          </a:p>
        </p:txBody>
      </p:sp>
      <p:sp>
        <p:nvSpPr>
          <p:cNvPr id="44" name="Text 42"/>
          <p:cNvSpPr/>
          <p:nvPr/>
        </p:nvSpPr>
        <p:spPr>
          <a:xfrm>
            <a:off x="320040" y="4736592"/>
            <a:ext cx="8503920" cy="256032"/>
          </a:xfrm>
          <a:prstGeom prst="rect">
            <a:avLst/>
          </a:prstGeom>
          <a:noFill/>
          <a:ln/>
        </p:spPr>
        <p:txBody>
          <a:bodyPr wrap="square" lIns="0" tIns="0" rIns="0" bIns="0" rtlCol="0" anchor="ctr"/>
          <a:lstStyle/>
          <a:p>
            <a:pPr marL="0" indent="0" algn="ctr">
              <a:buNone/>
            </a:pPr>
            <a:r>
              <a:rPr lang="en-US" sz="1000" i="1" dirty="0">
                <a:solidFill>
                  <a:srgbClr val="58A6FF"/>
                </a:solidFill>
              </a:rPr>
              <a:t>Step 1 complete: we have z  →  Next: apply activation function</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0883E"/>
          </a:solidFill>
          <a:ln w="12700">
            <a:solidFill>
              <a:srgbClr val="F0883E"/>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Forward Pass — Step 2: Activation  a = ReLU(z)</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F0883E"/>
                </a:solidFill>
              </a:rPr>
              <a:t>Turn the raw linear sum into a non-linear signal</a:t>
            </a:r>
            <a:endParaRPr lang="en-US" sz="1200" dirty="0"/>
          </a:p>
        </p:txBody>
      </p:sp>
      <p:sp>
        <p:nvSpPr>
          <p:cNvPr id="5" name="Shape 3"/>
          <p:cNvSpPr/>
          <p:nvPr/>
        </p:nvSpPr>
        <p:spPr>
          <a:xfrm>
            <a:off x="320040" y="1024128"/>
            <a:ext cx="8503920" cy="0"/>
          </a:xfrm>
          <a:prstGeom prst="line">
            <a:avLst/>
          </a:prstGeom>
          <a:noFill/>
          <a:ln w="12700">
            <a:solidFill>
              <a:srgbClr val="F0883E"/>
            </a:solidFill>
            <a:prstDash val="solid"/>
          </a:ln>
        </p:spPr>
        <p:txBody>
          <a:bodyPr/>
          <a:lstStyle/>
          <a:p>
            <a:endParaRPr lang="fr-FR"/>
          </a:p>
        </p:txBody>
      </p:sp>
      <p:sp>
        <p:nvSpPr>
          <p:cNvPr id="6" name="Shape 4"/>
          <p:cNvSpPr/>
          <p:nvPr/>
        </p:nvSpPr>
        <p:spPr>
          <a:xfrm>
            <a:off x="320040" y="1170432"/>
            <a:ext cx="8503920" cy="914400"/>
          </a:xfrm>
          <a:prstGeom prst="rect">
            <a:avLst/>
          </a:prstGeom>
          <a:solidFill>
            <a:srgbClr val="21262D"/>
          </a:solidFill>
          <a:ln w="19050">
            <a:solidFill>
              <a:srgbClr val="F0883E"/>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502920" y="1170432"/>
            <a:ext cx="8321040" cy="914400"/>
          </a:xfrm>
          <a:prstGeom prst="rect">
            <a:avLst/>
          </a:prstGeom>
          <a:noFill/>
          <a:ln/>
        </p:spPr>
        <p:txBody>
          <a:bodyPr wrap="square" lIns="0" tIns="0" rIns="0" bIns="0" rtlCol="0" anchor="ctr"/>
          <a:lstStyle/>
          <a:p>
            <a:pPr marL="0" indent="0">
              <a:buNone/>
            </a:pPr>
            <a:r>
              <a:rPr lang="en-US" sz="1800" b="1" dirty="0">
                <a:solidFill>
                  <a:srgbClr val="F0F6FC"/>
                </a:solidFill>
              </a:rPr>
              <a:t>a  =  </a:t>
            </a:r>
            <a:r>
              <a:rPr lang="en-US" sz="1800" b="1" dirty="0">
                <a:solidFill>
                  <a:srgbClr val="F0883E"/>
                </a:solidFill>
              </a:rPr>
              <a:t>ReLU</a:t>
            </a:r>
            <a:r>
              <a:rPr lang="en-US" sz="1800" dirty="0">
                <a:solidFill>
                  <a:srgbClr val="F0F6FC"/>
                </a:solidFill>
              </a:rPr>
              <a:t>(z)  =  max(0, z)        </a:t>
            </a:r>
            <a:r>
              <a:rPr lang="en-US" sz="1800" dirty="0">
                <a:solidFill>
                  <a:srgbClr val="8B949E"/>
                </a:solidFill>
              </a:rPr>
              <a:t>→  If z &lt; 0, output 0.  If z &gt; 0, output z.</a:t>
            </a:r>
            <a:endParaRPr lang="en-US" sz="1800" dirty="0"/>
          </a:p>
        </p:txBody>
      </p:sp>
      <p:sp>
        <p:nvSpPr>
          <p:cNvPr id="8" name="Shape 6"/>
          <p:cNvSpPr/>
          <p:nvPr/>
        </p:nvSpPr>
        <p:spPr>
          <a:xfrm>
            <a:off x="320040" y="2194560"/>
            <a:ext cx="4023360" cy="265176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9" name="Text 7"/>
          <p:cNvSpPr/>
          <p:nvPr/>
        </p:nvSpPr>
        <p:spPr>
          <a:xfrm>
            <a:off x="457200" y="2240280"/>
            <a:ext cx="3749040" cy="274320"/>
          </a:xfrm>
          <a:prstGeom prst="rect">
            <a:avLst/>
          </a:prstGeom>
          <a:noFill/>
          <a:ln/>
        </p:spPr>
        <p:txBody>
          <a:bodyPr wrap="square" lIns="0" tIns="0" rIns="0" bIns="0" rtlCol="0" anchor="ctr"/>
          <a:lstStyle/>
          <a:p>
            <a:pPr marL="0" indent="0" algn="ctr">
              <a:buNone/>
            </a:pPr>
            <a:r>
              <a:rPr lang="en-US" sz="1100" dirty="0">
                <a:solidFill>
                  <a:srgbClr val="8B949E"/>
                </a:solidFill>
              </a:rPr>
              <a:t>ReLU Activation Function</a:t>
            </a:r>
            <a:endParaRPr lang="en-US" sz="1100" dirty="0"/>
          </a:p>
        </p:txBody>
      </p:sp>
      <p:sp>
        <p:nvSpPr>
          <p:cNvPr id="10" name="Shape 8"/>
          <p:cNvSpPr/>
          <p:nvPr/>
        </p:nvSpPr>
        <p:spPr>
          <a:xfrm>
            <a:off x="594360" y="4572000"/>
            <a:ext cx="3474720" cy="0"/>
          </a:xfrm>
          <a:prstGeom prst="line">
            <a:avLst/>
          </a:prstGeom>
          <a:noFill/>
          <a:ln w="12700">
            <a:solidFill>
              <a:srgbClr val="8B949E"/>
            </a:solidFill>
            <a:prstDash val="solid"/>
          </a:ln>
        </p:spPr>
        <p:txBody>
          <a:bodyPr/>
          <a:lstStyle/>
          <a:p>
            <a:endParaRPr lang="fr-FR"/>
          </a:p>
        </p:txBody>
      </p:sp>
      <p:sp>
        <p:nvSpPr>
          <p:cNvPr id="11" name="Shape 9"/>
          <p:cNvSpPr/>
          <p:nvPr/>
        </p:nvSpPr>
        <p:spPr>
          <a:xfrm>
            <a:off x="2331720" y="2578608"/>
            <a:ext cx="0" cy="2029968"/>
          </a:xfrm>
          <a:prstGeom prst="line">
            <a:avLst/>
          </a:prstGeom>
          <a:noFill/>
          <a:ln w="12700">
            <a:solidFill>
              <a:srgbClr val="8B949E"/>
            </a:solidFill>
            <a:prstDash val="solid"/>
          </a:ln>
        </p:spPr>
        <p:txBody>
          <a:bodyPr/>
          <a:lstStyle/>
          <a:p>
            <a:endParaRPr lang="fr-FR"/>
          </a:p>
        </p:txBody>
      </p:sp>
      <p:sp>
        <p:nvSpPr>
          <p:cNvPr id="12" name="Shape 10"/>
          <p:cNvSpPr/>
          <p:nvPr/>
        </p:nvSpPr>
        <p:spPr>
          <a:xfrm>
            <a:off x="594360" y="4572000"/>
            <a:ext cx="1737360" cy="0"/>
          </a:xfrm>
          <a:prstGeom prst="line">
            <a:avLst/>
          </a:prstGeom>
          <a:noFill/>
          <a:ln w="38100">
            <a:solidFill>
              <a:srgbClr val="F0883E"/>
            </a:solidFill>
            <a:prstDash val="solid"/>
          </a:ln>
        </p:spPr>
        <p:txBody>
          <a:bodyPr/>
          <a:lstStyle/>
          <a:p>
            <a:endParaRPr lang="fr-FR"/>
          </a:p>
        </p:txBody>
      </p:sp>
      <p:sp>
        <p:nvSpPr>
          <p:cNvPr id="13" name="Shape 11"/>
          <p:cNvSpPr/>
          <p:nvPr/>
        </p:nvSpPr>
        <p:spPr>
          <a:xfrm>
            <a:off x="2331720" y="4572000"/>
            <a:ext cx="1737360" cy="0"/>
          </a:xfrm>
          <a:prstGeom prst="line">
            <a:avLst/>
          </a:prstGeom>
          <a:noFill/>
          <a:ln w="38100">
            <a:solidFill>
              <a:srgbClr val="F0883E"/>
            </a:solidFill>
            <a:prstDash val="solid"/>
          </a:ln>
        </p:spPr>
        <p:txBody>
          <a:bodyPr/>
          <a:lstStyle/>
          <a:p>
            <a:endParaRPr lang="fr-FR"/>
          </a:p>
        </p:txBody>
      </p:sp>
      <p:sp>
        <p:nvSpPr>
          <p:cNvPr id="14" name="Shape 12"/>
          <p:cNvSpPr/>
          <p:nvPr/>
        </p:nvSpPr>
        <p:spPr>
          <a:xfrm>
            <a:off x="2267712" y="4507992"/>
            <a:ext cx="128016" cy="128016"/>
          </a:xfrm>
          <a:prstGeom prst="ellipse">
            <a:avLst/>
          </a:prstGeom>
          <a:solidFill>
            <a:srgbClr val="F0883E"/>
          </a:solidFill>
          <a:ln w="12700">
            <a:solidFill>
              <a:srgbClr val="F0883E"/>
            </a:solidFill>
            <a:prstDash val="solid"/>
          </a:ln>
        </p:spPr>
        <p:txBody>
          <a:bodyPr/>
          <a:lstStyle/>
          <a:p>
            <a:endParaRPr lang="fr-FR"/>
          </a:p>
        </p:txBody>
      </p:sp>
      <p:sp>
        <p:nvSpPr>
          <p:cNvPr id="15" name="Text 13"/>
          <p:cNvSpPr/>
          <p:nvPr/>
        </p:nvSpPr>
        <p:spPr>
          <a:xfrm>
            <a:off x="685800" y="4251960"/>
            <a:ext cx="1463040" cy="274320"/>
          </a:xfrm>
          <a:prstGeom prst="rect">
            <a:avLst/>
          </a:prstGeom>
          <a:noFill/>
          <a:ln/>
        </p:spPr>
        <p:txBody>
          <a:bodyPr wrap="square" lIns="0" tIns="0" rIns="0" bIns="0" rtlCol="0" anchor="ctr"/>
          <a:lstStyle/>
          <a:p>
            <a:pPr marL="0" indent="0">
              <a:buNone/>
            </a:pPr>
            <a:r>
              <a:rPr lang="en-US" sz="800" i="1" dirty="0">
                <a:solidFill>
                  <a:srgbClr val="FF7B72"/>
                </a:solidFill>
              </a:rPr>
              <a:t>z &lt; 0 : output = 0</a:t>
            </a:r>
            <a:endParaRPr lang="en-US" sz="800" dirty="0"/>
          </a:p>
        </p:txBody>
      </p:sp>
      <p:sp>
        <p:nvSpPr>
          <p:cNvPr id="16" name="Text 14"/>
          <p:cNvSpPr/>
          <p:nvPr/>
        </p:nvSpPr>
        <p:spPr>
          <a:xfrm>
            <a:off x="2743200" y="3246120"/>
            <a:ext cx="1417320" cy="274320"/>
          </a:xfrm>
          <a:prstGeom prst="rect">
            <a:avLst/>
          </a:prstGeom>
          <a:noFill/>
          <a:ln/>
        </p:spPr>
        <p:txBody>
          <a:bodyPr wrap="square" lIns="0" tIns="0" rIns="0" bIns="0" rtlCol="0" anchor="ctr"/>
          <a:lstStyle/>
          <a:p>
            <a:pPr marL="0" indent="0">
              <a:buNone/>
            </a:pPr>
            <a:r>
              <a:rPr lang="en-US" sz="800" i="1" dirty="0">
                <a:solidFill>
                  <a:srgbClr val="3FB950"/>
                </a:solidFill>
              </a:rPr>
              <a:t>z &gt; 0 : output = z</a:t>
            </a:r>
            <a:endParaRPr lang="en-US" sz="800" dirty="0"/>
          </a:p>
        </p:txBody>
      </p:sp>
      <p:sp>
        <p:nvSpPr>
          <p:cNvPr id="17" name="Text 15"/>
          <p:cNvSpPr/>
          <p:nvPr/>
        </p:nvSpPr>
        <p:spPr>
          <a:xfrm>
            <a:off x="3822192" y="4517136"/>
            <a:ext cx="411480" cy="201168"/>
          </a:xfrm>
          <a:prstGeom prst="rect">
            <a:avLst/>
          </a:prstGeom>
          <a:noFill/>
          <a:ln/>
        </p:spPr>
        <p:txBody>
          <a:bodyPr wrap="square" lIns="0" tIns="0" rIns="0" bIns="0" rtlCol="0" anchor="ctr"/>
          <a:lstStyle/>
          <a:p>
            <a:pPr marL="0" indent="0">
              <a:buNone/>
            </a:pPr>
            <a:r>
              <a:rPr lang="en-US" sz="800" dirty="0">
                <a:solidFill>
                  <a:srgbClr val="8B949E"/>
                </a:solidFill>
              </a:rPr>
              <a:t>z →</a:t>
            </a:r>
            <a:endParaRPr lang="en-US" sz="800" dirty="0"/>
          </a:p>
        </p:txBody>
      </p:sp>
      <p:sp>
        <p:nvSpPr>
          <p:cNvPr id="18" name="Text 16"/>
          <p:cNvSpPr/>
          <p:nvPr/>
        </p:nvSpPr>
        <p:spPr>
          <a:xfrm>
            <a:off x="2359152" y="2587752"/>
            <a:ext cx="365760" cy="201168"/>
          </a:xfrm>
          <a:prstGeom prst="rect">
            <a:avLst/>
          </a:prstGeom>
          <a:noFill/>
          <a:ln/>
        </p:spPr>
        <p:txBody>
          <a:bodyPr wrap="square" lIns="0" tIns="0" rIns="0" bIns="0" rtlCol="0" anchor="ctr"/>
          <a:lstStyle/>
          <a:p>
            <a:pPr marL="0" indent="0">
              <a:buNone/>
            </a:pPr>
            <a:r>
              <a:rPr lang="en-US" sz="800" dirty="0">
                <a:solidFill>
                  <a:srgbClr val="8B949E"/>
                </a:solidFill>
              </a:rPr>
              <a:t>a ↑</a:t>
            </a:r>
            <a:endParaRPr lang="en-US" sz="800" dirty="0"/>
          </a:p>
        </p:txBody>
      </p:sp>
      <p:sp>
        <p:nvSpPr>
          <p:cNvPr id="19" name="Shape 17"/>
          <p:cNvSpPr/>
          <p:nvPr/>
        </p:nvSpPr>
        <p:spPr>
          <a:xfrm>
            <a:off x="4663440" y="2194560"/>
            <a:ext cx="4160520" cy="265176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20" name="Text 18"/>
          <p:cNvSpPr/>
          <p:nvPr/>
        </p:nvSpPr>
        <p:spPr>
          <a:xfrm>
            <a:off x="4800600" y="2240280"/>
            <a:ext cx="3840480" cy="274320"/>
          </a:xfrm>
          <a:prstGeom prst="rect">
            <a:avLst/>
          </a:prstGeom>
          <a:noFill/>
          <a:ln/>
        </p:spPr>
        <p:txBody>
          <a:bodyPr wrap="square" lIns="0" tIns="0" rIns="0" bIns="0" rtlCol="0" anchor="ctr"/>
          <a:lstStyle/>
          <a:p>
            <a:pPr marL="0" indent="0">
              <a:buNone/>
            </a:pPr>
            <a:r>
              <a:rPr lang="en-US" sz="1000" dirty="0">
                <a:solidFill>
                  <a:srgbClr val="8B949E"/>
                </a:solidFill>
              </a:rPr>
              <a:t>Continuing our example:</a:t>
            </a:r>
            <a:endParaRPr lang="en-US" sz="1000" dirty="0"/>
          </a:p>
        </p:txBody>
      </p:sp>
      <p:sp>
        <p:nvSpPr>
          <p:cNvPr id="21" name="Text 19"/>
          <p:cNvSpPr/>
          <p:nvPr/>
        </p:nvSpPr>
        <p:spPr>
          <a:xfrm>
            <a:off x="4800600" y="2578608"/>
            <a:ext cx="2286000" cy="256032"/>
          </a:xfrm>
          <a:prstGeom prst="rect">
            <a:avLst/>
          </a:prstGeom>
          <a:noFill/>
          <a:ln/>
        </p:spPr>
        <p:txBody>
          <a:bodyPr wrap="square" lIns="0" tIns="0" rIns="0" bIns="0" rtlCol="0" anchor="ctr"/>
          <a:lstStyle/>
          <a:p>
            <a:pPr marL="0" indent="0">
              <a:buNone/>
            </a:pPr>
            <a:r>
              <a:rPr lang="en-US" sz="1000" b="1" dirty="0">
                <a:solidFill>
                  <a:srgbClr val="BC8CFF"/>
                </a:solidFill>
              </a:rPr>
              <a:t>Pre-activation z:</a:t>
            </a:r>
            <a:endParaRPr lang="en-US" sz="1000" dirty="0"/>
          </a:p>
        </p:txBody>
      </p:sp>
      <p:sp>
        <p:nvSpPr>
          <p:cNvPr id="22" name="Text 20"/>
          <p:cNvSpPr/>
          <p:nvPr/>
        </p:nvSpPr>
        <p:spPr>
          <a:xfrm>
            <a:off x="6858000" y="2578608"/>
            <a:ext cx="1828800" cy="256032"/>
          </a:xfrm>
          <a:prstGeom prst="rect">
            <a:avLst/>
          </a:prstGeom>
          <a:noFill/>
          <a:ln/>
        </p:spPr>
        <p:txBody>
          <a:bodyPr wrap="square" lIns="0" tIns="0" rIns="0" bIns="0" rtlCol="0" anchor="ctr"/>
          <a:lstStyle/>
          <a:p>
            <a:pPr marL="0" indent="0">
              <a:buNone/>
            </a:pPr>
            <a:r>
              <a:rPr lang="en-US" sz="1000" b="1" dirty="0">
                <a:solidFill>
                  <a:srgbClr val="3FB950"/>
                </a:solidFill>
              </a:rPr>
              <a:t>After ReLU a:</a:t>
            </a:r>
            <a:endParaRPr lang="en-US" sz="1000" dirty="0"/>
          </a:p>
        </p:txBody>
      </p:sp>
      <p:sp>
        <p:nvSpPr>
          <p:cNvPr id="23" name="Shape 21"/>
          <p:cNvSpPr/>
          <p:nvPr/>
        </p:nvSpPr>
        <p:spPr>
          <a:xfrm>
            <a:off x="4800600" y="2907792"/>
            <a:ext cx="1920240" cy="475488"/>
          </a:xfrm>
          <a:prstGeom prst="roundRect">
            <a:avLst>
              <a:gd name="adj" fmla="val 11538"/>
            </a:avLst>
          </a:prstGeom>
          <a:solidFill>
            <a:srgbClr val="21262D"/>
          </a:solidFill>
          <a:ln w="19050">
            <a:solidFill>
              <a:srgbClr val="BC8CFF"/>
            </a:solidFill>
            <a:prstDash val="solid"/>
          </a:ln>
        </p:spPr>
        <p:txBody>
          <a:bodyPr/>
          <a:lstStyle/>
          <a:p>
            <a:endParaRPr lang="fr-FR"/>
          </a:p>
        </p:txBody>
      </p:sp>
      <p:sp>
        <p:nvSpPr>
          <p:cNvPr id="24" name="Text 22"/>
          <p:cNvSpPr/>
          <p:nvPr/>
        </p:nvSpPr>
        <p:spPr>
          <a:xfrm>
            <a:off x="4800600" y="2907792"/>
            <a:ext cx="1920240" cy="475488"/>
          </a:xfrm>
          <a:prstGeom prst="rect">
            <a:avLst/>
          </a:prstGeom>
          <a:noFill/>
          <a:ln/>
        </p:spPr>
        <p:txBody>
          <a:bodyPr wrap="square" lIns="0" tIns="0" rIns="0" bIns="0" rtlCol="0" anchor="ctr"/>
          <a:lstStyle/>
          <a:p>
            <a:pPr marL="0" indent="0" algn="ctr">
              <a:buNone/>
            </a:pPr>
            <a:r>
              <a:rPr lang="en-US" sz="1200" b="1" dirty="0">
                <a:solidFill>
                  <a:srgbClr val="BC8CFF"/>
                </a:solidFill>
              </a:rPr>
              <a:t>z1 = 0.78</a:t>
            </a:r>
            <a:endParaRPr lang="en-US" sz="1200" dirty="0"/>
          </a:p>
        </p:txBody>
      </p:sp>
      <p:sp>
        <p:nvSpPr>
          <p:cNvPr id="25" name="Shape 23"/>
          <p:cNvSpPr/>
          <p:nvPr/>
        </p:nvSpPr>
        <p:spPr>
          <a:xfrm>
            <a:off x="6748272" y="3145536"/>
            <a:ext cx="164592" cy="0"/>
          </a:xfrm>
          <a:prstGeom prst="line">
            <a:avLst/>
          </a:prstGeom>
          <a:noFill/>
          <a:ln w="25400">
            <a:solidFill>
              <a:srgbClr val="F0883E"/>
            </a:solidFill>
            <a:prstDash val="solid"/>
            <a:tailEnd type="arrow"/>
          </a:ln>
        </p:spPr>
        <p:txBody>
          <a:bodyPr/>
          <a:lstStyle/>
          <a:p>
            <a:endParaRPr lang="fr-FR"/>
          </a:p>
        </p:txBody>
      </p:sp>
      <p:sp>
        <p:nvSpPr>
          <p:cNvPr id="26" name="Shape 24"/>
          <p:cNvSpPr/>
          <p:nvPr/>
        </p:nvSpPr>
        <p:spPr>
          <a:xfrm>
            <a:off x="6931152" y="2907792"/>
            <a:ext cx="1828800" cy="475488"/>
          </a:xfrm>
          <a:prstGeom prst="roundRect">
            <a:avLst>
              <a:gd name="adj" fmla="val 11538"/>
            </a:avLst>
          </a:prstGeom>
          <a:solidFill>
            <a:srgbClr val="21262D"/>
          </a:solidFill>
          <a:ln w="19050">
            <a:solidFill>
              <a:srgbClr val="3FB950"/>
            </a:solidFill>
            <a:prstDash val="solid"/>
          </a:ln>
        </p:spPr>
        <p:txBody>
          <a:bodyPr/>
          <a:lstStyle/>
          <a:p>
            <a:endParaRPr lang="fr-FR"/>
          </a:p>
        </p:txBody>
      </p:sp>
      <p:sp>
        <p:nvSpPr>
          <p:cNvPr id="27" name="Text 25"/>
          <p:cNvSpPr/>
          <p:nvPr/>
        </p:nvSpPr>
        <p:spPr>
          <a:xfrm>
            <a:off x="6931152" y="2907792"/>
            <a:ext cx="1828800" cy="475488"/>
          </a:xfrm>
          <a:prstGeom prst="rect">
            <a:avLst/>
          </a:prstGeom>
          <a:noFill/>
          <a:ln/>
        </p:spPr>
        <p:txBody>
          <a:bodyPr wrap="square" lIns="0" tIns="0" rIns="0" bIns="0" rtlCol="0" anchor="ctr"/>
          <a:lstStyle/>
          <a:p>
            <a:pPr marL="0" indent="0" algn="ctr">
              <a:buNone/>
            </a:pPr>
            <a:r>
              <a:rPr lang="en-US" sz="1200" b="1" dirty="0">
                <a:solidFill>
                  <a:srgbClr val="3FB950"/>
                </a:solidFill>
              </a:rPr>
              <a:t>a1 = 0.78</a:t>
            </a:r>
            <a:endParaRPr lang="en-US" sz="1200" dirty="0"/>
          </a:p>
        </p:txBody>
      </p:sp>
      <p:sp>
        <p:nvSpPr>
          <p:cNvPr id="28" name="Text 26"/>
          <p:cNvSpPr/>
          <p:nvPr/>
        </p:nvSpPr>
        <p:spPr>
          <a:xfrm>
            <a:off x="4800600" y="3383280"/>
            <a:ext cx="3931920" cy="182880"/>
          </a:xfrm>
          <a:prstGeom prst="rect">
            <a:avLst/>
          </a:prstGeom>
          <a:noFill/>
          <a:ln/>
        </p:spPr>
        <p:txBody>
          <a:bodyPr wrap="square" lIns="0" tIns="0" rIns="0" bIns="0" rtlCol="0" anchor="ctr"/>
          <a:lstStyle/>
          <a:p>
            <a:pPr marL="0" indent="0">
              <a:buNone/>
            </a:pPr>
            <a:r>
              <a:rPr lang="en-US" sz="750" dirty="0">
                <a:solidFill>
                  <a:srgbClr val="8B949E"/>
                </a:solidFill>
              </a:rPr>
              <a:t>← positive, passes through</a:t>
            </a:r>
            <a:endParaRPr lang="en-US" sz="750" dirty="0"/>
          </a:p>
        </p:txBody>
      </p:sp>
      <p:sp>
        <p:nvSpPr>
          <p:cNvPr id="29" name="Shape 27"/>
          <p:cNvSpPr/>
          <p:nvPr/>
        </p:nvSpPr>
        <p:spPr>
          <a:xfrm>
            <a:off x="4800600" y="3529584"/>
            <a:ext cx="1920240" cy="475488"/>
          </a:xfrm>
          <a:prstGeom prst="roundRect">
            <a:avLst>
              <a:gd name="adj" fmla="val 11538"/>
            </a:avLst>
          </a:prstGeom>
          <a:solidFill>
            <a:srgbClr val="21262D"/>
          </a:solidFill>
          <a:ln w="19050">
            <a:solidFill>
              <a:srgbClr val="FF7B72"/>
            </a:solidFill>
            <a:prstDash val="solid"/>
          </a:ln>
        </p:spPr>
        <p:txBody>
          <a:bodyPr/>
          <a:lstStyle/>
          <a:p>
            <a:endParaRPr lang="fr-FR"/>
          </a:p>
        </p:txBody>
      </p:sp>
      <p:sp>
        <p:nvSpPr>
          <p:cNvPr id="30" name="Text 28"/>
          <p:cNvSpPr/>
          <p:nvPr/>
        </p:nvSpPr>
        <p:spPr>
          <a:xfrm>
            <a:off x="4800600" y="3529584"/>
            <a:ext cx="1920240" cy="475488"/>
          </a:xfrm>
          <a:prstGeom prst="rect">
            <a:avLst/>
          </a:prstGeom>
          <a:noFill/>
          <a:ln/>
        </p:spPr>
        <p:txBody>
          <a:bodyPr wrap="square" lIns="0" tIns="0" rIns="0" bIns="0" rtlCol="0" anchor="ctr"/>
          <a:lstStyle/>
          <a:p>
            <a:pPr marL="0" indent="0" algn="ctr">
              <a:buNone/>
            </a:pPr>
            <a:r>
              <a:rPr lang="en-US" sz="1200" b="1" dirty="0">
                <a:solidFill>
                  <a:srgbClr val="FF7B72"/>
                </a:solidFill>
              </a:rPr>
              <a:t>z2 = -0.23</a:t>
            </a:r>
            <a:endParaRPr lang="en-US" sz="1200" dirty="0"/>
          </a:p>
        </p:txBody>
      </p:sp>
      <p:sp>
        <p:nvSpPr>
          <p:cNvPr id="31" name="Shape 29"/>
          <p:cNvSpPr/>
          <p:nvPr/>
        </p:nvSpPr>
        <p:spPr>
          <a:xfrm>
            <a:off x="6748272" y="3767328"/>
            <a:ext cx="164592" cy="0"/>
          </a:xfrm>
          <a:prstGeom prst="line">
            <a:avLst/>
          </a:prstGeom>
          <a:noFill/>
          <a:ln w="25400">
            <a:solidFill>
              <a:srgbClr val="F0883E"/>
            </a:solidFill>
            <a:prstDash val="solid"/>
            <a:tailEnd type="arrow"/>
          </a:ln>
        </p:spPr>
        <p:txBody>
          <a:bodyPr/>
          <a:lstStyle/>
          <a:p>
            <a:endParaRPr lang="fr-FR"/>
          </a:p>
        </p:txBody>
      </p:sp>
      <p:sp>
        <p:nvSpPr>
          <p:cNvPr id="32" name="Shape 30"/>
          <p:cNvSpPr/>
          <p:nvPr/>
        </p:nvSpPr>
        <p:spPr>
          <a:xfrm>
            <a:off x="6931152" y="3529584"/>
            <a:ext cx="1828800" cy="475488"/>
          </a:xfrm>
          <a:prstGeom prst="roundRect">
            <a:avLst>
              <a:gd name="adj" fmla="val 11538"/>
            </a:avLst>
          </a:prstGeom>
          <a:solidFill>
            <a:srgbClr val="21262D"/>
          </a:solidFill>
          <a:ln w="19050">
            <a:solidFill>
              <a:srgbClr val="FF7B72"/>
            </a:solidFill>
            <a:prstDash val="solid"/>
          </a:ln>
        </p:spPr>
        <p:txBody>
          <a:bodyPr/>
          <a:lstStyle/>
          <a:p>
            <a:endParaRPr lang="fr-FR"/>
          </a:p>
        </p:txBody>
      </p:sp>
      <p:sp>
        <p:nvSpPr>
          <p:cNvPr id="33" name="Text 31"/>
          <p:cNvSpPr/>
          <p:nvPr/>
        </p:nvSpPr>
        <p:spPr>
          <a:xfrm>
            <a:off x="6931152" y="3529584"/>
            <a:ext cx="1828800" cy="475488"/>
          </a:xfrm>
          <a:prstGeom prst="rect">
            <a:avLst/>
          </a:prstGeom>
          <a:noFill/>
          <a:ln/>
        </p:spPr>
        <p:txBody>
          <a:bodyPr wrap="square" lIns="0" tIns="0" rIns="0" bIns="0" rtlCol="0" anchor="ctr"/>
          <a:lstStyle/>
          <a:p>
            <a:pPr marL="0" indent="0" algn="ctr">
              <a:buNone/>
            </a:pPr>
            <a:r>
              <a:rPr lang="en-US" sz="1200" b="1" dirty="0">
                <a:solidFill>
                  <a:srgbClr val="FF7B72"/>
                </a:solidFill>
              </a:rPr>
              <a:t>a2 = 0</a:t>
            </a:r>
            <a:endParaRPr lang="en-US" sz="1200" dirty="0"/>
          </a:p>
        </p:txBody>
      </p:sp>
      <p:sp>
        <p:nvSpPr>
          <p:cNvPr id="34" name="Text 32"/>
          <p:cNvSpPr/>
          <p:nvPr/>
        </p:nvSpPr>
        <p:spPr>
          <a:xfrm>
            <a:off x="4800600" y="4005072"/>
            <a:ext cx="3931920" cy="182880"/>
          </a:xfrm>
          <a:prstGeom prst="rect">
            <a:avLst/>
          </a:prstGeom>
          <a:noFill/>
          <a:ln/>
        </p:spPr>
        <p:txBody>
          <a:bodyPr wrap="square" lIns="0" tIns="0" rIns="0" bIns="0" rtlCol="0" anchor="ctr"/>
          <a:lstStyle/>
          <a:p>
            <a:pPr marL="0" indent="0">
              <a:buNone/>
            </a:pPr>
            <a:r>
              <a:rPr lang="en-US" sz="750" dirty="0">
                <a:solidFill>
                  <a:srgbClr val="FF7B72"/>
                </a:solidFill>
              </a:rPr>
              <a:t>← negative, clamped to 0</a:t>
            </a:r>
            <a:endParaRPr lang="en-US" sz="750" dirty="0"/>
          </a:p>
        </p:txBody>
      </p:sp>
      <p:sp>
        <p:nvSpPr>
          <p:cNvPr id="35" name="Shape 33"/>
          <p:cNvSpPr/>
          <p:nvPr/>
        </p:nvSpPr>
        <p:spPr>
          <a:xfrm>
            <a:off x="4800600" y="4151376"/>
            <a:ext cx="1920240" cy="475488"/>
          </a:xfrm>
          <a:prstGeom prst="roundRect">
            <a:avLst>
              <a:gd name="adj" fmla="val 11538"/>
            </a:avLst>
          </a:prstGeom>
          <a:solidFill>
            <a:srgbClr val="21262D"/>
          </a:solidFill>
          <a:ln w="19050">
            <a:solidFill>
              <a:srgbClr val="BC8CFF"/>
            </a:solidFill>
            <a:prstDash val="solid"/>
          </a:ln>
        </p:spPr>
        <p:txBody>
          <a:bodyPr/>
          <a:lstStyle/>
          <a:p>
            <a:endParaRPr lang="fr-FR"/>
          </a:p>
        </p:txBody>
      </p:sp>
      <p:sp>
        <p:nvSpPr>
          <p:cNvPr id="36" name="Text 34"/>
          <p:cNvSpPr/>
          <p:nvPr/>
        </p:nvSpPr>
        <p:spPr>
          <a:xfrm>
            <a:off x="4800600" y="4151376"/>
            <a:ext cx="1920240" cy="475488"/>
          </a:xfrm>
          <a:prstGeom prst="rect">
            <a:avLst/>
          </a:prstGeom>
          <a:noFill/>
          <a:ln/>
        </p:spPr>
        <p:txBody>
          <a:bodyPr wrap="square" lIns="0" tIns="0" rIns="0" bIns="0" rtlCol="0" anchor="ctr"/>
          <a:lstStyle/>
          <a:p>
            <a:pPr marL="0" indent="0" algn="ctr">
              <a:buNone/>
            </a:pPr>
            <a:r>
              <a:rPr lang="en-US" sz="1200" b="1" dirty="0">
                <a:solidFill>
                  <a:srgbClr val="BC8CFF"/>
                </a:solidFill>
              </a:rPr>
              <a:t>z3 = 0.41</a:t>
            </a:r>
            <a:endParaRPr lang="en-US" sz="1200" dirty="0"/>
          </a:p>
        </p:txBody>
      </p:sp>
      <p:sp>
        <p:nvSpPr>
          <p:cNvPr id="37" name="Shape 35"/>
          <p:cNvSpPr/>
          <p:nvPr/>
        </p:nvSpPr>
        <p:spPr>
          <a:xfrm>
            <a:off x="6748272" y="4389120"/>
            <a:ext cx="164592" cy="0"/>
          </a:xfrm>
          <a:prstGeom prst="line">
            <a:avLst/>
          </a:prstGeom>
          <a:noFill/>
          <a:ln w="25400">
            <a:solidFill>
              <a:srgbClr val="F0883E"/>
            </a:solidFill>
            <a:prstDash val="solid"/>
            <a:tailEnd type="arrow"/>
          </a:ln>
        </p:spPr>
        <p:txBody>
          <a:bodyPr/>
          <a:lstStyle/>
          <a:p>
            <a:endParaRPr lang="fr-FR"/>
          </a:p>
        </p:txBody>
      </p:sp>
      <p:sp>
        <p:nvSpPr>
          <p:cNvPr id="38" name="Shape 36"/>
          <p:cNvSpPr/>
          <p:nvPr/>
        </p:nvSpPr>
        <p:spPr>
          <a:xfrm>
            <a:off x="6931152" y="4151376"/>
            <a:ext cx="1828800" cy="475488"/>
          </a:xfrm>
          <a:prstGeom prst="roundRect">
            <a:avLst>
              <a:gd name="adj" fmla="val 11538"/>
            </a:avLst>
          </a:prstGeom>
          <a:solidFill>
            <a:srgbClr val="21262D"/>
          </a:solidFill>
          <a:ln w="19050">
            <a:solidFill>
              <a:srgbClr val="3FB950"/>
            </a:solidFill>
            <a:prstDash val="solid"/>
          </a:ln>
        </p:spPr>
        <p:txBody>
          <a:bodyPr/>
          <a:lstStyle/>
          <a:p>
            <a:endParaRPr lang="fr-FR"/>
          </a:p>
        </p:txBody>
      </p:sp>
      <p:sp>
        <p:nvSpPr>
          <p:cNvPr id="39" name="Text 37"/>
          <p:cNvSpPr/>
          <p:nvPr/>
        </p:nvSpPr>
        <p:spPr>
          <a:xfrm>
            <a:off x="6931152" y="4151376"/>
            <a:ext cx="1828800" cy="475488"/>
          </a:xfrm>
          <a:prstGeom prst="rect">
            <a:avLst/>
          </a:prstGeom>
          <a:noFill/>
          <a:ln/>
        </p:spPr>
        <p:txBody>
          <a:bodyPr wrap="square" lIns="0" tIns="0" rIns="0" bIns="0" rtlCol="0" anchor="ctr"/>
          <a:lstStyle/>
          <a:p>
            <a:pPr marL="0" indent="0" algn="ctr">
              <a:buNone/>
            </a:pPr>
            <a:r>
              <a:rPr lang="en-US" sz="1200" b="1" dirty="0">
                <a:solidFill>
                  <a:srgbClr val="3FB950"/>
                </a:solidFill>
              </a:rPr>
              <a:t>a3 = 0.41</a:t>
            </a:r>
            <a:endParaRPr lang="en-US" sz="1200" dirty="0"/>
          </a:p>
        </p:txBody>
      </p:sp>
      <p:sp>
        <p:nvSpPr>
          <p:cNvPr id="40" name="Text 38"/>
          <p:cNvSpPr/>
          <p:nvPr/>
        </p:nvSpPr>
        <p:spPr>
          <a:xfrm>
            <a:off x="4800600" y="4626864"/>
            <a:ext cx="3931920" cy="182880"/>
          </a:xfrm>
          <a:prstGeom prst="rect">
            <a:avLst/>
          </a:prstGeom>
          <a:noFill/>
          <a:ln/>
        </p:spPr>
        <p:txBody>
          <a:bodyPr wrap="square" lIns="0" tIns="0" rIns="0" bIns="0" rtlCol="0" anchor="ctr"/>
          <a:lstStyle/>
          <a:p>
            <a:pPr marL="0" indent="0">
              <a:buNone/>
            </a:pPr>
            <a:r>
              <a:rPr lang="en-US" sz="750" dirty="0">
                <a:solidFill>
                  <a:srgbClr val="8B949E"/>
                </a:solidFill>
              </a:rPr>
              <a:t>← positive, passes through</a:t>
            </a:r>
            <a:endParaRPr lang="en-US" sz="750" dirty="0"/>
          </a:p>
        </p:txBody>
      </p:sp>
      <p:sp>
        <p:nvSpPr>
          <p:cNvPr id="41" name="Text 39"/>
          <p:cNvSpPr/>
          <p:nvPr/>
        </p:nvSpPr>
        <p:spPr>
          <a:xfrm>
            <a:off x="320040" y="4736592"/>
            <a:ext cx="8503920" cy="256032"/>
          </a:xfrm>
          <a:prstGeom prst="rect">
            <a:avLst/>
          </a:prstGeom>
          <a:noFill/>
          <a:ln/>
        </p:spPr>
        <p:txBody>
          <a:bodyPr wrap="square" lIns="0" tIns="0" rIns="0" bIns="0" rtlCol="0" anchor="ctr"/>
          <a:lstStyle/>
          <a:p>
            <a:pPr marL="0" indent="0" algn="ctr">
              <a:buNone/>
            </a:pPr>
            <a:r>
              <a:rPr lang="en-US" sz="1000" i="1" dirty="0">
                <a:solidFill>
                  <a:srgbClr val="F0883E"/>
                </a:solidFill>
              </a:rPr>
              <a:t>Why ReLU?  Cheap to compute, avoids vanishing gradients, works great in practice!</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FB950"/>
          </a:solidFill>
          <a:ln w="12700">
            <a:solidFill>
              <a:srgbClr val="3FB950"/>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Forward Pass — Step 3: Output &amp; Softmax</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3FB950"/>
                </a:solidFill>
              </a:rPr>
              <a:t>Convert raw scores into probabilities that sum to 1</a:t>
            </a:r>
            <a:endParaRPr lang="en-US" sz="1200" dirty="0"/>
          </a:p>
        </p:txBody>
      </p:sp>
      <p:sp>
        <p:nvSpPr>
          <p:cNvPr id="5" name="Shape 3"/>
          <p:cNvSpPr/>
          <p:nvPr/>
        </p:nvSpPr>
        <p:spPr>
          <a:xfrm>
            <a:off x="320040" y="1024128"/>
            <a:ext cx="8503920" cy="0"/>
          </a:xfrm>
          <a:prstGeom prst="line">
            <a:avLst/>
          </a:prstGeom>
          <a:noFill/>
          <a:ln w="12700">
            <a:solidFill>
              <a:srgbClr val="3FB950"/>
            </a:solidFill>
            <a:prstDash val="solid"/>
          </a:ln>
        </p:spPr>
        <p:txBody>
          <a:bodyPr/>
          <a:lstStyle/>
          <a:p>
            <a:endParaRPr lang="fr-FR"/>
          </a:p>
        </p:txBody>
      </p:sp>
      <p:sp>
        <p:nvSpPr>
          <p:cNvPr id="6" name="Shape 4"/>
          <p:cNvSpPr/>
          <p:nvPr/>
        </p:nvSpPr>
        <p:spPr>
          <a:xfrm>
            <a:off x="320040" y="1170432"/>
            <a:ext cx="8503920" cy="960120"/>
          </a:xfrm>
          <a:prstGeom prst="rect">
            <a:avLst/>
          </a:prstGeom>
          <a:solidFill>
            <a:srgbClr val="21262D"/>
          </a:solidFill>
          <a:ln w="1905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502920" y="1170432"/>
            <a:ext cx="8321040" cy="960120"/>
          </a:xfrm>
          <a:prstGeom prst="rect">
            <a:avLst/>
          </a:prstGeom>
          <a:noFill/>
          <a:ln/>
        </p:spPr>
        <p:txBody>
          <a:bodyPr wrap="square" lIns="0" tIns="0" rIns="0" bIns="0" rtlCol="0" anchor="ctr"/>
          <a:lstStyle/>
          <a:p>
            <a:pPr marL="0" indent="0">
              <a:buNone/>
            </a:pPr>
            <a:r>
              <a:rPr lang="en-US" sz="1600" b="1" dirty="0">
                <a:solidFill>
                  <a:srgbClr val="F0F6FC"/>
                </a:solidFill>
              </a:rPr>
              <a:t>Softmax:   σ(z)ₖ  =  </a:t>
            </a:r>
            <a:r>
              <a:rPr lang="en-US" sz="1600" b="1" dirty="0">
                <a:solidFill>
                  <a:srgbClr val="3FB950"/>
                </a:solidFill>
              </a:rPr>
              <a:t>e^zₖ</a:t>
            </a:r>
            <a:r>
              <a:rPr lang="en-US" sz="1600" dirty="0">
                <a:solidFill>
                  <a:srgbClr val="F0F6FC"/>
                </a:solidFill>
              </a:rPr>
              <a:t>  /  Σ  </a:t>
            </a:r>
            <a:r>
              <a:rPr lang="en-US" sz="1600" b="1" dirty="0">
                <a:solidFill>
                  <a:srgbClr val="39D0B0"/>
                </a:solidFill>
              </a:rPr>
              <a:t>e^zⱼ</a:t>
            </a:r>
            <a:r>
              <a:rPr lang="en-US" sz="1600" dirty="0">
                <a:solidFill>
                  <a:srgbClr val="8B949E"/>
                </a:solidFill>
              </a:rPr>
              <a:t>         → Output is a probability (0-1) for each class</a:t>
            </a:r>
            <a:endParaRPr lang="en-US" sz="1600" dirty="0"/>
          </a:p>
        </p:txBody>
      </p:sp>
      <p:sp>
        <p:nvSpPr>
          <p:cNvPr id="8" name="Shape 6"/>
          <p:cNvSpPr/>
          <p:nvPr/>
        </p:nvSpPr>
        <p:spPr>
          <a:xfrm>
            <a:off x="320040" y="2240280"/>
            <a:ext cx="3931920" cy="260604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9" name="Text 7"/>
          <p:cNvSpPr/>
          <p:nvPr/>
        </p:nvSpPr>
        <p:spPr>
          <a:xfrm>
            <a:off x="457200" y="2286000"/>
            <a:ext cx="3657600" cy="274320"/>
          </a:xfrm>
          <a:prstGeom prst="rect">
            <a:avLst/>
          </a:prstGeom>
          <a:noFill/>
          <a:ln/>
        </p:spPr>
        <p:txBody>
          <a:bodyPr wrap="square" lIns="0" tIns="0" rIns="0" bIns="0" rtlCol="0" anchor="ctr"/>
          <a:lstStyle/>
          <a:p>
            <a:pPr marL="0" indent="0" algn="ctr">
              <a:buNone/>
            </a:pPr>
            <a:r>
              <a:rPr lang="en-US" sz="1000" dirty="0">
                <a:solidFill>
                  <a:srgbClr val="8B949E"/>
                </a:solidFill>
              </a:rPr>
              <a:t>Raw Logits z  →  Softmax Probabilities</a:t>
            </a:r>
            <a:endParaRPr lang="en-US" sz="1000" dirty="0"/>
          </a:p>
        </p:txBody>
      </p:sp>
      <p:sp>
        <p:nvSpPr>
          <p:cNvPr id="10" name="Text 8"/>
          <p:cNvSpPr/>
          <p:nvPr/>
        </p:nvSpPr>
        <p:spPr>
          <a:xfrm>
            <a:off x="457200" y="2715768"/>
            <a:ext cx="548640" cy="347472"/>
          </a:xfrm>
          <a:prstGeom prst="rect">
            <a:avLst/>
          </a:prstGeom>
          <a:noFill/>
          <a:ln/>
        </p:spPr>
        <p:txBody>
          <a:bodyPr wrap="square" lIns="0" tIns="0" rIns="0" bIns="0" rtlCol="0" anchor="ctr"/>
          <a:lstStyle/>
          <a:p>
            <a:pPr marL="0" indent="0">
              <a:buNone/>
            </a:pPr>
            <a:r>
              <a:rPr lang="en-US" sz="1100" b="1" dirty="0">
                <a:solidFill>
                  <a:srgbClr val="58A6FF"/>
                </a:solidFill>
              </a:rPr>
              <a:t>Cat</a:t>
            </a:r>
            <a:endParaRPr lang="en-US" sz="1100" dirty="0"/>
          </a:p>
        </p:txBody>
      </p:sp>
      <p:sp>
        <p:nvSpPr>
          <p:cNvPr id="11" name="Text 9"/>
          <p:cNvSpPr/>
          <p:nvPr/>
        </p:nvSpPr>
        <p:spPr>
          <a:xfrm>
            <a:off x="1024128" y="2715768"/>
            <a:ext cx="594360" cy="347472"/>
          </a:xfrm>
          <a:prstGeom prst="rect">
            <a:avLst/>
          </a:prstGeom>
          <a:noFill/>
          <a:ln/>
        </p:spPr>
        <p:txBody>
          <a:bodyPr wrap="square" lIns="0" tIns="0" rIns="0" bIns="0" rtlCol="0" anchor="ctr"/>
          <a:lstStyle/>
          <a:p>
            <a:pPr marL="0" indent="0">
              <a:buNone/>
            </a:pPr>
            <a:r>
              <a:rPr lang="en-US" sz="1000" dirty="0">
                <a:solidFill>
                  <a:srgbClr val="8B949E"/>
                </a:solidFill>
              </a:rPr>
              <a:t>z=2.1</a:t>
            </a:r>
            <a:endParaRPr lang="en-US" sz="1000" dirty="0"/>
          </a:p>
        </p:txBody>
      </p:sp>
      <p:sp>
        <p:nvSpPr>
          <p:cNvPr id="12" name="Shape 10"/>
          <p:cNvSpPr/>
          <p:nvPr/>
        </p:nvSpPr>
        <p:spPr>
          <a:xfrm>
            <a:off x="1691640" y="2734056"/>
            <a:ext cx="1645920" cy="292608"/>
          </a:xfrm>
          <a:prstGeom prst="rect">
            <a:avLst/>
          </a:prstGeom>
          <a:solidFill>
            <a:srgbClr val="21262D"/>
          </a:solidFill>
          <a:ln w="12700">
            <a:solidFill>
              <a:srgbClr val="21262D"/>
            </a:solidFill>
            <a:prstDash val="solid"/>
          </a:ln>
        </p:spPr>
        <p:txBody>
          <a:bodyPr/>
          <a:lstStyle/>
          <a:p>
            <a:endParaRPr lang="fr-FR"/>
          </a:p>
        </p:txBody>
      </p:sp>
      <p:sp>
        <p:nvSpPr>
          <p:cNvPr id="13" name="Shape 11"/>
          <p:cNvSpPr/>
          <p:nvPr/>
        </p:nvSpPr>
        <p:spPr>
          <a:xfrm>
            <a:off x="1691640" y="2734056"/>
            <a:ext cx="1108178" cy="292608"/>
          </a:xfrm>
          <a:prstGeom prst="rect">
            <a:avLst/>
          </a:prstGeom>
          <a:solidFill>
            <a:srgbClr val="58A6FF"/>
          </a:solidFill>
          <a:ln w="12700">
            <a:solidFill>
              <a:srgbClr val="58A6FF"/>
            </a:solidFill>
            <a:prstDash val="solid"/>
          </a:ln>
        </p:spPr>
        <p:txBody>
          <a:bodyPr/>
          <a:lstStyle/>
          <a:p>
            <a:endParaRPr lang="fr-FR"/>
          </a:p>
        </p:txBody>
      </p:sp>
      <p:sp>
        <p:nvSpPr>
          <p:cNvPr id="14" name="Text 12"/>
          <p:cNvSpPr/>
          <p:nvPr/>
        </p:nvSpPr>
        <p:spPr>
          <a:xfrm>
            <a:off x="3364992" y="2715768"/>
            <a:ext cx="777240" cy="347472"/>
          </a:xfrm>
          <a:prstGeom prst="rect">
            <a:avLst/>
          </a:prstGeom>
          <a:noFill/>
          <a:ln/>
        </p:spPr>
        <p:txBody>
          <a:bodyPr wrap="square" lIns="0" tIns="0" rIns="0" bIns="0" rtlCol="0" anchor="ctr"/>
          <a:lstStyle/>
          <a:p>
            <a:pPr marL="0" indent="0">
              <a:buNone/>
            </a:pPr>
            <a:r>
              <a:rPr lang="en-US" sz="1100" b="1" dirty="0">
                <a:solidFill>
                  <a:srgbClr val="58A6FF"/>
                </a:solidFill>
              </a:rPr>
              <a:t>80.8%</a:t>
            </a:r>
            <a:endParaRPr lang="en-US" sz="1100" dirty="0"/>
          </a:p>
        </p:txBody>
      </p:sp>
      <p:sp>
        <p:nvSpPr>
          <p:cNvPr id="15" name="Text 13"/>
          <p:cNvSpPr/>
          <p:nvPr/>
        </p:nvSpPr>
        <p:spPr>
          <a:xfrm>
            <a:off x="457200" y="3429000"/>
            <a:ext cx="548640" cy="347472"/>
          </a:xfrm>
          <a:prstGeom prst="rect">
            <a:avLst/>
          </a:prstGeom>
          <a:noFill/>
          <a:ln/>
        </p:spPr>
        <p:txBody>
          <a:bodyPr wrap="square" lIns="0" tIns="0" rIns="0" bIns="0" rtlCol="0" anchor="ctr"/>
          <a:lstStyle/>
          <a:p>
            <a:pPr marL="0" indent="0">
              <a:buNone/>
            </a:pPr>
            <a:r>
              <a:rPr lang="en-US" sz="1100" b="1" dirty="0">
                <a:solidFill>
                  <a:srgbClr val="BC8CFF"/>
                </a:solidFill>
              </a:rPr>
              <a:t>Dog</a:t>
            </a:r>
            <a:endParaRPr lang="en-US" sz="1100" dirty="0"/>
          </a:p>
        </p:txBody>
      </p:sp>
      <p:sp>
        <p:nvSpPr>
          <p:cNvPr id="16" name="Text 14"/>
          <p:cNvSpPr/>
          <p:nvPr/>
        </p:nvSpPr>
        <p:spPr>
          <a:xfrm>
            <a:off x="1024128" y="3429000"/>
            <a:ext cx="594360" cy="347472"/>
          </a:xfrm>
          <a:prstGeom prst="rect">
            <a:avLst/>
          </a:prstGeom>
          <a:noFill/>
          <a:ln/>
        </p:spPr>
        <p:txBody>
          <a:bodyPr wrap="square" lIns="0" tIns="0" rIns="0" bIns="0" rtlCol="0" anchor="ctr"/>
          <a:lstStyle/>
          <a:p>
            <a:pPr marL="0" indent="0">
              <a:buNone/>
            </a:pPr>
            <a:r>
              <a:rPr lang="en-US" sz="1000" dirty="0">
                <a:solidFill>
                  <a:srgbClr val="8B949E"/>
                </a:solidFill>
              </a:rPr>
              <a:t>z=0.4</a:t>
            </a:r>
            <a:endParaRPr lang="en-US" sz="1000" dirty="0"/>
          </a:p>
        </p:txBody>
      </p:sp>
      <p:sp>
        <p:nvSpPr>
          <p:cNvPr id="17" name="Shape 15"/>
          <p:cNvSpPr/>
          <p:nvPr/>
        </p:nvSpPr>
        <p:spPr>
          <a:xfrm>
            <a:off x="1691640" y="3447288"/>
            <a:ext cx="1645920" cy="292608"/>
          </a:xfrm>
          <a:prstGeom prst="rect">
            <a:avLst/>
          </a:prstGeom>
          <a:solidFill>
            <a:srgbClr val="21262D"/>
          </a:solidFill>
          <a:ln w="12700">
            <a:solidFill>
              <a:srgbClr val="21262D"/>
            </a:solidFill>
            <a:prstDash val="solid"/>
          </a:ln>
        </p:spPr>
        <p:txBody>
          <a:bodyPr/>
          <a:lstStyle/>
          <a:p>
            <a:endParaRPr lang="fr-FR"/>
          </a:p>
        </p:txBody>
      </p:sp>
      <p:sp>
        <p:nvSpPr>
          <p:cNvPr id="18" name="Shape 16"/>
          <p:cNvSpPr/>
          <p:nvPr/>
        </p:nvSpPr>
        <p:spPr>
          <a:xfrm>
            <a:off x="1691640" y="3447288"/>
            <a:ext cx="202446" cy="292608"/>
          </a:xfrm>
          <a:prstGeom prst="rect">
            <a:avLst/>
          </a:prstGeom>
          <a:solidFill>
            <a:srgbClr val="BC8CFF"/>
          </a:solidFill>
          <a:ln w="12700">
            <a:solidFill>
              <a:srgbClr val="BC8CFF"/>
            </a:solidFill>
            <a:prstDash val="solid"/>
          </a:ln>
        </p:spPr>
        <p:txBody>
          <a:bodyPr/>
          <a:lstStyle/>
          <a:p>
            <a:endParaRPr lang="fr-FR"/>
          </a:p>
        </p:txBody>
      </p:sp>
      <p:sp>
        <p:nvSpPr>
          <p:cNvPr id="19" name="Text 17"/>
          <p:cNvSpPr/>
          <p:nvPr/>
        </p:nvSpPr>
        <p:spPr>
          <a:xfrm>
            <a:off x="3364992" y="3429000"/>
            <a:ext cx="777240" cy="347472"/>
          </a:xfrm>
          <a:prstGeom prst="rect">
            <a:avLst/>
          </a:prstGeom>
          <a:noFill/>
          <a:ln/>
        </p:spPr>
        <p:txBody>
          <a:bodyPr wrap="square" lIns="0" tIns="0" rIns="0" bIns="0" rtlCol="0" anchor="ctr"/>
          <a:lstStyle/>
          <a:p>
            <a:pPr marL="0" indent="0">
              <a:buNone/>
            </a:pPr>
            <a:r>
              <a:rPr lang="en-US" sz="1100" b="1" dirty="0">
                <a:solidFill>
                  <a:srgbClr val="BC8CFF"/>
                </a:solidFill>
              </a:rPr>
              <a:t>14.8%</a:t>
            </a:r>
            <a:endParaRPr lang="en-US" sz="1100" dirty="0"/>
          </a:p>
        </p:txBody>
      </p:sp>
      <p:sp>
        <p:nvSpPr>
          <p:cNvPr id="20" name="Text 18"/>
          <p:cNvSpPr/>
          <p:nvPr/>
        </p:nvSpPr>
        <p:spPr>
          <a:xfrm>
            <a:off x="457200" y="4142232"/>
            <a:ext cx="548640" cy="347472"/>
          </a:xfrm>
          <a:prstGeom prst="rect">
            <a:avLst/>
          </a:prstGeom>
          <a:noFill/>
          <a:ln/>
        </p:spPr>
        <p:txBody>
          <a:bodyPr wrap="square" lIns="0" tIns="0" rIns="0" bIns="0" rtlCol="0" anchor="ctr"/>
          <a:lstStyle/>
          <a:p>
            <a:pPr marL="0" indent="0">
              <a:buNone/>
            </a:pPr>
            <a:r>
              <a:rPr lang="en-US" sz="1100" b="1" dirty="0">
                <a:solidFill>
                  <a:srgbClr val="F0883E"/>
                </a:solidFill>
              </a:rPr>
              <a:t>Bird</a:t>
            </a:r>
            <a:endParaRPr lang="en-US" sz="1100" dirty="0"/>
          </a:p>
        </p:txBody>
      </p:sp>
      <p:sp>
        <p:nvSpPr>
          <p:cNvPr id="21" name="Text 19"/>
          <p:cNvSpPr/>
          <p:nvPr/>
        </p:nvSpPr>
        <p:spPr>
          <a:xfrm>
            <a:off x="1024128" y="4142232"/>
            <a:ext cx="594360" cy="347472"/>
          </a:xfrm>
          <a:prstGeom prst="rect">
            <a:avLst/>
          </a:prstGeom>
          <a:noFill/>
          <a:ln/>
        </p:spPr>
        <p:txBody>
          <a:bodyPr wrap="square" lIns="0" tIns="0" rIns="0" bIns="0" rtlCol="0" anchor="ctr"/>
          <a:lstStyle/>
          <a:p>
            <a:pPr marL="0" indent="0">
              <a:buNone/>
            </a:pPr>
            <a:r>
              <a:rPr lang="en-US" sz="1000" dirty="0">
                <a:solidFill>
                  <a:srgbClr val="8B949E"/>
                </a:solidFill>
              </a:rPr>
              <a:t>z=-0.8</a:t>
            </a:r>
            <a:endParaRPr lang="en-US" sz="1000" dirty="0"/>
          </a:p>
        </p:txBody>
      </p:sp>
      <p:sp>
        <p:nvSpPr>
          <p:cNvPr id="22" name="Shape 20"/>
          <p:cNvSpPr/>
          <p:nvPr/>
        </p:nvSpPr>
        <p:spPr>
          <a:xfrm>
            <a:off x="1691640" y="4160520"/>
            <a:ext cx="1645920" cy="292608"/>
          </a:xfrm>
          <a:prstGeom prst="rect">
            <a:avLst/>
          </a:prstGeom>
          <a:solidFill>
            <a:srgbClr val="21262D"/>
          </a:solidFill>
          <a:ln w="12700">
            <a:solidFill>
              <a:srgbClr val="21262D"/>
            </a:solidFill>
            <a:prstDash val="solid"/>
          </a:ln>
        </p:spPr>
        <p:txBody>
          <a:bodyPr/>
          <a:lstStyle/>
          <a:p>
            <a:endParaRPr lang="fr-FR"/>
          </a:p>
        </p:txBody>
      </p:sp>
      <p:sp>
        <p:nvSpPr>
          <p:cNvPr id="23" name="Shape 21"/>
          <p:cNvSpPr/>
          <p:nvPr/>
        </p:nvSpPr>
        <p:spPr>
          <a:xfrm>
            <a:off x="1691640" y="4160520"/>
            <a:ext cx="60976" cy="292608"/>
          </a:xfrm>
          <a:prstGeom prst="rect">
            <a:avLst/>
          </a:prstGeom>
          <a:solidFill>
            <a:srgbClr val="F0883E"/>
          </a:solidFill>
          <a:ln w="12700">
            <a:solidFill>
              <a:srgbClr val="F0883E"/>
            </a:solidFill>
            <a:prstDash val="solid"/>
          </a:ln>
        </p:spPr>
        <p:txBody>
          <a:bodyPr/>
          <a:lstStyle/>
          <a:p>
            <a:endParaRPr lang="fr-FR"/>
          </a:p>
        </p:txBody>
      </p:sp>
      <p:sp>
        <p:nvSpPr>
          <p:cNvPr id="24" name="Text 22"/>
          <p:cNvSpPr/>
          <p:nvPr/>
        </p:nvSpPr>
        <p:spPr>
          <a:xfrm>
            <a:off x="3364992" y="4142232"/>
            <a:ext cx="777240" cy="347472"/>
          </a:xfrm>
          <a:prstGeom prst="rect">
            <a:avLst/>
          </a:prstGeom>
          <a:noFill/>
          <a:ln/>
        </p:spPr>
        <p:txBody>
          <a:bodyPr wrap="square" lIns="0" tIns="0" rIns="0" bIns="0" rtlCol="0" anchor="ctr"/>
          <a:lstStyle/>
          <a:p>
            <a:pPr marL="0" indent="0">
              <a:buNone/>
            </a:pPr>
            <a:r>
              <a:rPr lang="en-US" sz="1100" b="1" dirty="0">
                <a:solidFill>
                  <a:srgbClr val="F0883E"/>
                </a:solidFill>
              </a:rPr>
              <a:t>4.4%</a:t>
            </a:r>
            <a:endParaRPr lang="en-US" sz="1100" dirty="0"/>
          </a:p>
        </p:txBody>
      </p:sp>
      <p:sp>
        <p:nvSpPr>
          <p:cNvPr id="25" name="Text 23"/>
          <p:cNvSpPr/>
          <p:nvPr/>
        </p:nvSpPr>
        <p:spPr>
          <a:xfrm>
            <a:off x="457200" y="4754880"/>
            <a:ext cx="3657600" cy="256032"/>
          </a:xfrm>
          <a:prstGeom prst="rect">
            <a:avLst/>
          </a:prstGeom>
          <a:noFill/>
          <a:ln/>
        </p:spPr>
        <p:txBody>
          <a:bodyPr wrap="square" lIns="0" tIns="0" rIns="0" bIns="0" rtlCol="0" anchor="ctr"/>
          <a:lstStyle/>
          <a:p>
            <a:pPr marL="0" indent="0" algn="ctr">
              <a:buNone/>
            </a:pPr>
            <a:r>
              <a:rPr lang="en-US" sz="1000" dirty="0">
                <a:solidFill>
                  <a:srgbClr val="3FB950"/>
                </a:solidFill>
              </a:rPr>
              <a:t>Sum of all probabilities = 1.000 ✓</a:t>
            </a:r>
            <a:endParaRPr lang="en-US" sz="1000" dirty="0"/>
          </a:p>
        </p:txBody>
      </p:sp>
      <p:sp>
        <p:nvSpPr>
          <p:cNvPr id="26" name="Shape 24"/>
          <p:cNvSpPr/>
          <p:nvPr/>
        </p:nvSpPr>
        <p:spPr>
          <a:xfrm>
            <a:off x="4572000" y="2240280"/>
            <a:ext cx="4251960" cy="260604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27" name="Text 25"/>
          <p:cNvSpPr/>
          <p:nvPr/>
        </p:nvSpPr>
        <p:spPr>
          <a:xfrm>
            <a:off x="4709160" y="2286000"/>
            <a:ext cx="3977640" cy="274320"/>
          </a:xfrm>
          <a:prstGeom prst="rect">
            <a:avLst/>
          </a:prstGeom>
          <a:noFill/>
          <a:ln/>
        </p:spPr>
        <p:txBody>
          <a:bodyPr wrap="square" lIns="0" tIns="0" rIns="0" bIns="0" rtlCol="0" anchor="ctr"/>
          <a:lstStyle/>
          <a:p>
            <a:pPr marL="0" indent="0" algn="ctr">
              <a:buNone/>
            </a:pPr>
            <a:r>
              <a:rPr lang="en-US" sz="1100" dirty="0">
                <a:solidFill>
                  <a:srgbClr val="8B949E"/>
                </a:solidFill>
              </a:rPr>
              <a:t>Complete Forward Pass Summary</a:t>
            </a:r>
            <a:endParaRPr lang="en-US" sz="1100" dirty="0"/>
          </a:p>
        </p:txBody>
      </p:sp>
      <p:sp>
        <p:nvSpPr>
          <p:cNvPr id="28" name="Shape 26"/>
          <p:cNvSpPr/>
          <p:nvPr/>
        </p:nvSpPr>
        <p:spPr>
          <a:xfrm>
            <a:off x="4736592" y="2688336"/>
            <a:ext cx="347472" cy="347472"/>
          </a:xfrm>
          <a:prstGeom prst="ellipse">
            <a:avLst/>
          </a:prstGeom>
          <a:solidFill>
            <a:srgbClr val="58A6FF"/>
          </a:solidFill>
          <a:ln w="12700">
            <a:solidFill>
              <a:srgbClr val="58A6FF"/>
            </a:solidFill>
            <a:prstDash val="solid"/>
          </a:ln>
        </p:spPr>
        <p:txBody>
          <a:bodyPr/>
          <a:lstStyle/>
          <a:p>
            <a:endParaRPr lang="fr-FR"/>
          </a:p>
        </p:txBody>
      </p:sp>
      <p:sp>
        <p:nvSpPr>
          <p:cNvPr id="29" name="Text 27"/>
          <p:cNvSpPr/>
          <p:nvPr/>
        </p:nvSpPr>
        <p:spPr>
          <a:xfrm>
            <a:off x="4736592" y="2688336"/>
            <a:ext cx="347472" cy="347472"/>
          </a:xfrm>
          <a:prstGeom prst="rect">
            <a:avLst/>
          </a:prstGeom>
          <a:noFill/>
          <a:ln/>
        </p:spPr>
        <p:txBody>
          <a:bodyPr wrap="square" lIns="0" tIns="0" rIns="0" bIns="0" rtlCol="0" anchor="ctr"/>
          <a:lstStyle/>
          <a:p>
            <a:pPr marL="0" indent="0" algn="ctr">
              <a:buNone/>
            </a:pPr>
            <a:r>
              <a:rPr lang="en-US" sz="1100" b="1" dirty="0">
                <a:solidFill>
                  <a:srgbClr val="F0F6FC"/>
                </a:solidFill>
              </a:rPr>
              <a:t>1</a:t>
            </a:r>
            <a:endParaRPr lang="en-US" sz="1100" dirty="0"/>
          </a:p>
        </p:txBody>
      </p:sp>
      <p:sp>
        <p:nvSpPr>
          <p:cNvPr id="30" name="Shape 28"/>
          <p:cNvSpPr/>
          <p:nvPr/>
        </p:nvSpPr>
        <p:spPr>
          <a:xfrm>
            <a:off x="5138928" y="2670048"/>
            <a:ext cx="3566160" cy="384048"/>
          </a:xfrm>
          <a:prstGeom prst="roundRect">
            <a:avLst>
              <a:gd name="adj" fmla="val 14286"/>
            </a:avLst>
          </a:prstGeom>
          <a:solidFill>
            <a:srgbClr val="21262D"/>
          </a:solidFill>
          <a:ln w="12700">
            <a:solidFill>
              <a:srgbClr val="58A6FF"/>
            </a:solidFill>
            <a:prstDash val="solid"/>
          </a:ln>
        </p:spPr>
        <p:txBody>
          <a:bodyPr/>
          <a:lstStyle/>
          <a:p>
            <a:endParaRPr lang="fr-FR"/>
          </a:p>
        </p:txBody>
      </p:sp>
      <p:sp>
        <p:nvSpPr>
          <p:cNvPr id="31" name="Text 29"/>
          <p:cNvSpPr/>
          <p:nvPr/>
        </p:nvSpPr>
        <p:spPr>
          <a:xfrm>
            <a:off x="5230368" y="2670048"/>
            <a:ext cx="3383280" cy="384048"/>
          </a:xfrm>
          <a:prstGeom prst="rect">
            <a:avLst/>
          </a:prstGeom>
          <a:noFill/>
          <a:ln/>
        </p:spPr>
        <p:txBody>
          <a:bodyPr wrap="square" lIns="0" tIns="0" rIns="0" bIns="0" rtlCol="0" anchor="ctr"/>
          <a:lstStyle/>
          <a:p>
            <a:pPr marL="0" indent="0">
              <a:buNone/>
            </a:pPr>
            <a:r>
              <a:rPr lang="en-US" sz="1100" b="1" dirty="0">
                <a:solidFill>
                  <a:srgbClr val="58A6FF"/>
                </a:solidFill>
              </a:rPr>
              <a:t>Linear  z¹ = W¹·x + b¹</a:t>
            </a:r>
            <a:endParaRPr lang="en-US" sz="1100" dirty="0"/>
          </a:p>
        </p:txBody>
      </p:sp>
      <p:sp>
        <p:nvSpPr>
          <p:cNvPr id="32" name="Shape 30"/>
          <p:cNvSpPr/>
          <p:nvPr/>
        </p:nvSpPr>
        <p:spPr>
          <a:xfrm>
            <a:off x="4910328" y="3035808"/>
            <a:ext cx="0" cy="219456"/>
          </a:xfrm>
          <a:prstGeom prst="line">
            <a:avLst/>
          </a:prstGeom>
          <a:noFill/>
          <a:ln w="19050">
            <a:solidFill>
              <a:srgbClr val="58A6FF"/>
            </a:solidFill>
            <a:prstDash val="solid"/>
            <a:tailEnd type="arrow"/>
          </a:ln>
        </p:spPr>
        <p:txBody>
          <a:bodyPr/>
          <a:lstStyle/>
          <a:p>
            <a:endParaRPr lang="fr-FR"/>
          </a:p>
        </p:txBody>
      </p:sp>
      <p:sp>
        <p:nvSpPr>
          <p:cNvPr id="33" name="Shape 31"/>
          <p:cNvSpPr/>
          <p:nvPr/>
        </p:nvSpPr>
        <p:spPr>
          <a:xfrm>
            <a:off x="4736592" y="3255264"/>
            <a:ext cx="347472" cy="347472"/>
          </a:xfrm>
          <a:prstGeom prst="ellipse">
            <a:avLst/>
          </a:prstGeom>
          <a:solidFill>
            <a:srgbClr val="F0883E"/>
          </a:solidFill>
          <a:ln w="12700">
            <a:solidFill>
              <a:srgbClr val="F0883E"/>
            </a:solidFill>
            <a:prstDash val="solid"/>
          </a:ln>
        </p:spPr>
        <p:txBody>
          <a:bodyPr/>
          <a:lstStyle/>
          <a:p>
            <a:endParaRPr lang="fr-FR"/>
          </a:p>
        </p:txBody>
      </p:sp>
      <p:sp>
        <p:nvSpPr>
          <p:cNvPr id="34" name="Text 32"/>
          <p:cNvSpPr/>
          <p:nvPr/>
        </p:nvSpPr>
        <p:spPr>
          <a:xfrm>
            <a:off x="4736592" y="3255264"/>
            <a:ext cx="347472" cy="347472"/>
          </a:xfrm>
          <a:prstGeom prst="rect">
            <a:avLst/>
          </a:prstGeom>
          <a:noFill/>
          <a:ln/>
        </p:spPr>
        <p:txBody>
          <a:bodyPr wrap="square" lIns="0" tIns="0" rIns="0" bIns="0" rtlCol="0" anchor="ctr"/>
          <a:lstStyle/>
          <a:p>
            <a:pPr marL="0" indent="0" algn="ctr">
              <a:buNone/>
            </a:pPr>
            <a:r>
              <a:rPr lang="en-US" sz="1100" b="1" dirty="0">
                <a:solidFill>
                  <a:srgbClr val="F0F6FC"/>
                </a:solidFill>
              </a:rPr>
              <a:t>2</a:t>
            </a:r>
            <a:endParaRPr lang="en-US" sz="1100" dirty="0"/>
          </a:p>
        </p:txBody>
      </p:sp>
      <p:sp>
        <p:nvSpPr>
          <p:cNvPr id="35" name="Shape 33"/>
          <p:cNvSpPr/>
          <p:nvPr/>
        </p:nvSpPr>
        <p:spPr>
          <a:xfrm>
            <a:off x="5138928" y="3236976"/>
            <a:ext cx="3566160" cy="384048"/>
          </a:xfrm>
          <a:prstGeom prst="roundRect">
            <a:avLst>
              <a:gd name="adj" fmla="val 14286"/>
            </a:avLst>
          </a:prstGeom>
          <a:solidFill>
            <a:srgbClr val="21262D"/>
          </a:solidFill>
          <a:ln w="12700">
            <a:solidFill>
              <a:srgbClr val="F0883E"/>
            </a:solidFill>
            <a:prstDash val="solid"/>
          </a:ln>
        </p:spPr>
        <p:txBody>
          <a:bodyPr/>
          <a:lstStyle/>
          <a:p>
            <a:endParaRPr lang="fr-FR"/>
          </a:p>
        </p:txBody>
      </p:sp>
      <p:sp>
        <p:nvSpPr>
          <p:cNvPr id="36" name="Text 34"/>
          <p:cNvSpPr/>
          <p:nvPr/>
        </p:nvSpPr>
        <p:spPr>
          <a:xfrm>
            <a:off x="5230368" y="3236976"/>
            <a:ext cx="3383280" cy="384048"/>
          </a:xfrm>
          <a:prstGeom prst="rect">
            <a:avLst/>
          </a:prstGeom>
          <a:noFill/>
          <a:ln/>
        </p:spPr>
        <p:txBody>
          <a:bodyPr wrap="square" lIns="0" tIns="0" rIns="0" bIns="0" rtlCol="0" anchor="ctr"/>
          <a:lstStyle/>
          <a:p>
            <a:pPr marL="0" indent="0">
              <a:buNone/>
            </a:pPr>
            <a:r>
              <a:rPr lang="en-US" sz="1100" b="1" dirty="0">
                <a:solidFill>
                  <a:srgbClr val="F0883E"/>
                </a:solidFill>
              </a:rPr>
              <a:t>Activate  a¹ = ReLU(z¹)</a:t>
            </a:r>
            <a:endParaRPr lang="en-US" sz="1100" dirty="0"/>
          </a:p>
        </p:txBody>
      </p:sp>
      <p:sp>
        <p:nvSpPr>
          <p:cNvPr id="37" name="Shape 35"/>
          <p:cNvSpPr/>
          <p:nvPr/>
        </p:nvSpPr>
        <p:spPr>
          <a:xfrm>
            <a:off x="4910328" y="3602736"/>
            <a:ext cx="0" cy="219456"/>
          </a:xfrm>
          <a:prstGeom prst="line">
            <a:avLst/>
          </a:prstGeom>
          <a:noFill/>
          <a:ln w="19050">
            <a:solidFill>
              <a:srgbClr val="F0883E"/>
            </a:solidFill>
            <a:prstDash val="solid"/>
            <a:tailEnd type="arrow"/>
          </a:ln>
        </p:spPr>
        <p:txBody>
          <a:bodyPr/>
          <a:lstStyle/>
          <a:p>
            <a:endParaRPr lang="fr-FR"/>
          </a:p>
        </p:txBody>
      </p:sp>
      <p:sp>
        <p:nvSpPr>
          <p:cNvPr id="38" name="Shape 36"/>
          <p:cNvSpPr/>
          <p:nvPr/>
        </p:nvSpPr>
        <p:spPr>
          <a:xfrm>
            <a:off x="4736592" y="3822192"/>
            <a:ext cx="347472" cy="347472"/>
          </a:xfrm>
          <a:prstGeom prst="ellipse">
            <a:avLst/>
          </a:prstGeom>
          <a:solidFill>
            <a:srgbClr val="58A6FF"/>
          </a:solidFill>
          <a:ln w="12700">
            <a:solidFill>
              <a:srgbClr val="58A6FF"/>
            </a:solidFill>
            <a:prstDash val="solid"/>
          </a:ln>
        </p:spPr>
        <p:txBody>
          <a:bodyPr/>
          <a:lstStyle/>
          <a:p>
            <a:endParaRPr lang="fr-FR"/>
          </a:p>
        </p:txBody>
      </p:sp>
      <p:sp>
        <p:nvSpPr>
          <p:cNvPr id="39" name="Text 37"/>
          <p:cNvSpPr/>
          <p:nvPr/>
        </p:nvSpPr>
        <p:spPr>
          <a:xfrm>
            <a:off x="4736592" y="3822192"/>
            <a:ext cx="347472" cy="347472"/>
          </a:xfrm>
          <a:prstGeom prst="rect">
            <a:avLst/>
          </a:prstGeom>
          <a:noFill/>
          <a:ln/>
        </p:spPr>
        <p:txBody>
          <a:bodyPr wrap="square" lIns="0" tIns="0" rIns="0" bIns="0" rtlCol="0" anchor="ctr"/>
          <a:lstStyle/>
          <a:p>
            <a:pPr marL="0" indent="0" algn="ctr">
              <a:buNone/>
            </a:pPr>
            <a:r>
              <a:rPr lang="en-US" sz="1100" b="1" dirty="0">
                <a:solidFill>
                  <a:srgbClr val="F0F6FC"/>
                </a:solidFill>
              </a:rPr>
              <a:t>3</a:t>
            </a:r>
            <a:endParaRPr lang="en-US" sz="1100" dirty="0"/>
          </a:p>
        </p:txBody>
      </p:sp>
      <p:sp>
        <p:nvSpPr>
          <p:cNvPr id="40" name="Shape 38"/>
          <p:cNvSpPr/>
          <p:nvPr/>
        </p:nvSpPr>
        <p:spPr>
          <a:xfrm>
            <a:off x="5138928" y="3803904"/>
            <a:ext cx="3566160" cy="384048"/>
          </a:xfrm>
          <a:prstGeom prst="roundRect">
            <a:avLst>
              <a:gd name="adj" fmla="val 14286"/>
            </a:avLst>
          </a:prstGeom>
          <a:solidFill>
            <a:srgbClr val="21262D"/>
          </a:solidFill>
          <a:ln w="12700">
            <a:solidFill>
              <a:srgbClr val="58A6FF"/>
            </a:solidFill>
            <a:prstDash val="solid"/>
          </a:ln>
        </p:spPr>
        <p:txBody>
          <a:bodyPr/>
          <a:lstStyle/>
          <a:p>
            <a:endParaRPr lang="fr-FR"/>
          </a:p>
        </p:txBody>
      </p:sp>
      <p:sp>
        <p:nvSpPr>
          <p:cNvPr id="41" name="Text 39"/>
          <p:cNvSpPr/>
          <p:nvPr/>
        </p:nvSpPr>
        <p:spPr>
          <a:xfrm>
            <a:off x="5230368" y="3803904"/>
            <a:ext cx="3383280" cy="384048"/>
          </a:xfrm>
          <a:prstGeom prst="rect">
            <a:avLst/>
          </a:prstGeom>
          <a:noFill/>
          <a:ln/>
        </p:spPr>
        <p:txBody>
          <a:bodyPr wrap="square" lIns="0" tIns="0" rIns="0" bIns="0" rtlCol="0" anchor="ctr"/>
          <a:lstStyle/>
          <a:p>
            <a:pPr marL="0" indent="0">
              <a:buNone/>
            </a:pPr>
            <a:r>
              <a:rPr lang="en-US" sz="1100" b="1" dirty="0">
                <a:solidFill>
                  <a:srgbClr val="58A6FF"/>
                </a:solidFill>
              </a:rPr>
              <a:t>Linear  z² = W²·a¹ + b²</a:t>
            </a:r>
            <a:endParaRPr lang="en-US" sz="1100" dirty="0"/>
          </a:p>
        </p:txBody>
      </p:sp>
      <p:sp>
        <p:nvSpPr>
          <p:cNvPr id="42" name="Shape 40"/>
          <p:cNvSpPr/>
          <p:nvPr/>
        </p:nvSpPr>
        <p:spPr>
          <a:xfrm>
            <a:off x="4910328" y="4169664"/>
            <a:ext cx="0" cy="219456"/>
          </a:xfrm>
          <a:prstGeom prst="line">
            <a:avLst/>
          </a:prstGeom>
          <a:noFill/>
          <a:ln w="19050">
            <a:solidFill>
              <a:srgbClr val="58A6FF"/>
            </a:solidFill>
            <a:prstDash val="solid"/>
            <a:tailEnd type="arrow"/>
          </a:ln>
        </p:spPr>
        <p:txBody>
          <a:bodyPr/>
          <a:lstStyle/>
          <a:p>
            <a:endParaRPr lang="fr-FR"/>
          </a:p>
        </p:txBody>
      </p:sp>
      <p:sp>
        <p:nvSpPr>
          <p:cNvPr id="43" name="Shape 41"/>
          <p:cNvSpPr/>
          <p:nvPr/>
        </p:nvSpPr>
        <p:spPr>
          <a:xfrm>
            <a:off x="4736592" y="4389120"/>
            <a:ext cx="347472" cy="347472"/>
          </a:xfrm>
          <a:prstGeom prst="ellipse">
            <a:avLst/>
          </a:prstGeom>
          <a:solidFill>
            <a:srgbClr val="3FB950"/>
          </a:solidFill>
          <a:ln w="12700">
            <a:solidFill>
              <a:srgbClr val="3FB950"/>
            </a:solidFill>
            <a:prstDash val="solid"/>
          </a:ln>
        </p:spPr>
        <p:txBody>
          <a:bodyPr/>
          <a:lstStyle/>
          <a:p>
            <a:endParaRPr lang="fr-FR"/>
          </a:p>
        </p:txBody>
      </p:sp>
      <p:sp>
        <p:nvSpPr>
          <p:cNvPr id="44" name="Text 42"/>
          <p:cNvSpPr/>
          <p:nvPr/>
        </p:nvSpPr>
        <p:spPr>
          <a:xfrm>
            <a:off x="4736592" y="4389120"/>
            <a:ext cx="347472" cy="347472"/>
          </a:xfrm>
          <a:prstGeom prst="rect">
            <a:avLst/>
          </a:prstGeom>
          <a:noFill/>
          <a:ln/>
        </p:spPr>
        <p:txBody>
          <a:bodyPr wrap="square" lIns="0" tIns="0" rIns="0" bIns="0" rtlCol="0" anchor="ctr"/>
          <a:lstStyle/>
          <a:p>
            <a:pPr marL="0" indent="0" algn="ctr">
              <a:buNone/>
            </a:pPr>
            <a:r>
              <a:rPr lang="en-US" sz="1100" b="1" dirty="0">
                <a:solidFill>
                  <a:srgbClr val="F0F6FC"/>
                </a:solidFill>
              </a:rPr>
              <a:t>4</a:t>
            </a:r>
            <a:endParaRPr lang="en-US" sz="1100" dirty="0"/>
          </a:p>
        </p:txBody>
      </p:sp>
      <p:sp>
        <p:nvSpPr>
          <p:cNvPr id="45" name="Shape 43"/>
          <p:cNvSpPr/>
          <p:nvPr/>
        </p:nvSpPr>
        <p:spPr>
          <a:xfrm>
            <a:off x="5138928" y="4370832"/>
            <a:ext cx="3566160" cy="384048"/>
          </a:xfrm>
          <a:prstGeom prst="roundRect">
            <a:avLst>
              <a:gd name="adj" fmla="val 14286"/>
            </a:avLst>
          </a:prstGeom>
          <a:solidFill>
            <a:srgbClr val="21262D"/>
          </a:solidFill>
          <a:ln w="12700">
            <a:solidFill>
              <a:srgbClr val="3FB950"/>
            </a:solidFill>
            <a:prstDash val="solid"/>
          </a:ln>
        </p:spPr>
        <p:txBody>
          <a:bodyPr/>
          <a:lstStyle/>
          <a:p>
            <a:endParaRPr lang="fr-FR"/>
          </a:p>
        </p:txBody>
      </p:sp>
      <p:sp>
        <p:nvSpPr>
          <p:cNvPr id="46" name="Text 44"/>
          <p:cNvSpPr/>
          <p:nvPr/>
        </p:nvSpPr>
        <p:spPr>
          <a:xfrm>
            <a:off x="5230368" y="4370832"/>
            <a:ext cx="3383280" cy="384048"/>
          </a:xfrm>
          <a:prstGeom prst="rect">
            <a:avLst/>
          </a:prstGeom>
          <a:noFill/>
          <a:ln/>
        </p:spPr>
        <p:txBody>
          <a:bodyPr wrap="square" lIns="0" tIns="0" rIns="0" bIns="0" rtlCol="0" anchor="ctr"/>
          <a:lstStyle/>
          <a:p>
            <a:pPr marL="0" indent="0">
              <a:buNone/>
            </a:pPr>
            <a:r>
              <a:rPr lang="en-US" sz="1100" b="1" dirty="0">
                <a:solidFill>
                  <a:srgbClr val="3FB950"/>
                </a:solidFill>
              </a:rPr>
              <a:t>Output  y_hat = Softmax(z²)</a:t>
            </a:r>
            <a:endParaRPr lang="en-US" sz="1100" dirty="0"/>
          </a:p>
        </p:txBody>
      </p:sp>
      <p:sp>
        <p:nvSpPr>
          <p:cNvPr id="47" name="Text 45"/>
          <p:cNvSpPr/>
          <p:nvPr/>
        </p:nvSpPr>
        <p:spPr>
          <a:xfrm>
            <a:off x="320040" y="4736592"/>
            <a:ext cx="8503920" cy="256032"/>
          </a:xfrm>
          <a:prstGeom prst="rect">
            <a:avLst/>
          </a:prstGeom>
          <a:noFill/>
          <a:ln/>
        </p:spPr>
        <p:txBody>
          <a:bodyPr wrap="square" lIns="0" tIns="0" rIns="0" bIns="0" rtlCol="0" anchor="ctr"/>
          <a:lstStyle/>
          <a:p>
            <a:pPr marL="0" indent="0" algn="ctr">
              <a:buNone/>
            </a:pPr>
            <a:r>
              <a:rPr lang="en-US" sz="1000" i="1" dirty="0">
                <a:solidFill>
                  <a:srgbClr val="3FB950"/>
                </a:solidFill>
              </a:rPr>
              <a:t>Now we have y_hat — the prediction!  Next: measure how wrong we are (Loss)</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1B22"/>
          </a:solidFill>
          <a:ln w="12700">
            <a:solidFill>
              <a:srgbClr val="161B22"/>
            </a:solidFill>
            <a:prstDash val="solid"/>
          </a:ln>
        </p:spPr>
        <p:txBody>
          <a:bodyPr/>
          <a:lstStyle/>
          <a:p>
            <a:endParaRPr lang="fr-FR"/>
          </a:p>
        </p:txBody>
      </p:sp>
      <p:sp>
        <p:nvSpPr>
          <p:cNvPr id="3" name="Shape 1"/>
          <p:cNvSpPr/>
          <p:nvPr/>
        </p:nvSpPr>
        <p:spPr>
          <a:xfrm>
            <a:off x="0" y="0"/>
            <a:ext cx="457200" cy="5143500"/>
          </a:xfrm>
          <a:prstGeom prst="rect">
            <a:avLst/>
          </a:prstGeom>
          <a:solidFill>
            <a:srgbClr val="F0883E"/>
          </a:solidFill>
          <a:ln w="12700">
            <a:solidFill>
              <a:srgbClr val="F0883E"/>
            </a:solidFill>
            <a:prstDash val="solid"/>
          </a:ln>
        </p:spPr>
        <p:txBody>
          <a:bodyPr/>
          <a:lstStyle/>
          <a:p>
            <a:endParaRPr lang="fr-FR"/>
          </a:p>
        </p:txBody>
      </p:sp>
      <p:sp>
        <p:nvSpPr>
          <p:cNvPr id="4" name="Shape 2"/>
          <p:cNvSpPr/>
          <p:nvPr/>
        </p:nvSpPr>
        <p:spPr>
          <a:xfrm>
            <a:off x="6858000" y="1097280"/>
            <a:ext cx="1828800" cy="2926080"/>
          </a:xfrm>
          <a:prstGeom prst="rect">
            <a:avLst/>
          </a:prstGeom>
          <a:solidFill>
            <a:srgbClr val="21262D"/>
          </a:solidFill>
          <a:ln w="12700">
            <a:solidFill>
              <a:srgbClr val="21262D"/>
            </a:solidFill>
            <a:prstDash val="solid"/>
          </a:ln>
        </p:spPr>
        <p:txBody>
          <a:bodyPr/>
          <a:lstStyle/>
          <a:p>
            <a:endParaRPr lang="fr-FR"/>
          </a:p>
        </p:txBody>
      </p:sp>
      <p:sp>
        <p:nvSpPr>
          <p:cNvPr id="5" name="Shape 3"/>
          <p:cNvSpPr/>
          <p:nvPr/>
        </p:nvSpPr>
        <p:spPr>
          <a:xfrm>
            <a:off x="8138160" y="2148840"/>
            <a:ext cx="347472" cy="347472"/>
          </a:xfrm>
          <a:prstGeom prst="ellipse">
            <a:avLst/>
          </a:prstGeom>
          <a:solidFill>
            <a:srgbClr val="3FB950"/>
          </a:solidFill>
          <a:ln w="12700">
            <a:solidFill>
              <a:srgbClr val="3FB950"/>
            </a:solidFill>
            <a:prstDash val="solid"/>
          </a:ln>
        </p:spPr>
        <p:txBody>
          <a:bodyPr/>
          <a:lstStyle/>
          <a:p>
            <a:endParaRPr lang="fr-FR"/>
          </a:p>
        </p:txBody>
      </p:sp>
      <p:sp>
        <p:nvSpPr>
          <p:cNvPr id="6" name="Shape 4"/>
          <p:cNvSpPr/>
          <p:nvPr/>
        </p:nvSpPr>
        <p:spPr>
          <a:xfrm>
            <a:off x="7443216" y="1618488"/>
            <a:ext cx="329184" cy="329184"/>
          </a:xfrm>
          <a:prstGeom prst="ellipse">
            <a:avLst/>
          </a:prstGeom>
          <a:solidFill>
            <a:srgbClr val="BC8CFF"/>
          </a:solidFill>
          <a:ln w="12700">
            <a:solidFill>
              <a:srgbClr val="BC8CFF"/>
            </a:solidFill>
            <a:prstDash val="solid"/>
          </a:ln>
        </p:spPr>
        <p:txBody>
          <a:bodyPr/>
          <a:lstStyle/>
          <a:p>
            <a:endParaRPr lang="fr-FR"/>
          </a:p>
        </p:txBody>
      </p:sp>
      <p:sp>
        <p:nvSpPr>
          <p:cNvPr id="7" name="Shape 5"/>
          <p:cNvSpPr/>
          <p:nvPr/>
        </p:nvSpPr>
        <p:spPr>
          <a:xfrm>
            <a:off x="7443216" y="2322576"/>
            <a:ext cx="329184" cy="329184"/>
          </a:xfrm>
          <a:prstGeom prst="ellipse">
            <a:avLst/>
          </a:prstGeom>
          <a:solidFill>
            <a:srgbClr val="BC8CFF"/>
          </a:solidFill>
          <a:ln w="12700">
            <a:solidFill>
              <a:srgbClr val="BC8CFF"/>
            </a:solidFill>
            <a:prstDash val="solid"/>
          </a:ln>
        </p:spPr>
        <p:txBody>
          <a:bodyPr/>
          <a:lstStyle/>
          <a:p>
            <a:endParaRPr lang="fr-FR"/>
          </a:p>
        </p:txBody>
      </p:sp>
      <p:sp>
        <p:nvSpPr>
          <p:cNvPr id="8" name="Shape 6"/>
          <p:cNvSpPr/>
          <p:nvPr/>
        </p:nvSpPr>
        <p:spPr>
          <a:xfrm>
            <a:off x="6922008" y="1298448"/>
            <a:ext cx="329184" cy="329184"/>
          </a:xfrm>
          <a:prstGeom prst="ellipse">
            <a:avLst/>
          </a:prstGeom>
          <a:solidFill>
            <a:srgbClr val="58A6FF"/>
          </a:solidFill>
          <a:ln w="12700">
            <a:solidFill>
              <a:srgbClr val="58A6FF"/>
            </a:solidFill>
            <a:prstDash val="solid"/>
          </a:ln>
        </p:spPr>
        <p:txBody>
          <a:bodyPr/>
          <a:lstStyle/>
          <a:p>
            <a:endParaRPr lang="fr-FR"/>
          </a:p>
        </p:txBody>
      </p:sp>
      <p:sp>
        <p:nvSpPr>
          <p:cNvPr id="9" name="Shape 7"/>
          <p:cNvSpPr/>
          <p:nvPr/>
        </p:nvSpPr>
        <p:spPr>
          <a:xfrm>
            <a:off x="6922008" y="1984248"/>
            <a:ext cx="329184" cy="329184"/>
          </a:xfrm>
          <a:prstGeom prst="ellipse">
            <a:avLst/>
          </a:prstGeom>
          <a:solidFill>
            <a:srgbClr val="58A6FF"/>
          </a:solidFill>
          <a:ln w="12700">
            <a:solidFill>
              <a:srgbClr val="58A6FF"/>
            </a:solidFill>
            <a:prstDash val="solid"/>
          </a:ln>
        </p:spPr>
        <p:txBody>
          <a:bodyPr/>
          <a:lstStyle/>
          <a:p>
            <a:endParaRPr lang="fr-FR"/>
          </a:p>
        </p:txBody>
      </p:sp>
      <p:sp>
        <p:nvSpPr>
          <p:cNvPr id="10" name="Shape 8"/>
          <p:cNvSpPr/>
          <p:nvPr/>
        </p:nvSpPr>
        <p:spPr>
          <a:xfrm>
            <a:off x="6922008" y="2670048"/>
            <a:ext cx="329184" cy="329184"/>
          </a:xfrm>
          <a:prstGeom prst="ellipse">
            <a:avLst/>
          </a:prstGeom>
          <a:solidFill>
            <a:srgbClr val="58A6FF"/>
          </a:solidFill>
          <a:ln w="12700">
            <a:solidFill>
              <a:srgbClr val="58A6FF"/>
            </a:solidFill>
            <a:prstDash val="solid"/>
          </a:ln>
        </p:spPr>
        <p:txBody>
          <a:bodyPr/>
          <a:lstStyle/>
          <a:p>
            <a:endParaRPr lang="fr-FR"/>
          </a:p>
        </p:txBody>
      </p:sp>
      <p:sp>
        <p:nvSpPr>
          <p:cNvPr id="11" name="Shape 9"/>
          <p:cNvSpPr/>
          <p:nvPr/>
        </p:nvSpPr>
        <p:spPr>
          <a:xfrm>
            <a:off x="7443216" y="1783080"/>
            <a:ext cx="0" cy="0"/>
          </a:xfrm>
          <a:prstGeom prst="line">
            <a:avLst/>
          </a:prstGeom>
          <a:noFill/>
          <a:ln w="12700">
            <a:solidFill>
              <a:srgbClr val="F0883E"/>
            </a:solidFill>
            <a:prstDash val="dash"/>
          </a:ln>
        </p:spPr>
        <p:txBody>
          <a:bodyPr/>
          <a:lstStyle/>
          <a:p>
            <a:endParaRPr lang="fr-FR"/>
          </a:p>
        </p:txBody>
      </p:sp>
      <p:sp>
        <p:nvSpPr>
          <p:cNvPr id="12" name="Shape 10"/>
          <p:cNvSpPr/>
          <p:nvPr/>
        </p:nvSpPr>
        <p:spPr>
          <a:xfrm>
            <a:off x="7443216" y="1783080"/>
            <a:ext cx="0" cy="365760"/>
          </a:xfrm>
          <a:prstGeom prst="line">
            <a:avLst/>
          </a:prstGeom>
          <a:noFill/>
          <a:ln w="12700">
            <a:solidFill>
              <a:srgbClr val="F0883E"/>
            </a:solidFill>
            <a:prstDash val="dash"/>
          </a:ln>
        </p:spPr>
        <p:txBody>
          <a:bodyPr/>
          <a:lstStyle/>
          <a:p>
            <a:endParaRPr lang="fr-FR"/>
          </a:p>
        </p:txBody>
      </p:sp>
      <p:sp>
        <p:nvSpPr>
          <p:cNvPr id="13" name="Shape 11"/>
          <p:cNvSpPr/>
          <p:nvPr/>
        </p:nvSpPr>
        <p:spPr>
          <a:xfrm>
            <a:off x="7443216" y="1783080"/>
            <a:ext cx="0" cy="1051560"/>
          </a:xfrm>
          <a:prstGeom prst="line">
            <a:avLst/>
          </a:prstGeom>
          <a:noFill/>
          <a:ln w="12700">
            <a:solidFill>
              <a:srgbClr val="F0883E"/>
            </a:solidFill>
            <a:prstDash val="dash"/>
          </a:ln>
        </p:spPr>
        <p:txBody>
          <a:bodyPr/>
          <a:lstStyle/>
          <a:p>
            <a:endParaRPr lang="fr-FR"/>
          </a:p>
        </p:txBody>
      </p:sp>
      <p:sp>
        <p:nvSpPr>
          <p:cNvPr id="14" name="Shape 12"/>
          <p:cNvSpPr/>
          <p:nvPr/>
        </p:nvSpPr>
        <p:spPr>
          <a:xfrm>
            <a:off x="7443216" y="2487168"/>
            <a:ext cx="0" cy="0"/>
          </a:xfrm>
          <a:prstGeom prst="line">
            <a:avLst/>
          </a:prstGeom>
          <a:noFill/>
          <a:ln w="12700">
            <a:solidFill>
              <a:srgbClr val="F0883E"/>
            </a:solidFill>
            <a:prstDash val="dash"/>
          </a:ln>
        </p:spPr>
        <p:txBody>
          <a:bodyPr/>
          <a:lstStyle/>
          <a:p>
            <a:endParaRPr lang="fr-FR"/>
          </a:p>
        </p:txBody>
      </p:sp>
      <p:sp>
        <p:nvSpPr>
          <p:cNvPr id="15" name="Shape 13"/>
          <p:cNvSpPr/>
          <p:nvPr/>
        </p:nvSpPr>
        <p:spPr>
          <a:xfrm>
            <a:off x="7443216" y="2487168"/>
            <a:ext cx="0" cy="0"/>
          </a:xfrm>
          <a:prstGeom prst="line">
            <a:avLst/>
          </a:prstGeom>
          <a:noFill/>
          <a:ln w="12700">
            <a:solidFill>
              <a:srgbClr val="F0883E"/>
            </a:solidFill>
            <a:prstDash val="dash"/>
          </a:ln>
        </p:spPr>
        <p:txBody>
          <a:bodyPr/>
          <a:lstStyle/>
          <a:p>
            <a:endParaRPr lang="fr-FR"/>
          </a:p>
        </p:txBody>
      </p:sp>
      <p:sp>
        <p:nvSpPr>
          <p:cNvPr id="16" name="Shape 14"/>
          <p:cNvSpPr/>
          <p:nvPr/>
        </p:nvSpPr>
        <p:spPr>
          <a:xfrm>
            <a:off x="7443216" y="2487168"/>
            <a:ext cx="0" cy="347472"/>
          </a:xfrm>
          <a:prstGeom prst="line">
            <a:avLst/>
          </a:prstGeom>
          <a:noFill/>
          <a:ln w="12700">
            <a:solidFill>
              <a:srgbClr val="F0883E"/>
            </a:solidFill>
            <a:prstDash val="dash"/>
          </a:ln>
        </p:spPr>
        <p:txBody>
          <a:bodyPr/>
          <a:lstStyle/>
          <a:p>
            <a:endParaRPr lang="fr-FR"/>
          </a:p>
        </p:txBody>
      </p:sp>
      <p:sp>
        <p:nvSpPr>
          <p:cNvPr id="17" name="Shape 15"/>
          <p:cNvSpPr/>
          <p:nvPr/>
        </p:nvSpPr>
        <p:spPr>
          <a:xfrm>
            <a:off x="8778240" y="4297680"/>
            <a:ext cx="0" cy="0"/>
          </a:xfrm>
          <a:prstGeom prst="line">
            <a:avLst/>
          </a:prstGeom>
          <a:noFill/>
          <a:ln w="31750">
            <a:solidFill>
              <a:srgbClr val="F0883E"/>
            </a:solidFill>
            <a:prstDash val="solid"/>
            <a:tailEnd type="arrow"/>
          </a:ln>
        </p:spPr>
        <p:txBody>
          <a:bodyPr/>
          <a:lstStyle/>
          <a:p>
            <a:endParaRPr lang="fr-FR"/>
          </a:p>
        </p:txBody>
      </p:sp>
      <p:sp>
        <p:nvSpPr>
          <p:cNvPr id="18" name="Text 16"/>
          <p:cNvSpPr/>
          <p:nvPr/>
        </p:nvSpPr>
        <p:spPr>
          <a:xfrm>
            <a:off x="6858000" y="4370832"/>
            <a:ext cx="1920240" cy="274320"/>
          </a:xfrm>
          <a:prstGeom prst="rect">
            <a:avLst/>
          </a:prstGeom>
          <a:noFill/>
          <a:ln/>
        </p:spPr>
        <p:txBody>
          <a:bodyPr wrap="square" lIns="0" tIns="0" rIns="0" bIns="0" rtlCol="0" anchor="ctr"/>
          <a:lstStyle/>
          <a:p>
            <a:pPr marL="0" indent="0" algn="ctr">
              <a:buNone/>
            </a:pPr>
            <a:r>
              <a:rPr lang="en-US" sz="1000" dirty="0">
                <a:solidFill>
                  <a:srgbClr val="F0883E"/>
                </a:solidFill>
              </a:rPr>
              <a:t>← Backward</a:t>
            </a:r>
            <a:endParaRPr lang="en-US" sz="1000" dirty="0"/>
          </a:p>
        </p:txBody>
      </p:sp>
      <p:sp>
        <p:nvSpPr>
          <p:cNvPr id="19" name="Text 17"/>
          <p:cNvSpPr/>
          <p:nvPr/>
        </p:nvSpPr>
        <p:spPr>
          <a:xfrm>
            <a:off x="731520" y="1143000"/>
            <a:ext cx="7315200" cy="457200"/>
          </a:xfrm>
          <a:prstGeom prst="rect">
            <a:avLst/>
          </a:prstGeom>
          <a:noFill/>
          <a:ln/>
        </p:spPr>
        <p:txBody>
          <a:bodyPr wrap="square" lIns="0" tIns="0" rIns="0" bIns="0" rtlCol="0" anchor="ctr"/>
          <a:lstStyle/>
          <a:p>
            <a:pPr marL="0" indent="0">
              <a:buNone/>
            </a:pPr>
            <a:r>
              <a:rPr lang="en-US" sz="1400" b="1" kern="0" spc="800" dirty="0">
                <a:solidFill>
                  <a:srgbClr val="F0883E"/>
                </a:solidFill>
              </a:rPr>
              <a:t>DEEP DIVE</a:t>
            </a:r>
            <a:endParaRPr lang="en-US" sz="1400" dirty="0"/>
          </a:p>
        </p:txBody>
      </p:sp>
      <p:sp>
        <p:nvSpPr>
          <p:cNvPr id="20" name="Text 18"/>
          <p:cNvSpPr/>
          <p:nvPr/>
        </p:nvSpPr>
        <p:spPr>
          <a:xfrm>
            <a:off x="731520" y="1600200"/>
            <a:ext cx="6400800" cy="868680"/>
          </a:xfrm>
          <a:prstGeom prst="rect">
            <a:avLst/>
          </a:prstGeom>
          <a:noFill/>
          <a:ln/>
        </p:spPr>
        <p:txBody>
          <a:bodyPr wrap="square" lIns="0" tIns="0" rIns="0" bIns="0" rtlCol="0" anchor="ctr"/>
          <a:lstStyle/>
          <a:p>
            <a:pPr marL="0" indent="0">
              <a:buNone/>
            </a:pPr>
            <a:r>
              <a:rPr lang="en-US" sz="5600" b="1" dirty="0">
                <a:solidFill>
                  <a:srgbClr val="F0F6FC"/>
                </a:solidFill>
              </a:rPr>
              <a:t>Backward</a:t>
            </a:r>
            <a:endParaRPr lang="en-US" sz="5600" dirty="0"/>
          </a:p>
        </p:txBody>
      </p:sp>
      <p:sp>
        <p:nvSpPr>
          <p:cNvPr id="21" name="Text 19"/>
          <p:cNvSpPr/>
          <p:nvPr/>
        </p:nvSpPr>
        <p:spPr>
          <a:xfrm>
            <a:off x="731520" y="2450592"/>
            <a:ext cx="6400800" cy="777240"/>
          </a:xfrm>
          <a:prstGeom prst="rect">
            <a:avLst/>
          </a:prstGeom>
          <a:noFill/>
          <a:ln/>
        </p:spPr>
        <p:txBody>
          <a:bodyPr wrap="square" lIns="0" tIns="0" rIns="0" bIns="0" rtlCol="0" anchor="ctr"/>
          <a:lstStyle/>
          <a:p>
            <a:pPr marL="0" indent="0">
              <a:buNone/>
            </a:pPr>
            <a:r>
              <a:rPr lang="en-US" sz="4400" b="1" dirty="0">
                <a:solidFill>
                  <a:srgbClr val="F0883E"/>
                </a:solidFill>
              </a:rPr>
              <a:t>Propagation</a:t>
            </a:r>
            <a:endParaRPr lang="en-US" sz="4400" dirty="0"/>
          </a:p>
        </p:txBody>
      </p:sp>
      <p:sp>
        <p:nvSpPr>
          <p:cNvPr id="22" name="Text 20"/>
          <p:cNvSpPr/>
          <p:nvPr/>
        </p:nvSpPr>
        <p:spPr>
          <a:xfrm>
            <a:off x="731520" y="3310128"/>
            <a:ext cx="6400800" cy="411480"/>
          </a:xfrm>
          <a:prstGeom prst="rect">
            <a:avLst/>
          </a:prstGeom>
          <a:noFill/>
          <a:ln/>
        </p:spPr>
        <p:txBody>
          <a:bodyPr wrap="square" lIns="0" tIns="0" rIns="0" bIns="0" rtlCol="0" anchor="ctr"/>
          <a:lstStyle/>
          <a:p>
            <a:pPr marL="0" indent="0">
              <a:buNone/>
            </a:pPr>
            <a:r>
              <a:rPr lang="en-US" sz="1500" i="1" dirty="0">
                <a:solidFill>
                  <a:srgbClr val="8B949E"/>
                </a:solidFill>
              </a:rPr>
              <a:t>Loss functions · Chain rule · Gradient descent — step by step</a:t>
            </a:r>
            <a:endParaRPr lang="en-US" sz="1500" dirty="0"/>
          </a:p>
        </p:txBody>
      </p:sp>
      <p:sp>
        <p:nvSpPr>
          <p:cNvPr id="23" name="Shape 21"/>
          <p:cNvSpPr/>
          <p:nvPr/>
        </p:nvSpPr>
        <p:spPr>
          <a:xfrm>
            <a:off x="731520" y="3858768"/>
            <a:ext cx="274320" cy="274320"/>
          </a:xfrm>
          <a:prstGeom prst="ellipse">
            <a:avLst/>
          </a:prstGeom>
          <a:solidFill>
            <a:srgbClr val="F0883E"/>
          </a:solidFill>
          <a:ln w="12700">
            <a:solidFill>
              <a:srgbClr val="F0883E"/>
            </a:solidFill>
            <a:prstDash val="solid"/>
          </a:ln>
        </p:spPr>
        <p:txBody>
          <a:bodyPr/>
          <a:lstStyle/>
          <a:p>
            <a:endParaRPr lang="fr-FR"/>
          </a:p>
        </p:txBody>
      </p:sp>
      <p:sp>
        <p:nvSpPr>
          <p:cNvPr id="24" name="Shape 22"/>
          <p:cNvSpPr/>
          <p:nvPr/>
        </p:nvSpPr>
        <p:spPr>
          <a:xfrm>
            <a:off x="1143000" y="3858768"/>
            <a:ext cx="274320" cy="274320"/>
          </a:xfrm>
          <a:prstGeom prst="ellipse">
            <a:avLst/>
          </a:prstGeom>
          <a:solidFill>
            <a:srgbClr val="FF7B72"/>
          </a:solidFill>
          <a:ln w="12700">
            <a:solidFill>
              <a:srgbClr val="FF7B72"/>
            </a:solidFill>
            <a:prstDash val="solid"/>
          </a:ln>
        </p:spPr>
        <p:txBody>
          <a:bodyPr/>
          <a:lstStyle/>
          <a:p>
            <a:endParaRPr lang="fr-FR"/>
          </a:p>
        </p:txBody>
      </p:sp>
      <p:sp>
        <p:nvSpPr>
          <p:cNvPr id="25" name="Shape 23"/>
          <p:cNvSpPr/>
          <p:nvPr/>
        </p:nvSpPr>
        <p:spPr>
          <a:xfrm>
            <a:off x="1554480" y="3858768"/>
            <a:ext cx="274320" cy="274320"/>
          </a:xfrm>
          <a:prstGeom prst="ellipse">
            <a:avLst/>
          </a:prstGeom>
          <a:solidFill>
            <a:srgbClr val="E3B341"/>
          </a:solidFill>
          <a:ln w="12700">
            <a:solidFill>
              <a:srgbClr val="E3B341"/>
            </a:solidFill>
            <a:prstDash val="solid"/>
          </a:ln>
        </p:spPr>
        <p:txBody>
          <a:bodyPr/>
          <a:lstStyle/>
          <a:p>
            <a:endParaRPr lang="fr-F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7B72"/>
          </a:solidFill>
          <a:ln w="12700">
            <a:solidFill>
              <a:srgbClr val="FF7B72"/>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Loss Functions — Measuring How Wrong We Are</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FF7B72"/>
                </a:solidFill>
              </a:rPr>
              <a:t>The signal that drives all learning</a:t>
            </a:r>
            <a:endParaRPr lang="en-US" sz="1200" dirty="0"/>
          </a:p>
        </p:txBody>
      </p:sp>
      <p:sp>
        <p:nvSpPr>
          <p:cNvPr id="5" name="Shape 3"/>
          <p:cNvSpPr/>
          <p:nvPr/>
        </p:nvSpPr>
        <p:spPr>
          <a:xfrm>
            <a:off x="320040" y="1024128"/>
            <a:ext cx="8503920" cy="0"/>
          </a:xfrm>
          <a:prstGeom prst="line">
            <a:avLst/>
          </a:prstGeom>
          <a:noFill/>
          <a:ln w="12700">
            <a:solidFill>
              <a:srgbClr val="FF7B72"/>
            </a:solidFill>
            <a:prstDash val="solid"/>
          </a:ln>
        </p:spPr>
        <p:txBody>
          <a:bodyPr/>
          <a:lstStyle/>
          <a:p>
            <a:endParaRPr lang="fr-FR"/>
          </a:p>
        </p:txBody>
      </p:sp>
      <p:sp>
        <p:nvSpPr>
          <p:cNvPr id="6" name="Shape 4"/>
          <p:cNvSpPr/>
          <p:nvPr/>
        </p:nvSpPr>
        <p:spPr>
          <a:xfrm>
            <a:off x="320040" y="1170432"/>
            <a:ext cx="8503920" cy="566928"/>
          </a:xfrm>
          <a:prstGeom prst="rect">
            <a:avLst/>
          </a:prstGeom>
          <a:solidFill>
            <a:srgbClr val="21262D"/>
          </a:solidFill>
          <a:ln w="12700">
            <a:solidFill>
              <a:srgbClr val="FF7B72"/>
            </a:solidFill>
            <a:prstDash val="solid"/>
          </a:ln>
        </p:spPr>
        <p:txBody>
          <a:bodyPr/>
          <a:lstStyle/>
          <a:p>
            <a:endParaRPr lang="fr-FR"/>
          </a:p>
        </p:txBody>
      </p:sp>
      <p:sp>
        <p:nvSpPr>
          <p:cNvPr id="7" name="Text 5"/>
          <p:cNvSpPr/>
          <p:nvPr/>
        </p:nvSpPr>
        <p:spPr>
          <a:xfrm>
            <a:off x="502920" y="1170432"/>
            <a:ext cx="8321040" cy="566928"/>
          </a:xfrm>
          <a:prstGeom prst="rect">
            <a:avLst/>
          </a:prstGeom>
          <a:noFill/>
          <a:ln/>
        </p:spPr>
        <p:txBody>
          <a:bodyPr wrap="square" lIns="0" tIns="0" rIns="0" bIns="0" rtlCol="0" anchor="ctr"/>
          <a:lstStyle/>
          <a:p>
            <a:pPr marL="0" indent="0">
              <a:buNone/>
            </a:pPr>
            <a:r>
              <a:rPr lang="en-US" sz="1400" b="1" dirty="0">
                <a:solidFill>
                  <a:srgbClr val="FF7B72"/>
                </a:solidFill>
              </a:rPr>
              <a:t>Loss  L(y, y_hat)  </a:t>
            </a:r>
            <a:r>
              <a:rPr lang="en-US" sz="1400" dirty="0">
                <a:solidFill>
                  <a:srgbClr val="F0F6FC"/>
                </a:solidFill>
              </a:rPr>
              <a:t>measures the gap between true label  </a:t>
            </a:r>
            <a:r>
              <a:rPr lang="en-US" sz="1400" b="1" dirty="0">
                <a:solidFill>
                  <a:srgbClr val="3FB950"/>
                </a:solidFill>
              </a:rPr>
              <a:t>y  </a:t>
            </a:r>
            <a:r>
              <a:rPr lang="en-US" sz="1400" dirty="0">
                <a:solidFill>
                  <a:srgbClr val="F0F6FC"/>
                </a:solidFill>
              </a:rPr>
              <a:t>and prediction  </a:t>
            </a:r>
            <a:r>
              <a:rPr lang="en-US" sz="1400" b="1" dirty="0">
                <a:solidFill>
                  <a:srgbClr val="F0883E"/>
                </a:solidFill>
              </a:rPr>
              <a:t>y_hat</a:t>
            </a:r>
            <a:r>
              <a:rPr lang="en-US" sz="1400" dirty="0">
                <a:solidFill>
                  <a:srgbClr val="8B949E"/>
                </a:solidFill>
              </a:rPr>
              <a:t>.  Goal: minimize it!</a:t>
            </a:r>
            <a:endParaRPr lang="en-US" sz="1400" dirty="0"/>
          </a:p>
        </p:txBody>
      </p:sp>
      <p:sp>
        <p:nvSpPr>
          <p:cNvPr id="8" name="Shape 6"/>
          <p:cNvSpPr/>
          <p:nvPr/>
        </p:nvSpPr>
        <p:spPr>
          <a:xfrm>
            <a:off x="320040" y="1874520"/>
            <a:ext cx="4114800" cy="2971800"/>
          </a:xfrm>
          <a:prstGeom prst="rect">
            <a:avLst/>
          </a:prstGeom>
          <a:solidFill>
            <a:srgbClr val="161B22"/>
          </a:solidFill>
          <a:ln w="2540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9" name="Shape 7"/>
          <p:cNvSpPr/>
          <p:nvPr/>
        </p:nvSpPr>
        <p:spPr>
          <a:xfrm>
            <a:off x="320040" y="1874520"/>
            <a:ext cx="4114800" cy="438912"/>
          </a:xfrm>
          <a:prstGeom prst="rect">
            <a:avLst/>
          </a:prstGeom>
          <a:solidFill>
            <a:srgbClr val="58A6FF"/>
          </a:solidFill>
          <a:ln w="12700">
            <a:solidFill>
              <a:srgbClr val="58A6FF"/>
            </a:solidFill>
            <a:prstDash val="solid"/>
          </a:ln>
        </p:spPr>
        <p:txBody>
          <a:bodyPr/>
          <a:lstStyle/>
          <a:p>
            <a:endParaRPr lang="fr-FR"/>
          </a:p>
        </p:txBody>
      </p:sp>
      <p:sp>
        <p:nvSpPr>
          <p:cNvPr id="10" name="Text 8"/>
          <p:cNvSpPr/>
          <p:nvPr/>
        </p:nvSpPr>
        <p:spPr>
          <a:xfrm>
            <a:off x="411480" y="1883664"/>
            <a:ext cx="3931920" cy="411480"/>
          </a:xfrm>
          <a:prstGeom prst="rect">
            <a:avLst/>
          </a:prstGeom>
          <a:noFill/>
          <a:ln/>
        </p:spPr>
        <p:txBody>
          <a:bodyPr wrap="square" lIns="0" tIns="0" rIns="0" bIns="0" rtlCol="0" anchor="ctr"/>
          <a:lstStyle/>
          <a:p>
            <a:pPr marL="0" indent="0" algn="ctr">
              <a:buNone/>
            </a:pPr>
            <a:r>
              <a:rPr lang="en-US" sz="1200" b="1" dirty="0">
                <a:solidFill>
                  <a:srgbClr val="F0F6FC"/>
                </a:solidFill>
              </a:rPr>
              <a:t>MSE — Mean Squared Error</a:t>
            </a:r>
            <a:endParaRPr lang="en-US" sz="1200" dirty="0"/>
          </a:p>
        </p:txBody>
      </p:sp>
      <p:sp>
        <p:nvSpPr>
          <p:cNvPr id="11" name="Shape 9"/>
          <p:cNvSpPr/>
          <p:nvPr/>
        </p:nvSpPr>
        <p:spPr>
          <a:xfrm>
            <a:off x="502920" y="2395728"/>
            <a:ext cx="3749040" cy="594360"/>
          </a:xfrm>
          <a:prstGeom prst="roundRect">
            <a:avLst>
              <a:gd name="adj" fmla="val 9231"/>
            </a:avLst>
          </a:prstGeom>
          <a:solidFill>
            <a:srgbClr val="21262D"/>
          </a:solidFill>
          <a:ln w="19050">
            <a:solidFill>
              <a:srgbClr val="58A6FF"/>
            </a:solidFill>
            <a:prstDash val="solid"/>
          </a:ln>
        </p:spPr>
        <p:txBody>
          <a:bodyPr/>
          <a:lstStyle/>
          <a:p>
            <a:endParaRPr lang="fr-FR"/>
          </a:p>
        </p:txBody>
      </p:sp>
      <p:sp>
        <p:nvSpPr>
          <p:cNvPr id="12" name="Text 10"/>
          <p:cNvSpPr/>
          <p:nvPr/>
        </p:nvSpPr>
        <p:spPr>
          <a:xfrm>
            <a:off x="502920" y="2395728"/>
            <a:ext cx="3749040" cy="594360"/>
          </a:xfrm>
          <a:prstGeom prst="rect">
            <a:avLst/>
          </a:prstGeom>
          <a:noFill/>
          <a:ln/>
        </p:spPr>
        <p:txBody>
          <a:bodyPr wrap="square" lIns="0" tIns="0" rIns="0" bIns="0" rtlCol="0" anchor="ctr"/>
          <a:lstStyle/>
          <a:p>
            <a:pPr marL="0" indent="0" algn="ctr">
              <a:buNone/>
            </a:pPr>
            <a:r>
              <a:rPr lang="en-US" sz="1500" b="1" dirty="0">
                <a:solidFill>
                  <a:srgbClr val="58A6FF"/>
                </a:solidFill>
              </a:rPr>
              <a:t>L = (1/n) · Σ  ( y  −  y_hat )²</a:t>
            </a:r>
            <a:endParaRPr lang="en-US" sz="1500" dirty="0"/>
          </a:p>
        </p:txBody>
      </p:sp>
      <p:sp>
        <p:nvSpPr>
          <p:cNvPr id="13" name="Text 11"/>
          <p:cNvSpPr/>
          <p:nvPr/>
        </p:nvSpPr>
        <p:spPr>
          <a:xfrm>
            <a:off x="502920" y="3090672"/>
            <a:ext cx="3749040" cy="777240"/>
          </a:xfrm>
          <a:prstGeom prst="rect">
            <a:avLst/>
          </a:prstGeom>
          <a:noFill/>
          <a:ln/>
        </p:spPr>
        <p:txBody>
          <a:bodyPr wrap="square" lIns="0" tIns="0" rIns="0" bIns="0" rtlCol="0" anchor="ctr"/>
          <a:lstStyle/>
          <a:p>
            <a:pPr marL="0" indent="0">
              <a:buNone/>
            </a:pPr>
            <a:r>
              <a:rPr lang="en-US" sz="1000" dirty="0">
                <a:solidFill>
                  <a:srgbClr val="8B949E"/>
                </a:solidFill>
              </a:rPr>
              <a:t>Use for:  </a:t>
            </a:r>
            <a:r>
              <a:rPr lang="en-US" sz="1000" b="1" dirty="0">
                <a:solidFill>
                  <a:srgbClr val="58A6FF"/>
                </a:solidFill>
              </a:rPr>
              <a:t>Regression
</a:t>
            </a:r>
            <a:r>
              <a:rPr lang="en-US" sz="1000" dirty="0">
                <a:solidFill>
                  <a:srgbClr val="F0F6FC"/>
                </a:solidFill>
              </a:rPr>
              <a:t>Squaring penalizes large errors more
Always positive (never negative)</a:t>
            </a:r>
            <a:endParaRPr lang="en-US" sz="1000" dirty="0"/>
          </a:p>
        </p:txBody>
      </p:sp>
      <p:sp>
        <p:nvSpPr>
          <p:cNvPr id="14" name="Shape 12"/>
          <p:cNvSpPr/>
          <p:nvPr/>
        </p:nvSpPr>
        <p:spPr>
          <a:xfrm>
            <a:off x="502920" y="3913632"/>
            <a:ext cx="3749040" cy="822960"/>
          </a:xfrm>
          <a:prstGeom prst="roundRect">
            <a:avLst>
              <a:gd name="adj" fmla="val 6667"/>
            </a:avLst>
          </a:prstGeom>
          <a:solidFill>
            <a:srgbClr val="21262D"/>
          </a:solidFill>
          <a:ln w="12700">
            <a:solidFill>
              <a:srgbClr val="161B22"/>
            </a:solidFill>
            <a:prstDash val="solid"/>
          </a:ln>
        </p:spPr>
        <p:txBody>
          <a:bodyPr/>
          <a:lstStyle/>
          <a:p>
            <a:endParaRPr lang="fr-FR"/>
          </a:p>
        </p:txBody>
      </p:sp>
      <p:sp>
        <p:nvSpPr>
          <p:cNvPr id="15" name="Text 13"/>
          <p:cNvSpPr/>
          <p:nvPr/>
        </p:nvSpPr>
        <p:spPr>
          <a:xfrm>
            <a:off x="594360" y="3941064"/>
            <a:ext cx="3566160" cy="274320"/>
          </a:xfrm>
          <a:prstGeom prst="rect">
            <a:avLst/>
          </a:prstGeom>
          <a:noFill/>
          <a:ln/>
        </p:spPr>
        <p:txBody>
          <a:bodyPr wrap="square" lIns="0" tIns="0" rIns="0" bIns="0" rtlCol="0" anchor="ctr"/>
          <a:lstStyle/>
          <a:p>
            <a:pPr marL="0" indent="0">
              <a:buNone/>
            </a:pPr>
            <a:r>
              <a:rPr lang="en-US" sz="900" dirty="0">
                <a:solidFill>
                  <a:srgbClr val="8B949E"/>
                </a:solidFill>
              </a:rPr>
              <a:t>Example:  y=[1, 0, 1]  y_hat=[0.9, 0.2, 0.8]</a:t>
            </a:r>
            <a:endParaRPr lang="en-US" sz="900" dirty="0"/>
          </a:p>
        </p:txBody>
      </p:sp>
      <p:sp>
        <p:nvSpPr>
          <p:cNvPr id="16" name="Text 14"/>
          <p:cNvSpPr/>
          <p:nvPr/>
        </p:nvSpPr>
        <p:spPr>
          <a:xfrm>
            <a:off x="594360" y="4206240"/>
            <a:ext cx="3566160" cy="228600"/>
          </a:xfrm>
          <a:prstGeom prst="rect">
            <a:avLst/>
          </a:prstGeom>
          <a:noFill/>
          <a:ln/>
        </p:spPr>
        <p:txBody>
          <a:bodyPr wrap="square" lIns="0" tIns="0" rIns="0" bIns="0" rtlCol="0" anchor="ctr"/>
          <a:lstStyle/>
          <a:p>
            <a:pPr marL="0" indent="0">
              <a:buNone/>
            </a:pPr>
            <a:r>
              <a:rPr lang="en-US" sz="900" dirty="0">
                <a:solidFill>
                  <a:srgbClr val="F0F6FC"/>
                </a:solidFill>
              </a:rPr>
              <a:t>L = (1/3)·[(1-0.9)²+(0-0.2)²+(1-0.8)²]</a:t>
            </a:r>
            <a:endParaRPr lang="en-US" sz="900" dirty="0"/>
          </a:p>
        </p:txBody>
      </p:sp>
      <p:sp>
        <p:nvSpPr>
          <p:cNvPr id="17" name="Text 15"/>
          <p:cNvSpPr/>
          <p:nvPr/>
        </p:nvSpPr>
        <p:spPr>
          <a:xfrm>
            <a:off x="594360" y="4425696"/>
            <a:ext cx="3566160" cy="228600"/>
          </a:xfrm>
          <a:prstGeom prst="rect">
            <a:avLst/>
          </a:prstGeom>
          <a:noFill/>
          <a:ln/>
        </p:spPr>
        <p:txBody>
          <a:bodyPr wrap="square" lIns="0" tIns="0" rIns="0" bIns="0" rtlCol="0" anchor="ctr"/>
          <a:lstStyle/>
          <a:p>
            <a:pPr marL="0" indent="0">
              <a:buNone/>
            </a:pPr>
            <a:r>
              <a:rPr lang="en-US" sz="900" b="1" dirty="0">
                <a:solidFill>
                  <a:srgbClr val="58A6FF"/>
                </a:solidFill>
              </a:rPr>
              <a:t>  = (1/3)·[0.01+0.04+0.04]  =  0.030</a:t>
            </a:r>
            <a:endParaRPr lang="en-US" sz="900" dirty="0"/>
          </a:p>
        </p:txBody>
      </p:sp>
      <p:sp>
        <p:nvSpPr>
          <p:cNvPr id="18" name="Shape 16"/>
          <p:cNvSpPr/>
          <p:nvPr/>
        </p:nvSpPr>
        <p:spPr>
          <a:xfrm>
            <a:off x="4709160" y="1874520"/>
            <a:ext cx="4114800" cy="2971800"/>
          </a:xfrm>
          <a:prstGeom prst="rect">
            <a:avLst/>
          </a:prstGeom>
          <a:solidFill>
            <a:srgbClr val="161B22"/>
          </a:solidFill>
          <a:ln w="25400">
            <a:solidFill>
              <a:srgbClr val="FF7B72"/>
            </a:solidFill>
            <a:prstDash val="solid"/>
          </a:ln>
          <a:effectLst>
            <a:outerShdw blurRad="127000" dist="38100" dir="8100000" algn="bl" rotWithShape="0">
              <a:srgbClr val="000000">
                <a:alpha val="35000"/>
              </a:srgbClr>
            </a:outerShdw>
          </a:effectLst>
        </p:spPr>
        <p:txBody>
          <a:bodyPr/>
          <a:lstStyle/>
          <a:p>
            <a:endParaRPr lang="fr-FR"/>
          </a:p>
        </p:txBody>
      </p:sp>
      <p:sp>
        <p:nvSpPr>
          <p:cNvPr id="19" name="Shape 17"/>
          <p:cNvSpPr/>
          <p:nvPr/>
        </p:nvSpPr>
        <p:spPr>
          <a:xfrm>
            <a:off x="4709160" y="1874520"/>
            <a:ext cx="4114800" cy="438912"/>
          </a:xfrm>
          <a:prstGeom prst="rect">
            <a:avLst/>
          </a:prstGeom>
          <a:solidFill>
            <a:srgbClr val="FF7B72"/>
          </a:solidFill>
          <a:ln w="12700">
            <a:solidFill>
              <a:srgbClr val="FF7B72"/>
            </a:solidFill>
            <a:prstDash val="solid"/>
          </a:ln>
        </p:spPr>
        <p:txBody>
          <a:bodyPr/>
          <a:lstStyle/>
          <a:p>
            <a:endParaRPr lang="fr-FR"/>
          </a:p>
        </p:txBody>
      </p:sp>
      <p:sp>
        <p:nvSpPr>
          <p:cNvPr id="20" name="Text 18"/>
          <p:cNvSpPr/>
          <p:nvPr/>
        </p:nvSpPr>
        <p:spPr>
          <a:xfrm>
            <a:off x="4800600" y="1883664"/>
            <a:ext cx="3931920" cy="411480"/>
          </a:xfrm>
          <a:prstGeom prst="rect">
            <a:avLst/>
          </a:prstGeom>
          <a:noFill/>
          <a:ln/>
        </p:spPr>
        <p:txBody>
          <a:bodyPr wrap="square" lIns="0" tIns="0" rIns="0" bIns="0" rtlCol="0" anchor="ctr"/>
          <a:lstStyle/>
          <a:p>
            <a:pPr marL="0" indent="0" algn="ctr">
              <a:buNone/>
            </a:pPr>
            <a:r>
              <a:rPr lang="en-US" sz="1200" b="1" dirty="0">
                <a:solidFill>
                  <a:srgbClr val="F0F6FC"/>
                </a:solidFill>
              </a:rPr>
              <a:t>Cross-Entropy  (Classification)</a:t>
            </a:r>
            <a:endParaRPr lang="en-US" sz="1200" dirty="0"/>
          </a:p>
        </p:txBody>
      </p:sp>
      <p:sp>
        <p:nvSpPr>
          <p:cNvPr id="21" name="Shape 19"/>
          <p:cNvSpPr/>
          <p:nvPr/>
        </p:nvSpPr>
        <p:spPr>
          <a:xfrm>
            <a:off x="4846320" y="2395728"/>
            <a:ext cx="3840480" cy="594360"/>
          </a:xfrm>
          <a:prstGeom prst="roundRect">
            <a:avLst>
              <a:gd name="adj" fmla="val 9231"/>
            </a:avLst>
          </a:prstGeom>
          <a:solidFill>
            <a:srgbClr val="21262D"/>
          </a:solidFill>
          <a:ln w="19050">
            <a:solidFill>
              <a:srgbClr val="FF7B72"/>
            </a:solidFill>
            <a:prstDash val="solid"/>
          </a:ln>
        </p:spPr>
        <p:txBody>
          <a:bodyPr/>
          <a:lstStyle/>
          <a:p>
            <a:endParaRPr lang="fr-FR"/>
          </a:p>
        </p:txBody>
      </p:sp>
      <p:sp>
        <p:nvSpPr>
          <p:cNvPr id="22" name="Text 20"/>
          <p:cNvSpPr/>
          <p:nvPr/>
        </p:nvSpPr>
        <p:spPr>
          <a:xfrm>
            <a:off x="4846320" y="2395728"/>
            <a:ext cx="3840480" cy="594360"/>
          </a:xfrm>
          <a:prstGeom prst="rect">
            <a:avLst/>
          </a:prstGeom>
          <a:noFill/>
          <a:ln/>
        </p:spPr>
        <p:txBody>
          <a:bodyPr wrap="square" lIns="0" tIns="0" rIns="0" bIns="0" rtlCol="0" anchor="ctr"/>
          <a:lstStyle/>
          <a:p>
            <a:pPr marL="0" indent="0" algn="ctr">
              <a:buNone/>
            </a:pPr>
            <a:r>
              <a:rPr lang="en-US" sz="1500" b="1" dirty="0">
                <a:solidFill>
                  <a:srgbClr val="FF7B72"/>
                </a:solidFill>
              </a:rPr>
              <a:t>L = − (1/n) · Σ  y · log( y_hat )</a:t>
            </a:r>
            <a:endParaRPr lang="en-US" sz="1500" dirty="0"/>
          </a:p>
        </p:txBody>
      </p:sp>
      <p:sp>
        <p:nvSpPr>
          <p:cNvPr id="23" name="Text 21"/>
          <p:cNvSpPr/>
          <p:nvPr/>
        </p:nvSpPr>
        <p:spPr>
          <a:xfrm>
            <a:off x="4846320" y="3090672"/>
            <a:ext cx="3840480" cy="777240"/>
          </a:xfrm>
          <a:prstGeom prst="rect">
            <a:avLst/>
          </a:prstGeom>
          <a:noFill/>
          <a:ln/>
        </p:spPr>
        <p:txBody>
          <a:bodyPr wrap="square" lIns="0" tIns="0" rIns="0" bIns="0" rtlCol="0" anchor="ctr"/>
          <a:lstStyle/>
          <a:p>
            <a:pPr marL="0" indent="0">
              <a:buNone/>
            </a:pPr>
            <a:r>
              <a:rPr lang="en-US" sz="1000" dirty="0">
                <a:solidFill>
                  <a:srgbClr val="8B949E"/>
                </a:solidFill>
              </a:rPr>
              <a:t>Use for:  </a:t>
            </a:r>
            <a:r>
              <a:rPr lang="en-US" sz="1000" b="1" dirty="0">
                <a:solidFill>
                  <a:srgbClr val="FF7B72"/>
                </a:solidFill>
              </a:rPr>
              <a:t>Classification
</a:t>
            </a:r>
            <a:r>
              <a:rPr lang="en-US" sz="1000" dirty="0">
                <a:solidFill>
                  <a:srgbClr val="F0F6FC"/>
                </a:solidFill>
              </a:rPr>
              <a:t>Punishes confident wrong predictions
Works with Softmax output</a:t>
            </a:r>
            <a:endParaRPr lang="en-US" sz="1000" dirty="0"/>
          </a:p>
        </p:txBody>
      </p:sp>
      <p:sp>
        <p:nvSpPr>
          <p:cNvPr id="24" name="Shape 22"/>
          <p:cNvSpPr/>
          <p:nvPr/>
        </p:nvSpPr>
        <p:spPr>
          <a:xfrm>
            <a:off x="4846320" y="3913632"/>
            <a:ext cx="3840480" cy="822960"/>
          </a:xfrm>
          <a:prstGeom prst="roundRect">
            <a:avLst>
              <a:gd name="adj" fmla="val 6667"/>
            </a:avLst>
          </a:prstGeom>
          <a:solidFill>
            <a:srgbClr val="21262D"/>
          </a:solidFill>
          <a:ln w="12700">
            <a:solidFill>
              <a:srgbClr val="161B22"/>
            </a:solidFill>
            <a:prstDash val="solid"/>
          </a:ln>
        </p:spPr>
        <p:txBody>
          <a:bodyPr/>
          <a:lstStyle/>
          <a:p>
            <a:endParaRPr lang="fr-FR"/>
          </a:p>
        </p:txBody>
      </p:sp>
      <p:sp>
        <p:nvSpPr>
          <p:cNvPr id="25" name="Text 23"/>
          <p:cNvSpPr/>
          <p:nvPr/>
        </p:nvSpPr>
        <p:spPr>
          <a:xfrm>
            <a:off x="4937760" y="3941064"/>
            <a:ext cx="3657600" cy="274320"/>
          </a:xfrm>
          <a:prstGeom prst="rect">
            <a:avLst/>
          </a:prstGeom>
          <a:noFill/>
          <a:ln/>
        </p:spPr>
        <p:txBody>
          <a:bodyPr wrap="square" lIns="0" tIns="0" rIns="0" bIns="0" rtlCol="0" anchor="ctr"/>
          <a:lstStyle/>
          <a:p>
            <a:pPr marL="0" indent="0">
              <a:buNone/>
            </a:pPr>
            <a:r>
              <a:rPr lang="en-US" sz="900" dirty="0">
                <a:solidFill>
                  <a:srgbClr val="8B949E"/>
                </a:solidFill>
              </a:rPr>
              <a:t>Example:  y_hat = 0.9 for correct class</a:t>
            </a:r>
            <a:endParaRPr lang="en-US" sz="900" dirty="0"/>
          </a:p>
        </p:txBody>
      </p:sp>
      <p:sp>
        <p:nvSpPr>
          <p:cNvPr id="26" name="Text 24"/>
          <p:cNvSpPr/>
          <p:nvPr/>
        </p:nvSpPr>
        <p:spPr>
          <a:xfrm>
            <a:off x="4937760" y="4206240"/>
            <a:ext cx="3657600" cy="228600"/>
          </a:xfrm>
          <a:prstGeom prst="rect">
            <a:avLst/>
          </a:prstGeom>
          <a:noFill/>
          <a:ln/>
        </p:spPr>
        <p:txBody>
          <a:bodyPr wrap="square" lIns="0" tIns="0" rIns="0" bIns="0" rtlCol="0" anchor="ctr"/>
          <a:lstStyle/>
          <a:p>
            <a:pPr marL="0" indent="0">
              <a:buNone/>
            </a:pPr>
            <a:r>
              <a:rPr lang="en-US" sz="900" dirty="0">
                <a:solidFill>
                  <a:srgbClr val="3FB950"/>
                </a:solidFill>
              </a:rPr>
              <a:t>L = −log(0.9) = 0.105  ← small loss, good!</a:t>
            </a:r>
            <a:endParaRPr lang="en-US" sz="900" dirty="0"/>
          </a:p>
        </p:txBody>
      </p:sp>
      <p:sp>
        <p:nvSpPr>
          <p:cNvPr id="27" name="Text 25"/>
          <p:cNvSpPr/>
          <p:nvPr/>
        </p:nvSpPr>
        <p:spPr>
          <a:xfrm>
            <a:off x="4937760" y="4425696"/>
            <a:ext cx="3657600" cy="228600"/>
          </a:xfrm>
          <a:prstGeom prst="rect">
            <a:avLst/>
          </a:prstGeom>
          <a:noFill/>
          <a:ln/>
        </p:spPr>
        <p:txBody>
          <a:bodyPr wrap="square" lIns="0" tIns="0" rIns="0" bIns="0" rtlCol="0" anchor="ctr"/>
          <a:lstStyle/>
          <a:p>
            <a:pPr marL="0" indent="0">
              <a:buNone/>
            </a:pPr>
            <a:r>
              <a:rPr lang="en-US" sz="900" dirty="0">
                <a:solidFill>
                  <a:srgbClr val="FF7B72"/>
                </a:solidFill>
              </a:rPr>
              <a:t>L = −log(0.1) = 2.303  ← large loss, bad!</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0883E"/>
          </a:solidFill>
          <a:ln w="12700">
            <a:solidFill>
              <a:srgbClr val="F0883E"/>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Backward Pass — Chain Rule, Step by Step</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F0883E"/>
                </a:solidFill>
              </a:rPr>
              <a:t>How the error signal flows backwards through every layer</a:t>
            </a:r>
            <a:endParaRPr lang="en-US" sz="1200" dirty="0"/>
          </a:p>
        </p:txBody>
      </p:sp>
      <p:sp>
        <p:nvSpPr>
          <p:cNvPr id="5" name="Shape 3"/>
          <p:cNvSpPr/>
          <p:nvPr/>
        </p:nvSpPr>
        <p:spPr>
          <a:xfrm>
            <a:off x="320040" y="1024128"/>
            <a:ext cx="8503920" cy="0"/>
          </a:xfrm>
          <a:prstGeom prst="line">
            <a:avLst/>
          </a:prstGeom>
          <a:noFill/>
          <a:ln w="12700">
            <a:solidFill>
              <a:srgbClr val="F0883E"/>
            </a:solidFill>
            <a:prstDash val="solid"/>
          </a:ln>
        </p:spPr>
        <p:txBody>
          <a:bodyPr/>
          <a:lstStyle/>
          <a:p>
            <a:endParaRPr lang="fr-FR"/>
          </a:p>
        </p:txBody>
      </p:sp>
      <p:sp>
        <p:nvSpPr>
          <p:cNvPr id="6" name="Shape 4"/>
          <p:cNvSpPr/>
          <p:nvPr/>
        </p:nvSpPr>
        <p:spPr>
          <a:xfrm>
            <a:off x="320040" y="1170432"/>
            <a:ext cx="8503920" cy="713232"/>
          </a:xfrm>
          <a:prstGeom prst="rect">
            <a:avLst/>
          </a:prstGeom>
          <a:solidFill>
            <a:srgbClr val="21262D"/>
          </a:solidFill>
          <a:ln w="19050">
            <a:solidFill>
              <a:srgbClr val="F0883E"/>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502920" y="1170432"/>
            <a:ext cx="8321040" cy="713232"/>
          </a:xfrm>
          <a:prstGeom prst="rect">
            <a:avLst/>
          </a:prstGeom>
          <a:noFill/>
          <a:ln/>
        </p:spPr>
        <p:txBody>
          <a:bodyPr wrap="square" lIns="0" tIns="0" rIns="0" bIns="0" rtlCol="0" anchor="ctr"/>
          <a:lstStyle/>
          <a:p>
            <a:pPr marL="0" indent="0">
              <a:buNone/>
            </a:pPr>
            <a:r>
              <a:rPr lang="en-US" sz="1300" b="1" dirty="0">
                <a:solidFill>
                  <a:srgbClr val="F0F6FC"/>
                </a:solidFill>
              </a:rPr>
              <a:t>Chain Rule:  </a:t>
            </a:r>
            <a:r>
              <a:rPr lang="en-US" sz="1300" b="1" dirty="0">
                <a:solidFill>
                  <a:srgbClr val="F0883E"/>
                </a:solidFill>
              </a:rPr>
              <a:t>∂L/∂W¹</a:t>
            </a:r>
            <a:r>
              <a:rPr lang="en-US" sz="1300" dirty="0">
                <a:solidFill>
                  <a:srgbClr val="F0F6FC"/>
                </a:solidFill>
              </a:rPr>
              <a:t>  =  </a:t>
            </a:r>
            <a:r>
              <a:rPr lang="en-US" sz="1300" b="1" dirty="0">
                <a:solidFill>
                  <a:srgbClr val="FF7B72"/>
                </a:solidFill>
              </a:rPr>
              <a:t>∂L/∂a²</a:t>
            </a:r>
            <a:r>
              <a:rPr lang="en-US" sz="1300" dirty="0">
                <a:solidFill>
                  <a:srgbClr val="F0F6FC"/>
                </a:solidFill>
              </a:rPr>
              <a:t> · </a:t>
            </a:r>
            <a:r>
              <a:rPr lang="en-US" sz="1300" b="1" dirty="0">
                <a:solidFill>
                  <a:srgbClr val="E3B341"/>
                </a:solidFill>
              </a:rPr>
              <a:t>∂a²/∂z²</a:t>
            </a:r>
            <a:r>
              <a:rPr lang="en-US" sz="1300" dirty="0">
                <a:solidFill>
                  <a:srgbClr val="F0F6FC"/>
                </a:solidFill>
              </a:rPr>
              <a:t> · </a:t>
            </a:r>
            <a:r>
              <a:rPr lang="en-US" sz="1300" b="1" dirty="0">
                <a:solidFill>
                  <a:srgbClr val="BC8CFF"/>
                </a:solidFill>
              </a:rPr>
              <a:t>∂z²/∂a¹</a:t>
            </a:r>
            <a:r>
              <a:rPr lang="en-US" sz="1300" dirty="0">
                <a:solidFill>
                  <a:srgbClr val="F0F6FC"/>
                </a:solidFill>
              </a:rPr>
              <a:t> · </a:t>
            </a:r>
            <a:r>
              <a:rPr lang="en-US" sz="1300" b="1" dirty="0">
                <a:solidFill>
                  <a:srgbClr val="39D0B0"/>
                </a:solidFill>
              </a:rPr>
              <a:t>∂a¹/∂z¹</a:t>
            </a:r>
            <a:r>
              <a:rPr lang="en-US" sz="1300" dirty="0">
                <a:solidFill>
                  <a:srgbClr val="F0F6FC"/>
                </a:solidFill>
              </a:rPr>
              <a:t> · </a:t>
            </a:r>
            <a:r>
              <a:rPr lang="en-US" sz="1300" b="1" dirty="0">
                <a:solidFill>
                  <a:srgbClr val="58A6FF"/>
                </a:solidFill>
              </a:rPr>
              <a:t>∂z¹/∂W¹</a:t>
            </a:r>
            <a:endParaRPr lang="en-US" sz="1300" dirty="0"/>
          </a:p>
        </p:txBody>
      </p:sp>
      <p:sp>
        <p:nvSpPr>
          <p:cNvPr id="8" name="Shape 6"/>
          <p:cNvSpPr/>
          <p:nvPr/>
        </p:nvSpPr>
        <p:spPr>
          <a:xfrm>
            <a:off x="320040" y="2029968"/>
            <a:ext cx="1417320" cy="777240"/>
          </a:xfrm>
          <a:prstGeom prst="roundRect">
            <a:avLst>
              <a:gd name="adj" fmla="val 9412"/>
            </a:avLst>
          </a:prstGeom>
          <a:solidFill>
            <a:srgbClr val="161B22"/>
          </a:solidFill>
          <a:ln w="25400">
            <a:solidFill>
              <a:srgbClr val="FF7B72"/>
            </a:solidFill>
            <a:prstDash val="solid"/>
          </a:ln>
          <a:effectLst>
            <a:outerShdw blurRad="127000" dist="38100" dir="8100000" algn="bl" rotWithShape="0">
              <a:srgbClr val="000000">
                <a:alpha val="35000"/>
              </a:srgbClr>
            </a:outerShdw>
          </a:effectLst>
        </p:spPr>
        <p:txBody>
          <a:bodyPr/>
          <a:lstStyle/>
          <a:p>
            <a:endParaRPr lang="fr-FR"/>
          </a:p>
        </p:txBody>
      </p:sp>
      <p:sp>
        <p:nvSpPr>
          <p:cNvPr id="9" name="Text 7"/>
          <p:cNvSpPr/>
          <p:nvPr/>
        </p:nvSpPr>
        <p:spPr>
          <a:xfrm>
            <a:off x="365760" y="2029968"/>
            <a:ext cx="1325880" cy="777240"/>
          </a:xfrm>
          <a:prstGeom prst="rect">
            <a:avLst/>
          </a:prstGeom>
          <a:noFill/>
          <a:ln/>
        </p:spPr>
        <p:txBody>
          <a:bodyPr wrap="square" lIns="0" tIns="0" rIns="0" bIns="0" rtlCol="0" anchor="ctr"/>
          <a:lstStyle/>
          <a:p>
            <a:pPr marL="0" indent="0" algn="ctr">
              <a:buNone/>
            </a:pPr>
            <a:r>
              <a:rPr lang="en-US" sz="1000" b="1" dirty="0">
                <a:solidFill>
                  <a:srgbClr val="FF7B72"/>
                </a:solidFill>
              </a:rPr>
              <a:t>Loss</a:t>
            </a:r>
            <a:endParaRPr lang="en-US" sz="1000" dirty="0"/>
          </a:p>
          <a:p>
            <a:pPr marL="0" indent="0" algn="ctr">
              <a:buNone/>
            </a:pPr>
            <a:r>
              <a:rPr lang="en-US" sz="1000" b="1" dirty="0">
                <a:solidFill>
                  <a:srgbClr val="FF7B72"/>
                </a:solidFill>
              </a:rPr>
              <a:t>L</a:t>
            </a:r>
            <a:endParaRPr lang="en-US" sz="1000" dirty="0"/>
          </a:p>
        </p:txBody>
      </p:sp>
      <p:sp>
        <p:nvSpPr>
          <p:cNvPr id="10" name="Shape 8"/>
          <p:cNvSpPr/>
          <p:nvPr/>
        </p:nvSpPr>
        <p:spPr>
          <a:xfrm>
            <a:off x="1737360" y="2194560"/>
            <a:ext cx="457200" cy="0"/>
          </a:xfrm>
          <a:prstGeom prst="line">
            <a:avLst/>
          </a:prstGeom>
          <a:noFill/>
          <a:ln w="12700">
            <a:solidFill>
              <a:srgbClr val="8B949E"/>
            </a:solidFill>
            <a:prstDash val="dash"/>
          </a:ln>
        </p:spPr>
        <p:txBody>
          <a:bodyPr/>
          <a:lstStyle/>
          <a:p>
            <a:endParaRPr lang="fr-FR"/>
          </a:p>
        </p:txBody>
      </p:sp>
      <p:sp>
        <p:nvSpPr>
          <p:cNvPr id="11" name="Shape 9"/>
          <p:cNvSpPr/>
          <p:nvPr/>
        </p:nvSpPr>
        <p:spPr>
          <a:xfrm>
            <a:off x="2194560" y="2514600"/>
            <a:ext cx="0" cy="0"/>
          </a:xfrm>
          <a:prstGeom prst="line">
            <a:avLst/>
          </a:prstGeom>
          <a:noFill/>
          <a:ln w="25400">
            <a:solidFill>
              <a:srgbClr val="F0883E"/>
            </a:solidFill>
            <a:prstDash val="solid"/>
            <a:tailEnd type="arrow"/>
          </a:ln>
        </p:spPr>
        <p:txBody>
          <a:bodyPr/>
          <a:lstStyle/>
          <a:p>
            <a:endParaRPr lang="fr-FR"/>
          </a:p>
        </p:txBody>
      </p:sp>
      <p:sp>
        <p:nvSpPr>
          <p:cNvPr id="12" name="Shape 10"/>
          <p:cNvSpPr/>
          <p:nvPr/>
        </p:nvSpPr>
        <p:spPr>
          <a:xfrm>
            <a:off x="1874520" y="2029968"/>
            <a:ext cx="1417320" cy="777240"/>
          </a:xfrm>
          <a:prstGeom prst="roundRect">
            <a:avLst>
              <a:gd name="adj" fmla="val 9412"/>
            </a:avLst>
          </a:prstGeom>
          <a:solidFill>
            <a:srgbClr val="161B22"/>
          </a:solidFill>
          <a:ln w="2540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13" name="Text 11"/>
          <p:cNvSpPr/>
          <p:nvPr/>
        </p:nvSpPr>
        <p:spPr>
          <a:xfrm>
            <a:off x="1920240" y="2029968"/>
            <a:ext cx="1325880" cy="777240"/>
          </a:xfrm>
          <a:prstGeom prst="rect">
            <a:avLst/>
          </a:prstGeom>
          <a:noFill/>
          <a:ln/>
        </p:spPr>
        <p:txBody>
          <a:bodyPr wrap="square" lIns="0" tIns="0" rIns="0" bIns="0" rtlCol="0" anchor="ctr"/>
          <a:lstStyle/>
          <a:p>
            <a:pPr marL="0" indent="0" algn="ctr">
              <a:buNone/>
            </a:pPr>
            <a:r>
              <a:rPr lang="en-US" sz="1000" b="1" dirty="0">
                <a:solidFill>
                  <a:srgbClr val="3FB950"/>
                </a:solidFill>
              </a:rPr>
              <a:t>Output</a:t>
            </a:r>
            <a:endParaRPr lang="en-US" sz="1000" dirty="0"/>
          </a:p>
          <a:p>
            <a:pPr marL="0" indent="0" algn="ctr">
              <a:buNone/>
            </a:pPr>
            <a:r>
              <a:rPr lang="en-US" sz="1000" b="1" dirty="0">
                <a:solidFill>
                  <a:srgbClr val="3FB950"/>
                </a:solidFill>
              </a:rPr>
              <a:t>y_hat = σ(z²)</a:t>
            </a:r>
            <a:endParaRPr lang="en-US" sz="1000" dirty="0"/>
          </a:p>
        </p:txBody>
      </p:sp>
      <p:sp>
        <p:nvSpPr>
          <p:cNvPr id="14" name="Shape 12"/>
          <p:cNvSpPr/>
          <p:nvPr/>
        </p:nvSpPr>
        <p:spPr>
          <a:xfrm>
            <a:off x="3291840" y="2194560"/>
            <a:ext cx="457200" cy="0"/>
          </a:xfrm>
          <a:prstGeom prst="line">
            <a:avLst/>
          </a:prstGeom>
          <a:noFill/>
          <a:ln w="12700">
            <a:solidFill>
              <a:srgbClr val="8B949E"/>
            </a:solidFill>
            <a:prstDash val="dash"/>
          </a:ln>
        </p:spPr>
        <p:txBody>
          <a:bodyPr/>
          <a:lstStyle/>
          <a:p>
            <a:endParaRPr lang="fr-FR"/>
          </a:p>
        </p:txBody>
      </p:sp>
      <p:sp>
        <p:nvSpPr>
          <p:cNvPr id="15" name="Shape 13"/>
          <p:cNvSpPr/>
          <p:nvPr/>
        </p:nvSpPr>
        <p:spPr>
          <a:xfrm>
            <a:off x="3749040" y="2514600"/>
            <a:ext cx="0" cy="0"/>
          </a:xfrm>
          <a:prstGeom prst="line">
            <a:avLst/>
          </a:prstGeom>
          <a:noFill/>
          <a:ln w="25400">
            <a:solidFill>
              <a:srgbClr val="F0883E"/>
            </a:solidFill>
            <a:prstDash val="solid"/>
            <a:tailEnd type="arrow"/>
          </a:ln>
        </p:spPr>
        <p:txBody>
          <a:bodyPr/>
          <a:lstStyle/>
          <a:p>
            <a:endParaRPr lang="fr-FR"/>
          </a:p>
        </p:txBody>
      </p:sp>
      <p:sp>
        <p:nvSpPr>
          <p:cNvPr id="16" name="Shape 14"/>
          <p:cNvSpPr/>
          <p:nvPr/>
        </p:nvSpPr>
        <p:spPr>
          <a:xfrm>
            <a:off x="3931920" y="2029968"/>
            <a:ext cx="1417320" cy="777240"/>
          </a:xfrm>
          <a:prstGeom prst="roundRect">
            <a:avLst>
              <a:gd name="adj" fmla="val 9412"/>
            </a:avLst>
          </a:prstGeom>
          <a:solidFill>
            <a:srgbClr val="161B22"/>
          </a:solidFill>
          <a:ln w="2540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17" name="Text 15"/>
          <p:cNvSpPr/>
          <p:nvPr/>
        </p:nvSpPr>
        <p:spPr>
          <a:xfrm>
            <a:off x="3977640" y="2029968"/>
            <a:ext cx="1325880" cy="777240"/>
          </a:xfrm>
          <a:prstGeom prst="rect">
            <a:avLst/>
          </a:prstGeom>
          <a:noFill/>
          <a:ln/>
        </p:spPr>
        <p:txBody>
          <a:bodyPr wrap="square" lIns="0" tIns="0" rIns="0" bIns="0" rtlCol="0" anchor="ctr"/>
          <a:lstStyle/>
          <a:p>
            <a:pPr marL="0" indent="0" algn="ctr">
              <a:buNone/>
            </a:pPr>
            <a:r>
              <a:rPr lang="en-US" sz="1000" b="1" dirty="0">
                <a:solidFill>
                  <a:srgbClr val="BC8CFF"/>
                </a:solidFill>
              </a:rPr>
              <a:t>Hidden</a:t>
            </a:r>
            <a:endParaRPr lang="en-US" sz="1000" dirty="0"/>
          </a:p>
          <a:p>
            <a:pPr marL="0" indent="0" algn="ctr">
              <a:buNone/>
            </a:pPr>
            <a:r>
              <a:rPr lang="en-US" sz="1000" b="1" dirty="0">
                <a:solidFill>
                  <a:srgbClr val="BC8CFF"/>
                </a:solidFill>
              </a:rPr>
              <a:t>a¹ = ReLU(z¹)</a:t>
            </a:r>
            <a:endParaRPr lang="en-US" sz="1000" dirty="0"/>
          </a:p>
        </p:txBody>
      </p:sp>
      <p:sp>
        <p:nvSpPr>
          <p:cNvPr id="18" name="Shape 16"/>
          <p:cNvSpPr/>
          <p:nvPr/>
        </p:nvSpPr>
        <p:spPr>
          <a:xfrm>
            <a:off x="5349240" y="2194560"/>
            <a:ext cx="457200" cy="0"/>
          </a:xfrm>
          <a:prstGeom prst="line">
            <a:avLst/>
          </a:prstGeom>
          <a:noFill/>
          <a:ln w="12700">
            <a:solidFill>
              <a:srgbClr val="8B949E"/>
            </a:solidFill>
            <a:prstDash val="dash"/>
          </a:ln>
        </p:spPr>
        <p:txBody>
          <a:bodyPr/>
          <a:lstStyle/>
          <a:p>
            <a:endParaRPr lang="fr-FR"/>
          </a:p>
        </p:txBody>
      </p:sp>
      <p:sp>
        <p:nvSpPr>
          <p:cNvPr id="19" name="Shape 17"/>
          <p:cNvSpPr/>
          <p:nvPr/>
        </p:nvSpPr>
        <p:spPr>
          <a:xfrm>
            <a:off x="5806440" y="2514600"/>
            <a:ext cx="0" cy="0"/>
          </a:xfrm>
          <a:prstGeom prst="line">
            <a:avLst/>
          </a:prstGeom>
          <a:noFill/>
          <a:ln w="25400">
            <a:solidFill>
              <a:srgbClr val="F0883E"/>
            </a:solidFill>
            <a:prstDash val="solid"/>
            <a:tailEnd type="arrow"/>
          </a:ln>
        </p:spPr>
        <p:txBody>
          <a:bodyPr/>
          <a:lstStyle/>
          <a:p>
            <a:endParaRPr lang="fr-FR"/>
          </a:p>
        </p:txBody>
      </p:sp>
      <p:sp>
        <p:nvSpPr>
          <p:cNvPr id="20" name="Shape 18"/>
          <p:cNvSpPr/>
          <p:nvPr/>
        </p:nvSpPr>
        <p:spPr>
          <a:xfrm>
            <a:off x="5989320" y="2029968"/>
            <a:ext cx="1417320" cy="777240"/>
          </a:xfrm>
          <a:prstGeom prst="roundRect">
            <a:avLst>
              <a:gd name="adj" fmla="val 9412"/>
            </a:avLst>
          </a:prstGeom>
          <a:solidFill>
            <a:srgbClr val="161B22"/>
          </a:solidFill>
          <a:ln w="2540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21" name="Text 19"/>
          <p:cNvSpPr/>
          <p:nvPr/>
        </p:nvSpPr>
        <p:spPr>
          <a:xfrm>
            <a:off x="6035040" y="2029968"/>
            <a:ext cx="1325880" cy="777240"/>
          </a:xfrm>
          <a:prstGeom prst="rect">
            <a:avLst/>
          </a:prstGeom>
          <a:noFill/>
          <a:ln/>
        </p:spPr>
        <p:txBody>
          <a:bodyPr wrap="square" lIns="0" tIns="0" rIns="0" bIns="0" rtlCol="0" anchor="ctr"/>
          <a:lstStyle/>
          <a:p>
            <a:pPr marL="0" indent="0" algn="ctr">
              <a:buNone/>
            </a:pPr>
            <a:r>
              <a:rPr lang="en-US" sz="1000" b="1" dirty="0">
                <a:solidFill>
                  <a:srgbClr val="58A6FF"/>
                </a:solidFill>
              </a:rPr>
              <a:t>Input</a:t>
            </a:r>
            <a:endParaRPr lang="en-US" sz="1000" dirty="0"/>
          </a:p>
          <a:p>
            <a:pPr marL="0" indent="0" algn="ctr">
              <a:buNone/>
            </a:pPr>
            <a:r>
              <a:rPr lang="en-US" sz="1000" b="1" dirty="0">
                <a:solidFill>
                  <a:srgbClr val="58A6FF"/>
                </a:solidFill>
              </a:rPr>
              <a:t>x</a:t>
            </a:r>
            <a:endParaRPr lang="en-US" sz="1000" dirty="0"/>
          </a:p>
        </p:txBody>
      </p:sp>
      <p:sp>
        <p:nvSpPr>
          <p:cNvPr id="22" name="Text 20"/>
          <p:cNvSpPr/>
          <p:nvPr/>
        </p:nvSpPr>
        <p:spPr>
          <a:xfrm>
            <a:off x="365760" y="2907792"/>
            <a:ext cx="7132320" cy="256032"/>
          </a:xfrm>
          <a:prstGeom prst="rect">
            <a:avLst/>
          </a:prstGeom>
          <a:noFill/>
          <a:ln/>
        </p:spPr>
        <p:txBody>
          <a:bodyPr wrap="square" lIns="0" tIns="0" rIns="0" bIns="0" rtlCol="0" anchor="ctr"/>
          <a:lstStyle/>
          <a:p>
            <a:pPr marL="0" indent="0">
              <a:buNone/>
            </a:pPr>
            <a:r>
              <a:rPr lang="en-US" sz="900" i="1" dirty="0">
                <a:solidFill>
                  <a:srgbClr val="F0883E"/>
                </a:solidFill>
              </a:rPr>
              <a:t>← gradient flows backward (orange arrows)</a:t>
            </a:r>
            <a:endParaRPr lang="en-US" sz="900" dirty="0"/>
          </a:p>
        </p:txBody>
      </p:sp>
      <p:sp>
        <p:nvSpPr>
          <p:cNvPr id="23" name="Shape 21"/>
          <p:cNvSpPr/>
          <p:nvPr/>
        </p:nvSpPr>
        <p:spPr>
          <a:xfrm>
            <a:off x="320040" y="3218688"/>
            <a:ext cx="8503920" cy="384048"/>
          </a:xfrm>
          <a:prstGeom prst="rect">
            <a:avLst/>
          </a:prstGeom>
          <a:solidFill>
            <a:srgbClr val="161B22"/>
          </a:solidFill>
          <a:ln w="12700">
            <a:solidFill>
              <a:srgbClr val="161B22"/>
            </a:solidFill>
            <a:prstDash val="solid"/>
          </a:ln>
        </p:spPr>
        <p:txBody>
          <a:bodyPr/>
          <a:lstStyle/>
          <a:p>
            <a:endParaRPr lang="fr-FR"/>
          </a:p>
        </p:txBody>
      </p:sp>
      <p:sp>
        <p:nvSpPr>
          <p:cNvPr id="24" name="Shape 22"/>
          <p:cNvSpPr/>
          <p:nvPr/>
        </p:nvSpPr>
        <p:spPr>
          <a:xfrm>
            <a:off x="320040" y="3218688"/>
            <a:ext cx="54864" cy="384048"/>
          </a:xfrm>
          <a:prstGeom prst="rect">
            <a:avLst/>
          </a:prstGeom>
          <a:solidFill>
            <a:srgbClr val="FF7B72"/>
          </a:solidFill>
          <a:ln w="12700">
            <a:solidFill>
              <a:srgbClr val="FF7B72"/>
            </a:solidFill>
            <a:prstDash val="solid"/>
          </a:ln>
        </p:spPr>
        <p:txBody>
          <a:bodyPr/>
          <a:lstStyle/>
          <a:p>
            <a:endParaRPr lang="fr-FR"/>
          </a:p>
        </p:txBody>
      </p:sp>
      <p:sp>
        <p:nvSpPr>
          <p:cNvPr id="25" name="Text 23"/>
          <p:cNvSpPr/>
          <p:nvPr/>
        </p:nvSpPr>
        <p:spPr>
          <a:xfrm>
            <a:off x="475488" y="3264408"/>
            <a:ext cx="3200400" cy="301752"/>
          </a:xfrm>
          <a:prstGeom prst="rect">
            <a:avLst/>
          </a:prstGeom>
          <a:noFill/>
          <a:ln/>
        </p:spPr>
        <p:txBody>
          <a:bodyPr wrap="square" lIns="0" tIns="0" rIns="0" bIns="0" rtlCol="0" anchor="ctr"/>
          <a:lstStyle/>
          <a:p>
            <a:pPr marL="0" indent="0">
              <a:buNone/>
            </a:pPr>
            <a:r>
              <a:rPr lang="en-US" sz="1000" b="1" dirty="0">
                <a:solidFill>
                  <a:srgbClr val="FF7B72"/>
                </a:solidFill>
              </a:rPr>
              <a:t>∂L/∂a²  (loss w.r.t. output)</a:t>
            </a:r>
            <a:endParaRPr lang="en-US" sz="1000" dirty="0"/>
          </a:p>
        </p:txBody>
      </p:sp>
      <p:sp>
        <p:nvSpPr>
          <p:cNvPr id="26" name="Text 24"/>
          <p:cNvSpPr/>
          <p:nvPr/>
        </p:nvSpPr>
        <p:spPr>
          <a:xfrm>
            <a:off x="3749040" y="3264408"/>
            <a:ext cx="4937760" cy="301752"/>
          </a:xfrm>
          <a:prstGeom prst="rect">
            <a:avLst/>
          </a:prstGeom>
          <a:noFill/>
          <a:ln/>
        </p:spPr>
        <p:txBody>
          <a:bodyPr wrap="square" lIns="0" tIns="0" rIns="0" bIns="0" rtlCol="0" anchor="ctr"/>
          <a:lstStyle/>
          <a:p>
            <a:pPr marL="0" indent="0">
              <a:buNone/>
            </a:pPr>
            <a:r>
              <a:rPr lang="en-US" sz="1000" dirty="0">
                <a:solidFill>
                  <a:srgbClr val="F0F6FC"/>
                </a:solidFill>
              </a:rPr>
              <a:t>= y_hat − y      (for cross-entropy + softmax, it simplifies beautifully!)</a:t>
            </a:r>
            <a:endParaRPr lang="en-US" sz="1000" dirty="0"/>
          </a:p>
        </p:txBody>
      </p:sp>
      <p:sp>
        <p:nvSpPr>
          <p:cNvPr id="27" name="Shape 25"/>
          <p:cNvSpPr/>
          <p:nvPr/>
        </p:nvSpPr>
        <p:spPr>
          <a:xfrm>
            <a:off x="320040" y="3648456"/>
            <a:ext cx="8503920" cy="384048"/>
          </a:xfrm>
          <a:prstGeom prst="rect">
            <a:avLst/>
          </a:prstGeom>
          <a:solidFill>
            <a:srgbClr val="21262D"/>
          </a:solidFill>
          <a:ln w="12700">
            <a:solidFill>
              <a:srgbClr val="161B22"/>
            </a:solidFill>
            <a:prstDash val="solid"/>
          </a:ln>
        </p:spPr>
        <p:txBody>
          <a:bodyPr/>
          <a:lstStyle/>
          <a:p>
            <a:endParaRPr lang="fr-FR"/>
          </a:p>
        </p:txBody>
      </p:sp>
      <p:sp>
        <p:nvSpPr>
          <p:cNvPr id="28" name="Shape 26"/>
          <p:cNvSpPr/>
          <p:nvPr/>
        </p:nvSpPr>
        <p:spPr>
          <a:xfrm>
            <a:off x="320040" y="3648456"/>
            <a:ext cx="54864" cy="384048"/>
          </a:xfrm>
          <a:prstGeom prst="rect">
            <a:avLst/>
          </a:prstGeom>
          <a:solidFill>
            <a:srgbClr val="E3B341"/>
          </a:solidFill>
          <a:ln w="12700">
            <a:solidFill>
              <a:srgbClr val="E3B341"/>
            </a:solidFill>
            <a:prstDash val="solid"/>
          </a:ln>
        </p:spPr>
        <p:txBody>
          <a:bodyPr/>
          <a:lstStyle/>
          <a:p>
            <a:endParaRPr lang="fr-FR"/>
          </a:p>
        </p:txBody>
      </p:sp>
      <p:sp>
        <p:nvSpPr>
          <p:cNvPr id="29" name="Text 27"/>
          <p:cNvSpPr/>
          <p:nvPr/>
        </p:nvSpPr>
        <p:spPr>
          <a:xfrm>
            <a:off x="475488" y="3694176"/>
            <a:ext cx="3200400" cy="301752"/>
          </a:xfrm>
          <a:prstGeom prst="rect">
            <a:avLst/>
          </a:prstGeom>
          <a:noFill/>
          <a:ln/>
        </p:spPr>
        <p:txBody>
          <a:bodyPr wrap="square" lIns="0" tIns="0" rIns="0" bIns="0" rtlCol="0" anchor="ctr"/>
          <a:lstStyle/>
          <a:p>
            <a:pPr marL="0" indent="0">
              <a:buNone/>
            </a:pPr>
            <a:r>
              <a:rPr lang="en-US" sz="1000" b="1" dirty="0">
                <a:solidFill>
                  <a:srgbClr val="E3B341"/>
                </a:solidFill>
              </a:rPr>
              <a:t>∂a²/∂z²  (output w.r.t. pre-activation)</a:t>
            </a:r>
            <a:endParaRPr lang="en-US" sz="1000" dirty="0"/>
          </a:p>
        </p:txBody>
      </p:sp>
      <p:sp>
        <p:nvSpPr>
          <p:cNvPr id="30" name="Text 28"/>
          <p:cNvSpPr/>
          <p:nvPr/>
        </p:nvSpPr>
        <p:spPr>
          <a:xfrm>
            <a:off x="3749040" y="3694176"/>
            <a:ext cx="4937760" cy="301752"/>
          </a:xfrm>
          <a:prstGeom prst="rect">
            <a:avLst/>
          </a:prstGeom>
          <a:noFill/>
          <a:ln/>
        </p:spPr>
        <p:txBody>
          <a:bodyPr wrap="square" lIns="0" tIns="0" rIns="0" bIns="0" rtlCol="0" anchor="ctr"/>
          <a:lstStyle/>
          <a:p>
            <a:pPr marL="0" indent="0">
              <a:buNone/>
            </a:pPr>
            <a:r>
              <a:rPr lang="en-US" sz="1000" dirty="0">
                <a:solidFill>
                  <a:srgbClr val="F0F6FC"/>
                </a:solidFill>
              </a:rPr>
              <a:t>= σ'(z²) = σ(z²)·(1−σ(z²))   or simply  a²·(1−a²)</a:t>
            </a:r>
            <a:endParaRPr lang="en-US" sz="1000" dirty="0"/>
          </a:p>
        </p:txBody>
      </p:sp>
      <p:sp>
        <p:nvSpPr>
          <p:cNvPr id="31" name="Shape 29"/>
          <p:cNvSpPr/>
          <p:nvPr/>
        </p:nvSpPr>
        <p:spPr>
          <a:xfrm>
            <a:off x="320040" y="4078224"/>
            <a:ext cx="8503920" cy="384048"/>
          </a:xfrm>
          <a:prstGeom prst="rect">
            <a:avLst/>
          </a:prstGeom>
          <a:solidFill>
            <a:srgbClr val="161B22"/>
          </a:solidFill>
          <a:ln w="12700">
            <a:solidFill>
              <a:srgbClr val="161B22"/>
            </a:solidFill>
            <a:prstDash val="solid"/>
          </a:ln>
        </p:spPr>
        <p:txBody>
          <a:bodyPr/>
          <a:lstStyle/>
          <a:p>
            <a:endParaRPr lang="fr-FR"/>
          </a:p>
        </p:txBody>
      </p:sp>
      <p:sp>
        <p:nvSpPr>
          <p:cNvPr id="32" name="Shape 30"/>
          <p:cNvSpPr/>
          <p:nvPr/>
        </p:nvSpPr>
        <p:spPr>
          <a:xfrm>
            <a:off x="320040" y="4078224"/>
            <a:ext cx="54864" cy="384048"/>
          </a:xfrm>
          <a:prstGeom prst="rect">
            <a:avLst/>
          </a:prstGeom>
          <a:solidFill>
            <a:srgbClr val="BC8CFF"/>
          </a:solidFill>
          <a:ln w="12700">
            <a:solidFill>
              <a:srgbClr val="BC8CFF"/>
            </a:solidFill>
            <a:prstDash val="solid"/>
          </a:ln>
        </p:spPr>
        <p:txBody>
          <a:bodyPr/>
          <a:lstStyle/>
          <a:p>
            <a:endParaRPr lang="fr-FR"/>
          </a:p>
        </p:txBody>
      </p:sp>
      <p:sp>
        <p:nvSpPr>
          <p:cNvPr id="33" name="Text 31"/>
          <p:cNvSpPr/>
          <p:nvPr/>
        </p:nvSpPr>
        <p:spPr>
          <a:xfrm>
            <a:off x="475488" y="4123944"/>
            <a:ext cx="3200400" cy="301752"/>
          </a:xfrm>
          <a:prstGeom prst="rect">
            <a:avLst/>
          </a:prstGeom>
          <a:noFill/>
          <a:ln/>
        </p:spPr>
        <p:txBody>
          <a:bodyPr wrap="square" lIns="0" tIns="0" rIns="0" bIns="0" rtlCol="0" anchor="ctr"/>
          <a:lstStyle/>
          <a:p>
            <a:pPr marL="0" indent="0">
              <a:buNone/>
            </a:pPr>
            <a:r>
              <a:rPr lang="en-US" sz="1000" b="1" dirty="0">
                <a:solidFill>
                  <a:srgbClr val="BC8CFF"/>
                </a:solidFill>
              </a:rPr>
              <a:t>∂z²/∂a¹  (pre-activation w.r.t. hidden activations)</a:t>
            </a:r>
            <a:endParaRPr lang="en-US" sz="1000" dirty="0"/>
          </a:p>
        </p:txBody>
      </p:sp>
      <p:sp>
        <p:nvSpPr>
          <p:cNvPr id="34" name="Text 32"/>
          <p:cNvSpPr/>
          <p:nvPr/>
        </p:nvSpPr>
        <p:spPr>
          <a:xfrm>
            <a:off x="3749040" y="4123944"/>
            <a:ext cx="4937760" cy="301752"/>
          </a:xfrm>
          <a:prstGeom prst="rect">
            <a:avLst/>
          </a:prstGeom>
          <a:noFill/>
          <a:ln/>
        </p:spPr>
        <p:txBody>
          <a:bodyPr wrap="square" lIns="0" tIns="0" rIns="0" bIns="0" rtlCol="0" anchor="ctr"/>
          <a:lstStyle/>
          <a:p>
            <a:pPr marL="0" indent="0">
              <a:buNone/>
            </a:pPr>
            <a:r>
              <a:rPr lang="en-US" sz="1000" dirty="0">
                <a:solidFill>
                  <a:srgbClr val="F0F6FC"/>
                </a:solidFill>
              </a:rPr>
              <a:t>= W²       ← the weight matrix itself!</a:t>
            </a:r>
            <a:endParaRPr lang="en-US" sz="1000" dirty="0"/>
          </a:p>
        </p:txBody>
      </p:sp>
      <p:sp>
        <p:nvSpPr>
          <p:cNvPr id="35" name="Shape 33"/>
          <p:cNvSpPr/>
          <p:nvPr/>
        </p:nvSpPr>
        <p:spPr>
          <a:xfrm>
            <a:off x="320040" y="4507992"/>
            <a:ext cx="8503920" cy="384048"/>
          </a:xfrm>
          <a:prstGeom prst="rect">
            <a:avLst/>
          </a:prstGeom>
          <a:solidFill>
            <a:srgbClr val="21262D"/>
          </a:solidFill>
          <a:ln w="12700">
            <a:solidFill>
              <a:srgbClr val="161B22"/>
            </a:solidFill>
            <a:prstDash val="solid"/>
          </a:ln>
        </p:spPr>
        <p:txBody>
          <a:bodyPr/>
          <a:lstStyle/>
          <a:p>
            <a:endParaRPr lang="fr-FR"/>
          </a:p>
        </p:txBody>
      </p:sp>
      <p:sp>
        <p:nvSpPr>
          <p:cNvPr id="36" name="Shape 34"/>
          <p:cNvSpPr/>
          <p:nvPr/>
        </p:nvSpPr>
        <p:spPr>
          <a:xfrm>
            <a:off x="320040" y="4507992"/>
            <a:ext cx="54864" cy="384048"/>
          </a:xfrm>
          <a:prstGeom prst="rect">
            <a:avLst/>
          </a:prstGeom>
          <a:solidFill>
            <a:srgbClr val="58A6FF"/>
          </a:solidFill>
          <a:ln w="12700">
            <a:solidFill>
              <a:srgbClr val="58A6FF"/>
            </a:solidFill>
            <a:prstDash val="solid"/>
          </a:ln>
        </p:spPr>
        <p:txBody>
          <a:bodyPr/>
          <a:lstStyle/>
          <a:p>
            <a:endParaRPr lang="fr-FR"/>
          </a:p>
        </p:txBody>
      </p:sp>
      <p:sp>
        <p:nvSpPr>
          <p:cNvPr id="37" name="Text 35"/>
          <p:cNvSpPr/>
          <p:nvPr/>
        </p:nvSpPr>
        <p:spPr>
          <a:xfrm>
            <a:off x="475488" y="4553712"/>
            <a:ext cx="3200400" cy="301752"/>
          </a:xfrm>
          <a:prstGeom prst="rect">
            <a:avLst/>
          </a:prstGeom>
          <a:noFill/>
          <a:ln/>
        </p:spPr>
        <p:txBody>
          <a:bodyPr wrap="square" lIns="0" tIns="0" rIns="0" bIns="0" rtlCol="0" anchor="ctr"/>
          <a:lstStyle/>
          <a:p>
            <a:pPr marL="0" indent="0">
              <a:buNone/>
            </a:pPr>
            <a:r>
              <a:rPr lang="en-US" sz="1000" b="1" dirty="0">
                <a:solidFill>
                  <a:srgbClr val="58A6FF"/>
                </a:solidFill>
              </a:rPr>
              <a:t>∂z¹/∂W¹  (pre-activation w.r.t. weights we update)</a:t>
            </a:r>
            <a:endParaRPr lang="en-US" sz="1000" dirty="0"/>
          </a:p>
        </p:txBody>
      </p:sp>
      <p:sp>
        <p:nvSpPr>
          <p:cNvPr id="38" name="Text 36"/>
          <p:cNvSpPr/>
          <p:nvPr/>
        </p:nvSpPr>
        <p:spPr>
          <a:xfrm>
            <a:off x="3749040" y="4553712"/>
            <a:ext cx="4937760" cy="301752"/>
          </a:xfrm>
          <a:prstGeom prst="rect">
            <a:avLst/>
          </a:prstGeom>
          <a:noFill/>
          <a:ln/>
        </p:spPr>
        <p:txBody>
          <a:bodyPr wrap="square" lIns="0" tIns="0" rIns="0" bIns="0" rtlCol="0" anchor="ctr"/>
          <a:lstStyle/>
          <a:p>
            <a:pPr marL="0" indent="0">
              <a:buNone/>
            </a:pPr>
            <a:r>
              <a:rPr lang="en-US" sz="1000" dirty="0">
                <a:solidFill>
                  <a:srgbClr val="F0F6FC"/>
                </a:solidFill>
              </a:rPr>
              <a:t>= a¹ (= x for the first layer)</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E3B341"/>
          </a:solidFill>
          <a:ln w="12700">
            <a:solidFill>
              <a:srgbClr val="E3B341"/>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Gradient Descent — Updating the Weights</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E3B341"/>
                </a:solidFill>
              </a:rPr>
              <a:t>Use the gradient to take a small step toward lower loss</a:t>
            </a:r>
            <a:endParaRPr lang="en-US" sz="1200" dirty="0"/>
          </a:p>
        </p:txBody>
      </p:sp>
      <p:sp>
        <p:nvSpPr>
          <p:cNvPr id="5" name="Shape 3"/>
          <p:cNvSpPr/>
          <p:nvPr/>
        </p:nvSpPr>
        <p:spPr>
          <a:xfrm>
            <a:off x="320040" y="1024128"/>
            <a:ext cx="8503920" cy="0"/>
          </a:xfrm>
          <a:prstGeom prst="line">
            <a:avLst/>
          </a:prstGeom>
          <a:noFill/>
          <a:ln w="12700">
            <a:solidFill>
              <a:srgbClr val="E3B341"/>
            </a:solidFill>
            <a:prstDash val="solid"/>
          </a:ln>
        </p:spPr>
        <p:txBody>
          <a:bodyPr/>
          <a:lstStyle/>
          <a:p>
            <a:endParaRPr lang="fr-FR"/>
          </a:p>
        </p:txBody>
      </p:sp>
      <p:sp>
        <p:nvSpPr>
          <p:cNvPr id="6" name="Shape 4"/>
          <p:cNvSpPr/>
          <p:nvPr/>
        </p:nvSpPr>
        <p:spPr>
          <a:xfrm>
            <a:off x="320040" y="1170432"/>
            <a:ext cx="8503920" cy="914400"/>
          </a:xfrm>
          <a:prstGeom prst="rect">
            <a:avLst/>
          </a:prstGeom>
          <a:solidFill>
            <a:srgbClr val="21262D"/>
          </a:solidFill>
          <a:ln w="19050">
            <a:solidFill>
              <a:srgbClr val="E3B341"/>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502920" y="1170432"/>
            <a:ext cx="8321040" cy="914400"/>
          </a:xfrm>
          <a:prstGeom prst="rect">
            <a:avLst/>
          </a:prstGeom>
          <a:noFill/>
          <a:ln/>
        </p:spPr>
        <p:txBody>
          <a:bodyPr wrap="square" lIns="0" tIns="0" rIns="0" bIns="0" rtlCol="0" anchor="ctr"/>
          <a:lstStyle/>
          <a:p>
            <a:pPr marL="0" indent="0">
              <a:buNone/>
            </a:pPr>
            <a:r>
              <a:rPr lang="en-US" sz="2200" b="1" dirty="0">
                <a:solidFill>
                  <a:srgbClr val="F0F6FC"/>
                </a:solidFill>
              </a:rPr>
              <a:t>W  ←  W  −  </a:t>
            </a:r>
            <a:r>
              <a:rPr lang="en-US" sz="2200" b="1" dirty="0">
                <a:solidFill>
                  <a:srgbClr val="E3B341"/>
                </a:solidFill>
              </a:rPr>
              <a:t>α</a:t>
            </a:r>
            <a:r>
              <a:rPr lang="en-US" sz="2200" b="1" dirty="0">
                <a:solidFill>
                  <a:srgbClr val="F0F6FC"/>
                </a:solidFill>
              </a:rPr>
              <a:t>  ·  </a:t>
            </a:r>
            <a:r>
              <a:rPr lang="en-US" sz="2200" b="1" dirty="0">
                <a:solidFill>
                  <a:srgbClr val="F0883E"/>
                </a:solidFill>
              </a:rPr>
              <a:t>∂L / ∂W</a:t>
            </a:r>
            <a:r>
              <a:rPr lang="en-US" sz="1400" dirty="0">
                <a:solidFill>
                  <a:srgbClr val="F0F6FC"/>
                </a:solidFill>
              </a:rPr>
              <a:t>          </a:t>
            </a:r>
            <a:r>
              <a:rPr lang="en-US" sz="1400" b="1" dirty="0">
                <a:solidFill>
                  <a:srgbClr val="E3B341"/>
                </a:solidFill>
              </a:rPr>
              <a:t>α</a:t>
            </a:r>
            <a:r>
              <a:rPr lang="en-US" sz="1400" dirty="0">
                <a:solidFill>
                  <a:srgbClr val="8B949E"/>
                </a:solidFill>
              </a:rPr>
              <a:t> = learning rate  |  </a:t>
            </a:r>
            <a:r>
              <a:rPr lang="en-US" sz="1400" b="1" dirty="0">
                <a:solidFill>
                  <a:srgbClr val="F0883E"/>
                </a:solidFill>
              </a:rPr>
              <a:t>∂L/∂W</a:t>
            </a:r>
            <a:r>
              <a:rPr lang="en-US" sz="1400" dirty="0">
                <a:solidFill>
                  <a:srgbClr val="8B949E"/>
                </a:solidFill>
              </a:rPr>
              <a:t> = gradient (from backprop)</a:t>
            </a:r>
            <a:endParaRPr lang="en-US" sz="2200" dirty="0"/>
          </a:p>
        </p:txBody>
      </p:sp>
      <p:sp>
        <p:nvSpPr>
          <p:cNvPr id="8" name="Shape 6"/>
          <p:cNvSpPr/>
          <p:nvPr/>
        </p:nvSpPr>
        <p:spPr>
          <a:xfrm>
            <a:off x="320040" y="2212848"/>
            <a:ext cx="4023360" cy="2633472"/>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9" name="Text 7"/>
          <p:cNvSpPr/>
          <p:nvPr/>
        </p:nvSpPr>
        <p:spPr>
          <a:xfrm>
            <a:off x="457200" y="2258568"/>
            <a:ext cx="3749040" cy="274320"/>
          </a:xfrm>
          <a:prstGeom prst="rect">
            <a:avLst/>
          </a:prstGeom>
          <a:noFill/>
          <a:ln/>
        </p:spPr>
        <p:txBody>
          <a:bodyPr wrap="square" lIns="0" tIns="0" rIns="0" bIns="0" rtlCol="0" anchor="ctr"/>
          <a:lstStyle/>
          <a:p>
            <a:pPr marL="0" indent="0" algn="ctr">
              <a:buNone/>
            </a:pPr>
            <a:r>
              <a:rPr lang="en-US" sz="1000" dirty="0">
                <a:solidFill>
                  <a:srgbClr val="8B949E"/>
                </a:solidFill>
              </a:rPr>
              <a:t>Loss Surface  (simplified to 1D)</a:t>
            </a:r>
            <a:endParaRPr lang="en-US" sz="1000" dirty="0"/>
          </a:p>
        </p:txBody>
      </p:sp>
      <p:sp>
        <p:nvSpPr>
          <p:cNvPr id="10" name="Shape 8"/>
          <p:cNvSpPr/>
          <p:nvPr/>
        </p:nvSpPr>
        <p:spPr>
          <a:xfrm>
            <a:off x="548640" y="4572000"/>
            <a:ext cx="3520440" cy="0"/>
          </a:xfrm>
          <a:prstGeom prst="line">
            <a:avLst/>
          </a:prstGeom>
          <a:noFill/>
          <a:ln w="12700">
            <a:solidFill>
              <a:srgbClr val="8B949E"/>
            </a:solidFill>
            <a:prstDash val="solid"/>
          </a:ln>
        </p:spPr>
        <p:txBody>
          <a:bodyPr/>
          <a:lstStyle/>
          <a:p>
            <a:endParaRPr lang="fr-FR"/>
          </a:p>
        </p:txBody>
      </p:sp>
      <p:sp>
        <p:nvSpPr>
          <p:cNvPr id="11" name="Shape 9"/>
          <p:cNvSpPr/>
          <p:nvPr/>
        </p:nvSpPr>
        <p:spPr>
          <a:xfrm>
            <a:off x="548640" y="2651760"/>
            <a:ext cx="0" cy="1920240"/>
          </a:xfrm>
          <a:prstGeom prst="line">
            <a:avLst/>
          </a:prstGeom>
          <a:noFill/>
          <a:ln w="12700">
            <a:solidFill>
              <a:srgbClr val="8B949E"/>
            </a:solidFill>
            <a:prstDash val="solid"/>
          </a:ln>
        </p:spPr>
        <p:txBody>
          <a:bodyPr/>
          <a:lstStyle/>
          <a:p>
            <a:endParaRPr lang="fr-FR"/>
          </a:p>
        </p:txBody>
      </p:sp>
      <p:sp>
        <p:nvSpPr>
          <p:cNvPr id="12" name="Text 10"/>
          <p:cNvSpPr/>
          <p:nvPr/>
        </p:nvSpPr>
        <p:spPr>
          <a:xfrm>
            <a:off x="3840480" y="4526280"/>
            <a:ext cx="457200" cy="201168"/>
          </a:xfrm>
          <a:prstGeom prst="rect">
            <a:avLst/>
          </a:prstGeom>
          <a:noFill/>
          <a:ln/>
        </p:spPr>
        <p:txBody>
          <a:bodyPr wrap="square" lIns="0" tIns="0" rIns="0" bIns="0" rtlCol="0" anchor="ctr"/>
          <a:lstStyle/>
          <a:p>
            <a:pPr marL="0" indent="0">
              <a:buNone/>
            </a:pPr>
            <a:r>
              <a:rPr lang="en-US" sz="800" dirty="0">
                <a:solidFill>
                  <a:srgbClr val="8B949E"/>
                </a:solidFill>
              </a:rPr>
              <a:t>W →</a:t>
            </a:r>
            <a:endParaRPr lang="en-US" sz="800" dirty="0"/>
          </a:p>
        </p:txBody>
      </p:sp>
      <p:sp>
        <p:nvSpPr>
          <p:cNvPr id="13" name="Text 11"/>
          <p:cNvSpPr/>
          <p:nvPr/>
        </p:nvSpPr>
        <p:spPr>
          <a:xfrm>
            <a:off x="566928" y="2651760"/>
            <a:ext cx="320040" cy="201168"/>
          </a:xfrm>
          <a:prstGeom prst="rect">
            <a:avLst/>
          </a:prstGeom>
          <a:noFill/>
          <a:ln/>
        </p:spPr>
        <p:txBody>
          <a:bodyPr wrap="square" lIns="0" tIns="0" rIns="0" bIns="0" rtlCol="0" anchor="ctr"/>
          <a:lstStyle/>
          <a:p>
            <a:pPr marL="0" indent="0">
              <a:buNone/>
            </a:pPr>
            <a:r>
              <a:rPr lang="en-US" sz="800" dirty="0">
                <a:solidFill>
                  <a:srgbClr val="8B949E"/>
                </a:solidFill>
              </a:rPr>
              <a:t>L ↑</a:t>
            </a:r>
            <a:endParaRPr lang="en-US" sz="800" dirty="0"/>
          </a:p>
        </p:txBody>
      </p:sp>
      <p:sp>
        <p:nvSpPr>
          <p:cNvPr id="14" name="Shape 12"/>
          <p:cNvSpPr/>
          <p:nvPr/>
        </p:nvSpPr>
        <p:spPr>
          <a:xfrm>
            <a:off x="594360" y="4572000"/>
            <a:ext cx="320040" cy="0"/>
          </a:xfrm>
          <a:prstGeom prst="line">
            <a:avLst/>
          </a:prstGeom>
          <a:noFill/>
          <a:ln w="31750">
            <a:solidFill>
              <a:srgbClr val="E3B341"/>
            </a:solidFill>
            <a:prstDash val="solid"/>
          </a:ln>
        </p:spPr>
        <p:txBody>
          <a:bodyPr/>
          <a:lstStyle/>
          <a:p>
            <a:endParaRPr lang="fr-FR"/>
          </a:p>
        </p:txBody>
      </p:sp>
      <p:sp>
        <p:nvSpPr>
          <p:cNvPr id="15" name="Shape 13"/>
          <p:cNvSpPr/>
          <p:nvPr/>
        </p:nvSpPr>
        <p:spPr>
          <a:xfrm>
            <a:off x="914400" y="4114800"/>
            <a:ext cx="320040" cy="0"/>
          </a:xfrm>
          <a:prstGeom prst="line">
            <a:avLst/>
          </a:prstGeom>
          <a:noFill/>
          <a:ln w="31750">
            <a:solidFill>
              <a:srgbClr val="E3B341"/>
            </a:solidFill>
            <a:prstDash val="solid"/>
          </a:ln>
        </p:spPr>
        <p:txBody>
          <a:bodyPr/>
          <a:lstStyle/>
          <a:p>
            <a:endParaRPr lang="fr-FR"/>
          </a:p>
        </p:txBody>
      </p:sp>
      <p:sp>
        <p:nvSpPr>
          <p:cNvPr id="16" name="Shape 14"/>
          <p:cNvSpPr/>
          <p:nvPr/>
        </p:nvSpPr>
        <p:spPr>
          <a:xfrm>
            <a:off x="1234440" y="3730752"/>
            <a:ext cx="320040" cy="0"/>
          </a:xfrm>
          <a:prstGeom prst="line">
            <a:avLst/>
          </a:prstGeom>
          <a:noFill/>
          <a:ln w="31750">
            <a:solidFill>
              <a:srgbClr val="E3B341"/>
            </a:solidFill>
            <a:prstDash val="solid"/>
          </a:ln>
        </p:spPr>
        <p:txBody>
          <a:bodyPr/>
          <a:lstStyle/>
          <a:p>
            <a:endParaRPr lang="fr-FR"/>
          </a:p>
        </p:txBody>
      </p:sp>
      <p:sp>
        <p:nvSpPr>
          <p:cNvPr id="17" name="Shape 15"/>
          <p:cNvSpPr/>
          <p:nvPr/>
        </p:nvSpPr>
        <p:spPr>
          <a:xfrm>
            <a:off x="1554480" y="3401568"/>
            <a:ext cx="320040" cy="0"/>
          </a:xfrm>
          <a:prstGeom prst="line">
            <a:avLst/>
          </a:prstGeom>
          <a:noFill/>
          <a:ln w="31750">
            <a:solidFill>
              <a:srgbClr val="E3B341"/>
            </a:solidFill>
            <a:prstDash val="solid"/>
          </a:ln>
        </p:spPr>
        <p:txBody>
          <a:bodyPr/>
          <a:lstStyle/>
          <a:p>
            <a:endParaRPr lang="fr-FR"/>
          </a:p>
        </p:txBody>
      </p:sp>
      <p:sp>
        <p:nvSpPr>
          <p:cNvPr id="18" name="Shape 16"/>
          <p:cNvSpPr/>
          <p:nvPr/>
        </p:nvSpPr>
        <p:spPr>
          <a:xfrm>
            <a:off x="1874520" y="3182112"/>
            <a:ext cx="301752" cy="0"/>
          </a:xfrm>
          <a:prstGeom prst="line">
            <a:avLst/>
          </a:prstGeom>
          <a:noFill/>
          <a:ln w="31750">
            <a:solidFill>
              <a:srgbClr val="E3B341"/>
            </a:solidFill>
            <a:prstDash val="solid"/>
          </a:ln>
        </p:spPr>
        <p:txBody>
          <a:bodyPr/>
          <a:lstStyle/>
          <a:p>
            <a:endParaRPr lang="fr-FR"/>
          </a:p>
        </p:txBody>
      </p:sp>
      <p:sp>
        <p:nvSpPr>
          <p:cNvPr id="19" name="Shape 17"/>
          <p:cNvSpPr/>
          <p:nvPr/>
        </p:nvSpPr>
        <p:spPr>
          <a:xfrm>
            <a:off x="2176272" y="3090672"/>
            <a:ext cx="292608" cy="91440"/>
          </a:xfrm>
          <a:prstGeom prst="line">
            <a:avLst/>
          </a:prstGeom>
          <a:noFill/>
          <a:ln w="31750">
            <a:solidFill>
              <a:srgbClr val="E3B341"/>
            </a:solidFill>
            <a:prstDash val="solid"/>
          </a:ln>
        </p:spPr>
        <p:txBody>
          <a:bodyPr/>
          <a:lstStyle/>
          <a:p>
            <a:endParaRPr lang="fr-FR"/>
          </a:p>
        </p:txBody>
      </p:sp>
      <p:sp>
        <p:nvSpPr>
          <p:cNvPr id="20" name="Shape 18"/>
          <p:cNvSpPr/>
          <p:nvPr/>
        </p:nvSpPr>
        <p:spPr>
          <a:xfrm>
            <a:off x="2468880" y="3182112"/>
            <a:ext cx="274320" cy="219456"/>
          </a:xfrm>
          <a:prstGeom prst="line">
            <a:avLst/>
          </a:prstGeom>
          <a:noFill/>
          <a:ln w="31750">
            <a:solidFill>
              <a:srgbClr val="E3B341"/>
            </a:solidFill>
            <a:prstDash val="solid"/>
          </a:ln>
        </p:spPr>
        <p:txBody>
          <a:bodyPr/>
          <a:lstStyle/>
          <a:p>
            <a:endParaRPr lang="fr-FR"/>
          </a:p>
        </p:txBody>
      </p:sp>
      <p:sp>
        <p:nvSpPr>
          <p:cNvPr id="21" name="Shape 19"/>
          <p:cNvSpPr/>
          <p:nvPr/>
        </p:nvSpPr>
        <p:spPr>
          <a:xfrm>
            <a:off x="2743200" y="3401568"/>
            <a:ext cx="292608" cy="329184"/>
          </a:xfrm>
          <a:prstGeom prst="line">
            <a:avLst/>
          </a:prstGeom>
          <a:noFill/>
          <a:ln w="31750">
            <a:solidFill>
              <a:srgbClr val="E3B341"/>
            </a:solidFill>
            <a:prstDash val="solid"/>
          </a:ln>
        </p:spPr>
        <p:txBody>
          <a:bodyPr/>
          <a:lstStyle/>
          <a:p>
            <a:endParaRPr lang="fr-FR"/>
          </a:p>
        </p:txBody>
      </p:sp>
      <p:sp>
        <p:nvSpPr>
          <p:cNvPr id="22" name="Shape 20"/>
          <p:cNvSpPr/>
          <p:nvPr/>
        </p:nvSpPr>
        <p:spPr>
          <a:xfrm>
            <a:off x="3035808" y="3730752"/>
            <a:ext cx="301752" cy="384048"/>
          </a:xfrm>
          <a:prstGeom prst="line">
            <a:avLst/>
          </a:prstGeom>
          <a:noFill/>
          <a:ln w="31750">
            <a:solidFill>
              <a:srgbClr val="E3B341"/>
            </a:solidFill>
            <a:prstDash val="solid"/>
          </a:ln>
        </p:spPr>
        <p:txBody>
          <a:bodyPr/>
          <a:lstStyle/>
          <a:p>
            <a:endParaRPr lang="fr-FR"/>
          </a:p>
        </p:txBody>
      </p:sp>
      <p:sp>
        <p:nvSpPr>
          <p:cNvPr id="23" name="Shape 21"/>
          <p:cNvSpPr/>
          <p:nvPr/>
        </p:nvSpPr>
        <p:spPr>
          <a:xfrm>
            <a:off x="3337560" y="4114800"/>
            <a:ext cx="320040" cy="457200"/>
          </a:xfrm>
          <a:prstGeom prst="line">
            <a:avLst/>
          </a:prstGeom>
          <a:noFill/>
          <a:ln w="31750">
            <a:solidFill>
              <a:srgbClr val="E3B341"/>
            </a:solidFill>
            <a:prstDash val="solid"/>
          </a:ln>
        </p:spPr>
        <p:txBody>
          <a:bodyPr/>
          <a:lstStyle/>
          <a:p>
            <a:endParaRPr lang="fr-FR"/>
          </a:p>
        </p:txBody>
      </p:sp>
      <p:sp>
        <p:nvSpPr>
          <p:cNvPr id="24" name="Shape 22"/>
          <p:cNvSpPr/>
          <p:nvPr/>
        </p:nvSpPr>
        <p:spPr>
          <a:xfrm>
            <a:off x="804672" y="4005072"/>
            <a:ext cx="219456" cy="219456"/>
          </a:xfrm>
          <a:prstGeom prst="ellipse">
            <a:avLst/>
          </a:prstGeom>
          <a:solidFill>
            <a:srgbClr val="FF7B72"/>
          </a:solidFill>
          <a:ln w="12700">
            <a:solidFill>
              <a:srgbClr val="FF7B72"/>
            </a:solidFill>
            <a:prstDash val="solid"/>
          </a:ln>
        </p:spPr>
        <p:txBody>
          <a:bodyPr/>
          <a:lstStyle/>
          <a:p>
            <a:endParaRPr lang="fr-FR"/>
          </a:p>
        </p:txBody>
      </p:sp>
      <p:sp>
        <p:nvSpPr>
          <p:cNvPr id="25" name="Text 23"/>
          <p:cNvSpPr/>
          <p:nvPr/>
        </p:nvSpPr>
        <p:spPr>
          <a:xfrm>
            <a:off x="932688" y="3822192"/>
            <a:ext cx="914400" cy="228600"/>
          </a:xfrm>
          <a:prstGeom prst="rect">
            <a:avLst/>
          </a:prstGeom>
          <a:noFill/>
          <a:ln/>
        </p:spPr>
        <p:txBody>
          <a:bodyPr wrap="square" lIns="0" tIns="0" rIns="0" bIns="0" rtlCol="0" anchor="ctr"/>
          <a:lstStyle/>
          <a:p>
            <a:pPr marL="0" indent="0">
              <a:buNone/>
            </a:pPr>
            <a:r>
              <a:rPr lang="en-US" sz="750" dirty="0">
                <a:solidFill>
                  <a:srgbClr val="FF7B72"/>
                </a:solidFill>
              </a:rPr>
              <a:t>W₀ (start)</a:t>
            </a:r>
            <a:endParaRPr lang="en-US" sz="750" dirty="0"/>
          </a:p>
        </p:txBody>
      </p:sp>
      <p:sp>
        <p:nvSpPr>
          <p:cNvPr id="26" name="Shape 24"/>
          <p:cNvSpPr/>
          <p:nvPr/>
        </p:nvSpPr>
        <p:spPr>
          <a:xfrm>
            <a:off x="914400" y="4114800"/>
            <a:ext cx="640080" cy="0"/>
          </a:xfrm>
          <a:prstGeom prst="line">
            <a:avLst/>
          </a:prstGeom>
          <a:noFill/>
          <a:ln w="19050">
            <a:solidFill>
              <a:srgbClr val="FF7B72"/>
            </a:solidFill>
            <a:prstDash val="dash"/>
            <a:tailEnd type="arrow"/>
          </a:ln>
        </p:spPr>
        <p:txBody>
          <a:bodyPr/>
          <a:lstStyle/>
          <a:p>
            <a:endParaRPr lang="fr-FR"/>
          </a:p>
        </p:txBody>
      </p:sp>
      <p:sp>
        <p:nvSpPr>
          <p:cNvPr id="27" name="Shape 25"/>
          <p:cNvSpPr/>
          <p:nvPr/>
        </p:nvSpPr>
        <p:spPr>
          <a:xfrm>
            <a:off x="1444752" y="3291840"/>
            <a:ext cx="219456" cy="219456"/>
          </a:xfrm>
          <a:prstGeom prst="ellipse">
            <a:avLst/>
          </a:prstGeom>
          <a:solidFill>
            <a:srgbClr val="F0883E"/>
          </a:solidFill>
          <a:ln w="12700">
            <a:solidFill>
              <a:srgbClr val="F0883E"/>
            </a:solidFill>
            <a:prstDash val="solid"/>
          </a:ln>
        </p:spPr>
        <p:txBody>
          <a:bodyPr/>
          <a:lstStyle/>
          <a:p>
            <a:endParaRPr lang="fr-FR"/>
          </a:p>
        </p:txBody>
      </p:sp>
      <p:sp>
        <p:nvSpPr>
          <p:cNvPr id="28" name="Text 26"/>
          <p:cNvSpPr/>
          <p:nvPr/>
        </p:nvSpPr>
        <p:spPr>
          <a:xfrm>
            <a:off x="1572768" y="3108960"/>
            <a:ext cx="914400" cy="228600"/>
          </a:xfrm>
          <a:prstGeom prst="rect">
            <a:avLst/>
          </a:prstGeom>
          <a:noFill/>
          <a:ln/>
        </p:spPr>
        <p:txBody>
          <a:bodyPr wrap="square" lIns="0" tIns="0" rIns="0" bIns="0" rtlCol="0" anchor="ctr"/>
          <a:lstStyle/>
          <a:p>
            <a:pPr marL="0" indent="0">
              <a:buNone/>
            </a:pPr>
            <a:r>
              <a:rPr lang="en-US" sz="750" dirty="0">
                <a:solidFill>
                  <a:srgbClr val="F0883E"/>
                </a:solidFill>
              </a:rPr>
              <a:t>W₁</a:t>
            </a:r>
            <a:endParaRPr lang="en-US" sz="750" dirty="0"/>
          </a:p>
        </p:txBody>
      </p:sp>
      <p:sp>
        <p:nvSpPr>
          <p:cNvPr id="29" name="Shape 27"/>
          <p:cNvSpPr/>
          <p:nvPr/>
        </p:nvSpPr>
        <p:spPr>
          <a:xfrm>
            <a:off x="1554480" y="3401568"/>
            <a:ext cx="621792" cy="0"/>
          </a:xfrm>
          <a:prstGeom prst="line">
            <a:avLst/>
          </a:prstGeom>
          <a:noFill/>
          <a:ln w="19050">
            <a:solidFill>
              <a:srgbClr val="F0883E"/>
            </a:solidFill>
            <a:prstDash val="dash"/>
            <a:tailEnd type="arrow"/>
          </a:ln>
        </p:spPr>
        <p:txBody>
          <a:bodyPr/>
          <a:lstStyle/>
          <a:p>
            <a:endParaRPr lang="fr-FR"/>
          </a:p>
        </p:txBody>
      </p:sp>
      <p:sp>
        <p:nvSpPr>
          <p:cNvPr id="30" name="Shape 28"/>
          <p:cNvSpPr/>
          <p:nvPr/>
        </p:nvSpPr>
        <p:spPr>
          <a:xfrm>
            <a:off x="2066544" y="2980944"/>
            <a:ext cx="219456" cy="219456"/>
          </a:xfrm>
          <a:prstGeom prst="ellipse">
            <a:avLst/>
          </a:prstGeom>
          <a:solidFill>
            <a:srgbClr val="3FB950"/>
          </a:solidFill>
          <a:ln w="12700">
            <a:solidFill>
              <a:srgbClr val="3FB950"/>
            </a:solidFill>
            <a:prstDash val="solid"/>
          </a:ln>
        </p:spPr>
        <p:txBody>
          <a:bodyPr/>
          <a:lstStyle/>
          <a:p>
            <a:endParaRPr lang="fr-FR"/>
          </a:p>
        </p:txBody>
      </p:sp>
      <p:sp>
        <p:nvSpPr>
          <p:cNvPr id="31" name="Text 29"/>
          <p:cNvSpPr/>
          <p:nvPr/>
        </p:nvSpPr>
        <p:spPr>
          <a:xfrm>
            <a:off x="2194560" y="2798064"/>
            <a:ext cx="914400" cy="228600"/>
          </a:xfrm>
          <a:prstGeom prst="rect">
            <a:avLst/>
          </a:prstGeom>
          <a:noFill/>
          <a:ln/>
        </p:spPr>
        <p:txBody>
          <a:bodyPr wrap="square" lIns="0" tIns="0" rIns="0" bIns="0" rtlCol="0" anchor="ctr"/>
          <a:lstStyle/>
          <a:p>
            <a:pPr marL="0" indent="0">
              <a:buNone/>
            </a:pPr>
            <a:r>
              <a:rPr lang="en-US" sz="750" dirty="0">
                <a:solidFill>
                  <a:srgbClr val="3FB950"/>
                </a:solidFill>
              </a:rPr>
              <a:t>W₂ (min≈)</a:t>
            </a:r>
            <a:endParaRPr lang="en-US" sz="750" dirty="0"/>
          </a:p>
        </p:txBody>
      </p:sp>
      <p:sp>
        <p:nvSpPr>
          <p:cNvPr id="32" name="Shape 30"/>
          <p:cNvSpPr/>
          <p:nvPr/>
        </p:nvSpPr>
        <p:spPr>
          <a:xfrm>
            <a:off x="658368" y="4297680"/>
            <a:ext cx="640080" cy="0"/>
          </a:xfrm>
          <a:prstGeom prst="line">
            <a:avLst/>
          </a:prstGeom>
          <a:noFill/>
          <a:ln w="19050">
            <a:solidFill>
              <a:srgbClr val="FF7B72"/>
            </a:solidFill>
            <a:prstDash val="solid"/>
          </a:ln>
        </p:spPr>
        <p:txBody>
          <a:bodyPr/>
          <a:lstStyle/>
          <a:p>
            <a:endParaRPr lang="fr-FR"/>
          </a:p>
        </p:txBody>
      </p:sp>
      <p:sp>
        <p:nvSpPr>
          <p:cNvPr id="33" name="Text 31"/>
          <p:cNvSpPr/>
          <p:nvPr/>
        </p:nvSpPr>
        <p:spPr>
          <a:xfrm>
            <a:off x="658368" y="3840480"/>
            <a:ext cx="1280160" cy="228600"/>
          </a:xfrm>
          <a:prstGeom prst="rect">
            <a:avLst/>
          </a:prstGeom>
          <a:noFill/>
          <a:ln/>
        </p:spPr>
        <p:txBody>
          <a:bodyPr wrap="square" lIns="0" tIns="0" rIns="0" bIns="0" rtlCol="0" anchor="ctr"/>
          <a:lstStyle/>
          <a:p>
            <a:pPr marL="0" indent="0">
              <a:buNone/>
            </a:pPr>
            <a:r>
              <a:rPr lang="en-US" sz="750" i="1" dirty="0">
                <a:solidFill>
                  <a:srgbClr val="FF7B72"/>
                </a:solidFill>
              </a:rPr>
              <a:t>slope = gradient</a:t>
            </a:r>
            <a:endParaRPr lang="en-US" sz="750" dirty="0"/>
          </a:p>
        </p:txBody>
      </p:sp>
      <p:sp>
        <p:nvSpPr>
          <p:cNvPr id="34" name="Text 32"/>
          <p:cNvSpPr/>
          <p:nvPr/>
        </p:nvSpPr>
        <p:spPr>
          <a:xfrm>
            <a:off x="640080" y="4407408"/>
            <a:ext cx="1828800" cy="228600"/>
          </a:xfrm>
          <a:prstGeom prst="rect">
            <a:avLst/>
          </a:prstGeom>
          <a:noFill/>
          <a:ln/>
        </p:spPr>
        <p:txBody>
          <a:bodyPr wrap="square" lIns="0" tIns="0" rIns="0" bIns="0" rtlCol="0" anchor="ctr"/>
          <a:lstStyle/>
          <a:p>
            <a:pPr marL="0" indent="0">
              <a:buNone/>
            </a:pPr>
            <a:r>
              <a:rPr lang="en-US" sz="750" i="1" dirty="0">
                <a:solidFill>
                  <a:srgbClr val="F0883E"/>
                </a:solidFill>
              </a:rPr>
              <a:t>α × gradient = step size</a:t>
            </a:r>
            <a:endParaRPr lang="en-US" sz="750" dirty="0"/>
          </a:p>
        </p:txBody>
      </p:sp>
      <p:sp>
        <p:nvSpPr>
          <p:cNvPr id="35" name="Shape 33"/>
          <p:cNvSpPr/>
          <p:nvPr/>
        </p:nvSpPr>
        <p:spPr>
          <a:xfrm>
            <a:off x="4663440" y="2212848"/>
            <a:ext cx="4160520" cy="2633472"/>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36" name="Text 34"/>
          <p:cNvSpPr/>
          <p:nvPr/>
        </p:nvSpPr>
        <p:spPr>
          <a:xfrm>
            <a:off x="4800600" y="2258568"/>
            <a:ext cx="3840480" cy="274320"/>
          </a:xfrm>
          <a:prstGeom prst="rect">
            <a:avLst/>
          </a:prstGeom>
          <a:noFill/>
          <a:ln/>
        </p:spPr>
        <p:txBody>
          <a:bodyPr wrap="square" lIns="0" tIns="0" rIns="0" bIns="0" rtlCol="0" anchor="ctr"/>
          <a:lstStyle/>
          <a:p>
            <a:pPr marL="0" indent="0" algn="ctr">
              <a:buNone/>
            </a:pPr>
            <a:r>
              <a:rPr lang="en-US" sz="1000" dirty="0">
                <a:solidFill>
                  <a:srgbClr val="8B949E"/>
                </a:solidFill>
              </a:rPr>
              <a:t>Numeric Example  (α = 0.1)</a:t>
            </a:r>
            <a:endParaRPr lang="en-US" sz="1000" dirty="0"/>
          </a:p>
        </p:txBody>
      </p:sp>
      <p:sp>
        <p:nvSpPr>
          <p:cNvPr id="37" name="Shape 35"/>
          <p:cNvSpPr/>
          <p:nvPr/>
        </p:nvSpPr>
        <p:spPr>
          <a:xfrm>
            <a:off x="4800600" y="2633472"/>
            <a:ext cx="3886200" cy="475488"/>
          </a:xfrm>
          <a:prstGeom prst="rect">
            <a:avLst/>
          </a:prstGeom>
          <a:solidFill>
            <a:srgbClr val="21262D"/>
          </a:solidFill>
          <a:ln w="12700">
            <a:solidFill>
              <a:srgbClr val="F0F6FC"/>
            </a:solidFill>
            <a:prstDash val="solid"/>
          </a:ln>
        </p:spPr>
        <p:txBody>
          <a:bodyPr/>
          <a:lstStyle/>
          <a:p>
            <a:endParaRPr lang="fr-FR"/>
          </a:p>
        </p:txBody>
      </p:sp>
      <p:sp>
        <p:nvSpPr>
          <p:cNvPr id="38" name="Text 36"/>
          <p:cNvSpPr/>
          <p:nvPr/>
        </p:nvSpPr>
        <p:spPr>
          <a:xfrm>
            <a:off x="4892040" y="2670048"/>
            <a:ext cx="2286000" cy="402336"/>
          </a:xfrm>
          <a:prstGeom prst="rect">
            <a:avLst/>
          </a:prstGeom>
          <a:noFill/>
          <a:ln/>
        </p:spPr>
        <p:txBody>
          <a:bodyPr wrap="square" lIns="0" tIns="0" rIns="0" bIns="0" rtlCol="0" anchor="ctr"/>
          <a:lstStyle/>
          <a:p>
            <a:pPr marL="0" indent="0">
              <a:buNone/>
            </a:pPr>
            <a:r>
              <a:rPr lang="en-US" sz="950" dirty="0">
                <a:solidFill>
                  <a:srgbClr val="8B949E"/>
                </a:solidFill>
              </a:rPr>
              <a:t>Current weight</a:t>
            </a:r>
            <a:endParaRPr lang="en-US" sz="950" dirty="0"/>
          </a:p>
        </p:txBody>
      </p:sp>
      <p:sp>
        <p:nvSpPr>
          <p:cNvPr id="39" name="Text 37"/>
          <p:cNvSpPr/>
          <p:nvPr/>
        </p:nvSpPr>
        <p:spPr>
          <a:xfrm>
            <a:off x="7205472" y="2670048"/>
            <a:ext cx="1417320" cy="402336"/>
          </a:xfrm>
          <a:prstGeom prst="rect">
            <a:avLst/>
          </a:prstGeom>
          <a:noFill/>
          <a:ln/>
        </p:spPr>
        <p:txBody>
          <a:bodyPr wrap="square" lIns="0" tIns="0" rIns="0" bIns="0" rtlCol="0" anchor="ctr"/>
          <a:lstStyle/>
          <a:p>
            <a:pPr marL="0" indent="0" algn="r">
              <a:buNone/>
            </a:pPr>
            <a:r>
              <a:rPr lang="en-US" sz="950" b="1" dirty="0">
                <a:solidFill>
                  <a:srgbClr val="F0F6FC"/>
                </a:solidFill>
              </a:rPr>
              <a:t>W = 0.40</a:t>
            </a:r>
            <a:endParaRPr lang="en-US" sz="950" dirty="0"/>
          </a:p>
        </p:txBody>
      </p:sp>
      <p:sp>
        <p:nvSpPr>
          <p:cNvPr id="40" name="Shape 38"/>
          <p:cNvSpPr/>
          <p:nvPr/>
        </p:nvSpPr>
        <p:spPr>
          <a:xfrm>
            <a:off x="4910328" y="3108960"/>
            <a:ext cx="0" cy="91440"/>
          </a:xfrm>
          <a:prstGeom prst="line">
            <a:avLst/>
          </a:prstGeom>
          <a:noFill/>
          <a:ln w="12700">
            <a:solidFill>
              <a:srgbClr val="21262D"/>
            </a:solidFill>
            <a:prstDash val="solid"/>
            <a:tailEnd type="arrow"/>
          </a:ln>
        </p:spPr>
        <p:txBody>
          <a:bodyPr/>
          <a:lstStyle/>
          <a:p>
            <a:endParaRPr lang="fr-FR"/>
          </a:p>
        </p:txBody>
      </p:sp>
      <p:sp>
        <p:nvSpPr>
          <p:cNvPr id="41" name="Shape 39"/>
          <p:cNvSpPr/>
          <p:nvPr/>
        </p:nvSpPr>
        <p:spPr>
          <a:xfrm>
            <a:off x="4800600" y="3200400"/>
            <a:ext cx="3886200" cy="475488"/>
          </a:xfrm>
          <a:prstGeom prst="rect">
            <a:avLst/>
          </a:prstGeom>
          <a:solidFill>
            <a:srgbClr val="21262D"/>
          </a:solidFill>
          <a:ln w="12700">
            <a:solidFill>
              <a:srgbClr val="F0883E"/>
            </a:solidFill>
            <a:prstDash val="solid"/>
          </a:ln>
        </p:spPr>
        <p:txBody>
          <a:bodyPr/>
          <a:lstStyle/>
          <a:p>
            <a:endParaRPr lang="fr-FR"/>
          </a:p>
        </p:txBody>
      </p:sp>
      <p:sp>
        <p:nvSpPr>
          <p:cNvPr id="42" name="Text 40"/>
          <p:cNvSpPr/>
          <p:nvPr/>
        </p:nvSpPr>
        <p:spPr>
          <a:xfrm>
            <a:off x="4892040" y="3236976"/>
            <a:ext cx="2286000" cy="402336"/>
          </a:xfrm>
          <a:prstGeom prst="rect">
            <a:avLst/>
          </a:prstGeom>
          <a:noFill/>
          <a:ln/>
        </p:spPr>
        <p:txBody>
          <a:bodyPr wrap="square" lIns="0" tIns="0" rIns="0" bIns="0" rtlCol="0" anchor="ctr"/>
          <a:lstStyle/>
          <a:p>
            <a:pPr marL="0" indent="0">
              <a:buNone/>
            </a:pPr>
            <a:r>
              <a:rPr lang="en-US" sz="950" dirty="0">
                <a:solidFill>
                  <a:srgbClr val="8B949E"/>
                </a:solidFill>
              </a:rPr>
              <a:t>Gradient from backprop</a:t>
            </a:r>
            <a:endParaRPr lang="en-US" sz="950" dirty="0"/>
          </a:p>
        </p:txBody>
      </p:sp>
      <p:sp>
        <p:nvSpPr>
          <p:cNvPr id="43" name="Text 41"/>
          <p:cNvSpPr/>
          <p:nvPr/>
        </p:nvSpPr>
        <p:spPr>
          <a:xfrm>
            <a:off x="7205472" y="3236976"/>
            <a:ext cx="1417320" cy="402336"/>
          </a:xfrm>
          <a:prstGeom prst="rect">
            <a:avLst/>
          </a:prstGeom>
          <a:noFill/>
          <a:ln/>
        </p:spPr>
        <p:txBody>
          <a:bodyPr wrap="square" lIns="0" tIns="0" rIns="0" bIns="0" rtlCol="0" anchor="ctr"/>
          <a:lstStyle/>
          <a:p>
            <a:pPr marL="0" indent="0" algn="r">
              <a:buNone/>
            </a:pPr>
            <a:r>
              <a:rPr lang="en-US" sz="950" b="1" dirty="0">
                <a:solidFill>
                  <a:srgbClr val="F0883E"/>
                </a:solidFill>
              </a:rPr>
              <a:t>∂L/∂W = 0.85</a:t>
            </a:r>
            <a:endParaRPr lang="en-US" sz="950" dirty="0"/>
          </a:p>
        </p:txBody>
      </p:sp>
      <p:sp>
        <p:nvSpPr>
          <p:cNvPr id="44" name="Shape 42"/>
          <p:cNvSpPr/>
          <p:nvPr/>
        </p:nvSpPr>
        <p:spPr>
          <a:xfrm>
            <a:off x="4910328" y="3675888"/>
            <a:ext cx="0" cy="91440"/>
          </a:xfrm>
          <a:prstGeom prst="line">
            <a:avLst/>
          </a:prstGeom>
          <a:noFill/>
          <a:ln w="12700">
            <a:solidFill>
              <a:srgbClr val="21262D"/>
            </a:solidFill>
            <a:prstDash val="solid"/>
            <a:tailEnd type="arrow"/>
          </a:ln>
        </p:spPr>
        <p:txBody>
          <a:bodyPr/>
          <a:lstStyle/>
          <a:p>
            <a:endParaRPr lang="fr-FR"/>
          </a:p>
        </p:txBody>
      </p:sp>
      <p:sp>
        <p:nvSpPr>
          <p:cNvPr id="45" name="Shape 43"/>
          <p:cNvSpPr/>
          <p:nvPr/>
        </p:nvSpPr>
        <p:spPr>
          <a:xfrm>
            <a:off x="4800600" y="3767328"/>
            <a:ext cx="3886200" cy="475488"/>
          </a:xfrm>
          <a:prstGeom prst="rect">
            <a:avLst/>
          </a:prstGeom>
          <a:solidFill>
            <a:srgbClr val="21262D"/>
          </a:solidFill>
          <a:ln w="12700">
            <a:solidFill>
              <a:srgbClr val="E3B341"/>
            </a:solidFill>
            <a:prstDash val="solid"/>
          </a:ln>
        </p:spPr>
        <p:txBody>
          <a:bodyPr/>
          <a:lstStyle/>
          <a:p>
            <a:endParaRPr lang="fr-FR"/>
          </a:p>
        </p:txBody>
      </p:sp>
      <p:sp>
        <p:nvSpPr>
          <p:cNvPr id="46" name="Text 44"/>
          <p:cNvSpPr/>
          <p:nvPr/>
        </p:nvSpPr>
        <p:spPr>
          <a:xfrm>
            <a:off x="4892040" y="3803904"/>
            <a:ext cx="2286000" cy="402336"/>
          </a:xfrm>
          <a:prstGeom prst="rect">
            <a:avLst/>
          </a:prstGeom>
          <a:noFill/>
          <a:ln/>
        </p:spPr>
        <p:txBody>
          <a:bodyPr wrap="square" lIns="0" tIns="0" rIns="0" bIns="0" rtlCol="0" anchor="ctr"/>
          <a:lstStyle/>
          <a:p>
            <a:pPr marL="0" indent="0">
              <a:buNone/>
            </a:pPr>
            <a:r>
              <a:rPr lang="en-US" sz="950" dirty="0">
                <a:solidFill>
                  <a:srgbClr val="8B949E"/>
                </a:solidFill>
              </a:rPr>
              <a:t>Step size  (α · gradient)</a:t>
            </a:r>
            <a:endParaRPr lang="en-US" sz="950" dirty="0"/>
          </a:p>
        </p:txBody>
      </p:sp>
      <p:sp>
        <p:nvSpPr>
          <p:cNvPr id="47" name="Text 45"/>
          <p:cNvSpPr/>
          <p:nvPr/>
        </p:nvSpPr>
        <p:spPr>
          <a:xfrm>
            <a:off x="7205472" y="3803904"/>
            <a:ext cx="1417320" cy="402336"/>
          </a:xfrm>
          <a:prstGeom prst="rect">
            <a:avLst/>
          </a:prstGeom>
          <a:noFill/>
          <a:ln/>
        </p:spPr>
        <p:txBody>
          <a:bodyPr wrap="square" lIns="0" tIns="0" rIns="0" bIns="0" rtlCol="0" anchor="ctr"/>
          <a:lstStyle/>
          <a:p>
            <a:pPr marL="0" indent="0" algn="r">
              <a:buNone/>
            </a:pPr>
            <a:r>
              <a:rPr lang="en-US" sz="950" b="1" dirty="0">
                <a:solidFill>
                  <a:srgbClr val="E3B341"/>
                </a:solidFill>
              </a:rPr>
              <a:t>0.1 × 0.85 = 0.085</a:t>
            </a:r>
            <a:endParaRPr lang="en-US" sz="950" dirty="0"/>
          </a:p>
        </p:txBody>
      </p:sp>
      <p:sp>
        <p:nvSpPr>
          <p:cNvPr id="48" name="Shape 46"/>
          <p:cNvSpPr/>
          <p:nvPr/>
        </p:nvSpPr>
        <p:spPr>
          <a:xfrm>
            <a:off x="4910328" y="4242816"/>
            <a:ext cx="0" cy="91440"/>
          </a:xfrm>
          <a:prstGeom prst="line">
            <a:avLst/>
          </a:prstGeom>
          <a:noFill/>
          <a:ln w="12700">
            <a:solidFill>
              <a:srgbClr val="21262D"/>
            </a:solidFill>
            <a:prstDash val="solid"/>
            <a:tailEnd type="arrow"/>
          </a:ln>
        </p:spPr>
        <p:txBody>
          <a:bodyPr/>
          <a:lstStyle/>
          <a:p>
            <a:endParaRPr lang="fr-FR"/>
          </a:p>
        </p:txBody>
      </p:sp>
      <p:sp>
        <p:nvSpPr>
          <p:cNvPr id="49" name="Shape 47"/>
          <p:cNvSpPr/>
          <p:nvPr/>
        </p:nvSpPr>
        <p:spPr>
          <a:xfrm>
            <a:off x="4800600" y="4334256"/>
            <a:ext cx="3886200" cy="475488"/>
          </a:xfrm>
          <a:prstGeom prst="rect">
            <a:avLst/>
          </a:prstGeom>
          <a:solidFill>
            <a:srgbClr val="21262D"/>
          </a:solidFill>
          <a:ln w="25400">
            <a:solidFill>
              <a:srgbClr val="3FB950"/>
            </a:solidFill>
            <a:prstDash val="solid"/>
          </a:ln>
        </p:spPr>
        <p:txBody>
          <a:bodyPr/>
          <a:lstStyle/>
          <a:p>
            <a:endParaRPr lang="fr-FR"/>
          </a:p>
        </p:txBody>
      </p:sp>
      <p:sp>
        <p:nvSpPr>
          <p:cNvPr id="50" name="Text 48"/>
          <p:cNvSpPr/>
          <p:nvPr/>
        </p:nvSpPr>
        <p:spPr>
          <a:xfrm>
            <a:off x="4892040" y="4370832"/>
            <a:ext cx="2286000" cy="402336"/>
          </a:xfrm>
          <a:prstGeom prst="rect">
            <a:avLst/>
          </a:prstGeom>
          <a:noFill/>
          <a:ln/>
        </p:spPr>
        <p:txBody>
          <a:bodyPr wrap="square" lIns="0" tIns="0" rIns="0" bIns="0" rtlCol="0" anchor="ctr"/>
          <a:lstStyle/>
          <a:p>
            <a:pPr marL="0" indent="0">
              <a:buNone/>
            </a:pPr>
            <a:r>
              <a:rPr lang="en-US" sz="950" dirty="0">
                <a:solidFill>
                  <a:srgbClr val="8B949E"/>
                </a:solidFill>
              </a:rPr>
              <a:t>New weight</a:t>
            </a:r>
            <a:endParaRPr lang="en-US" sz="950" dirty="0"/>
          </a:p>
        </p:txBody>
      </p:sp>
      <p:sp>
        <p:nvSpPr>
          <p:cNvPr id="51" name="Text 49"/>
          <p:cNvSpPr/>
          <p:nvPr/>
        </p:nvSpPr>
        <p:spPr>
          <a:xfrm>
            <a:off x="7205472" y="4370832"/>
            <a:ext cx="1417320" cy="402336"/>
          </a:xfrm>
          <a:prstGeom prst="rect">
            <a:avLst/>
          </a:prstGeom>
          <a:noFill/>
          <a:ln/>
        </p:spPr>
        <p:txBody>
          <a:bodyPr wrap="square" lIns="0" tIns="0" rIns="0" bIns="0" rtlCol="0" anchor="ctr"/>
          <a:lstStyle/>
          <a:p>
            <a:pPr marL="0" indent="0" algn="r">
              <a:buNone/>
            </a:pPr>
            <a:r>
              <a:rPr lang="en-US" sz="950" b="1" dirty="0">
                <a:solidFill>
                  <a:srgbClr val="3FB950"/>
                </a:solidFill>
              </a:rPr>
              <a:t>W' = 0.40 − 0.085 = 0.315</a:t>
            </a:r>
            <a:endParaRPr lang="en-US" sz="950" dirty="0"/>
          </a:p>
        </p:txBody>
      </p:sp>
      <p:sp>
        <p:nvSpPr>
          <p:cNvPr id="52" name="Shape 50"/>
          <p:cNvSpPr/>
          <p:nvPr/>
        </p:nvSpPr>
        <p:spPr>
          <a:xfrm>
            <a:off x="4800600" y="4681728"/>
            <a:ext cx="3886200" cy="320040"/>
          </a:xfrm>
          <a:prstGeom prst="roundRect">
            <a:avLst>
              <a:gd name="adj" fmla="val 17143"/>
            </a:avLst>
          </a:prstGeom>
          <a:solidFill>
            <a:srgbClr val="21262D"/>
          </a:solidFill>
          <a:ln w="19050">
            <a:solidFill>
              <a:srgbClr val="E3B341"/>
            </a:solidFill>
            <a:prstDash val="solid"/>
          </a:ln>
        </p:spPr>
        <p:txBody>
          <a:bodyPr/>
          <a:lstStyle/>
          <a:p>
            <a:endParaRPr lang="fr-FR"/>
          </a:p>
        </p:txBody>
      </p:sp>
      <p:sp>
        <p:nvSpPr>
          <p:cNvPr id="53" name="Text 51"/>
          <p:cNvSpPr/>
          <p:nvPr/>
        </p:nvSpPr>
        <p:spPr>
          <a:xfrm>
            <a:off x="4892040" y="4681728"/>
            <a:ext cx="3749040" cy="320040"/>
          </a:xfrm>
          <a:prstGeom prst="rect">
            <a:avLst/>
          </a:prstGeom>
          <a:noFill/>
          <a:ln/>
        </p:spPr>
        <p:txBody>
          <a:bodyPr wrap="square" lIns="0" tIns="0" rIns="0" bIns="0" rtlCol="0" anchor="ctr"/>
          <a:lstStyle/>
          <a:p>
            <a:pPr marL="0" indent="0">
              <a:buNone/>
            </a:pPr>
            <a:r>
              <a:rPr lang="en-US" sz="900" dirty="0">
                <a:solidFill>
                  <a:srgbClr val="E3B341"/>
                </a:solidFill>
              </a:rPr>
              <a:t>Repeat for every weight in the network, every batch!</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BC8CFF"/>
          </a:solidFill>
          <a:ln w="12700">
            <a:solidFill>
              <a:srgbClr val="BC8CFF"/>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The Complete Training Loop</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BC8CFF"/>
                </a:solidFill>
              </a:rPr>
              <a:t>Putting it all together — epoch by epoch</a:t>
            </a:r>
            <a:endParaRPr lang="en-US" sz="1200" dirty="0"/>
          </a:p>
        </p:txBody>
      </p:sp>
      <p:sp>
        <p:nvSpPr>
          <p:cNvPr id="5" name="Shape 3"/>
          <p:cNvSpPr/>
          <p:nvPr/>
        </p:nvSpPr>
        <p:spPr>
          <a:xfrm>
            <a:off x="320040" y="1024128"/>
            <a:ext cx="8503920" cy="0"/>
          </a:xfrm>
          <a:prstGeom prst="line">
            <a:avLst/>
          </a:prstGeom>
          <a:noFill/>
          <a:ln w="12700">
            <a:solidFill>
              <a:srgbClr val="BC8CFF"/>
            </a:solidFill>
            <a:prstDash val="solid"/>
          </a:ln>
        </p:spPr>
        <p:txBody>
          <a:bodyPr/>
          <a:lstStyle/>
          <a:p>
            <a:endParaRPr lang="fr-FR"/>
          </a:p>
        </p:txBody>
      </p:sp>
      <p:sp>
        <p:nvSpPr>
          <p:cNvPr id="6" name="Shape 4"/>
          <p:cNvSpPr/>
          <p:nvPr/>
        </p:nvSpPr>
        <p:spPr>
          <a:xfrm>
            <a:off x="2286000" y="731520"/>
            <a:ext cx="4572000" cy="4572000"/>
          </a:xfrm>
          <a:prstGeom prst="ellipse">
            <a:avLst/>
          </a:prstGeom>
          <a:solidFill>
            <a:srgbClr val="21262D"/>
          </a:solidFill>
          <a:ln w="12700">
            <a:solidFill>
              <a:srgbClr val="161B22"/>
            </a:solidFill>
            <a:prstDash val="solid"/>
          </a:ln>
        </p:spPr>
        <p:txBody>
          <a:bodyPr/>
          <a:lstStyle/>
          <a:p>
            <a:endParaRPr lang="fr-FR"/>
          </a:p>
        </p:txBody>
      </p:sp>
      <p:sp>
        <p:nvSpPr>
          <p:cNvPr id="7" name="Shape 5"/>
          <p:cNvSpPr/>
          <p:nvPr/>
        </p:nvSpPr>
        <p:spPr>
          <a:xfrm>
            <a:off x="4069080" y="868680"/>
            <a:ext cx="1005840" cy="822960"/>
          </a:xfrm>
          <a:prstGeom prst="ellipse">
            <a:avLst/>
          </a:prstGeom>
          <a:solidFill>
            <a:srgbClr val="58A6FF"/>
          </a:solidFill>
          <a:ln w="19050">
            <a:solidFill>
              <a:srgbClr val="F0F6FC"/>
            </a:solidFill>
            <a:prstDash val="solid"/>
          </a:ln>
          <a:effectLst>
            <a:outerShdw blurRad="127000" dist="38100" dir="8100000" algn="bl" rotWithShape="0">
              <a:srgbClr val="000000">
                <a:alpha val="35000"/>
              </a:srgbClr>
            </a:outerShdw>
          </a:effectLst>
        </p:spPr>
        <p:txBody>
          <a:bodyPr/>
          <a:lstStyle/>
          <a:p>
            <a:endParaRPr lang="fr-FR"/>
          </a:p>
        </p:txBody>
      </p:sp>
      <p:sp>
        <p:nvSpPr>
          <p:cNvPr id="8" name="Text 6"/>
          <p:cNvSpPr/>
          <p:nvPr/>
        </p:nvSpPr>
        <p:spPr>
          <a:xfrm>
            <a:off x="4069080" y="868680"/>
            <a:ext cx="1005840" cy="822960"/>
          </a:xfrm>
          <a:prstGeom prst="rect">
            <a:avLst/>
          </a:prstGeom>
          <a:noFill/>
          <a:ln/>
        </p:spPr>
        <p:txBody>
          <a:bodyPr wrap="square" lIns="0" tIns="0" rIns="0" bIns="0" rtlCol="0" anchor="ctr"/>
          <a:lstStyle/>
          <a:p>
            <a:pPr marL="0" indent="0" algn="ctr">
              <a:buNone/>
            </a:pPr>
            <a:r>
              <a:rPr lang="en-US" sz="900" b="1" dirty="0">
                <a:solidFill>
                  <a:srgbClr val="F0F6FC"/>
                </a:solidFill>
              </a:rPr>
              <a:t>1. Load</a:t>
            </a:r>
            <a:endParaRPr lang="en-US" sz="900" dirty="0"/>
          </a:p>
          <a:p>
            <a:pPr marL="0" indent="0" algn="ctr">
              <a:buNone/>
            </a:pPr>
            <a:r>
              <a:rPr lang="en-US" sz="900" b="1" dirty="0">
                <a:solidFill>
                  <a:srgbClr val="F0F6FC"/>
                </a:solidFill>
              </a:rPr>
              <a:t>Batch</a:t>
            </a:r>
            <a:endParaRPr lang="en-US" sz="900" dirty="0"/>
          </a:p>
        </p:txBody>
      </p:sp>
      <p:sp>
        <p:nvSpPr>
          <p:cNvPr id="9" name="Shape 7"/>
          <p:cNvSpPr/>
          <p:nvPr/>
        </p:nvSpPr>
        <p:spPr>
          <a:xfrm>
            <a:off x="5404104" y="1576274"/>
            <a:ext cx="442753" cy="371514"/>
          </a:xfrm>
          <a:prstGeom prst="line">
            <a:avLst/>
          </a:prstGeom>
          <a:noFill/>
          <a:ln w="19050">
            <a:solidFill>
              <a:srgbClr val="58A6FF"/>
            </a:solidFill>
            <a:prstDash val="solid"/>
            <a:tailEnd type="arrow"/>
          </a:ln>
        </p:spPr>
        <p:txBody>
          <a:bodyPr/>
          <a:lstStyle/>
          <a:p>
            <a:endParaRPr lang="fr-FR"/>
          </a:p>
        </p:txBody>
      </p:sp>
      <p:sp>
        <p:nvSpPr>
          <p:cNvPr id="10" name="Shape 8"/>
          <p:cNvSpPr/>
          <p:nvPr/>
        </p:nvSpPr>
        <p:spPr>
          <a:xfrm>
            <a:off x="5721408" y="2069166"/>
            <a:ext cx="1005840" cy="822960"/>
          </a:xfrm>
          <a:prstGeom prst="ellipse">
            <a:avLst/>
          </a:prstGeom>
          <a:solidFill>
            <a:srgbClr val="3FB950"/>
          </a:solidFill>
          <a:ln w="19050">
            <a:solidFill>
              <a:srgbClr val="F0F6FC"/>
            </a:solidFill>
            <a:prstDash val="solid"/>
          </a:ln>
          <a:effectLst>
            <a:outerShdw blurRad="127000" dist="38100" dir="8100000" algn="bl" rotWithShape="0">
              <a:srgbClr val="000000">
                <a:alpha val="35000"/>
              </a:srgbClr>
            </a:outerShdw>
          </a:effectLst>
        </p:spPr>
        <p:txBody>
          <a:bodyPr/>
          <a:lstStyle/>
          <a:p>
            <a:endParaRPr lang="fr-FR"/>
          </a:p>
        </p:txBody>
      </p:sp>
      <p:sp>
        <p:nvSpPr>
          <p:cNvPr id="11" name="Text 9"/>
          <p:cNvSpPr/>
          <p:nvPr/>
        </p:nvSpPr>
        <p:spPr>
          <a:xfrm>
            <a:off x="5721408" y="2069166"/>
            <a:ext cx="1005840" cy="822960"/>
          </a:xfrm>
          <a:prstGeom prst="rect">
            <a:avLst/>
          </a:prstGeom>
          <a:noFill/>
          <a:ln/>
        </p:spPr>
        <p:txBody>
          <a:bodyPr wrap="square" lIns="0" tIns="0" rIns="0" bIns="0" rtlCol="0" anchor="ctr"/>
          <a:lstStyle/>
          <a:p>
            <a:pPr marL="0" indent="0" algn="ctr">
              <a:buNone/>
            </a:pPr>
            <a:r>
              <a:rPr lang="en-US" sz="900" b="1" dirty="0">
                <a:solidFill>
                  <a:srgbClr val="F0F6FC"/>
                </a:solidFill>
              </a:rPr>
              <a:t>2. Forward</a:t>
            </a:r>
            <a:endParaRPr lang="en-US" sz="900" dirty="0"/>
          </a:p>
          <a:p>
            <a:pPr marL="0" indent="0" algn="ctr">
              <a:buNone/>
            </a:pPr>
            <a:r>
              <a:rPr lang="en-US" sz="900" b="1" dirty="0">
                <a:solidFill>
                  <a:srgbClr val="F0F6FC"/>
                </a:solidFill>
              </a:rPr>
              <a:t>Pass</a:t>
            </a:r>
            <a:endParaRPr lang="en-US" sz="900" dirty="0"/>
          </a:p>
        </p:txBody>
      </p:sp>
      <p:sp>
        <p:nvSpPr>
          <p:cNvPr id="12" name="Shape 10"/>
          <p:cNvSpPr/>
          <p:nvPr/>
        </p:nvSpPr>
        <p:spPr>
          <a:xfrm>
            <a:off x="6199841" y="3363528"/>
            <a:ext cx="0" cy="535888"/>
          </a:xfrm>
          <a:prstGeom prst="line">
            <a:avLst/>
          </a:prstGeom>
          <a:noFill/>
          <a:ln w="19050">
            <a:solidFill>
              <a:srgbClr val="3FB950"/>
            </a:solidFill>
            <a:prstDash val="solid"/>
            <a:tailEnd type="arrow"/>
          </a:ln>
        </p:spPr>
        <p:txBody>
          <a:bodyPr/>
          <a:lstStyle/>
          <a:p>
            <a:endParaRPr lang="fr-FR"/>
          </a:p>
        </p:txBody>
      </p:sp>
      <p:sp>
        <p:nvSpPr>
          <p:cNvPr id="13" name="Shape 11"/>
          <p:cNvSpPr/>
          <p:nvPr/>
        </p:nvSpPr>
        <p:spPr>
          <a:xfrm>
            <a:off x="5090275" y="4011594"/>
            <a:ext cx="1005840" cy="822960"/>
          </a:xfrm>
          <a:prstGeom prst="ellipse">
            <a:avLst/>
          </a:prstGeom>
          <a:solidFill>
            <a:srgbClr val="FF7B72"/>
          </a:solidFill>
          <a:ln w="19050">
            <a:solidFill>
              <a:srgbClr val="F0F6FC"/>
            </a:solidFill>
            <a:prstDash val="solid"/>
          </a:ln>
          <a:effectLst>
            <a:outerShdw blurRad="127000" dist="38100" dir="8100000" algn="bl" rotWithShape="0">
              <a:srgbClr val="000000">
                <a:alpha val="35000"/>
              </a:srgbClr>
            </a:outerShdw>
          </a:effectLst>
        </p:spPr>
        <p:txBody>
          <a:bodyPr/>
          <a:lstStyle/>
          <a:p>
            <a:endParaRPr lang="fr-FR"/>
          </a:p>
        </p:txBody>
      </p:sp>
      <p:sp>
        <p:nvSpPr>
          <p:cNvPr id="14" name="Text 12"/>
          <p:cNvSpPr/>
          <p:nvPr/>
        </p:nvSpPr>
        <p:spPr>
          <a:xfrm>
            <a:off x="5090275" y="4011594"/>
            <a:ext cx="1005840" cy="822960"/>
          </a:xfrm>
          <a:prstGeom prst="rect">
            <a:avLst/>
          </a:prstGeom>
          <a:noFill/>
          <a:ln/>
        </p:spPr>
        <p:txBody>
          <a:bodyPr wrap="square" lIns="0" tIns="0" rIns="0" bIns="0" rtlCol="0" anchor="ctr"/>
          <a:lstStyle/>
          <a:p>
            <a:pPr marL="0" indent="0" algn="ctr">
              <a:buNone/>
            </a:pPr>
            <a:r>
              <a:rPr lang="en-US" sz="900" b="1" dirty="0">
                <a:solidFill>
                  <a:srgbClr val="F0F6FC"/>
                </a:solidFill>
              </a:rPr>
              <a:t>3. Compute</a:t>
            </a:r>
            <a:endParaRPr lang="en-US" sz="900" dirty="0"/>
          </a:p>
          <a:p>
            <a:pPr marL="0" indent="0" algn="ctr">
              <a:buNone/>
            </a:pPr>
            <a:r>
              <a:rPr lang="en-US" sz="900" b="1" dirty="0">
                <a:solidFill>
                  <a:srgbClr val="F0F6FC"/>
                </a:solidFill>
              </a:rPr>
              <a:t>Loss</a:t>
            </a:r>
            <a:endParaRPr lang="en-US" sz="900" dirty="0"/>
          </a:p>
        </p:txBody>
      </p:sp>
      <p:sp>
        <p:nvSpPr>
          <p:cNvPr id="15" name="Shape 13"/>
          <p:cNvSpPr/>
          <p:nvPr/>
        </p:nvSpPr>
        <p:spPr>
          <a:xfrm>
            <a:off x="4745957" y="4672611"/>
            <a:ext cx="0" cy="0"/>
          </a:xfrm>
          <a:prstGeom prst="line">
            <a:avLst/>
          </a:prstGeom>
          <a:noFill/>
          <a:ln w="19050">
            <a:solidFill>
              <a:srgbClr val="FF7B72"/>
            </a:solidFill>
            <a:prstDash val="solid"/>
            <a:tailEnd type="arrow"/>
          </a:ln>
        </p:spPr>
        <p:txBody>
          <a:bodyPr/>
          <a:lstStyle/>
          <a:p>
            <a:endParaRPr lang="fr-FR"/>
          </a:p>
        </p:txBody>
      </p:sp>
      <p:sp>
        <p:nvSpPr>
          <p:cNvPr id="16" name="Shape 14"/>
          <p:cNvSpPr/>
          <p:nvPr/>
        </p:nvSpPr>
        <p:spPr>
          <a:xfrm>
            <a:off x="3047885" y="4011594"/>
            <a:ext cx="1005840" cy="822960"/>
          </a:xfrm>
          <a:prstGeom prst="ellipse">
            <a:avLst/>
          </a:prstGeom>
          <a:solidFill>
            <a:srgbClr val="F0883E"/>
          </a:solidFill>
          <a:ln w="19050">
            <a:solidFill>
              <a:srgbClr val="F0F6FC"/>
            </a:solidFill>
            <a:prstDash val="solid"/>
          </a:ln>
          <a:effectLst>
            <a:outerShdw blurRad="127000" dist="38100" dir="8100000" algn="bl" rotWithShape="0">
              <a:srgbClr val="000000">
                <a:alpha val="35000"/>
              </a:srgbClr>
            </a:outerShdw>
          </a:effectLst>
        </p:spPr>
        <p:txBody>
          <a:bodyPr/>
          <a:lstStyle/>
          <a:p>
            <a:endParaRPr lang="fr-FR"/>
          </a:p>
        </p:txBody>
      </p:sp>
      <p:sp>
        <p:nvSpPr>
          <p:cNvPr id="17" name="Text 15"/>
          <p:cNvSpPr/>
          <p:nvPr/>
        </p:nvSpPr>
        <p:spPr>
          <a:xfrm>
            <a:off x="3047885" y="4011594"/>
            <a:ext cx="1005840" cy="822960"/>
          </a:xfrm>
          <a:prstGeom prst="rect">
            <a:avLst/>
          </a:prstGeom>
          <a:noFill/>
          <a:ln/>
        </p:spPr>
        <p:txBody>
          <a:bodyPr wrap="square" lIns="0" tIns="0" rIns="0" bIns="0" rtlCol="0" anchor="ctr"/>
          <a:lstStyle/>
          <a:p>
            <a:pPr marL="0" indent="0" algn="ctr">
              <a:buNone/>
            </a:pPr>
            <a:r>
              <a:rPr lang="en-US" sz="900" b="1" dirty="0">
                <a:solidFill>
                  <a:srgbClr val="F0F6FC"/>
                </a:solidFill>
              </a:rPr>
              <a:t>4. Backward</a:t>
            </a:r>
            <a:endParaRPr lang="en-US" sz="900" dirty="0"/>
          </a:p>
          <a:p>
            <a:pPr marL="0" indent="0" algn="ctr">
              <a:buNone/>
            </a:pPr>
            <a:r>
              <a:rPr lang="en-US" sz="900" b="1" dirty="0">
                <a:solidFill>
                  <a:srgbClr val="F0F6FC"/>
                </a:solidFill>
              </a:rPr>
              <a:t>Pass</a:t>
            </a:r>
            <a:endParaRPr lang="en-US" sz="900" dirty="0"/>
          </a:p>
        </p:txBody>
      </p:sp>
      <p:sp>
        <p:nvSpPr>
          <p:cNvPr id="18" name="Shape 16"/>
          <p:cNvSpPr/>
          <p:nvPr/>
        </p:nvSpPr>
        <p:spPr>
          <a:xfrm>
            <a:off x="3051670" y="3694414"/>
            <a:ext cx="0" cy="0"/>
          </a:xfrm>
          <a:prstGeom prst="line">
            <a:avLst/>
          </a:prstGeom>
          <a:noFill/>
          <a:ln w="19050">
            <a:solidFill>
              <a:srgbClr val="F0883E"/>
            </a:solidFill>
            <a:prstDash val="solid"/>
            <a:tailEnd type="arrow"/>
          </a:ln>
        </p:spPr>
        <p:txBody>
          <a:bodyPr/>
          <a:lstStyle/>
          <a:p>
            <a:endParaRPr lang="fr-FR"/>
          </a:p>
        </p:txBody>
      </p:sp>
      <p:sp>
        <p:nvSpPr>
          <p:cNvPr id="19" name="Shape 17"/>
          <p:cNvSpPr/>
          <p:nvPr/>
        </p:nvSpPr>
        <p:spPr>
          <a:xfrm>
            <a:off x="2416752" y="2069166"/>
            <a:ext cx="1005840" cy="822960"/>
          </a:xfrm>
          <a:prstGeom prst="ellipse">
            <a:avLst/>
          </a:prstGeom>
          <a:solidFill>
            <a:srgbClr val="E3B341"/>
          </a:solidFill>
          <a:ln w="19050">
            <a:solidFill>
              <a:srgbClr val="F0F6FC"/>
            </a:solidFill>
            <a:prstDash val="solid"/>
          </a:ln>
          <a:effectLst>
            <a:outerShdw blurRad="127000" dist="38100" dir="8100000" algn="bl" rotWithShape="0">
              <a:srgbClr val="000000">
                <a:alpha val="35000"/>
              </a:srgbClr>
            </a:outerShdw>
          </a:effectLst>
        </p:spPr>
        <p:txBody>
          <a:bodyPr/>
          <a:lstStyle/>
          <a:p>
            <a:endParaRPr lang="fr-FR"/>
          </a:p>
        </p:txBody>
      </p:sp>
      <p:sp>
        <p:nvSpPr>
          <p:cNvPr id="20" name="Text 18"/>
          <p:cNvSpPr/>
          <p:nvPr/>
        </p:nvSpPr>
        <p:spPr>
          <a:xfrm>
            <a:off x="2416752" y="2069166"/>
            <a:ext cx="1005840" cy="822960"/>
          </a:xfrm>
          <a:prstGeom prst="rect">
            <a:avLst/>
          </a:prstGeom>
          <a:noFill/>
          <a:ln/>
        </p:spPr>
        <p:txBody>
          <a:bodyPr wrap="square" lIns="0" tIns="0" rIns="0" bIns="0" rtlCol="0" anchor="ctr"/>
          <a:lstStyle/>
          <a:p>
            <a:pPr marL="0" indent="0" algn="ctr">
              <a:buNone/>
            </a:pPr>
            <a:r>
              <a:rPr lang="en-US" sz="900" b="1" dirty="0">
                <a:solidFill>
                  <a:srgbClr val="F0F6FC"/>
                </a:solidFill>
              </a:rPr>
              <a:t>5. Update</a:t>
            </a:r>
            <a:endParaRPr lang="en-US" sz="900" dirty="0"/>
          </a:p>
          <a:p>
            <a:pPr marL="0" indent="0" algn="ctr">
              <a:buNone/>
            </a:pPr>
            <a:r>
              <a:rPr lang="en-US" sz="900" b="1" dirty="0">
                <a:solidFill>
                  <a:srgbClr val="F0F6FC"/>
                </a:solidFill>
              </a:rPr>
              <a:t>Weights</a:t>
            </a:r>
            <a:endParaRPr lang="en-US" sz="900" dirty="0"/>
          </a:p>
        </p:txBody>
      </p:sp>
      <p:sp>
        <p:nvSpPr>
          <p:cNvPr id="21" name="Shape 19"/>
          <p:cNvSpPr/>
          <p:nvPr/>
        </p:nvSpPr>
        <p:spPr>
          <a:xfrm>
            <a:off x="3458427" y="1780772"/>
            <a:ext cx="490149" cy="0"/>
          </a:xfrm>
          <a:prstGeom prst="line">
            <a:avLst/>
          </a:prstGeom>
          <a:noFill/>
          <a:ln w="19050">
            <a:solidFill>
              <a:srgbClr val="E3B341"/>
            </a:solidFill>
            <a:prstDash val="solid"/>
            <a:tailEnd type="arrow"/>
          </a:ln>
        </p:spPr>
        <p:txBody>
          <a:bodyPr/>
          <a:lstStyle/>
          <a:p>
            <a:endParaRPr lang="fr-FR"/>
          </a:p>
        </p:txBody>
      </p:sp>
      <p:sp>
        <p:nvSpPr>
          <p:cNvPr id="22" name="Text 20"/>
          <p:cNvSpPr/>
          <p:nvPr/>
        </p:nvSpPr>
        <p:spPr>
          <a:xfrm>
            <a:off x="3931920" y="2514600"/>
            <a:ext cx="1280160" cy="1005840"/>
          </a:xfrm>
          <a:prstGeom prst="rect">
            <a:avLst/>
          </a:prstGeom>
          <a:noFill/>
          <a:ln/>
        </p:spPr>
        <p:txBody>
          <a:bodyPr wrap="square" lIns="0" tIns="0" rIns="0" bIns="0" rtlCol="0" anchor="ctr"/>
          <a:lstStyle/>
          <a:p>
            <a:pPr marL="0" indent="0" algn="ctr">
              <a:buNone/>
            </a:pPr>
            <a:r>
              <a:rPr lang="en-US" sz="1100" i="1" dirty="0">
                <a:solidFill>
                  <a:srgbClr val="8B949E"/>
                </a:solidFill>
              </a:rPr>
              <a:t>Repeat</a:t>
            </a:r>
            <a:endParaRPr lang="en-US" sz="1100" dirty="0"/>
          </a:p>
          <a:p>
            <a:pPr marL="0" indent="0" algn="ctr">
              <a:buNone/>
            </a:pPr>
            <a:r>
              <a:rPr lang="en-US" sz="1100" i="1" dirty="0">
                <a:solidFill>
                  <a:srgbClr val="8B949E"/>
                </a:solidFill>
              </a:rPr>
              <a:t>for each</a:t>
            </a:r>
            <a:endParaRPr lang="en-US" sz="1100" dirty="0"/>
          </a:p>
          <a:p>
            <a:pPr marL="0" indent="0" algn="ctr">
              <a:buNone/>
            </a:pPr>
            <a:r>
              <a:rPr lang="en-US" sz="1100" i="1" dirty="0">
                <a:solidFill>
                  <a:srgbClr val="8B949E"/>
                </a:solidFill>
              </a:rPr>
              <a:t>epoch</a:t>
            </a:r>
            <a:endParaRPr lang="en-US" sz="1100" dirty="0"/>
          </a:p>
        </p:txBody>
      </p:sp>
      <p:sp>
        <p:nvSpPr>
          <p:cNvPr id="23" name="Shape 21"/>
          <p:cNvSpPr/>
          <p:nvPr/>
        </p:nvSpPr>
        <p:spPr>
          <a:xfrm>
            <a:off x="6903720" y="1170432"/>
            <a:ext cx="1920240" cy="3767328"/>
          </a:xfrm>
          <a:prstGeom prst="rect">
            <a:avLst/>
          </a:prstGeom>
          <a:solidFill>
            <a:srgbClr val="0D1117"/>
          </a:solidFill>
          <a:ln w="1905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24" name="Text 22"/>
          <p:cNvSpPr/>
          <p:nvPr/>
        </p:nvSpPr>
        <p:spPr>
          <a:xfrm>
            <a:off x="6967728" y="1243584"/>
            <a:ext cx="1783080" cy="292608"/>
          </a:xfrm>
          <a:prstGeom prst="rect">
            <a:avLst/>
          </a:prstGeom>
          <a:noFill/>
          <a:ln/>
        </p:spPr>
        <p:txBody>
          <a:bodyPr wrap="square" lIns="0" tIns="0" rIns="0" bIns="0" rtlCol="0" anchor="ctr"/>
          <a:lstStyle/>
          <a:p>
            <a:pPr marL="0" indent="0">
              <a:buNone/>
            </a:pPr>
            <a:r>
              <a:rPr lang="en-US" sz="850" dirty="0">
                <a:solidFill>
                  <a:srgbClr val="BC8CFF"/>
                </a:solidFill>
                <a:latin typeface="Consolas" pitchFamily="34" charset="0"/>
                <a:ea typeface="Consolas" pitchFamily="34" charset="-122"/>
                <a:cs typeface="Consolas" pitchFamily="34" charset="-120"/>
              </a:rPr>
              <a:t>for</a:t>
            </a:r>
            <a:r>
              <a:rPr lang="en-US" sz="850" dirty="0">
                <a:solidFill>
                  <a:srgbClr val="F0F6FC"/>
                </a:solidFill>
                <a:latin typeface="Consolas" pitchFamily="34" charset="0"/>
                <a:ea typeface="Consolas" pitchFamily="34" charset="-122"/>
                <a:cs typeface="Consolas" pitchFamily="34" charset="-120"/>
              </a:rPr>
              <a:t> epoch </a:t>
            </a:r>
            <a:r>
              <a:rPr lang="en-US" sz="850" dirty="0">
                <a:solidFill>
                  <a:srgbClr val="BC8CFF"/>
                </a:solidFill>
                <a:latin typeface="Consolas" pitchFamily="34" charset="0"/>
                <a:ea typeface="Consolas" pitchFamily="34" charset="-122"/>
                <a:cs typeface="Consolas" pitchFamily="34" charset="-120"/>
              </a:rPr>
              <a:t>in</a:t>
            </a:r>
            <a:r>
              <a:rPr lang="en-US" sz="850" dirty="0">
                <a:solidFill>
                  <a:srgbClr val="F0F6FC"/>
                </a:solidFill>
                <a:latin typeface="Consolas" pitchFamily="34" charset="0"/>
                <a:ea typeface="Consolas" pitchFamily="34" charset="-122"/>
                <a:cs typeface="Consolas" pitchFamily="34" charset="-120"/>
              </a:rPr>
              <a:t> range(N):</a:t>
            </a:r>
            <a:endParaRPr lang="en-US" sz="850" dirty="0"/>
          </a:p>
        </p:txBody>
      </p:sp>
      <p:sp>
        <p:nvSpPr>
          <p:cNvPr id="25" name="Text 23"/>
          <p:cNvSpPr/>
          <p:nvPr/>
        </p:nvSpPr>
        <p:spPr>
          <a:xfrm>
            <a:off x="6967728" y="1545336"/>
            <a:ext cx="1783080" cy="292608"/>
          </a:xfrm>
          <a:prstGeom prst="rect">
            <a:avLst/>
          </a:prstGeom>
          <a:noFill/>
          <a:ln/>
        </p:spPr>
        <p:txBody>
          <a:bodyPr wrap="square" lIns="0" tIns="0" rIns="0" bIns="0" rtlCol="0" anchor="ctr"/>
          <a:lstStyle/>
          <a:p>
            <a:pPr marL="0" indent="0">
              <a:buNone/>
            </a:pPr>
            <a:r>
              <a:rPr lang="en-US" sz="850" dirty="0">
                <a:solidFill>
                  <a:srgbClr val="BC8CFF"/>
                </a:solidFill>
                <a:latin typeface="Consolas" pitchFamily="34" charset="0"/>
                <a:ea typeface="Consolas" pitchFamily="34" charset="-122"/>
                <a:cs typeface="Consolas" pitchFamily="34" charset="-120"/>
              </a:rPr>
              <a:t> for</a:t>
            </a:r>
            <a:r>
              <a:rPr lang="en-US" sz="850" dirty="0">
                <a:solidFill>
                  <a:srgbClr val="F0F6FC"/>
                </a:solidFill>
                <a:latin typeface="Consolas" pitchFamily="34" charset="0"/>
                <a:ea typeface="Consolas" pitchFamily="34" charset="-122"/>
                <a:cs typeface="Consolas" pitchFamily="34" charset="-120"/>
              </a:rPr>
              <a:t> batch:</a:t>
            </a:r>
            <a:endParaRPr lang="en-US" sz="850" dirty="0"/>
          </a:p>
        </p:txBody>
      </p:sp>
      <p:sp>
        <p:nvSpPr>
          <p:cNvPr id="26" name="Text 24"/>
          <p:cNvSpPr/>
          <p:nvPr/>
        </p:nvSpPr>
        <p:spPr>
          <a:xfrm>
            <a:off x="6967728" y="1847088"/>
            <a:ext cx="1783080" cy="29260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 Forward</a:t>
            </a:r>
            <a:endParaRPr lang="en-US" sz="850" dirty="0"/>
          </a:p>
        </p:txBody>
      </p:sp>
      <p:sp>
        <p:nvSpPr>
          <p:cNvPr id="27" name="Text 25"/>
          <p:cNvSpPr/>
          <p:nvPr/>
        </p:nvSpPr>
        <p:spPr>
          <a:xfrm>
            <a:off x="6967728" y="2148840"/>
            <a:ext cx="1783080" cy="292608"/>
          </a:xfrm>
          <a:prstGeom prst="rect">
            <a:avLst/>
          </a:prstGeom>
          <a:noFill/>
          <a:ln/>
        </p:spPr>
        <p:txBody>
          <a:bodyPr wrap="square" lIns="0" tIns="0" rIns="0" bIns="0" rtlCol="0" anchor="ctr"/>
          <a:lstStyle/>
          <a:p>
            <a:pPr marL="0" indent="0">
              <a:buNone/>
            </a:pPr>
            <a:r>
              <a:rPr lang="en-US" sz="850" dirty="0">
                <a:solidFill>
                  <a:srgbClr val="F0883E"/>
                </a:solidFill>
                <a:latin typeface="Consolas" pitchFamily="34" charset="0"/>
                <a:ea typeface="Consolas" pitchFamily="34" charset="-122"/>
                <a:cs typeface="Consolas" pitchFamily="34" charset="-120"/>
              </a:rPr>
              <a:t>  out</a:t>
            </a:r>
            <a:r>
              <a:rPr lang="en-US" sz="850" dirty="0">
                <a:solidFill>
                  <a:srgbClr val="F0F6FC"/>
                </a:solidFill>
                <a:latin typeface="Consolas" pitchFamily="34" charset="0"/>
                <a:ea typeface="Consolas" pitchFamily="34" charset="-122"/>
                <a:cs typeface="Consolas" pitchFamily="34" charset="-120"/>
              </a:rPr>
              <a:t>=model(x)</a:t>
            </a:r>
            <a:endParaRPr lang="en-US" sz="850" dirty="0"/>
          </a:p>
        </p:txBody>
      </p:sp>
      <p:sp>
        <p:nvSpPr>
          <p:cNvPr id="28" name="Text 26"/>
          <p:cNvSpPr/>
          <p:nvPr/>
        </p:nvSpPr>
        <p:spPr>
          <a:xfrm>
            <a:off x="6967728" y="2450592"/>
            <a:ext cx="1783080" cy="29260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 Loss</a:t>
            </a:r>
            <a:endParaRPr lang="en-US" sz="850" dirty="0"/>
          </a:p>
        </p:txBody>
      </p:sp>
      <p:sp>
        <p:nvSpPr>
          <p:cNvPr id="29" name="Text 27"/>
          <p:cNvSpPr/>
          <p:nvPr/>
        </p:nvSpPr>
        <p:spPr>
          <a:xfrm>
            <a:off x="6967728" y="2752344"/>
            <a:ext cx="1783080" cy="292608"/>
          </a:xfrm>
          <a:prstGeom prst="rect">
            <a:avLst/>
          </a:prstGeom>
          <a:noFill/>
          <a:ln/>
        </p:spPr>
        <p:txBody>
          <a:bodyPr wrap="square" lIns="0" tIns="0" rIns="0" bIns="0" rtlCol="0" anchor="ctr"/>
          <a:lstStyle/>
          <a:p>
            <a:pPr marL="0" indent="0">
              <a:buNone/>
            </a:pPr>
            <a:r>
              <a:rPr lang="en-US" sz="850" dirty="0">
                <a:solidFill>
                  <a:srgbClr val="FF7B72"/>
                </a:solidFill>
                <a:latin typeface="Consolas" pitchFamily="34" charset="0"/>
                <a:ea typeface="Consolas" pitchFamily="34" charset="-122"/>
                <a:cs typeface="Consolas" pitchFamily="34" charset="-120"/>
              </a:rPr>
              <a:t>  L</a:t>
            </a:r>
            <a:r>
              <a:rPr lang="en-US" sz="850" dirty="0">
                <a:solidFill>
                  <a:srgbClr val="F0F6FC"/>
                </a:solidFill>
                <a:latin typeface="Consolas" pitchFamily="34" charset="0"/>
                <a:ea typeface="Consolas" pitchFamily="34" charset="-122"/>
                <a:cs typeface="Consolas" pitchFamily="34" charset="-120"/>
              </a:rPr>
              <a:t>=loss(out,y)</a:t>
            </a:r>
            <a:endParaRPr lang="en-US" sz="850" dirty="0"/>
          </a:p>
        </p:txBody>
      </p:sp>
      <p:sp>
        <p:nvSpPr>
          <p:cNvPr id="30" name="Text 28"/>
          <p:cNvSpPr/>
          <p:nvPr/>
        </p:nvSpPr>
        <p:spPr>
          <a:xfrm>
            <a:off x="6967728" y="3054096"/>
            <a:ext cx="1783080" cy="29260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 Backward</a:t>
            </a:r>
            <a:endParaRPr lang="en-US" sz="850" dirty="0"/>
          </a:p>
        </p:txBody>
      </p:sp>
      <p:sp>
        <p:nvSpPr>
          <p:cNvPr id="31" name="Text 29"/>
          <p:cNvSpPr/>
          <p:nvPr/>
        </p:nvSpPr>
        <p:spPr>
          <a:xfrm>
            <a:off x="6967728" y="3355848"/>
            <a:ext cx="1783080" cy="292608"/>
          </a:xfrm>
          <a:prstGeom prst="rect">
            <a:avLst/>
          </a:prstGeom>
          <a:noFill/>
          <a:ln/>
        </p:spPr>
        <p:txBody>
          <a:bodyPr wrap="square" lIns="0" tIns="0" rIns="0" bIns="0" rtlCol="0" anchor="ctr"/>
          <a:lstStyle/>
          <a:p>
            <a:pPr marL="0" indent="0">
              <a:buNone/>
            </a:pPr>
            <a:r>
              <a:rPr lang="en-US" sz="850" dirty="0">
                <a:solidFill>
                  <a:srgbClr val="3FB950"/>
                </a:solidFill>
                <a:latin typeface="Consolas" pitchFamily="34" charset="0"/>
                <a:ea typeface="Consolas" pitchFamily="34" charset="-122"/>
                <a:cs typeface="Consolas" pitchFamily="34" charset="-120"/>
              </a:rPr>
              <a:t>  opt.</a:t>
            </a:r>
            <a:r>
              <a:rPr lang="en-US" sz="850" dirty="0">
                <a:solidFill>
                  <a:srgbClr val="F0F6FC"/>
                </a:solidFill>
                <a:latin typeface="Consolas" pitchFamily="34" charset="0"/>
                <a:ea typeface="Consolas" pitchFamily="34" charset="-122"/>
                <a:cs typeface="Consolas" pitchFamily="34" charset="-120"/>
              </a:rPr>
              <a:t>zero_grad()</a:t>
            </a:r>
            <a:endParaRPr lang="en-US" sz="850" dirty="0"/>
          </a:p>
        </p:txBody>
      </p:sp>
      <p:sp>
        <p:nvSpPr>
          <p:cNvPr id="32" name="Text 30"/>
          <p:cNvSpPr/>
          <p:nvPr/>
        </p:nvSpPr>
        <p:spPr>
          <a:xfrm>
            <a:off x="6967728" y="3657600"/>
            <a:ext cx="1783080" cy="292608"/>
          </a:xfrm>
          <a:prstGeom prst="rect">
            <a:avLst/>
          </a:prstGeom>
          <a:noFill/>
          <a:ln/>
        </p:spPr>
        <p:txBody>
          <a:bodyPr wrap="square" lIns="0" tIns="0" rIns="0" bIns="0" rtlCol="0" anchor="ctr"/>
          <a:lstStyle/>
          <a:p>
            <a:pPr marL="0" indent="0">
              <a:buNone/>
            </a:pPr>
            <a:r>
              <a:rPr lang="en-US" sz="850" dirty="0">
                <a:solidFill>
                  <a:srgbClr val="F0883E"/>
                </a:solidFill>
                <a:latin typeface="Consolas" pitchFamily="34" charset="0"/>
                <a:ea typeface="Consolas" pitchFamily="34" charset="-122"/>
                <a:cs typeface="Consolas" pitchFamily="34" charset="-120"/>
              </a:rPr>
              <a:t>  L.</a:t>
            </a:r>
            <a:r>
              <a:rPr lang="en-US" sz="850" dirty="0">
                <a:solidFill>
                  <a:srgbClr val="F0F6FC"/>
                </a:solidFill>
                <a:latin typeface="Consolas" pitchFamily="34" charset="0"/>
                <a:ea typeface="Consolas" pitchFamily="34" charset="-122"/>
                <a:cs typeface="Consolas" pitchFamily="34" charset="-120"/>
              </a:rPr>
              <a:t>backward()</a:t>
            </a:r>
            <a:endParaRPr lang="en-US" sz="850" dirty="0"/>
          </a:p>
        </p:txBody>
      </p:sp>
      <p:sp>
        <p:nvSpPr>
          <p:cNvPr id="33" name="Text 31"/>
          <p:cNvSpPr/>
          <p:nvPr/>
        </p:nvSpPr>
        <p:spPr>
          <a:xfrm>
            <a:off x="6967728" y="3959352"/>
            <a:ext cx="1783080" cy="29260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  # Update</a:t>
            </a:r>
            <a:endParaRPr lang="en-US" sz="850" dirty="0"/>
          </a:p>
        </p:txBody>
      </p:sp>
      <p:sp>
        <p:nvSpPr>
          <p:cNvPr id="34" name="Text 32"/>
          <p:cNvSpPr/>
          <p:nvPr/>
        </p:nvSpPr>
        <p:spPr>
          <a:xfrm>
            <a:off x="6967728" y="4261104"/>
            <a:ext cx="1783080" cy="292608"/>
          </a:xfrm>
          <a:prstGeom prst="rect">
            <a:avLst/>
          </a:prstGeom>
          <a:noFill/>
          <a:ln/>
        </p:spPr>
        <p:txBody>
          <a:bodyPr wrap="square" lIns="0" tIns="0" rIns="0" bIns="0" rtlCol="0" anchor="ctr"/>
          <a:lstStyle/>
          <a:p>
            <a:pPr marL="0" indent="0">
              <a:buNone/>
            </a:pPr>
            <a:r>
              <a:rPr lang="en-US" sz="850" dirty="0">
                <a:solidFill>
                  <a:srgbClr val="E3B341"/>
                </a:solidFill>
                <a:latin typeface="Consolas" pitchFamily="34" charset="0"/>
                <a:ea typeface="Consolas" pitchFamily="34" charset="-122"/>
                <a:cs typeface="Consolas" pitchFamily="34" charset="-120"/>
              </a:rPr>
              <a:t>  opt.</a:t>
            </a:r>
            <a:r>
              <a:rPr lang="en-US" sz="850" dirty="0">
                <a:solidFill>
                  <a:srgbClr val="F0F6FC"/>
                </a:solidFill>
                <a:latin typeface="Consolas" pitchFamily="34" charset="0"/>
                <a:ea typeface="Consolas" pitchFamily="34" charset="-122"/>
                <a:cs typeface="Consolas" pitchFamily="34" charset="-120"/>
              </a:rPr>
              <a:t>step()</a:t>
            </a:r>
            <a:endParaRPr lang="en-US" sz="850" dirty="0"/>
          </a:p>
        </p:txBody>
      </p:sp>
      <p:sp>
        <p:nvSpPr>
          <p:cNvPr id="35" name="Shape 33"/>
          <p:cNvSpPr/>
          <p:nvPr/>
        </p:nvSpPr>
        <p:spPr>
          <a:xfrm>
            <a:off x="320040" y="4572000"/>
            <a:ext cx="6400800" cy="347472"/>
          </a:xfrm>
          <a:prstGeom prst="roundRect">
            <a:avLst>
              <a:gd name="adj" fmla="val 21053"/>
            </a:avLst>
          </a:prstGeom>
          <a:solidFill>
            <a:srgbClr val="21262D"/>
          </a:solidFill>
          <a:ln w="12700">
            <a:solidFill>
              <a:srgbClr val="BC8CFF"/>
            </a:solidFill>
            <a:prstDash val="solid"/>
          </a:ln>
        </p:spPr>
        <p:txBody>
          <a:bodyPr/>
          <a:lstStyle/>
          <a:p>
            <a:endParaRPr lang="fr-FR"/>
          </a:p>
        </p:txBody>
      </p:sp>
      <p:sp>
        <p:nvSpPr>
          <p:cNvPr id="36" name="Text 34"/>
          <p:cNvSpPr/>
          <p:nvPr/>
        </p:nvSpPr>
        <p:spPr>
          <a:xfrm>
            <a:off x="457200" y="4572000"/>
            <a:ext cx="6217920" cy="347472"/>
          </a:xfrm>
          <a:prstGeom prst="rect">
            <a:avLst/>
          </a:prstGeom>
          <a:noFill/>
          <a:ln/>
        </p:spPr>
        <p:txBody>
          <a:bodyPr wrap="square" lIns="0" tIns="0" rIns="0" bIns="0" rtlCol="0" anchor="ctr"/>
          <a:lstStyle/>
          <a:p>
            <a:pPr marL="0" indent="0">
              <a:buNone/>
            </a:pPr>
            <a:r>
              <a:rPr lang="en-US" sz="950" dirty="0">
                <a:solidFill>
                  <a:srgbClr val="F0F6FC"/>
                </a:solidFill>
              </a:rPr>
              <a:t>Each pass through the loop makes the model slightly better  →  over thousands of steps, it converges!</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9D0B0"/>
          </a:solidFill>
          <a:ln w="12700">
            <a:solidFill>
              <a:srgbClr val="39D0B0"/>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Convolutional Neural Networks (CNN)</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39D0B0"/>
                </a:solidFill>
              </a:rPr>
              <a:t>The backbone of all modern computer vision</a:t>
            </a:r>
            <a:endParaRPr lang="en-US" sz="1200" dirty="0"/>
          </a:p>
        </p:txBody>
      </p:sp>
      <p:sp>
        <p:nvSpPr>
          <p:cNvPr id="5" name="Shape 3"/>
          <p:cNvSpPr/>
          <p:nvPr/>
        </p:nvSpPr>
        <p:spPr>
          <a:xfrm>
            <a:off x="320040" y="1024128"/>
            <a:ext cx="8503920" cy="0"/>
          </a:xfrm>
          <a:prstGeom prst="line">
            <a:avLst/>
          </a:prstGeom>
          <a:noFill/>
          <a:ln w="12700">
            <a:solidFill>
              <a:srgbClr val="39D0B0"/>
            </a:solidFill>
            <a:prstDash val="solid"/>
          </a:ln>
        </p:spPr>
        <p:txBody>
          <a:bodyPr/>
          <a:lstStyle/>
          <a:p>
            <a:endParaRPr lang="fr-FR"/>
          </a:p>
        </p:txBody>
      </p:sp>
      <p:sp>
        <p:nvSpPr>
          <p:cNvPr id="6" name="Shape 4"/>
          <p:cNvSpPr/>
          <p:nvPr/>
        </p:nvSpPr>
        <p:spPr>
          <a:xfrm>
            <a:off x="320040" y="1170432"/>
            <a:ext cx="3931920" cy="1143000"/>
          </a:xfrm>
          <a:prstGeom prst="rect">
            <a:avLst/>
          </a:prstGeom>
          <a:solidFill>
            <a:srgbClr val="161B22"/>
          </a:solidFill>
          <a:ln w="19050">
            <a:solidFill>
              <a:srgbClr val="FF7B72"/>
            </a:solidFill>
            <a:prstDash val="solid"/>
          </a:ln>
          <a:effectLst>
            <a:outerShdw blurRad="127000" dist="38100" dir="8100000" algn="bl" rotWithShape="0">
              <a:srgbClr val="000000">
                <a:alpha val="35000"/>
              </a:srgbClr>
            </a:outerShdw>
          </a:effectLst>
        </p:spPr>
        <p:txBody>
          <a:bodyPr/>
          <a:lstStyle/>
          <a:p>
            <a:endParaRPr lang="fr-FR"/>
          </a:p>
        </p:txBody>
      </p:sp>
      <p:sp>
        <p:nvSpPr>
          <p:cNvPr id="7" name="Shape 5"/>
          <p:cNvSpPr/>
          <p:nvPr/>
        </p:nvSpPr>
        <p:spPr>
          <a:xfrm>
            <a:off x="320040" y="1170432"/>
            <a:ext cx="73152" cy="1143000"/>
          </a:xfrm>
          <a:prstGeom prst="rect">
            <a:avLst/>
          </a:prstGeom>
          <a:solidFill>
            <a:srgbClr val="FF7B72"/>
          </a:solidFill>
          <a:ln w="12700">
            <a:solidFill>
              <a:srgbClr val="FF7B72"/>
            </a:solidFill>
            <a:prstDash val="solid"/>
          </a:ln>
        </p:spPr>
        <p:txBody>
          <a:bodyPr/>
          <a:lstStyle/>
          <a:p>
            <a:endParaRPr lang="fr-FR"/>
          </a:p>
        </p:txBody>
      </p:sp>
      <p:sp>
        <p:nvSpPr>
          <p:cNvPr id="8" name="Text 6"/>
          <p:cNvSpPr/>
          <p:nvPr/>
        </p:nvSpPr>
        <p:spPr>
          <a:xfrm>
            <a:off x="502920" y="1207008"/>
            <a:ext cx="3657600" cy="320040"/>
          </a:xfrm>
          <a:prstGeom prst="rect">
            <a:avLst/>
          </a:prstGeom>
          <a:noFill/>
          <a:ln/>
        </p:spPr>
        <p:txBody>
          <a:bodyPr wrap="square" lIns="0" tIns="0" rIns="0" bIns="0" rtlCol="0" anchor="ctr"/>
          <a:lstStyle/>
          <a:p>
            <a:pPr marL="0" indent="0">
              <a:buNone/>
            </a:pPr>
            <a:r>
              <a:rPr lang="en-US" sz="1200" b="1" dirty="0">
                <a:solidFill>
                  <a:srgbClr val="FF7B72"/>
                </a:solidFill>
              </a:rPr>
              <a:t>The Problem</a:t>
            </a:r>
            <a:endParaRPr lang="en-US" sz="1200" dirty="0"/>
          </a:p>
        </p:txBody>
      </p:sp>
      <p:sp>
        <p:nvSpPr>
          <p:cNvPr id="9" name="Text 7"/>
          <p:cNvSpPr/>
          <p:nvPr/>
        </p:nvSpPr>
        <p:spPr>
          <a:xfrm>
            <a:off x="502920" y="1536192"/>
            <a:ext cx="3657600" cy="685800"/>
          </a:xfrm>
          <a:prstGeom prst="rect">
            <a:avLst/>
          </a:prstGeom>
          <a:noFill/>
          <a:ln/>
        </p:spPr>
        <p:txBody>
          <a:bodyPr wrap="square" lIns="0" tIns="0" rIns="0" bIns="0" rtlCol="0" anchor="ctr"/>
          <a:lstStyle/>
          <a:p>
            <a:pPr marL="0" indent="0">
              <a:buNone/>
            </a:pPr>
            <a:r>
              <a:rPr lang="en-US" sz="1000" dirty="0">
                <a:solidFill>
                  <a:srgbClr val="F0F6FC"/>
                </a:solidFill>
              </a:rPr>
              <a:t>224x224 RGB = 150,528 inputs</a:t>
            </a:r>
            <a:endParaRPr lang="en-US" sz="1000" dirty="0"/>
          </a:p>
          <a:p>
            <a:pPr marL="0" indent="0">
              <a:buNone/>
            </a:pPr>
            <a:r>
              <a:rPr lang="en-US" sz="1000" dirty="0">
                <a:solidFill>
                  <a:srgbClr val="F0F6FC"/>
                </a:solidFill>
              </a:rPr>
              <a:t>1000-neuron layer = 150M weights!</a:t>
            </a:r>
            <a:endParaRPr lang="en-US" sz="1000" dirty="0"/>
          </a:p>
          <a:p>
            <a:pPr marL="0" indent="0">
              <a:buNone/>
            </a:pPr>
            <a:r>
              <a:rPr lang="en-US" sz="1000" dirty="0">
                <a:solidFill>
                  <a:srgbClr val="F0F6FC"/>
                </a:solidFill>
              </a:rPr>
              <a:t>Too slow, too prone to overfitting</a:t>
            </a:r>
            <a:endParaRPr lang="en-US" sz="1000" dirty="0"/>
          </a:p>
        </p:txBody>
      </p:sp>
      <p:sp>
        <p:nvSpPr>
          <p:cNvPr id="10" name="Shape 8"/>
          <p:cNvSpPr/>
          <p:nvPr/>
        </p:nvSpPr>
        <p:spPr>
          <a:xfrm>
            <a:off x="4892040" y="1170432"/>
            <a:ext cx="3931920" cy="1143000"/>
          </a:xfrm>
          <a:prstGeom prst="rect">
            <a:avLst/>
          </a:prstGeom>
          <a:solidFill>
            <a:srgbClr val="161B22"/>
          </a:solidFill>
          <a:ln w="1905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11" name="Shape 9"/>
          <p:cNvSpPr/>
          <p:nvPr/>
        </p:nvSpPr>
        <p:spPr>
          <a:xfrm>
            <a:off x="4892040" y="1170432"/>
            <a:ext cx="73152" cy="1143000"/>
          </a:xfrm>
          <a:prstGeom prst="rect">
            <a:avLst/>
          </a:prstGeom>
          <a:solidFill>
            <a:srgbClr val="3FB950"/>
          </a:solidFill>
          <a:ln w="12700">
            <a:solidFill>
              <a:srgbClr val="3FB950"/>
            </a:solidFill>
            <a:prstDash val="solid"/>
          </a:ln>
        </p:spPr>
        <p:txBody>
          <a:bodyPr/>
          <a:lstStyle/>
          <a:p>
            <a:endParaRPr lang="fr-FR"/>
          </a:p>
        </p:txBody>
      </p:sp>
      <p:sp>
        <p:nvSpPr>
          <p:cNvPr id="12" name="Text 10"/>
          <p:cNvSpPr/>
          <p:nvPr/>
        </p:nvSpPr>
        <p:spPr>
          <a:xfrm>
            <a:off x="5074920" y="1207008"/>
            <a:ext cx="3657600" cy="320040"/>
          </a:xfrm>
          <a:prstGeom prst="rect">
            <a:avLst/>
          </a:prstGeom>
          <a:noFill/>
          <a:ln/>
        </p:spPr>
        <p:txBody>
          <a:bodyPr wrap="square" lIns="0" tIns="0" rIns="0" bIns="0" rtlCol="0" anchor="ctr"/>
          <a:lstStyle/>
          <a:p>
            <a:pPr marL="0" indent="0">
              <a:buNone/>
            </a:pPr>
            <a:r>
              <a:rPr lang="en-US" sz="1200" b="1" dirty="0">
                <a:solidFill>
                  <a:srgbClr val="3FB950"/>
                </a:solidFill>
              </a:rPr>
              <a:t>The CNN Solution</a:t>
            </a:r>
            <a:endParaRPr lang="en-US" sz="1200" dirty="0"/>
          </a:p>
        </p:txBody>
      </p:sp>
      <p:sp>
        <p:nvSpPr>
          <p:cNvPr id="13" name="Text 11"/>
          <p:cNvSpPr/>
          <p:nvPr/>
        </p:nvSpPr>
        <p:spPr>
          <a:xfrm>
            <a:off x="5074920" y="1536192"/>
            <a:ext cx="3657600" cy="685800"/>
          </a:xfrm>
          <a:prstGeom prst="rect">
            <a:avLst/>
          </a:prstGeom>
          <a:noFill/>
          <a:ln/>
        </p:spPr>
        <p:txBody>
          <a:bodyPr wrap="square" lIns="0" tIns="0" rIns="0" bIns="0" rtlCol="0" anchor="ctr"/>
          <a:lstStyle/>
          <a:p>
            <a:pPr marL="0" indent="0">
              <a:buNone/>
            </a:pPr>
            <a:r>
              <a:rPr lang="en-US" sz="1000" dirty="0">
                <a:solidFill>
                  <a:srgbClr val="F0F6FC"/>
                </a:solidFill>
              </a:rPr>
              <a:t>3x3 filter = only 9 shared weights!</a:t>
            </a:r>
            <a:endParaRPr lang="en-US" sz="1000" dirty="0"/>
          </a:p>
          <a:p>
            <a:pPr marL="0" indent="0">
              <a:buNone/>
            </a:pPr>
            <a:r>
              <a:rPr lang="en-US" sz="1000" dirty="0">
                <a:solidFill>
                  <a:srgbClr val="F0F6FC"/>
                </a:solidFill>
              </a:rPr>
              <a:t>Filters slide over image</a:t>
            </a:r>
            <a:endParaRPr lang="en-US" sz="1000" dirty="0"/>
          </a:p>
          <a:p>
            <a:pPr marL="0" indent="0">
              <a:buNone/>
            </a:pPr>
            <a:r>
              <a:rPr lang="en-US" sz="1000" dirty="0">
                <a:solidFill>
                  <a:srgbClr val="F0F6FC"/>
                </a:solidFill>
              </a:rPr>
              <a:t>Learns features hierarchically</a:t>
            </a:r>
            <a:endParaRPr lang="en-US" sz="1000" dirty="0"/>
          </a:p>
        </p:txBody>
      </p:sp>
      <p:sp>
        <p:nvSpPr>
          <p:cNvPr id="14" name="Shape 12"/>
          <p:cNvSpPr/>
          <p:nvPr/>
        </p:nvSpPr>
        <p:spPr>
          <a:xfrm>
            <a:off x="320040" y="3017520"/>
            <a:ext cx="822960" cy="1188720"/>
          </a:xfrm>
          <a:prstGeom prst="rect">
            <a:avLst/>
          </a:prstGeom>
          <a:solidFill>
            <a:srgbClr val="21262D"/>
          </a:solidFill>
          <a:ln w="2540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15" name="Text 13"/>
          <p:cNvSpPr/>
          <p:nvPr/>
        </p:nvSpPr>
        <p:spPr>
          <a:xfrm>
            <a:off x="320040" y="3017520"/>
            <a:ext cx="822960" cy="1188720"/>
          </a:xfrm>
          <a:prstGeom prst="rect">
            <a:avLst/>
          </a:prstGeom>
          <a:noFill/>
          <a:ln/>
        </p:spPr>
        <p:txBody>
          <a:bodyPr wrap="square" lIns="0" tIns="0" rIns="0" bIns="0" rtlCol="0" anchor="ctr"/>
          <a:lstStyle/>
          <a:p>
            <a:pPr marL="0" indent="0" algn="ctr">
              <a:buNone/>
            </a:pPr>
            <a:r>
              <a:rPr lang="en-US" sz="800" b="1" dirty="0">
                <a:solidFill>
                  <a:srgbClr val="F0F6FC"/>
                </a:solidFill>
              </a:rPr>
              <a:t>Input</a:t>
            </a:r>
            <a:endParaRPr lang="en-US" sz="800" dirty="0"/>
          </a:p>
          <a:p>
            <a:pPr marL="0" indent="0" algn="ctr">
              <a:buNone/>
            </a:pPr>
            <a:r>
              <a:rPr lang="en-US" sz="800" b="1" dirty="0">
                <a:solidFill>
                  <a:srgbClr val="F0F6FC"/>
                </a:solidFill>
              </a:rPr>
              <a:t>Image</a:t>
            </a:r>
            <a:endParaRPr lang="en-US" sz="800" dirty="0"/>
          </a:p>
        </p:txBody>
      </p:sp>
      <p:sp>
        <p:nvSpPr>
          <p:cNvPr id="16" name="Shape 14"/>
          <p:cNvSpPr/>
          <p:nvPr/>
        </p:nvSpPr>
        <p:spPr>
          <a:xfrm>
            <a:off x="1143000" y="3611880"/>
            <a:ext cx="320040" cy="0"/>
          </a:xfrm>
          <a:prstGeom prst="line">
            <a:avLst/>
          </a:prstGeom>
          <a:noFill/>
          <a:ln w="19050">
            <a:solidFill>
              <a:srgbClr val="8B949E"/>
            </a:solidFill>
            <a:prstDash val="solid"/>
            <a:tailEnd type="arrow"/>
          </a:ln>
        </p:spPr>
        <p:txBody>
          <a:bodyPr/>
          <a:lstStyle/>
          <a:p>
            <a:endParaRPr lang="fr-FR"/>
          </a:p>
        </p:txBody>
      </p:sp>
      <p:sp>
        <p:nvSpPr>
          <p:cNvPr id="17" name="Shape 15"/>
          <p:cNvSpPr/>
          <p:nvPr/>
        </p:nvSpPr>
        <p:spPr>
          <a:xfrm>
            <a:off x="1463040" y="3108960"/>
            <a:ext cx="914400" cy="1005840"/>
          </a:xfrm>
          <a:prstGeom prst="rect">
            <a:avLst/>
          </a:prstGeom>
          <a:solidFill>
            <a:srgbClr val="21262D"/>
          </a:solidFill>
          <a:ln w="25400">
            <a:solidFill>
              <a:srgbClr val="39D0B0"/>
            </a:solidFill>
            <a:prstDash val="solid"/>
          </a:ln>
          <a:effectLst>
            <a:outerShdw blurRad="127000" dist="38100" dir="8100000" algn="bl" rotWithShape="0">
              <a:srgbClr val="000000">
                <a:alpha val="35000"/>
              </a:srgbClr>
            </a:outerShdw>
          </a:effectLst>
        </p:spPr>
        <p:txBody>
          <a:bodyPr/>
          <a:lstStyle/>
          <a:p>
            <a:endParaRPr lang="fr-FR"/>
          </a:p>
        </p:txBody>
      </p:sp>
      <p:sp>
        <p:nvSpPr>
          <p:cNvPr id="18" name="Text 16"/>
          <p:cNvSpPr/>
          <p:nvPr/>
        </p:nvSpPr>
        <p:spPr>
          <a:xfrm>
            <a:off x="1463040" y="3108960"/>
            <a:ext cx="914400" cy="1005840"/>
          </a:xfrm>
          <a:prstGeom prst="rect">
            <a:avLst/>
          </a:prstGeom>
          <a:noFill/>
          <a:ln/>
        </p:spPr>
        <p:txBody>
          <a:bodyPr wrap="square" lIns="0" tIns="0" rIns="0" bIns="0" rtlCol="0" anchor="ctr"/>
          <a:lstStyle/>
          <a:p>
            <a:pPr marL="0" indent="0" algn="ctr">
              <a:buNone/>
            </a:pPr>
            <a:r>
              <a:rPr lang="en-US" sz="800" b="1" dirty="0">
                <a:solidFill>
                  <a:srgbClr val="F0F6FC"/>
                </a:solidFill>
              </a:rPr>
              <a:t>Conv</a:t>
            </a:r>
            <a:endParaRPr lang="en-US" sz="800" dirty="0"/>
          </a:p>
          <a:p>
            <a:pPr marL="0" indent="0" algn="ctr">
              <a:buNone/>
            </a:pPr>
            <a:r>
              <a:rPr lang="en-US" sz="800" b="1" dirty="0">
                <a:solidFill>
                  <a:srgbClr val="F0F6FC"/>
                </a:solidFill>
              </a:rPr>
              <a:t>+ReLU</a:t>
            </a:r>
            <a:endParaRPr lang="en-US" sz="800" dirty="0"/>
          </a:p>
        </p:txBody>
      </p:sp>
      <p:sp>
        <p:nvSpPr>
          <p:cNvPr id="19" name="Shape 17"/>
          <p:cNvSpPr/>
          <p:nvPr/>
        </p:nvSpPr>
        <p:spPr>
          <a:xfrm>
            <a:off x="2377440" y="3611880"/>
            <a:ext cx="320040" cy="0"/>
          </a:xfrm>
          <a:prstGeom prst="line">
            <a:avLst/>
          </a:prstGeom>
          <a:noFill/>
          <a:ln w="19050">
            <a:solidFill>
              <a:srgbClr val="8B949E"/>
            </a:solidFill>
            <a:prstDash val="solid"/>
            <a:tailEnd type="arrow"/>
          </a:ln>
        </p:spPr>
        <p:txBody>
          <a:bodyPr/>
          <a:lstStyle/>
          <a:p>
            <a:endParaRPr lang="fr-FR"/>
          </a:p>
        </p:txBody>
      </p:sp>
      <p:sp>
        <p:nvSpPr>
          <p:cNvPr id="20" name="Shape 18"/>
          <p:cNvSpPr/>
          <p:nvPr/>
        </p:nvSpPr>
        <p:spPr>
          <a:xfrm>
            <a:off x="2697480" y="3200400"/>
            <a:ext cx="777240" cy="822960"/>
          </a:xfrm>
          <a:prstGeom prst="rect">
            <a:avLst/>
          </a:prstGeom>
          <a:solidFill>
            <a:srgbClr val="21262D"/>
          </a:solidFill>
          <a:ln w="2540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21" name="Text 19"/>
          <p:cNvSpPr/>
          <p:nvPr/>
        </p:nvSpPr>
        <p:spPr>
          <a:xfrm>
            <a:off x="2697480" y="3200400"/>
            <a:ext cx="777240" cy="822960"/>
          </a:xfrm>
          <a:prstGeom prst="rect">
            <a:avLst/>
          </a:prstGeom>
          <a:noFill/>
          <a:ln/>
        </p:spPr>
        <p:txBody>
          <a:bodyPr wrap="square" lIns="0" tIns="0" rIns="0" bIns="0" rtlCol="0" anchor="ctr"/>
          <a:lstStyle/>
          <a:p>
            <a:pPr marL="0" indent="0" algn="ctr">
              <a:buNone/>
            </a:pPr>
            <a:r>
              <a:rPr lang="en-US" sz="800" b="1" dirty="0">
                <a:solidFill>
                  <a:srgbClr val="F0F6FC"/>
                </a:solidFill>
              </a:rPr>
              <a:t>Max</a:t>
            </a:r>
            <a:endParaRPr lang="en-US" sz="800" dirty="0"/>
          </a:p>
          <a:p>
            <a:pPr marL="0" indent="0" algn="ctr">
              <a:buNone/>
            </a:pPr>
            <a:r>
              <a:rPr lang="en-US" sz="800" b="1" dirty="0">
                <a:solidFill>
                  <a:srgbClr val="F0F6FC"/>
                </a:solidFill>
              </a:rPr>
              <a:t>Pool</a:t>
            </a:r>
            <a:endParaRPr lang="en-US" sz="800" dirty="0"/>
          </a:p>
        </p:txBody>
      </p:sp>
      <p:sp>
        <p:nvSpPr>
          <p:cNvPr id="22" name="Shape 20"/>
          <p:cNvSpPr/>
          <p:nvPr/>
        </p:nvSpPr>
        <p:spPr>
          <a:xfrm>
            <a:off x="3474720" y="3611880"/>
            <a:ext cx="274320" cy="0"/>
          </a:xfrm>
          <a:prstGeom prst="line">
            <a:avLst/>
          </a:prstGeom>
          <a:noFill/>
          <a:ln w="19050">
            <a:solidFill>
              <a:srgbClr val="8B949E"/>
            </a:solidFill>
            <a:prstDash val="solid"/>
            <a:tailEnd type="arrow"/>
          </a:ln>
        </p:spPr>
        <p:txBody>
          <a:bodyPr/>
          <a:lstStyle/>
          <a:p>
            <a:endParaRPr lang="fr-FR"/>
          </a:p>
        </p:txBody>
      </p:sp>
      <p:sp>
        <p:nvSpPr>
          <p:cNvPr id="23" name="Shape 21"/>
          <p:cNvSpPr/>
          <p:nvPr/>
        </p:nvSpPr>
        <p:spPr>
          <a:xfrm>
            <a:off x="3749040" y="3200400"/>
            <a:ext cx="777240" cy="822960"/>
          </a:xfrm>
          <a:prstGeom prst="rect">
            <a:avLst/>
          </a:prstGeom>
          <a:solidFill>
            <a:srgbClr val="21262D"/>
          </a:solidFill>
          <a:ln w="25400">
            <a:solidFill>
              <a:srgbClr val="39D0B0"/>
            </a:solidFill>
            <a:prstDash val="solid"/>
          </a:ln>
          <a:effectLst>
            <a:outerShdw blurRad="127000" dist="38100" dir="8100000" algn="bl" rotWithShape="0">
              <a:srgbClr val="000000">
                <a:alpha val="35000"/>
              </a:srgbClr>
            </a:outerShdw>
          </a:effectLst>
        </p:spPr>
        <p:txBody>
          <a:bodyPr/>
          <a:lstStyle/>
          <a:p>
            <a:endParaRPr lang="fr-FR"/>
          </a:p>
        </p:txBody>
      </p:sp>
      <p:sp>
        <p:nvSpPr>
          <p:cNvPr id="24" name="Text 22"/>
          <p:cNvSpPr/>
          <p:nvPr/>
        </p:nvSpPr>
        <p:spPr>
          <a:xfrm>
            <a:off x="3749040" y="3200400"/>
            <a:ext cx="777240" cy="822960"/>
          </a:xfrm>
          <a:prstGeom prst="rect">
            <a:avLst/>
          </a:prstGeom>
          <a:noFill/>
          <a:ln/>
        </p:spPr>
        <p:txBody>
          <a:bodyPr wrap="square" lIns="0" tIns="0" rIns="0" bIns="0" rtlCol="0" anchor="ctr"/>
          <a:lstStyle/>
          <a:p>
            <a:pPr marL="0" indent="0" algn="ctr">
              <a:buNone/>
            </a:pPr>
            <a:r>
              <a:rPr lang="en-US" sz="800" b="1" dirty="0">
                <a:solidFill>
                  <a:srgbClr val="F0F6FC"/>
                </a:solidFill>
              </a:rPr>
              <a:t>Conv</a:t>
            </a:r>
            <a:endParaRPr lang="en-US" sz="800" dirty="0"/>
          </a:p>
          <a:p>
            <a:pPr marL="0" indent="0" algn="ctr">
              <a:buNone/>
            </a:pPr>
            <a:r>
              <a:rPr lang="en-US" sz="800" b="1" dirty="0">
                <a:solidFill>
                  <a:srgbClr val="F0F6FC"/>
                </a:solidFill>
              </a:rPr>
              <a:t>+ReLU</a:t>
            </a:r>
            <a:endParaRPr lang="en-US" sz="800" dirty="0"/>
          </a:p>
        </p:txBody>
      </p:sp>
      <p:sp>
        <p:nvSpPr>
          <p:cNvPr id="25" name="Shape 23"/>
          <p:cNvSpPr/>
          <p:nvPr/>
        </p:nvSpPr>
        <p:spPr>
          <a:xfrm>
            <a:off x="4526280" y="3611880"/>
            <a:ext cx="274320" cy="0"/>
          </a:xfrm>
          <a:prstGeom prst="line">
            <a:avLst/>
          </a:prstGeom>
          <a:noFill/>
          <a:ln w="19050">
            <a:solidFill>
              <a:srgbClr val="8B949E"/>
            </a:solidFill>
            <a:prstDash val="solid"/>
            <a:tailEnd type="arrow"/>
          </a:ln>
        </p:spPr>
        <p:txBody>
          <a:bodyPr/>
          <a:lstStyle/>
          <a:p>
            <a:endParaRPr lang="fr-FR"/>
          </a:p>
        </p:txBody>
      </p:sp>
      <p:sp>
        <p:nvSpPr>
          <p:cNvPr id="26" name="Shape 24"/>
          <p:cNvSpPr/>
          <p:nvPr/>
        </p:nvSpPr>
        <p:spPr>
          <a:xfrm>
            <a:off x="4800600" y="3291840"/>
            <a:ext cx="640080" cy="640080"/>
          </a:xfrm>
          <a:prstGeom prst="rect">
            <a:avLst/>
          </a:prstGeom>
          <a:solidFill>
            <a:srgbClr val="21262D"/>
          </a:solidFill>
          <a:ln w="2540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27" name="Text 25"/>
          <p:cNvSpPr/>
          <p:nvPr/>
        </p:nvSpPr>
        <p:spPr>
          <a:xfrm>
            <a:off x="4800600" y="3291840"/>
            <a:ext cx="640080" cy="640080"/>
          </a:xfrm>
          <a:prstGeom prst="rect">
            <a:avLst/>
          </a:prstGeom>
          <a:noFill/>
          <a:ln/>
        </p:spPr>
        <p:txBody>
          <a:bodyPr wrap="square" lIns="0" tIns="0" rIns="0" bIns="0" rtlCol="0" anchor="ctr"/>
          <a:lstStyle/>
          <a:p>
            <a:pPr marL="0" indent="0" algn="ctr">
              <a:buNone/>
            </a:pPr>
            <a:r>
              <a:rPr lang="en-US" sz="800" b="1" dirty="0">
                <a:solidFill>
                  <a:srgbClr val="F0F6FC"/>
                </a:solidFill>
              </a:rPr>
              <a:t>Max</a:t>
            </a:r>
            <a:endParaRPr lang="en-US" sz="800" dirty="0"/>
          </a:p>
          <a:p>
            <a:pPr marL="0" indent="0" algn="ctr">
              <a:buNone/>
            </a:pPr>
            <a:r>
              <a:rPr lang="en-US" sz="800" b="1" dirty="0">
                <a:solidFill>
                  <a:srgbClr val="F0F6FC"/>
                </a:solidFill>
              </a:rPr>
              <a:t>Pool</a:t>
            </a:r>
            <a:endParaRPr lang="en-US" sz="800" dirty="0"/>
          </a:p>
        </p:txBody>
      </p:sp>
      <p:sp>
        <p:nvSpPr>
          <p:cNvPr id="28" name="Shape 26"/>
          <p:cNvSpPr/>
          <p:nvPr/>
        </p:nvSpPr>
        <p:spPr>
          <a:xfrm>
            <a:off x="5440680" y="3611880"/>
            <a:ext cx="274320" cy="0"/>
          </a:xfrm>
          <a:prstGeom prst="line">
            <a:avLst/>
          </a:prstGeom>
          <a:noFill/>
          <a:ln w="19050">
            <a:solidFill>
              <a:srgbClr val="8B949E"/>
            </a:solidFill>
            <a:prstDash val="solid"/>
            <a:tailEnd type="arrow"/>
          </a:ln>
        </p:spPr>
        <p:txBody>
          <a:bodyPr/>
          <a:lstStyle/>
          <a:p>
            <a:endParaRPr lang="fr-FR"/>
          </a:p>
        </p:txBody>
      </p:sp>
      <p:sp>
        <p:nvSpPr>
          <p:cNvPr id="29" name="Shape 27"/>
          <p:cNvSpPr/>
          <p:nvPr/>
        </p:nvSpPr>
        <p:spPr>
          <a:xfrm>
            <a:off x="5715000" y="3360420"/>
            <a:ext cx="548640" cy="502920"/>
          </a:xfrm>
          <a:prstGeom prst="rect">
            <a:avLst/>
          </a:prstGeom>
          <a:solidFill>
            <a:srgbClr val="21262D"/>
          </a:solidFill>
          <a:ln w="25400">
            <a:solidFill>
              <a:srgbClr val="F0883E"/>
            </a:solidFill>
            <a:prstDash val="solid"/>
          </a:ln>
          <a:effectLst>
            <a:outerShdw blurRad="127000" dist="38100" dir="8100000" algn="bl" rotWithShape="0">
              <a:srgbClr val="000000">
                <a:alpha val="35000"/>
              </a:srgbClr>
            </a:outerShdw>
          </a:effectLst>
        </p:spPr>
        <p:txBody>
          <a:bodyPr/>
          <a:lstStyle/>
          <a:p>
            <a:endParaRPr lang="fr-FR"/>
          </a:p>
        </p:txBody>
      </p:sp>
      <p:sp>
        <p:nvSpPr>
          <p:cNvPr id="30" name="Text 28"/>
          <p:cNvSpPr/>
          <p:nvPr/>
        </p:nvSpPr>
        <p:spPr>
          <a:xfrm>
            <a:off x="5715000" y="3360420"/>
            <a:ext cx="548640" cy="502920"/>
          </a:xfrm>
          <a:prstGeom prst="rect">
            <a:avLst/>
          </a:prstGeom>
          <a:noFill/>
          <a:ln/>
        </p:spPr>
        <p:txBody>
          <a:bodyPr wrap="square" lIns="0" tIns="0" rIns="0" bIns="0" rtlCol="0" anchor="ctr"/>
          <a:lstStyle/>
          <a:p>
            <a:pPr marL="0" indent="0" algn="ctr">
              <a:buNone/>
            </a:pPr>
            <a:r>
              <a:rPr lang="en-US" sz="800" b="1" dirty="0">
                <a:solidFill>
                  <a:srgbClr val="F0F6FC"/>
                </a:solidFill>
              </a:rPr>
              <a:t>Flatten</a:t>
            </a:r>
            <a:endParaRPr lang="en-US" sz="800" dirty="0"/>
          </a:p>
        </p:txBody>
      </p:sp>
      <p:sp>
        <p:nvSpPr>
          <p:cNvPr id="31" name="Shape 29"/>
          <p:cNvSpPr/>
          <p:nvPr/>
        </p:nvSpPr>
        <p:spPr>
          <a:xfrm>
            <a:off x="6263640" y="3611880"/>
            <a:ext cx="274320" cy="0"/>
          </a:xfrm>
          <a:prstGeom prst="line">
            <a:avLst/>
          </a:prstGeom>
          <a:noFill/>
          <a:ln w="19050">
            <a:solidFill>
              <a:srgbClr val="8B949E"/>
            </a:solidFill>
            <a:prstDash val="solid"/>
            <a:tailEnd type="arrow"/>
          </a:ln>
        </p:spPr>
        <p:txBody>
          <a:bodyPr/>
          <a:lstStyle/>
          <a:p>
            <a:endParaRPr lang="fr-FR"/>
          </a:p>
        </p:txBody>
      </p:sp>
      <p:sp>
        <p:nvSpPr>
          <p:cNvPr id="32" name="Shape 30"/>
          <p:cNvSpPr/>
          <p:nvPr/>
        </p:nvSpPr>
        <p:spPr>
          <a:xfrm>
            <a:off x="6537960" y="3246120"/>
            <a:ext cx="731520" cy="731520"/>
          </a:xfrm>
          <a:prstGeom prst="rect">
            <a:avLst/>
          </a:prstGeom>
          <a:solidFill>
            <a:srgbClr val="21262D"/>
          </a:solidFill>
          <a:ln w="25400">
            <a:solidFill>
              <a:srgbClr val="E3B341"/>
            </a:solidFill>
            <a:prstDash val="solid"/>
          </a:ln>
          <a:effectLst>
            <a:outerShdw blurRad="127000" dist="38100" dir="8100000" algn="bl" rotWithShape="0">
              <a:srgbClr val="000000">
                <a:alpha val="35000"/>
              </a:srgbClr>
            </a:outerShdw>
          </a:effectLst>
        </p:spPr>
        <p:txBody>
          <a:bodyPr/>
          <a:lstStyle/>
          <a:p>
            <a:endParaRPr lang="fr-FR"/>
          </a:p>
        </p:txBody>
      </p:sp>
      <p:sp>
        <p:nvSpPr>
          <p:cNvPr id="33" name="Text 31"/>
          <p:cNvSpPr/>
          <p:nvPr/>
        </p:nvSpPr>
        <p:spPr>
          <a:xfrm>
            <a:off x="6537960" y="3246120"/>
            <a:ext cx="731520" cy="731520"/>
          </a:xfrm>
          <a:prstGeom prst="rect">
            <a:avLst/>
          </a:prstGeom>
          <a:noFill/>
          <a:ln/>
        </p:spPr>
        <p:txBody>
          <a:bodyPr wrap="square" lIns="0" tIns="0" rIns="0" bIns="0" rtlCol="0" anchor="ctr"/>
          <a:lstStyle/>
          <a:p>
            <a:pPr marL="0" indent="0" algn="ctr">
              <a:buNone/>
            </a:pPr>
            <a:r>
              <a:rPr lang="en-US" sz="800" b="1" dirty="0">
                <a:solidFill>
                  <a:srgbClr val="F0F6FC"/>
                </a:solidFill>
              </a:rPr>
              <a:t>Dense</a:t>
            </a:r>
            <a:endParaRPr lang="en-US" sz="800" dirty="0"/>
          </a:p>
          <a:p>
            <a:pPr marL="0" indent="0" algn="ctr">
              <a:buNone/>
            </a:pPr>
            <a:r>
              <a:rPr lang="en-US" sz="800" b="1" dirty="0">
                <a:solidFill>
                  <a:srgbClr val="F0F6FC"/>
                </a:solidFill>
              </a:rPr>
              <a:t>Layers</a:t>
            </a:r>
            <a:endParaRPr lang="en-US" sz="800" dirty="0"/>
          </a:p>
        </p:txBody>
      </p:sp>
      <p:sp>
        <p:nvSpPr>
          <p:cNvPr id="34" name="Shape 32"/>
          <p:cNvSpPr/>
          <p:nvPr/>
        </p:nvSpPr>
        <p:spPr>
          <a:xfrm>
            <a:off x="7269480" y="3611880"/>
            <a:ext cx="320040" cy="0"/>
          </a:xfrm>
          <a:prstGeom prst="line">
            <a:avLst/>
          </a:prstGeom>
          <a:noFill/>
          <a:ln w="19050">
            <a:solidFill>
              <a:srgbClr val="8B949E"/>
            </a:solidFill>
            <a:prstDash val="solid"/>
            <a:tailEnd type="arrow"/>
          </a:ln>
        </p:spPr>
        <p:txBody>
          <a:bodyPr/>
          <a:lstStyle/>
          <a:p>
            <a:endParaRPr lang="fr-FR"/>
          </a:p>
        </p:txBody>
      </p:sp>
      <p:sp>
        <p:nvSpPr>
          <p:cNvPr id="35" name="Shape 33"/>
          <p:cNvSpPr/>
          <p:nvPr/>
        </p:nvSpPr>
        <p:spPr>
          <a:xfrm>
            <a:off x="7589520" y="3200400"/>
            <a:ext cx="822960" cy="822960"/>
          </a:xfrm>
          <a:prstGeom prst="rect">
            <a:avLst/>
          </a:prstGeom>
          <a:solidFill>
            <a:srgbClr val="21262D"/>
          </a:solidFill>
          <a:ln w="2540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36" name="Text 34"/>
          <p:cNvSpPr/>
          <p:nvPr/>
        </p:nvSpPr>
        <p:spPr>
          <a:xfrm>
            <a:off x="7589520" y="3200400"/>
            <a:ext cx="822960" cy="822960"/>
          </a:xfrm>
          <a:prstGeom prst="rect">
            <a:avLst/>
          </a:prstGeom>
          <a:noFill/>
          <a:ln/>
        </p:spPr>
        <p:txBody>
          <a:bodyPr wrap="square" lIns="0" tIns="0" rIns="0" bIns="0" rtlCol="0" anchor="ctr"/>
          <a:lstStyle/>
          <a:p>
            <a:pPr marL="0" indent="0" algn="ctr">
              <a:buNone/>
            </a:pPr>
            <a:r>
              <a:rPr lang="en-US" sz="800" b="1" dirty="0">
                <a:solidFill>
                  <a:srgbClr val="F0F6FC"/>
                </a:solidFill>
              </a:rPr>
              <a:t>Output</a:t>
            </a:r>
            <a:endParaRPr lang="en-US" sz="800" dirty="0"/>
          </a:p>
          <a:p>
            <a:pPr marL="0" indent="0" algn="ctr">
              <a:buNone/>
            </a:pPr>
            <a:r>
              <a:rPr lang="en-US" sz="800" b="1" dirty="0">
                <a:solidFill>
                  <a:srgbClr val="F0F6FC"/>
                </a:solidFill>
              </a:rPr>
              <a:t>Classes</a:t>
            </a:r>
            <a:endParaRPr lang="en-US" sz="800" dirty="0"/>
          </a:p>
        </p:txBody>
      </p:sp>
      <p:sp>
        <p:nvSpPr>
          <p:cNvPr id="37" name="Text 35"/>
          <p:cNvSpPr/>
          <p:nvPr/>
        </p:nvSpPr>
        <p:spPr>
          <a:xfrm>
            <a:off x="320040" y="4709160"/>
            <a:ext cx="8503920" cy="256032"/>
          </a:xfrm>
          <a:prstGeom prst="rect">
            <a:avLst/>
          </a:prstGeom>
          <a:noFill/>
          <a:ln/>
        </p:spPr>
        <p:txBody>
          <a:bodyPr wrap="square" lIns="0" tIns="0" rIns="0" bIns="0" rtlCol="0" anchor="ctr"/>
          <a:lstStyle/>
          <a:p>
            <a:pPr marL="0" indent="0" algn="ctr">
              <a:buNone/>
            </a:pPr>
            <a:r>
              <a:rPr lang="en-US" sz="1000" i="1" dirty="0">
                <a:solidFill>
                  <a:srgbClr val="8B949E"/>
                </a:solidFill>
              </a:rPr>
              <a:t>Layer 1: Edges    Layer 2: Shapes    Layer 3: Parts    Layer 4: Objects</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9D0B0"/>
          </a:solidFill>
          <a:ln w="12700">
            <a:solidFill>
              <a:srgbClr val="39D0B0"/>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The Convolution Operation</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39D0B0"/>
                </a:solidFill>
              </a:rPr>
              <a:t>A filter slides over the image to create a feature map</a:t>
            </a:r>
            <a:endParaRPr lang="en-US" sz="1200" dirty="0"/>
          </a:p>
        </p:txBody>
      </p:sp>
      <p:sp>
        <p:nvSpPr>
          <p:cNvPr id="5" name="Shape 3"/>
          <p:cNvSpPr/>
          <p:nvPr/>
        </p:nvSpPr>
        <p:spPr>
          <a:xfrm>
            <a:off x="320040" y="1024128"/>
            <a:ext cx="8503920" cy="0"/>
          </a:xfrm>
          <a:prstGeom prst="line">
            <a:avLst/>
          </a:prstGeom>
          <a:noFill/>
          <a:ln w="12700">
            <a:solidFill>
              <a:srgbClr val="39D0B0"/>
            </a:solidFill>
            <a:prstDash val="solid"/>
          </a:ln>
        </p:spPr>
        <p:txBody>
          <a:bodyPr/>
          <a:lstStyle/>
          <a:p>
            <a:endParaRPr lang="fr-FR"/>
          </a:p>
        </p:txBody>
      </p:sp>
      <p:sp>
        <p:nvSpPr>
          <p:cNvPr id="6" name="Text 4"/>
          <p:cNvSpPr/>
          <p:nvPr/>
        </p:nvSpPr>
        <p:spPr>
          <a:xfrm>
            <a:off x="365760" y="932688"/>
            <a:ext cx="1737360" cy="228600"/>
          </a:xfrm>
          <a:prstGeom prst="rect">
            <a:avLst/>
          </a:prstGeom>
          <a:noFill/>
          <a:ln/>
        </p:spPr>
        <p:txBody>
          <a:bodyPr wrap="square" lIns="0" tIns="0" rIns="0" bIns="0" rtlCol="0" anchor="ctr"/>
          <a:lstStyle/>
          <a:p>
            <a:pPr marL="0" indent="0">
              <a:buNone/>
            </a:pPr>
            <a:r>
              <a:rPr lang="en-US" sz="900" dirty="0">
                <a:solidFill>
                  <a:srgbClr val="8B949E"/>
                </a:solidFill>
              </a:rPr>
              <a:t>Input Image (5x5)</a:t>
            </a:r>
            <a:endParaRPr lang="en-US" sz="900" dirty="0"/>
          </a:p>
        </p:txBody>
      </p:sp>
      <p:sp>
        <p:nvSpPr>
          <p:cNvPr id="7" name="Shape 5"/>
          <p:cNvSpPr/>
          <p:nvPr/>
        </p:nvSpPr>
        <p:spPr>
          <a:xfrm>
            <a:off x="365760" y="1188720"/>
            <a:ext cx="347472" cy="347472"/>
          </a:xfrm>
          <a:prstGeom prst="rect">
            <a:avLst/>
          </a:prstGeom>
          <a:solidFill>
            <a:srgbClr val="3FB950"/>
          </a:solidFill>
          <a:ln w="12700">
            <a:solidFill>
              <a:srgbClr val="161B22"/>
            </a:solidFill>
            <a:prstDash val="solid"/>
          </a:ln>
        </p:spPr>
        <p:txBody>
          <a:bodyPr/>
          <a:lstStyle/>
          <a:p>
            <a:endParaRPr lang="fr-FR"/>
          </a:p>
        </p:txBody>
      </p:sp>
      <p:sp>
        <p:nvSpPr>
          <p:cNvPr id="8" name="Text 6"/>
          <p:cNvSpPr/>
          <p:nvPr/>
        </p:nvSpPr>
        <p:spPr>
          <a:xfrm>
            <a:off x="365760" y="1188720"/>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9" name="Shape 7"/>
          <p:cNvSpPr/>
          <p:nvPr/>
        </p:nvSpPr>
        <p:spPr>
          <a:xfrm>
            <a:off x="713232" y="1188720"/>
            <a:ext cx="347472" cy="347472"/>
          </a:xfrm>
          <a:prstGeom prst="rect">
            <a:avLst/>
          </a:prstGeom>
          <a:solidFill>
            <a:srgbClr val="21262D"/>
          </a:solidFill>
          <a:ln w="12700">
            <a:solidFill>
              <a:srgbClr val="161B22"/>
            </a:solidFill>
            <a:prstDash val="solid"/>
          </a:ln>
        </p:spPr>
        <p:txBody>
          <a:bodyPr/>
          <a:lstStyle/>
          <a:p>
            <a:endParaRPr lang="fr-FR"/>
          </a:p>
        </p:txBody>
      </p:sp>
      <p:sp>
        <p:nvSpPr>
          <p:cNvPr id="10" name="Text 8"/>
          <p:cNvSpPr/>
          <p:nvPr/>
        </p:nvSpPr>
        <p:spPr>
          <a:xfrm>
            <a:off x="713232" y="1188720"/>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11" name="Shape 9"/>
          <p:cNvSpPr/>
          <p:nvPr/>
        </p:nvSpPr>
        <p:spPr>
          <a:xfrm>
            <a:off x="1060704" y="1188720"/>
            <a:ext cx="347472" cy="347472"/>
          </a:xfrm>
          <a:prstGeom prst="rect">
            <a:avLst/>
          </a:prstGeom>
          <a:solidFill>
            <a:srgbClr val="3FB950"/>
          </a:solidFill>
          <a:ln w="12700">
            <a:solidFill>
              <a:srgbClr val="161B22"/>
            </a:solidFill>
            <a:prstDash val="solid"/>
          </a:ln>
        </p:spPr>
        <p:txBody>
          <a:bodyPr/>
          <a:lstStyle/>
          <a:p>
            <a:endParaRPr lang="fr-FR"/>
          </a:p>
        </p:txBody>
      </p:sp>
      <p:sp>
        <p:nvSpPr>
          <p:cNvPr id="12" name="Text 10"/>
          <p:cNvSpPr/>
          <p:nvPr/>
        </p:nvSpPr>
        <p:spPr>
          <a:xfrm>
            <a:off x="1060704" y="1188720"/>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13" name="Shape 11"/>
          <p:cNvSpPr/>
          <p:nvPr/>
        </p:nvSpPr>
        <p:spPr>
          <a:xfrm>
            <a:off x="1408176" y="1188720"/>
            <a:ext cx="347472" cy="347472"/>
          </a:xfrm>
          <a:prstGeom prst="rect">
            <a:avLst/>
          </a:prstGeom>
          <a:solidFill>
            <a:srgbClr val="21262D"/>
          </a:solidFill>
          <a:ln w="12700">
            <a:solidFill>
              <a:srgbClr val="161B22"/>
            </a:solidFill>
            <a:prstDash val="solid"/>
          </a:ln>
        </p:spPr>
        <p:txBody>
          <a:bodyPr/>
          <a:lstStyle/>
          <a:p>
            <a:endParaRPr lang="fr-FR"/>
          </a:p>
        </p:txBody>
      </p:sp>
      <p:sp>
        <p:nvSpPr>
          <p:cNvPr id="14" name="Text 12"/>
          <p:cNvSpPr/>
          <p:nvPr/>
        </p:nvSpPr>
        <p:spPr>
          <a:xfrm>
            <a:off x="1408176" y="1188720"/>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15" name="Shape 13"/>
          <p:cNvSpPr/>
          <p:nvPr/>
        </p:nvSpPr>
        <p:spPr>
          <a:xfrm>
            <a:off x="1755648" y="1188720"/>
            <a:ext cx="347472" cy="347472"/>
          </a:xfrm>
          <a:prstGeom prst="rect">
            <a:avLst/>
          </a:prstGeom>
          <a:solidFill>
            <a:srgbClr val="3FB950"/>
          </a:solidFill>
          <a:ln w="12700">
            <a:solidFill>
              <a:srgbClr val="161B22"/>
            </a:solidFill>
            <a:prstDash val="solid"/>
          </a:ln>
        </p:spPr>
        <p:txBody>
          <a:bodyPr/>
          <a:lstStyle/>
          <a:p>
            <a:endParaRPr lang="fr-FR"/>
          </a:p>
        </p:txBody>
      </p:sp>
      <p:sp>
        <p:nvSpPr>
          <p:cNvPr id="16" name="Text 14"/>
          <p:cNvSpPr/>
          <p:nvPr/>
        </p:nvSpPr>
        <p:spPr>
          <a:xfrm>
            <a:off x="1755648" y="1188720"/>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17" name="Shape 15"/>
          <p:cNvSpPr/>
          <p:nvPr/>
        </p:nvSpPr>
        <p:spPr>
          <a:xfrm>
            <a:off x="365760" y="1536192"/>
            <a:ext cx="347472" cy="347472"/>
          </a:xfrm>
          <a:prstGeom prst="rect">
            <a:avLst/>
          </a:prstGeom>
          <a:solidFill>
            <a:srgbClr val="21262D"/>
          </a:solidFill>
          <a:ln w="12700">
            <a:solidFill>
              <a:srgbClr val="161B22"/>
            </a:solidFill>
            <a:prstDash val="solid"/>
          </a:ln>
        </p:spPr>
        <p:txBody>
          <a:bodyPr/>
          <a:lstStyle/>
          <a:p>
            <a:endParaRPr lang="fr-FR"/>
          </a:p>
        </p:txBody>
      </p:sp>
      <p:sp>
        <p:nvSpPr>
          <p:cNvPr id="18" name="Text 16"/>
          <p:cNvSpPr/>
          <p:nvPr/>
        </p:nvSpPr>
        <p:spPr>
          <a:xfrm>
            <a:off x="365760" y="1536192"/>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19" name="Shape 17"/>
          <p:cNvSpPr/>
          <p:nvPr/>
        </p:nvSpPr>
        <p:spPr>
          <a:xfrm>
            <a:off x="713232" y="1536192"/>
            <a:ext cx="347472" cy="347472"/>
          </a:xfrm>
          <a:prstGeom prst="rect">
            <a:avLst/>
          </a:prstGeom>
          <a:solidFill>
            <a:srgbClr val="3FB950"/>
          </a:solidFill>
          <a:ln w="12700">
            <a:solidFill>
              <a:srgbClr val="161B22"/>
            </a:solidFill>
            <a:prstDash val="solid"/>
          </a:ln>
        </p:spPr>
        <p:txBody>
          <a:bodyPr/>
          <a:lstStyle/>
          <a:p>
            <a:endParaRPr lang="fr-FR"/>
          </a:p>
        </p:txBody>
      </p:sp>
      <p:sp>
        <p:nvSpPr>
          <p:cNvPr id="20" name="Text 18"/>
          <p:cNvSpPr/>
          <p:nvPr/>
        </p:nvSpPr>
        <p:spPr>
          <a:xfrm>
            <a:off x="713232" y="1536192"/>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21" name="Shape 19"/>
          <p:cNvSpPr/>
          <p:nvPr/>
        </p:nvSpPr>
        <p:spPr>
          <a:xfrm>
            <a:off x="1060704" y="1536192"/>
            <a:ext cx="347472" cy="347472"/>
          </a:xfrm>
          <a:prstGeom prst="rect">
            <a:avLst/>
          </a:prstGeom>
          <a:solidFill>
            <a:srgbClr val="21262D"/>
          </a:solidFill>
          <a:ln w="12700">
            <a:solidFill>
              <a:srgbClr val="161B22"/>
            </a:solidFill>
            <a:prstDash val="solid"/>
          </a:ln>
        </p:spPr>
        <p:txBody>
          <a:bodyPr/>
          <a:lstStyle/>
          <a:p>
            <a:endParaRPr lang="fr-FR"/>
          </a:p>
        </p:txBody>
      </p:sp>
      <p:sp>
        <p:nvSpPr>
          <p:cNvPr id="22" name="Text 20"/>
          <p:cNvSpPr/>
          <p:nvPr/>
        </p:nvSpPr>
        <p:spPr>
          <a:xfrm>
            <a:off x="1060704" y="1536192"/>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23" name="Shape 21"/>
          <p:cNvSpPr/>
          <p:nvPr/>
        </p:nvSpPr>
        <p:spPr>
          <a:xfrm>
            <a:off x="1408176" y="1536192"/>
            <a:ext cx="347472" cy="347472"/>
          </a:xfrm>
          <a:prstGeom prst="rect">
            <a:avLst/>
          </a:prstGeom>
          <a:solidFill>
            <a:srgbClr val="3FB950"/>
          </a:solidFill>
          <a:ln w="12700">
            <a:solidFill>
              <a:srgbClr val="161B22"/>
            </a:solidFill>
            <a:prstDash val="solid"/>
          </a:ln>
        </p:spPr>
        <p:txBody>
          <a:bodyPr/>
          <a:lstStyle/>
          <a:p>
            <a:endParaRPr lang="fr-FR"/>
          </a:p>
        </p:txBody>
      </p:sp>
      <p:sp>
        <p:nvSpPr>
          <p:cNvPr id="24" name="Text 22"/>
          <p:cNvSpPr/>
          <p:nvPr/>
        </p:nvSpPr>
        <p:spPr>
          <a:xfrm>
            <a:off x="1408176" y="1536192"/>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25" name="Shape 23"/>
          <p:cNvSpPr/>
          <p:nvPr/>
        </p:nvSpPr>
        <p:spPr>
          <a:xfrm>
            <a:off x="1755648" y="1536192"/>
            <a:ext cx="347472" cy="347472"/>
          </a:xfrm>
          <a:prstGeom prst="rect">
            <a:avLst/>
          </a:prstGeom>
          <a:solidFill>
            <a:srgbClr val="21262D"/>
          </a:solidFill>
          <a:ln w="12700">
            <a:solidFill>
              <a:srgbClr val="161B22"/>
            </a:solidFill>
            <a:prstDash val="solid"/>
          </a:ln>
        </p:spPr>
        <p:txBody>
          <a:bodyPr/>
          <a:lstStyle/>
          <a:p>
            <a:endParaRPr lang="fr-FR"/>
          </a:p>
        </p:txBody>
      </p:sp>
      <p:sp>
        <p:nvSpPr>
          <p:cNvPr id="26" name="Text 24"/>
          <p:cNvSpPr/>
          <p:nvPr/>
        </p:nvSpPr>
        <p:spPr>
          <a:xfrm>
            <a:off x="1755648" y="1536192"/>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27" name="Shape 25"/>
          <p:cNvSpPr/>
          <p:nvPr/>
        </p:nvSpPr>
        <p:spPr>
          <a:xfrm>
            <a:off x="365760" y="1883664"/>
            <a:ext cx="347472" cy="347472"/>
          </a:xfrm>
          <a:prstGeom prst="rect">
            <a:avLst/>
          </a:prstGeom>
          <a:solidFill>
            <a:srgbClr val="3FB950"/>
          </a:solidFill>
          <a:ln w="12700">
            <a:solidFill>
              <a:srgbClr val="161B22"/>
            </a:solidFill>
            <a:prstDash val="solid"/>
          </a:ln>
        </p:spPr>
        <p:txBody>
          <a:bodyPr/>
          <a:lstStyle/>
          <a:p>
            <a:endParaRPr lang="fr-FR"/>
          </a:p>
        </p:txBody>
      </p:sp>
      <p:sp>
        <p:nvSpPr>
          <p:cNvPr id="28" name="Text 26"/>
          <p:cNvSpPr/>
          <p:nvPr/>
        </p:nvSpPr>
        <p:spPr>
          <a:xfrm>
            <a:off x="365760" y="1883664"/>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29" name="Shape 27"/>
          <p:cNvSpPr/>
          <p:nvPr/>
        </p:nvSpPr>
        <p:spPr>
          <a:xfrm>
            <a:off x="713232" y="1883664"/>
            <a:ext cx="347472" cy="347472"/>
          </a:xfrm>
          <a:prstGeom prst="rect">
            <a:avLst/>
          </a:prstGeom>
          <a:solidFill>
            <a:srgbClr val="21262D"/>
          </a:solidFill>
          <a:ln w="12700">
            <a:solidFill>
              <a:srgbClr val="161B22"/>
            </a:solidFill>
            <a:prstDash val="solid"/>
          </a:ln>
        </p:spPr>
        <p:txBody>
          <a:bodyPr/>
          <a:lstStyle/>
          <a:p>
            <a:endParaRPr lang="fr-FR"/>
          </a:p>
        </p:txBody>
      </p:sp>
      <p:sp>
        <p:nvSpPr>
          <p:cNvPr id="30" name="Text 28"/>
          <p:cNvSpPr/>
          <p:nvPr/>
        </p:nvSpPr>
        <p:spPr>
          <a:xfrm>
            <a:off x="713232" y="1883664"/>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31" name="Shape 29"/>
          <p:cNvSpPr/>
          <p:nvPr/>
        </p:nvSpPr>
        <p:spPr>
          <a:xfrm>
            <a:off x="1060704" y="1883664"/>
            <a:ext cx="347472" cy="347472"/>
          </a:xfrm>
          <a:prstGeom prst="rect">
            <a:avLst/>
          </a:prstGeom>
          <a:solidFill>
            <a:srgbClr val="3FB950"/>
          </a:solidFill>
          <a:ln w="12700">
            <a:solidFill>
              <a:srgbClr val="161B22"/>
            </a:solidFill>
            <a:prstDash val="solid"/>
          </a:ln>
        </p:spPr>
        <p:txBody>
          <a:bodyPr/>
          <a:lstStyle/>
          <a:p>
            <a:endParaRPr lang="fr-FR"/>
          </a:p>
        </p:txBody>
      </p:sp>
      <p:sp>
        <p:nvSpPr>
          <p:cNvPr id="32" name="Text 30"/>
          <p:cNvSpPr/>
          <p:nvPr/>
        </p:nvSpPr>
        <p:spPr>
          <a:xfrm>
            <a:off x="1060704" y="1883664"/>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33" name="Shape 31"/>
          <p:cNvSpPr/>
          <p:nvPr/>
        </p:nvSpPr>
        <p:spPr>
          <a:xfrm>
            <a:off x="1408176" y="1883664"/>
            <a:ext cx="347472" cy="347472"/>
          </a:xfrm>
          <a:prstGeom prst="rect">
            <a:avLst/>
          </a:prstGeom>
          <a:solidFill>
            <a:srgbClr val="21262D"/>
          </a:solidFill>
          <a:ln w="12700">
            <a:solidFill>
              <a:srgbClr val="161B22"/>
            </a:solidFill>
            <a:prstDash val="solid"/>
          </a:ln>
        </p:spPr>
        <p:txBody>
          <a:bodyPr/>
          <a:lstStyle/>
          <a:p>
            <a:endParaRPr lang="fr-FR"/>
          </a:p>
        </p:txBody>
      </p:sp>
      <p:sp>
        <p:nvSpPr>
          <p:cNvPr id="34" name="Text 32"/>
          <p:cNvSpPr/>
          <p:nvPr/>
        </p:nvSpPr>
        <p:spPr>
          <a:xfrm>
            <a:off x="1408176" y="1883664"/>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35" name="Shape 33"/>
          <p:cNvSpPr/>
          <p:nvPr/>
        </p:nvSpPr>
        <p:spPr>
          <a:xfrm>
            <a:off x="1755648" y="1883664"/>
            <a:ext cx="347472" cy="347472"/>
          </a:xfrm>
          <a:prstGeom prst="rect">
            <a:avLst/>
          </a:prstGeom>
          <a:solidFill>
            <a:srgbClr val="3FB950"/>
          </a:solidFill>
          <a:ln w="12700">
            <a:solidFill>
              <a:srgbClr val="161B22"/>
            </a:solidFill>
            <a:prstDash val="solid"/>
          </a:ln>
        </p:spPr>
        <p:txBody>
          <a:bodyPr/>
          <a:lstStyle/>
          <a:p>
            <a:endParaRPr lang="fr-FR"/>
          </a:p>
        </p:txBody>
      </p:sp>
      <p:sp>
        <p:nvSpPr>
          <p:cNvPr id="36" name="Text 34"/>
          <p:cNvSpPr/>
          <p:nvPr/>
        </p:nvSpPr>
        <p:spPr>
          <a:xfrm>
            <a:off x="1755648" y="1883664"/>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37" name="Shape 35"/>
          <p:cNvSpPr/>
          <p:nvPr/>
        </p:nvSpPr>
        <p:spPr>
          <a:xfrm>
            <a:off x="365760" y="2231136"/>
            <a:ext cx="347472" cy="347472"/>
          </a:xfrm>
          <a:prstGeom prst="rect">
            <a:avLst/>
          </a:prstGeom>
          <a:solidFill>
            <a:srgbClr val="21262D"/>
          </a:solidFill>
          <a:ln w="12700">
            <a:solidFill>
              <a:srgbClr val="161B22"/>
            </a:solidFill>
            <a:prstDash val="solid"/>
          </a:ln>
        </p:spPr>
        <p:txBody>
          <a:bodyPr/>
          <a:lstStyle/>
          <a:p>
            <a:endParaRPr lang="fr-FR"/>
          </a:p>
        </p:txBody>
      </p:sp>
      <p:sp>
        <p:nvSpPr>
          <p:cNvPr id="38" name="Text 36"/>
          <p:cNvSpPr/>
          <p:nvPr/>
        </p:nvSpPr>
        <p:spPr>
          <a:xfrm>
            <a:off x="365760" y="2231136"/>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39" name="Shape 37"/>
          <p:cNvSpPr/>
          <p:nvPr/>
        </p:nvSpPr>
        <p:spPr>
          <a:xfrm>
            <a:off x="713232" y="2231136"/>
            <a:ext cx="347472" cy="347472"/>
          </a:xfrm>
          <a:prstGeom prst="rect">
            <a:avLst/>
          </a:prstGeom>
          <a:solidFill>
            <a:srgbClr val="3FB950"/>
          </a:solidFill>
          <a:ln w="12700">
            <a:solidFill>
              <a:srgbClr val="161B22"/>
            </a:solidFill>
            <a:prstDash val="solid"/>
          </a:ln>
        </p:spPr>
        <p:txBody>
          <a:bodyPr/>
          <a:lstStyle/>
          <a:p>
            <a:endParaRPr lang="fr-FR"/>
          </a:p>
        </p:txBody>
      </p:sp>
      <p:sp>
        <p:nvSpPr>
          <p:cNvPr id="40" name="Text 38"/>
          <p:cNvSpPr/>
          <p:nvPr/>
        </p:nvSpPr>
        <p:spPr>
          <a:xfrm>
            <a:off x="713232" y="2231136"/>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41" name="Shape 39"/>
          <p:cNvSpPr/>
          <p:nvPr/>
        </p:nvSpPr>
        <p:spPr>
          <a:xfrm>
            <a:off x="1060704" y="2231136"/>
            <a:ext cx="347472" cy="347472"/>
          </a:xfrm>
          <a:prstGeom prst="rect">
            <a:avLst/>
          </a:prstGeom>
          <a:solidFill>
            <a:srgbClr val="21262D"/>
          </a:solidFill>
          <a:ln w="12700">
            <a:solidFill>
              <a:srgbClr val="161B22"/>
            </a:solidFill>
            <a:prstDash val="solid"/>
          </a:ln>
        </p:spPr>
        <p:txBody>
          <a:bodyPr/>
          <a:lstStyle/>
          <a:p>
            <a:endParaRPr lang="fr-FR"/>
          </a:p>
        </p:txBody>
      </p:sp>
      <p:sp>
        <p:nvSpPr>
          <p:cNvPr id="42" name="Text 40"/>
          <p:cNvSpPr/>
          <p:nvPr/>
        </p:nvSpPr>
        <p:spPr>
          <a:xfrm>
            <a:off x="1060704" y="2231136"/>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43" name="Shape 41"/>
          <p:cNvSpPr/>
          <p:nvPr/>
        </p:nvSpPr>
        <p:spPr>
          <a:xfrm>
            <a:off x="1408176" y="2231136"/>
            <a:ext cx="347472" cy="347472"/>
          </a:xfrm>
          <a:prstGeom prst="rect">
            <a:avLst/>
          </a:prstGeom>
          <a:solidFill>
            <a:srgbClr val="21262D"/>
          </a:solidFill>
          <a:ln w="12700">
            <a:solidFill>
              <a:srgbClr val="161B22"/>
            </a:solidFill>
            <a:prstDash val="solid"/>
          </a:ln>
        </p:spPr>
        <p:txBody>
          <a:bodyPr/>
          <a:lstStyle/>
          <a:p>
            <a:endParaRPr lang="fr-FR"/>
          </a:p>
        </p:txBody>
      </p:sp>
      <p:sp>
        <p:nvSpPr>
          <p:cNvPr id="44" name="Text 42"/>
          <p:cNvSpPr/>
          <p:nvPr/>
        </p:nvSpPr>
        <p:spPr>
          <a:xfrm>
            <a:off x="1408176" y="2231136"/>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45" name="Shape 43"/>
          <p:cNvSpPr/>
          <p:nvPr/>
        </p:nvSpPr>
        <p:spPr>
          <a:xfrm>
            <a:off x="1755648" y="2231136"/>
            <a:ext cx="347472" cy="347472"/>
          </a:xfrm>
          <a:prstGeom prst="rect">
            <a:avLst/>
          </a:prstGeom>
          <a:solidFill>
            <a:srgbClr val="3FB950"/>
          </a:solidFill>
          <a:ln w="12700">
            <a:solidFill>
              <a:srgbClr val="161B22"/>
            </a:solidFill>
            <a:prstDash val="solid"/>
          </a:ln>
        </p:spPr>
        <p:txBody>
          <a:bodyPr/>
          <a:lstStyle/>
          <a:p>
            <a:endParaRPr lang="fr-FR"/>
          </a:p>
        </p:txBody>
      </p:sp>
      <p:sp>
        <p:nvSpPr>
          <p:cNvPr id="46" name="Text 44"/>
          <p:cNvSpPr/>
          <p:nvPr/>
        </p:nvSpPr>
        <p:spPr>
          <a:xfrm>
            <a:off x="1755648" y="2231136"/>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47" name="Shape 45"/>
          <p:cNvSpPr/>
          <p:nvPr/>
        </p:nvSpPr>
        <p:spPr>
          <a:xfrm>
            <a:off x="365760" y="2578608"/>
            <a:ext cx="347472" cy="347472"/>
          </a:xfrm>
          <a:prstGeom prst="rect">
            <a:avLst/>
          </a:prstGeom>
          <a:solidFill>
            <a:srgbClr val="3FB950"/>
          </a:solidFill>
          <a:ln w="12700">
            <a:solidFill>
              <a:srgbClr val="161B22"/>
            </a:solidFill>
            <a:prstDash val="solid"/>
          </a:ln>
        </p:spPr>
        <p:txBody>
          <a:bodyPr/>
          <a:lstStyle/>
          <a:p>
            <a:endParaRPr lang="fr-FR"/>
          </a:p>
        </p:txBody>
      </p:sp>
      <p:sp>
        <p:nvSpPr>
          <p:cNvPr id="48" name="Text 46"/>
          <p:cNvSpPr/>
          <p:nvPr/>
        </p:nvSpPr>
        <p:spPr>
          <a:xfrm>
            <a:off x="365760" y="2578608"/>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49" name="Shape 47"/>
          <p:cNvSpPr/>
          <p:nvPr/>
        </p:nvSpPr>
        <p:spPr>
          <a:xfrm>
            <a:off x="713232" y="2578608"/>
            <a:ext cx="347472" cy="347472"/>
          </a:xfrm>
          <a:prstGeom prst="rect">
            <a:avLst/>
          </a:prstGeom>
          <a:solidFill>
            <a:srgbClr val="21262D"/>
          </a:solidFill>
          <a:ln w="12700">
            <a:solidFill>
              <a:srgbClr val="161B22"/>
            </a:solidFill>
            <a:prstDash val="solid"/>
          </a:ln>
        </p:spPr>
        <p:txBody>
          <a:bodyPr/>
          <a:lstStyle/>
          <a:p>
            <a:endParaRPr lang="fr-FR"/>
          </a:p>
        </p:txBody>
      </p:sp>
      <p:sp>
        <p:nvSpPr>
          <p:cNvPr id="50" name="Text 48"/>
          <p:cNvSpPr/>
          <p:nvPr/>
        </p:nvSpPr>
        <p:spPr>
          <a:xfrm>
            <a:off x="713232" y="2578608"/>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51" name="Shape 49"/>
          <p:cNvSpPr/>
          <p:nvPr/>
        </p:nvSpPr>
        <p:spPr>
          <a:xfrm>
            <a:off x="1060704" y="2578608"/>
            <a:ext cx="347472" cy="347472"/>
          </a:xfrm>
          <a:prstGeom prst="rect">
            <a:avLst/>
          </a:prstGeom>
          <a:solidFill>
            <a:srgbClr val="3FB950"/>
          </a:solidFill>
          <a:ln w="12700">
            <a:solidFill>
              <a:srgbClr val="161B22"/>
            </a:solidFill>
            <a:prstDash val="solid"/>
          </a:ln>
        </p:spPr>
        <p:txBody>
          <a:bodyPr/>
          <a:lstStyle/>
          <a:p>
            <a:endParaRPr lang="fr-FR"/>
          </a:p>
        </p:txBody>
      </p:sp>
      <p:sp>
        <p:nvSpPr>
          <p:cNvPr id="52" name="Text 50"/>
          <p:cNvSpPr/>
          <p:nvPr/>
        </p:nvSpPr>
        <p:spPr>
          <a:xfrm>
            <a:off x="1060704" y="2578608"/>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53" name="Shape 51"/>
          <p:cNvSpPr/>
          <p:nvPr/>
        </p:nvSpPr>
        <p:spPr>
          <a:xfrm>
            <a:off x="1408176" y="2578608"/>
            <a:ext cx="347472" cy="347472"/>
          </a:xfrm>
          <a:prstGeom prst="rect">
            <a:avLst/>
          </a:prstGeom>
          <a:solidFill>
            <a:srgbClr val="3FB950"/>
          </a:solidFill>
          <a:ln w="12700">
            <a:solidFill>
              <a:srgbClr val="161B22"/>
            </a:solidFill>
            <a:prstDash val="solid"/>
          </a:ln>
        </p:spPr>
        <p:txBody>
          <a:bodyPr/>
          <a:lstStyle/>
          <a:p>
            <a:endParaRPr lang="fr-FR"/>
          </a:p>
        </p:txBody>
      </p:sp>
      <p:sp>
        <p:nvSpPr>
          <p:cNvPr id="54" name="Text 52"/>
          <p:cNvSpPr/>
          <p:nvPr/>
        </p:nvSpPr>
        <p:spPr>
          <a:xfrm>
            <a:off x="1408176" y="2578608"/>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55" name="Shape 53"/>
          <p:cNvSpPr/>
          <p:nvPr/>
        </p:nvSpPr>
        <p:spPr>
          <a:xfrm>
            <a:off x="1755648" y="2578608"/>
            <a:ext cx="347472" cy="347472"/>
          </a:xfrm>
          <a:prstGeom prst="rect">
            <a:avLst/>
          </a:prstGeom>
          <a:solidFill>
            <a:srgbClr val="21262D"/>
          </a:solidFill>
          <a:ln w="12700">
            <a:solidFill>
              <a:srgbClr val="161B22"/>
            </a:solidFill>
            <a:prstDash val="solid"/>
          </a:ln>
        </p:spPr>
        <p:txBody>
          <a:bodyPr/>
          <a:lstStyle/>
          <a:p>
            <a:endParaRPr lang="fr-FR"/>
          </a:p>
        </p:txBody>
      </p:sp>
      <p:sp>
        <p:nvSpPr>
          <p:cNvPr id="56" name="Text 54"/>
          <p:cNvSpPr/>
          <p:nvPr/>
        </p:nvSpPr>
        <p:spPr>
          <a:xfrm>
            <a:off x="1755648" y="2578608"/>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57" name="Shape 55"/>
          <p:cNvSpPr/>
          <p:nvPr/>
        </p:nvSpPr>
        <p:spPr>
          <a:xfrm>
            <a:off x="365760" y="1188720"/>
            <a:ext cx="1042416" cy="1042416"/>
          </a:xfrm>
          <a:prstGeom prst="rect">
            <a:avLst/>
          </a:prstGeom>
          <a:solidFill>
            <a:srgbClr val="3A86FF">
              <a:alpha val="25000"/>
            </a:srgbClr>
          </a:solidFill>
          <a:ln w="25400">
            <a:solidFill>
              <a:srgbClr val="58A6FF"/>
            </a:solidFill>
            <a:prstDash val="solid"/>
          </a:ln>
        </p:spPr>
        <p:txBody>
          <a:bodyPr/>
          <a:lstStyle/>
          <a:p>
            <a:endParaRPr lang="fr-FR"/>
          </a:p>
        </p:txBody>
      </p:sp>
      <p:sp>
        <p:nvSpPr>
          <p:cNvPr id="58" name="Text 56"/>
          <p:cNvSpPr/>
          <p:nvPr/>
        </p:nvSpPr>
        <p:spPr>
          <a:xfrm>
            <a:off x="2194560" y="2103120"/>
            <a:ext cx="320040" cy="457200"/>
          </a:xfrm>
          <a:prstGeom prst="rect">
            <a:avLst/>
          </a:prstGeom>
          <a:noFill/>
          <a:ln/>
        </p:spPr>
        <p:txBody>
          <a:bodyPr wrap="square" lIns="0" tIns="0" rIns="0" bIns="0" rtlCol="0" anchor="ctr"/>
          <a:lstStyle/>
          <a:p>
            <a:pPr marL="0" indent="0" algn="ctr">
              <a:buNone/>
            </a:pPr>
            <a:r>
              <a:rPr lang="en-US" sz="2200" dirty="0">
                <a:solidFill>
                  <a:srgbClr val="E3B341"/>
                </a:solidFill>
              </a:rPr>
              <a:t>x</a:t>
            </a:r>
            <a:endParaRPr lang="en-US" sz="2200" dirty="0"/>
          </a:p>
        </p:txBody>
      </p:sp>
      <p:sp>
        <p:nvSpPr>
          <p:cNvPr id="59" name="Text 57"/>
          <p:cNvSpPr/>
          <p:nvPr/>
        </p:nvSpPr>
        <p:spPr>
          <a:xfrm>
            <a:off x="2514600" y="1252728"/>
            <a:ext cx="1554480" cy="228600"/>
          </a:xfrm>
          <a:prstGeom prst="rect">
            <a:avLst/>
          </a:prstGeom>
          <a:noFill/>
          <a:ln/>
        </p:spPr>
        <p:txBody>
          <a:bodyPr wrap="square" lIns="0" tIns="0" rIns="0" bIns="0" rtlCol="0" anchor="ctr"/>
          <a:lstStyle/>
          <a:p>
            <a:pPr marL="0" indent="0">
              <a:buNone/>
            </a:pPr>
            <a:r>
              <a:rPr lang="en-US" sz="900" dirty="0">
                <a:solidFill>
                  <a:srgbClr val="8B949E"/>
                </a:solidFill>
              </a:rPr>
              <a:t>Filter (3x3)</a:t>
            </a:r>
            <a:endParaRPr lang="en-US" sz="900" dirty="0"/>
          </a:p>
        </p:txBody>
      </p:sp>
      <p:sp>
        <p:nvSpPr>
          <p:cNvPr id="60" name="Shape 58"/>
          <p:cNvSpPr/>
          <p:nvPr/>
        </p:nvSpPr>
        <p:spPr>
          <a:xfrm>
            <a:off x="2514600" y="1508760"/>
            <a:ext cx="347472" cy="347472"/>
          </a:xfrm>
          <a:prstGeom prst="rect">
            <a:avLst/>
          </a:prstGeom>
          <a:solidFill>
            <a:srgbClr val="58A6FF"/>
          </a:solidFill>
          <a:ln w="12700">
            <a:solidFill>
              <a:srgbClr val="161B22"/>
            </a:solidFill>
            <a:prstDash val="solid"/>
          </a:ln>
        </p:spPr>
        <p:txBody>
          <a:bodyPr/>
          <a:lstStyle/>
          <a:p>
            <a:endParaRPr lang="fr-FR"/>
          </a:p>
        </p:txBody>
      </p:sp>
      <p:sp>
        <p:nvSpPr>
          <p:cNvPr id="61" name="Text 59"/>
          <p:cNvSpPr/>
          <p:nvPr/>
        </p:nvSpPr>
        <p:spPr>
          <a:xfrm>
            <a:off x="2514600" y="1508760"/>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62" name="Shape 60"/>
          <p:cNvSpPr/>
          <p:nvPr/>
        </p:nvSpPr>
        <p:spPr>
          <a:xfrm>
            <a:off x="2862072" y="1508760"/>
            <a:ext cx="347472" cy="347472"/>
          </a:xfrm>
          <a:prstGeom prst="rect">
            <a:avLst/>
          </a:prstGeom>
          <a:solidFill>
            <a:srgbClr val="21262D"/>
          </a:solidFill>
          <a:ln w="12700">
            <a:solidFill>
              <a:srgbClr val="161B22"/>
            </a:solidFill>
            <a:prstDash val="solid"/>
          </a:ln>
        </p:spPr>
        <p:txBody>
          <a:bodyPr/>
          <a:lstStyle/>
          <a:p>
            <a:endParaRPr lang="fr-FR"/>
          </a:p>
        </p:txBody>
      </p:sp>
      <p:sp>
        <p:nvSpPr>
          <p:cNvPr id="63" name="Text 61"/>
          <p:cNvSpPr/>
          <p:nvPr/>
        </p:nvSpPr>
        <p:spPr>
          <a:xfrm>
            <a:off x="2862072" y="1508760"/>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64" name="Shape 62"/>
          <p:cNvSpPr/>
          <p:nvPr/>
        </p:nvSpPr>
        <p:spPr>
          <a:xfrm>
            <a:off x="3209544" y="1508760"/>
            <a:ext cx="347472" cy="347472"/>
          </a:xfrm>
          <a:prstGeom prst="rect">
            <a:avLst/>
          </a:prstGeom>
          <a:solidFill>
            <a:srgbClr val="FF7B72"/>
          </a:solidFill>
          <a:ln w="12700">
            <a:solidFill>
              <a:srgbClr val="161B22"/>
            </a:solidFill>
            <a:prstDash val="solid"/>
          </a:ln>
        </p:spPr>
        <p:txBody>
          <a:bodyPr/>
          <a:lstStyle/>
          <a:p>
            <a:endParaRPr lang="fr-FR"/>
          </a:p>
        </p:txBody>
      </p:sp>
      <p:sp>
        <p:nvSpPr>
          <p:cNvPr id="65" name="Text 63"/>
          <p:cNvSpPr/>
          <p:nvPr/>
        </p:nvSpPr>
        <p:spPr>
          <a:xfrm>
            <a:off x="3209544" y="1508760"/>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66" name="Shape 64"/>
          <p:cNvSpPr/>
          <p:nvPr/>
        </p:nvSpPr>
        <p:spPr>
          <a:xfrm>
            <a:off x="2514600" y="1856232"/>
            <a:ext cx="347472" cy="347472"/>
          </a:xfrm>
          <a:prstGeom prst="rect">
            <a:avLst/>
          </a:prstGeom>
          <a:solidFill>
            <a:srgbClr val="58A6FF"/>
          </a:solidFill>
          <a:ln w="12700">
            <a:solidFill>
              <a:srgbClr val="161B22"/>
            </a:solidFill>
            <a:prstDash val="solid"/>
          </a:ln>
        </p:spPr>
        <p:txBody>
          <a:bodyPr/>
          <a:lstStyle/>
          <a:p>
            <a:endParaRPr lang="fr-FR"/>
          </a:p>
        </p:txBody>
      </p:sp>
      <p:sp>
        <p:nvSpPr>
          <p:cNvPr id="67" name="Text 65"/>
          <p:cNvSpPr/>
          <p:nvPr/>
        </p:nvSpPr>
        <p:spPr>
          <a:xfrm>
            <a:off x="2514600" y="1856232"/>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68" name="Shape 66"/>
          <p:cNvSpPr/>
          <p:nvPr/>
        </p:nvSpPr>
        <p:spPr>
          <a:xfrm>
            <a:off x="2862072" y="1856232"/>
            <a:ext cx="347472" cy="347472"/>
          </a:xfrm>
          <a:prstGeom prst="rect">
            <a:avLst/>
          </a:prstGeom>
          <a:solidFill>
            <a:srgbClr val="21262D"/>
          </a:solidFill>
          <a:ln w="12700">
            <a:solidFill>
              <a:srgbClr val="161B22"/>
            </a:solidFill>
            <a:prstDash val="solid"/>
          </a:ln>
        </p:spPr>
        <p:txBody>
          <a:bodyPr/>
          <a:lstStyle/>
          <a:p>
            <a:endParaRPr lang="fr-FR"/>
          </a:p>
        </p:txBody>
      </p:sp>
      <p:sp>
        <p:nvSpPr>
          <p:cNvPr id="69" name="Text 67"/>
          <p:cNvSpPr/>
          <p:nvPr/>
        </p:nvSpPr>
        <p:spPr>
          <a:xfrm>
            <a:off x="2862072" y="1856232"/>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70" name="Shape 68"/>
          <p:cNvSpPr/>
          <p:nvPr/>
        </p:nvSpPr>
        <p:spPr>
          <a:xfrm>
            <a:off x="3209544" y="1856232"/>
            <a:ext cx="347472" cy="347472"/>
          </a:xfrm>
          <a:prstGeom prst="rect">
            <a:avLst/>
          </a:prstGeom>
          <a:solidFill>
            <a:srgbClr val="FF7B72"/>
          </a:solidFill>
          <a:ln w="12700">
            <a:solidFill>
              <a:srgbClr val="161B22"/>
            </a:solidFill>
            <a:prstDash val="solid"/>
          </a:ln>
        </p:spPr>
        <p:txBody>
          <a:bodyPr/>
          <a:lstStyle/>
          <a:p>
            <a:endParaRPr lang="fr-FR"/>
          </a:p>
        </p:txBody>
      </p:sp>
      <p:sp>
        <p:nvSpPr>
          <p:cNvPr id="71" name="Text 69"/>
          <p:cNvSpPr/>
          <p:nvPr/>
        </p:nvSpPr>
        <p:spPr>
          <a:xfrm>
            <a:off x="3209544" y="1856232"/>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72" name="Shape 70"/>
          <p:cNvSpPr/>
          <p:nvPr/>
        </p:nvSpPr>
        <p:spPr>
          <a:xfrm>
            <a:off x="2514600" y="2203704"/>
            <a:ext cx="347472" cy="347472"/>
          </a:xfrm>
          <a:prstGeom prst="rect">
            <a:avLst/>
          </a:prstGeom>
          <a:solidFill>
            <a:srgbClr val="58A6FF"/>
          </a:solidFill>
          <a:ln w="12700">
            <a:solidFill>
              <a:srgbClr val="161B22"/>
            </a:solidFill>
            <a:prstDash val="solid"/>
          </a:ln>
        </p:spPr>
        <p:txBody>
          <a:bodyPr/>
          <a:lstStyle/>
          <a:p>
            <a:endParaRPr lang="fr-FR"/>
          </a:p>
        </p:txBody>
      </p:sp>
      <p:sp>
        <p:nvSpPr>
          <p:cNvPr id="73" name="Text 71"/>
          <p:cNvSpPr/>
          <p:nvPr/>
        </p:nvSpPr>
        <p:spPr>
          <a:xfrm>
            <a:off x="2514600" y="2203704"/>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74" name="Shape 72"/>
          <p:cNvSpPr/>
          <p:nvPr/>
        </p:nvSpPr>
        <p:spPr>
          <a:xfrm>
            <a:off x="2862072" y="2203704"/>
            <a:ext cx="347472" cy="347472"/>
          </a:xfrm>
          <a:prstGeom prst="rect">
            <a:avLst/>
          </a:prstGeom>
          <a:solidFill>
            <a:srgbClr val="21262D"/>
          </a:solidFill>
          <a:ln w="12700">
            <a:solidFill>
              <a:srgbClr val="161B22"/>
            </a:solidFill>
            <a:prstDash val="solid"/>
          </a:ln>
        </p:spPr>
        <p:txBody>
          <a:bodyPr/>
          <a:lstStyle/>
          <a:p>
            <a:endParaRPr lang="fr-FR"/>
          </a:p>
        </p:txBody>
      </p:sp>
      <p:sp>
        <p:nvSpPr>
          <p:cNvPr id="75" name="Text 73"/>
          <p:cNvSpPr/>
          <p:nvPr/>
        </p:nvSpPr>
        <p:spPr>
          <a:xfrm>
            <a:off x="2862072" y="2203704"/>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76" name="Shape 74"/>
          <p:cNvSpPr/>
          <p:nvPr/>
        </p:nvSpPr>
        <p:spPr>
          <a:xfrm>
            <a:off x="3209544" y="2203704"/>
            <a:ext cx="347472" cy="347472"/>
          </a:xfrm>
          <a:prstGeom prst="rect">
            <a:avLst/>
          </a:prstGeom>
          <a:solidFill>
            <a:srgbClr val="FF7B72"/>
          </a:solidFill>
          <a:ln w="12700">
            <a:solidFill>
              <a:srgbClr val="161B22"/>
            </a:solidFill>
            <a:prstDash val="solid"/>
          </a:ln>
        </p:spPr>
        <p:txBody>
          <a:bodyPr/>
          <a:lstStyle/>
          <a:p>
            <a:endParaRPr lang="fr-FR"/>
          </a:p>
        </p:txBody>
      </p:sp>
      <p:sp>
        <p:nvSpPr>
          <p:cNvPr id="77" name="Text 75"/>
          <p:cNvSpPr/>
          <p:nvPr/>
        </p:nvSpPr>
        <p:spPr>
          <a:xfrm>
            <a:off x="3209544" y="2203704"/>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78" name="Text 76"/>
          <p:cNvSpPr/>
          <p:nvPr/>
        </p:nvSpPr>
        <p:spPr>
          <a:xfrm>
            <a:off x="3657600" y="2103120"/>
            <a:ext cx="320040" cy="457200"/>
          </a:xfrm>
          <a:prstGeom prst="rect">
            <a:avLst/>
          </a:prstGeom>
          <a:noFill/>
          <a:ln/>
        </p:spPr>
        <p:txBody>
          <a:bodyPr wrap="square" lIns="0" tIns="0" rIns="0" bIns="0" rtlCol="0" anchor="ctr"/>
          <a:lstStyle/>
          <a:p>
            <a:pPr marL="0" indent="0" algn="ctr">
              <a:buNone/>
            </a:pPr>
            <a:r>
              <a:rPr lang="en-US" sz="2200" dirty="0">
                <a:solidFill>
                  <a:srgbClr val="E3B341"/>
                </a:solidFill>
              </a:rPr>
              <a:t>=</a:t>
            </a:r>
            <a:endParaRPr lang="en-US" sz="2200" dirty="0"/>
          </a:p>
        </p:txBody>
      </p:sp>
      <p:sp>
        <p:nvSpPr>
          <p:cNvPr id="79" name="Text 77"/>
          <p:cNvSpPr/>
          <p:nvPr/>
        </p:nvSpPr>
        <p:spPr>
          <a:xfrm>
            <a:off x="3977640" y="1252728"/>
            <a:ext cx="1554480" cy="228600"/>
          </a:xfrm>
          <a:prstGeom prst="rect">
            <a:avLst/>
          </a:prstGeom>
          <a:noFill/>
          <a:ln/>
        </p:spPr>
        <p:txBody>
          <a:bodyPr wrap="square" lIns="0" tIns="0" rIns="0" bIns="0" rtlCol="0" anchor="ctr"/>
          <a:lstStyle/>
          <a:p>
            <a:pPr marL="0" indent="0">
              <a:buNone/>
            </a:pPr>
            <a:r>
              <a:rPr lang="en-US" sz="900" dirty="0">
                <a:solidFill>
                  <a:srgbClr val="8B949E"/>
                </a:solidFill>
              </a:rPr>
              <a:t>Feature Map (3x3)</a:t>
            </a:r>
            <a:endParaRPr lang="en-US" sz="900" dirty="0"/>
          </a:p>
        </p:txBody>
      </p:sp>
      <p:sp>
        <p:nvSpPr>
          <p:cNvPr id="80" name="Shape 78"/>
          <p:cNvSpPr/>
          <p:nvPr/>
        </p:nvSpPr>
        <p:spPr>
          <a:xfrm>
            <a:off x="3977640" y="1508760"/>
            <a:ext cx="347472" cy="347472"/>
          </a:xfrm>
          <a:prstGeom prst="rect">
            <a:avLst/>
          </a:prstGeom>
          <a:solidFill>
            <a:srgbClr val="39D0B0"/>
          </a:solidFill>
          <a:ln w="12700">
            <a:solidFill>
              <a:srgbClr val="161B22"/>
            </a:solidFill>
            <a:prstDash val="solid"/>
          </a:ln>
        </p:spPr>
        <p:txBody>
          <a:bodyPr/>
          <a:lstStyle/>
          <a:p>
            <a:endParaRPr lang="fr-FR"/>
          </a:p>
        </p:txBody>
      </p:sp>
      <p:sp>
        <p:nvSpPr>
          <p:cNvPr id="81" name="Text 79"/>
          <p:cNvSpPr/>
          <p:nvPr/>
        </p:nvSpPr>
        <p:spPr>
          <a:xfrm>
            <a:off x="3977640" y="1508760"/>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2</a:t>
            </a:r>
            <a:endParaRPr lang="en-US" sz="900" dirty="0"/>
          </a:p>
        </p:txBody>
      </p:sp>
      <p:sp>
        <p:nvSpPr>
          <p:cNvPr id="82" name="Shape 80"/>
          <p:cNvSpPr/>
          <p:nvPr/>
        </p:nvSpPr>
        <p:spPr>
          <a:xfrm>
            <a:off x="4325112" y="1508760"/>
            <a:ext cx="347472" cy="347472"/>
          </a:xfrm>
          <a:prstGeom prst="rect">
            <a:avLst/>
          </a:prstGeom>
          <a:solidFill>
            <a:srgbClr val="39D0B0">
              <a:alpha val="20000"/>
            </a:srgbClr>
          </a:solidFill>
          <a:ln w="12700">
            <a:solidFill>
              <a:srgbClr val="161B22"/>
            </a:solidFill>
            <a:prstDash val="solid"/>
          </a:ln>
        </p:spPr>
        <p:txBody>
          <a:bodyPr/>
          <a:lstStyle/>
          <a:p>
            <a:endParaRPr lang="fr-FR"/>
          </a:p>
        </p:txBody>
      </p:sp>
      <p:sp>
        <p:nvSpPr>
          <p:cNvPr id="83" name="Text 81"/>
          <p:cNvSpPr/>
          <p:nvPr/>
        </p:nvSpPr>
        <p:spPr>
          <a:xfrm>
            <a:off x="4325112" y="1508760"/>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84" name="Shape 82"/>
          <p:cNvSpPr/>
          <p:nvPr/>
        </p:nvSpPr>
        <p:spPr>
          <a:xfrm>
            <a:off x="4672584" y="1508760"/>
            <a:ext cx="347472" cy="347472"/>
          </a:xfrm>
          <a:prstGeom prst="rect">
            <a:avLst/>
          </a:prstGeom>
          <a:solidFill>
            <a:srgbClr val="39D0B0">
              <a:alpha val="20000"/>
            </a:srgbClr>
          </a:solidFill>
          <a:ln w="12700">
            <a:solidFill>
              <a:srgbClr val="161B22"/>
            </a:solidFill>
            <a:prstDash val="solid"/>
          </a:ln>
        </p:spPr>
        <p:txBody>
          <a:bodyPr/>
          <a:lstStyle/>
          <a:p>
            <a:endParaRPr lang="fr-FR"/>
          </a:p>
        </p:txBody>
      </p:sp>
      <p:sp>
        <p:nvSpPr>
          <p:cNvPr id="85" name="Text 83"/>
          <p:cNvSpPr/>
          <p:nvPr/>
        </p:nvSpPr>
        <p:spPr>
          <a:xfrm>
            <a:off x="4672584" y="1508760"/>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86" name="Shape 84"/>
          <p:cNvSpPr/>
          <p:nvPr/>
        </p:nvSpPr>
        <p:spPr>
          <a:xfrm>
            <a:off x="3977640" y="1856232"/>
            <a:ext cx="347472" cy="347472"/>
          </a:xfrm>
          <a:prstGeom prst="rect">
            <a:avLst/>
          </a:prstGeom>
          <a:solidFill>
            <a:srgbClr val="39D0B0">
              <a:alpha val="60000"/>
            </a:srgbClr>
          </a:solidFill>
          <a:ln w="12700">
            <a:solidFill>
              <a:srgbClr val="161B22"/>
            </a:solidFill>
            <a:prstDash val="solid"/>
          </a:ln>
        </p:spPr>
        <p:txBody>
          <a:bodyPr/>
          <a:lstStyle/>
          <a:p>
            <a:endParaRPr lang="fr-FR"/>
          </a:p>
        </p:txBody>
      </p:sp>
      <p:sp>
        <p:nvSpPr>
          <p:cNvPr id="87" name="Text 85"/>
          <p:cNvSpPr/>
          <p:nvPr/>
        </p:nvSpPr>
        <p:spPr>
          <a:xfrm>
            <a:off x="3977640" y="1856232"/>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88" name="Shape 86"/>
          <p:cNvSpPr/>
          <p:nvPr/>
        </p:nvSpPr>
        <p:spPr>
          <a:xfrm>
            <a:off x="4325112" y="1856232"/>
            <a:ext cx="347472" cy="347472"/>
          </a:xfrm>
          <a:prstGeom prst="rect">
            <a:avLst/>
          </a:prstGeom>
          <a:solidFill>
            <a:srgbClr val="39D0B0"/>
          </a:solidFill>
          <a:ln w="12700">
            <a:solidFill>
              <a:srgbClr val="161B22"/>
            </a:solidFill>
            <a:prstDash val="solid"/>
          </a:ln>
        </p:spPr>
        <p:txBody>
          <a:bodyPr/>
          <a:lstStyle/>
          <a:p>
            <a:endParaRPr lang="fr-FR"/>
          </a:p>
        </p:txBody>
      </p:sp>
      <p:sp>
        <p:nvSpPr>
          <p:cNvPr id="89" name="Text 87"/>
          <p:cNvSpPr/>
          <p:nvPr/>
        </p:nvSpPr>
        <p:spPr>
          <a:xfrm>
            <a:off x="4325112" y="1856232"/>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2</a:t>
            </a:r>
            <a:endParaRPr lang="en-US" sz="900" dirty="0"/>
          </a:p>
        </p:txBody>
      </p:sp>
      <p:sp>
        <p:nvSpPr>
          <p:cNvPr id="90" name="Shape 88"/>
          <p:cNvSpPr/>
          <p:nvPr/>
        </p:nvSpPr>
        <p:spPr>
          <a:xfrm>
            <a:off x="4672584" y="1856232"/>
            <a:ext cx="347472" cy="347472"/>
          </a:xfrm>
          <a:prstGeom prst="rect">
            <a:avLst/>
          </a:prstGeom>
          <a:solidFill>
            <a:srgbClr val="39D0B0">
              <a:alpha val="20000"/>
            </a:srgbClr>
          </a:solidFill>
          <a:ln w="12700">
            <a:solidFill>
              <a:srgbClr val="161B22"/>
            </a:solidFill>
            <a:prstDash val="solid"/>
          </a:ln>
        </p:spPr>
        <p:txBody>
          <a:bodyPr/>
          <a:lstStyle/>
          <a:p>
            <a:endParaRPr lang="fr-FR"/>
          </a:p>
        </p:txBody>
      </p:sp>
      <p:sp>
        <p:nvSpPr>
          <p:cNvPr id="91" name="Text 89"/>
          <p:cNvSpPr/>
          <p:nvPr/>
        </p:nvSpPr>
        <p:spPr>
          <a:xfrm>
            <a:off x="4672584" y="1856232"/>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92" name="Shape 90"/>
          <p:cNvSpPr/>
          <p:nvPr/>
        </p:nvSpPr>
        <p:spPr>
          <a:xfrm>
            <a:off x="3977640" y="2203704"/>
            <a:ext cx="347472" cy="347472"/>
          </a:xfrm>
          <a:prstGeom prst="rect">
            <a:avLst/>
          </a:prstGeom>
          <a:solidFill>
            <a:srgbClr val="39D0B0">
              <a:alpha val="20000"/>
            </a:srgbClr>
          </a:solidFill>
          <a:ln w="12700">
            <a:solidFill>
              <a:srgbClr val="161B22"/>
            </a:solidFill>
            <a:prstDash val="solid"/>
          </a:ln>
        </p:spPr>
        <p:txBody>
          <a:bodyPr/>
          <a:lstStyle/>
          <a:p>
            <a:endParaRPr lang="fr-FR"/>
          </a:p>
        </p:txBody>
      </p:sp>
      <p:sp>
        <p:nvSpPr>
          <p:cNvPr id="93" name="Text 91"/>
          <p:cNvSpPr/>
          <p:nvPr/>
        </p:nvSpPr>
        <p:spPr>
          <a:xfrm>
            <a:off x="3977640" y="2203704"/>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0</a:t>
            </a:r>
            <a:endParaRPr lang="en-US" sz="900" dirty="0"/>
          </a:p>
        </p:txBody>
      </p:sp>
      <p:sp>
        <p:nvSpPr>
          <p:cNvPr id="94" name="Shape 92"/>
          <p:cNvSpPr/>
          <p:nvPr/>
        </p:nvSpPr>
        <p:spPr>
          <a:xfrm>
            <a:off x="4325112" y="2203704"/>
            <a:ext cx="347472" cy="347472"/>
          </a:xfrm>
          <a:prstGeom prst="rect">
            <a:avLst/>
          </a:prstGeom>
          <a:solidFill>
            <a:srgbClr val="39D0B0">
              <a:alpha val="60000"/>
            </a:srgbClr>
          </a:solidFill>
          <a:ln w="12700">
            <a:solidFill>
              <a:srgbClr val="161B22"/>
            </a:solidFill>
            <a:prstDash val="solid"/>
          </a:ln>
        </p:spPr>
        <p:txBody>
          <a:bodyPr/>
          <a:lstStyle/>
          <a:p>
            <a:endParaRPr lang="fr-FR"/>
          </a:p>
        </p:txBody>
      </p:sp>
      <p:sp>
        <p:nvSpPr>
          <p:cNvPr id="95" name="Text 93"/>
          <p:cNvSpPr/>
          <p:nvPr/>
        </p:nvSpPr>
        <p:spPr>
          <a:xfrm>
            <a:off x="4325112" y="2203704"/>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1</a:t>
            </a:r>
            <a:endParaRPr lang="en-US" sz="900" dirty="0"/>
          </a:p>
        </p:txBody>
      </p:sp>
      <p:sp>
        <p:nvSpPr>
          <p:cNvPr id="96" name="Shape 94"/>
          <p:cNvSpPr/>
          <p:nvPr/>
        </p:nvSpPr>
        <p:spPr>
          <a:xfrm>
            <a:off x="4672584" y="2203704"/>
            <a:ext cx="347472" cy="347472"/>
          </a:xfrm>
          <a:prstGeom prst="rect">
            <a:avLst/>
          </a:prstGeom>
          <a:solidFill>
            <a:srgbClr val="39D0B0"/>
          </a:solidFill>
          <a:ln w="12700">
            <a:solidFill>
              <a:srgbClr val="161B22"/>
            </a:solidFill>
            <a:prstDash val="solid"/>
          </a:ln>
        </p:spPr>
        <p:txBody>
          <a:bodyPr/>
          <a:lstStyle/>
          <a:p>
            <a:endParaRPr lang="fr-FR"/>
          </a:p>
        </p:txBody>
      </p:sp>
      <p:sp>
        <p:nvSpPr>
          <p:cNvPr id="97" name="Text 95"/>
          <p:cNvSpPr/>
          <p:nvPr/>
        </p:nvSpPr>
        <p:spPr>
          <a:xfrm>
            <a:off x="4672584" y="2203704"/>
            <a:ext cx="347472" cy="347472"/>
          </a:xfrm>
          <a:prstGeom prst="rect">
            <a:avLst/>
          </a:prstGeom>
          <a:noFill/>
          <a:ln/>
        </p:spPr>
        <p:txBody>
          <a:bodyPr wrap="square" lIns="0" tIns="0" rIns="0" bIns="0" rtlCol="0" anchor="ctr"/>
          <a:lstStyle/>
          <a:p>
            <a:pPr marL="0" indent="0" algn="ctr">
              <a:buNone/>
            </a:pPr>
            <a:r>
              <a:rPr lang="en-US" sz="900" dirty="0">
                <a:solidFill>
                  <a:srgbClr val="F0F6FC"/>
                </a:solidFill>
              </a:rPr>
              <a:t>2</a:t>
            </a:r>
            <a:endParaRPr lang="en-US" sz="900" dirty="0"/>
          </a:p>
        </p:txBody>
      </p:sp>
      <p:sp>
        <p:nvSpPr>
          <p:cNvPr id="98" name="Shape 96"/>
          <p:cNvSpPr/>
          <p:nvPr/>
        </p:nvSpPr>
        <p:spPr>
          <a:xfrm>
            <a:off x="5074920" y="1170432"/>
            <a:ext cx="3749040" cy="3749040"/>
          </a:xfrm>
          <a:prstGeom prst="rect">
            <a:avLst/>
          </a:prstGeom>
          <a:solidFill>
            <a:srgbClr val="161B22"/>
          </a:solidFill>
          <a:ln w="12700">
            <a:solidFill>
              <a:srgbClr val="21262D"/>
            </a:solidFill>
            <a:prstDash val="solid"/>
          </a:ln>
          <a:effectLst>
            <a:outerShdw blurRad="127000" dist="38100" dir="8100000" algn="bl" rotWithShape="0">
              <a:srgbClr val="000000">
                <a:alpha val="35000"/>
              </a:srgbClr>
            </a:outerShdw>
          </a:effectLst>
        </p:spPr>
        <p:txBody>
          <a:bodyPr/>
          <a:lstStyle/>
          <a:p>
            <a:endParaRPr lang="fr-FR"/>
          </a:p>
        </p:txBody>
      </p:sp>
      <p:sp>
        <p:nvSpPr>
          <p:cNvPr id="99" name="Text 97"/>
          <p:cNvSpPr/>
          <p:nvPr/>
        </p:nvSpPr>
        <p:spPr>
          <a:xfrm>
            <a:off x="5166360" y="1216152"/>
            <a:ext cx="3566160" cy="320040"/>
          </a:xfrm>
          <a:prstGeom prst="rect">
            <a:avLst/>
          </a:prstGeom>
          <a:noFill/>
          <a:ln/>
        </p:spPr>
        <p:txBody>
          <a:bodyPr wrap="square" lIns="0" tIns="0" rIns="0" bIns="0" rtlCol="0" anchor="ctr"/>
          <a:lstStyle/>
          <a:p>
            <a:pPr marL="0" indent="0" algn="ctr">
              <a:buNone/>
            </a:pPr>
            <a:r>
              <a:rPr lang="en-US" sz="1000" dirty="0">
                <a:solidFill>
                  <a:srgbClr val="8B949E"/>
                </a:solidFill>
              </a:rPr>
              <a:t>Different Filters Detect Different Features</a:t>
            </a:r>
            <a:endParaRPr lang="en-US" sz="1000" dirty="0"/>
          </a:p>
        </p:txBody>
      </p:sp>
      <p:sp>
        <p:nvSpPr>
          <p:cNvPr id="100" name="Text 98"/>
          <p:cNvSpPr/>
          <p:nvPr/>
        </p:nvSpPr>
        <p:spPr>
          <a:xfrm>
            <a:off x="5166360" y="1627632"/>
            <a:ext cx="1645920" cy="320040"/>
          </a:xfrm>
          <a:prstGeom prst="rect">
            <a:avLst/>
          </a:prstGeom>
          <a:noFill/>
          <a:ln/>
        </p:spPr>
        <p:txBody>
          <a:bodyPr wrap="square" lIns="0" tIns="0" rIns="0" bIns="0" rtlCol="0" anchor="ctr"/>
          <a:lstStyle/>
          <a:p>
            <a:pPr marL="0" indent="0" algn="ctr">
              <a:buNone/>
            </a:pPr>
            <a:r>
              <a:rPr lang="en-US" sz="900" b="1" dirty="0">
                <a:solidFill>
                  <a:srgbClr val="58A6FF"/>
                </a:solidFill>
              </a:rPr>
              <a:t>Horizontal</a:t>
            </a:r>
            <a:endParaRPr lang="en-US" sz="900" dirty="0"/>
          </a:p>
          <a:p>
            <a:pPr marL="0" indent="0" algn="ctr">
              <a:buNone/>
            </a:pPr>
            <a:r>
              <a:rPr lang="en-US" sz="900" b="1" dirty="0">
                <a:solidFill>
                  <a:srgbClr val="58A6FF"/>
                </a:solidFill>
              </a:rPr>
              <a:t>Edge</a:t>
            </a:r>
            <a:endParaRPr lang="en-US" sz="900" dirty="0"/>
          </a:p>
        </p:txBody>
      </p:sp>
      <p:sp>
        <p:nvSpPr>
          <p:cNvPr id="101" name="Shape 99"/>
          <p:cNvSpPr/>
          <p:nvPr/>
        </p:nvSpPr>
        <p:spPr>
          <a:xfrm>
            <a:off x="5166360" y="1947672"/>
            <a:ext cx="256032" cy="256032"/>
          </a:xfrm>
          <a:prstGeom prst="rect">
            <a:avLst/>
          </a:prstGeom>
          <a:solidFill>
            <a:srgbClr val="FF7B72"/>
          </a:solidFill>
          <a:ln w="6350">
            <a:solidFill>
              <a:srgbClr val="161B22"/>
            </a:solidFill>
            <a:prstDash val="solid"/>
          </a:ln>
        </p:spPr>
        <p:txBody>
          <a:bodyPr/>
          <a:lstStyle/>
          <a:p>
            <a:endParaRPr lang="fr-FR"/>
          </a:p>
        </p:txBody>
      </p:sp>
      <p:sp>
        <p:nvSpPr>
          <p:cNvPr id="102" name="Text 100"/>
          <p:cNvSpPr/>
          <p:nvPr/>
        </p:nvSpPr>
        <p:spPr>
          <a:xfrm>
            <a:off x="5166360" y="1947672"/>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03" name="Shape 101"/>
          <p:cNvSpPr/>
          <p:nvPr/>
        </p:nvSpPr>
        <p:spPr>
          <a:xfrm>
            <a:off x="5422392" y="1947672"/>
            <a:ext cx="256032" cy="256032"/>
          </a:xfrm>
          <a:prstGeom prst="rect">
            <a:avLst/>
          </a:prstGeom>
          <a:solidFill>
            <a:srgbClr val="FF7B72"/>
          </a:solidFill>
          <a:ln w="6350">
            <a:solidFill>
              <a:srgbClr val="161B22"/>
            </a:solidFill>
            <a:prstDash val="solid"/>
          </a:ln>
        </p:spPr>
        <p:txBody>
          <a:bodyPr/>
          <a:lstStyle/>
          <a:p>
            <a:endParaRPr lang="fr-FR"/>
          </a:p>
        </p:txBody>
      </p:sp>
      <p:sp>
        <p:nvSpPr>
          <p:cNvPr id="104" name="Text 102"/>
          <p:cNvSpPr/>
          <p:nvPr/>
        </p:nvSpPr>
        <p:spPr>
          <a:xfrm>
            <a:off x="5422392" y="1947672"/>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05" name="Shape 103"/>
          <p:cNvSpPr/>
          <p:nvPr/>
        </p:nvSpPr>
        <p:spPr>
          <a:xfrm>
            <a:off x="5678424" y="1947672"/>
            <a:ext cx="256032" cy="256032"/>
          </a:xfrm>
          <a:prstGeom prst="rect">
            <a:avLst/>
          </a:prstGeom>
          <a:solidFill>
            <a:srgbClr val="FF7B72"/>
          </a:solidFill>
          <a:ln w="6350">
            <a:solidFill>
              <a:srgbClr val="161B22"/>
            </a:solidFill>
            <a:prstDash val="solid"/>
          </a:ln>
        </p:spPr>
        <p:txBody>
          <a:bodyPr/>
          <a:lstStyle/>
          <a:p>
            <a:endParaRPr lang="fr-FR"/>
          </a:p>
        </p:txBody>
      </p:sp>
      <p:sp>
        <p:nvSpPr>
          <p:cNvPr id="106" name="Text 104"/>
          <p:cNvSpPr/>
          <p:nvPr/>
        </p:nvSpPr>
        <p:spPr>
          <a:xfrm>
            <a:off x="5678424" y="1947672"/>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07" name="Shape 105"/>
          <p:cNvSpPr/>
          <p:nvPr/>
        </p:nvSpPr>
        <p:spPr>
          <a:xfrm>
            <a:off x="5166360" y="2203704"/>
            <a:ext cx="256032" cy="256032"/>
          </a:xfrm>
          <a:prstGeom prst="rect">
            <a:avLst/>
          </a:prstGeom>
          <a:solidFill>
            <a:srgbClr val="58A6FF"/>
          </a:solidFill>
          <a:ln w="6350">
            <a:solidFill>
              <a:srgbClr val="161B22"/>
            </a:solidFill>
            <a:prstDash val="solid"/>
          </a:ln>
        </p:spPr>
        <p:txBody>
          <a:bodyPr/>
          <a:lstStyle/>
          <a:p>
            <a:endParaRPr lang="fr-FR"/>
          </a:p>
        </p:txBody>
      </p:sp>
      <p:sp>
        <p:nvSpPr>
          <p:cNvPr id="108" name="Text 106"/>
          <p:cNvSpPr/>
          <p:nvPr/>
        </p:nvSpPr>
        <p:spPr>
          <a:xfrm>
            <a:off x="5166360" y="2203704"/>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2</a:t>
            </a:r>
            <a:endParaRPr lang="en-US" sz="700" dirty="0"/>
          </a:p>
        </p:txBody>
      </p:sp>
      <p:sp>
        <p:nvSpPr>
          <p:cNvPr id="109" name="Shape 107"/>
          <p:cNvSpPr/>
          <p:nvPr/>
        </p:nvSpPr>
        <p:spPr>
          <a:xfrm>
            <a:off x="5422392" y="2203704"/>
            <a:ext cx="256032" cy="256032"/>
          </a:xfrm>
          <a:prstGeom prst="rect">
            <a:avLst/>
          </a:prstGeom>
          <a:solidFill>
            <a:srgbClr val="58A6FF"/>
          </a:solidFill>
          <a:ln w="6350">
            <a:solidFill>
              <a:srgbClr val="161B22"/>
            </a:solidFill>
            <a:prstDash val="solid"/>
          </a:ln>
        </p:spPr>
        <p:txBody>
          <a:bodyPr/>
          <a:lstStyle/>
          <a:p>
            <a:endParaRPr lang="fr-FR"/>
          </a:p>
        </p:txBody>
      </p:sp>
      <p:sp>
        <p:nvSpPr>
          <p:cNvPr id="110" name="Text 108"/>
          <p:cNvSpPr/>
          <p:nvPr/>
        </p:nvSpPr>
        <p:spPr>
          <a:xfrm>
            <a:off x="5422392" y="2203704"/>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2</a:t>
            </a:r>
            <a:endParaRPr lang="en-US" sz="700" dirty="0"/>
          </a:p>
        </p:txBody>
      </p:sp>
      <p:sp>
        <p:nvSpPr>
          <p:cNvPr id="111" name="Shape 109"/>
          <p:cNvSpPr/>
          <p:nvPr/>
        </p:nvSpPr>
        <p:spPr>
          <a:xfrm>
            <a:off x="5678424" y="2203704"/>
            <a:ext cx="256032" cy="256032"/>
          </a:xfrm>
          <a:prstGeom prst="rect">
            <a:avLst/>
          </a:prstGeom>
          <a:solidFill>
            <a:srgbClr val="58A6FF"/>
          </a:solidFill>
          <a:ln w="6350">
            <a:solidFill>
              <a:srgbClr val="161B22"/>
            </a:solidFill>
            <a:prstDash val="solid"/>
          </a:ln>
        </p:spPr>
        <p:txBody>
          <a:bodyPr/>
          <a:lstStyle/>
          <a:p>
            <a:endParaRPr lang="fr-FR"/>
          </a:p>
        </p:txBody>
      </p:sp>
      <p:sp>
        <p:nvSpPr>
          <p:cNvPr id="112" name="Text 110"/>
          <p:cNvSpPr/>
          <p:nvPr/>
        </p:nvSpPr>
        <p:spPr>
          <a:xfrm>
            <a:off x="5678424" y="2203704"/>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2</a:t>
            </a:r>
            <a:endParaRPr lang="en-US" sz="700" dirty="0"/>
          </a:p>
        </p:txBody>
      </p:sp>
      <p:sp>
        <p:nvSpPr>
          <p:cNvPr id="113" name="Shape 111"/>
          <p:cNvSpPr/>
          <p:nvPr/>
        </p:nvSpPr>
        <p:spPr>
          <a:xfrm>
            <a:off x="5166360" y="2459736"/>
            <a:ext cx="256032" cy="256032"/>
          </a:xfrm>
          <a:prstGeom prst="rect">
            <a:avLst/>
          </a:prstGeom>
          <a:solidFill>
            <a:srgbClr val="FF7B72"/>
          </a:solidFill>
          <a:ln w="6350">
            <a:solidFill>
              <a:srgbClr val="161B22"/>
            </a:solidFill>
            <a:prstDash val="solid"/>
          </a:ln>
        </p:spPr>
        <p:txBody>
          <a:bodyPr/>
          <a:lstStyle/>
          <a:p>
            <a:endParaRPr lang="fr-FR"/>
          </a:p>
        </p:txBody>
      </p:sp>
      <p:sp>
        <p:nvSpPr>
          <p:cNvPr id="114" name="Text 112"/>
          <p:cNvSpPr/>
          <p:nvPr/>
        </p:nvSpPr>
        <p:spPr>
          <a:xfrm>
            <a:off x="5166360" y="2459736"/>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15" name="Shape 113"/>
          <p:cNvSpPr/>
          <p:nvPr/>
        </p:nvSpPr>
        <p:spPr>
          <a:xfrm>
            <a:off x="5422392" y="2459736"/>
            <a:ext cx="256032" cy="256032"/>
          </a:xfrm>
          <a:prstGeom prst="rect">
            <a:avLst/>
          </a:prstGeom>
          <a:solidFill>
            <a:srgbClr val="FF7B72"/>
          </a:solidFill>
          <a:ln w="6350">
            <a:solidFill>
              <a:srgbClr val="161B22"/>
            </a:solidFill>
            <a:prstDash val="solid"/>
          </a:ln>
        </p:spPr>
        <p:txBody>
          <a:bodyPr/>
          <a:lstStyle/>
          <a:p>
            <a:endParaRPr lang="fr-FR"/>
          </a:p>
        </p:txBody>
      </p:sp>
      <p:sp>
        <p:nvSpPr>
          <p:cNvPr id="116" name="Text 114"/>
          <p:cNvSpPr/>
          <p:nvPr/>
        </p:nvSpPr>
        <p:spPr>
          <a:xfrm>
            <a:off x="5422392" y="2459736"/>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17" name="Shape 115"/>
          <p:cNvSpPr/>
          <p:nvPr/>
        </p:nvSpPr>
        <p:spPr>
          <a:xfrm>
            <a:off x="5678424" y="2459736"/>
            <a:ext cx="256032" cy="256032"/>
          </a:xfrm>
          <a:prstGeom prst="rect">
            <a:avLst/>
          </a:prstGeom>
          <a:solidFill>
            <a:srgbClr val="FF7B72"/>
          </a:solidFill>
          <a:ln w="6350">
            <a:solidFill>
              <a:srgbClr val="161B22"/>
            </a:solidFill>
            <a:prstDash val="solid"/>
          </a:ln>
        </p:spPr>
        <p:txBody>
          <a:bodyPr/>
          <a:lstStyle/>
          <a:p>
            <a:endParaRPr lang="fr-FR"/>
          </a:p>
        </p:txBody>
      </p:sp>
      <p:sp>
        <p:nvSpPr>
          <p:cNvPr id="118" name="Text 116"/>
          <p:cNvSpPr/>
          <p:nvPr/>
        </p:nvSpPr>
        <p:spPr>
          <a:xfrm>
            <a:off x="5678424" y="2459736"/>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19" name="Text 117"/>
          <p:cNvSpPr/>
          <p:nvPr/>
        </p:nvSpPr>
        <p:spPr>
          <a:xfrm>
            <a:off x="6995160" y="1627632"/>
            <a:ext cx="1645920" cy="320040"/>
          </a:xfrm>
          <a:prstGeom prst="rect">
            <a:avLst/>
          </a:prstGeom>
          <a:noFill/>
          <a:ln/>
        </p:spPr>
        <p:txBody>
          <a:bodyPr wrap="square" lIns="0" tIns="0" rIns="0" bIns="0" rtlCol="0" anchor="ctr"/>
          <a:lstStyle/>
          <a:p>
            <a:pPr marL="0" indent="0" algn="ctr">
              <a:buNone/>
            </a:pPr>
            <a:r>
              <a:rPr lang="en-US" sz="900" b="1" dirty="0">
                <a:solidFill>
                  <a:srgbClr val="BC8CFF"/>
                </a:solidFill>
              </a:rPr>
              <a:t>Vertical</a:t>
            </a:r>
            <a:endParaRPr lang="en-US" sz="900" dirty="0"/>
          </a:p>
          <a:p>
            <a:pPr marL="0" indent="0" algn="ctr">
              <a:buNone/>
            </a:pPr>
            <a:r>
              <a:rPr lang="en-US" sz="900" b="1" dirty="0">
                <a:solidFill>
                  <a:srgbClr val="BC8CFF"/>
                </a:solidFill>
              </a:rPr>
              <a:t>Edge</a:t>
            </a:r>
            <a:endParaRPr lang="en-US" sz="900" dirty="0"/>
          </a:p>
        </p:txBody>
      </p:sp>
      <p:sp>
        <p:nvSpPr>
          <p:cNvPr id="120" name="Shape 118"/>
          <p:cNvSpPr/>
          <p:nvPr/>
        </p:nvSpPr>
        <p:spPr>
          <a:xfrm>
            <a:off x="6995160" y="1947672"/>
            <a:ext cx="256032" cy="256032"/>
          </a:xfrm>
          <a:prstGeom prst="rect">
            <a:avLst/>
          </a:prstGeom>
          <a:solidFill>
            <a:srgbClr val="FF7B72"/>
          </a:solidFill>
          <a:ln w="6350">
            <a:solidFill>
              <a:srgbClr val="161B22"/>
            </a:solidFill>
            <a:prstDash val="solid"/>
          </a:ln>
        </p:spPr>
        <p:txBody>
          <a:bodyPr/>
          <a:lstStyle/>
          <a:p>
            <a:endParaRPr lang="fr-FR"/>
          </a:p>
        </p:txBody>
      </p:sp>
      <p:sp>
        <p:nvSpPr>
          <p:cNvPr id="121" name="Text 119"/>
          <p:cNvSpPr/>
          <p:nvPr/>
        </p:nvSpPr>
        <p:spPr>
          <a:xfrm>
            <a:off x="6995160" y="1947672"/>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22" name="Shape 120"/>
          <p:cNvSpPr/>
          <p:nvPr/>
        </p:nvSpPr>
        <p:spPr>
          <a:xfrm>
            <a:off x="7251192" y="1947672"/>
            <a:ext cx="256032" cy="256032"/>
          </a:xfrm>
          <a:prstGeom prst="rect">
            <a:avLst/>
          </a:prstGeom>
          <a:solidFill>
            <a:srgbClr val="BC8CFF"/>
          </a:solidFill>
          <a:ln w="6350">
            <a:solidFill>
              <a:srgbClr val="161B22"/>
            </a:solidFill>
            <a:prstDash val="solid"/>
          </a:ln>
        </p:spPr>
        <p:txBody>
          <a:bodyPr/>
          <a:lstStyle/>
          <a:p>
            <a:endParaRPr lang="fr-FR"/>
          </a:p>
        </p:txBody>
      </p:sp>
      <p:sp>
        <p:nvSpPr>
          <p:cNvPr id="123" name="Text 121"/>
          <p:cNvSpPr/>
          <p:nvPr/>
        </p:nvSpPr>
        <p:spPr>
          <a:xfrm>
            <a:off x="7251192" y="1947672"/>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2</a:t>
            </a:r>
            <a:endParaRPr lang="en-US" sz="700" dirty="0"/>
          </a:p>
        </p:txBody>
      </p:sp>
      <p:sp>
        <p:nvSpPr>
          <p:cNvPr id="124" name="Shape 122"/>
          <p:cNvSpPr/>
          <p:nvPr/>
        </p:nvSpPr>
        <p:spPr>
          <a:xfrm>
            <a:off x="7507224" y="1947672"/>
            <a:ext cx="256032" cy="256032"/>
          </a:xfrm>
          <a:prstGeom prst="rect">
            <a:avLst/>
          </a:prstGeom>
          <a:solidFill>
            <a:srgbClr val="FF7B72"/>
          </a:solidFill>
          <a:ln w="6350">
            <a:solidFill>
              <a:srgbClr val="161B22"/>
            </a:solidFill>
            <a:prstDash val="solid"/>
          </a:ln>
        </p:spPr>
        <p:txBody>
          <a:bodyPr/>
          <a:lstStyle/>
          <a:p>
            <a:endParaRPr lang="fr-FR"/>
          </a:p>
        </p:txBody>
      </p:sp>
      <p:sp>
        <p:nvSpPr>
          <p:cNvPr id="125" name="Text 123"/>
          <p:cNvSpPr/>
          <p:nvPr/>
        </p:nvSpPr>
        <p:spPr>
          <a:xfrm>
            <a:off x="7507224" y="1947672"/>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26" name="Shape 124"/>
          <p:cNvSpPr/>
          <p:nvPr/>
        </p:nvSpPr>
        <p:spPr>
          <a:xfrm>
            <a:off x="6995160" y="2203704"/>
            <a:ext cx="256032" cy="256032"/>
          </a:xfrm>
          <a:prstGeom prst="rect">
            <a:avLst/>
          </a:prstGeom>
          <a:solidFill>
            <a:srgbClr val="FF7B72"/>
          </a:solidFill>
          <a:ln w="6350">
            <a:solidFill>
              <a:srgbClr val="161B22"/>
            </a:solidFill>
            <a:prstDash val="solid"/>
          </a:ln>
        </p:spPr>
        <p:txBody>
          <a:bodyPr/>
          <a:lstStyle/>
          <a:p>
            <a:endParaRPr lang="fr-FR"/>
          </a:p>
        </p:txBody>
      </p:sp>
      <p:sp>
        <p:nvSpPr>
          <p:cNvPr id="127" name="Text 125"/>
          <p:cNvSpPr/>
          <p:nvPr/>
        </p:nvSpPr>
        <p:spPr>
          <a:xfrm>
            <a:off x="6995160" y="2203704"/>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28" name="Shape 126"/>
          <p:cNvSpPr/>
          <p:nvPr/>
        </p:nvSpPr>
        <p:spPr>
          <a:xfrm>
            <a:off x="7251192" y="2203704"/>
            <a:ext cx="256032" cy="256032"/>
          </a:xfrm>
          <a:prstGeom prst="rect">
            <a:avLst/>
          </a:prstGeom>
          <a:solidFill>
            <a:srgbClr val="BC8CFF"/>
          </a:solidFill>
          <a:ln w="6350">
            <a:solidFill>
              <a:srgbClr val="161B22"/>
            </a:solidFill>
            <a:prstDash val="solid"/>
          </a:ln>
        </p:spPr>
        <p:txBody>
          <a:bodyPr/>
          <a:lstStyle/>
          <a:p>
            <a:endParaRPr lang="fr-FR"/>
          </a:p>
        </p:txBody>
      </p:sp>
      <p:sp>
        <p:nvSpPr>
          <p:cNvPr id="129" name="Text 127"/>
          <p:cNvSpPr/>
          <p:nvPr/>
        </p:nvSpPr>
        <p:spPr>
          <a:xfrm>
            <a:off x="7251192" y="2203704"/>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2</a:t>
            </a:r>
            <a:endParaRPr lang="en-US" sz="700" dirty="0"/>
          </a:p>
        </p:txBody>
      </p:sp>
      <p:sp>
        <p:nvSpPr>
          <p:cNvPr id="130" name="Shape 128"/>
          <p:cNvSpPr/>
          <p:nvPr/>
        </p:nvSpPr>
        <p:spPr>
          <a:xfrm>
            <a:off x="7507224" y="2203704"/>
            <a:ext cx="256032" cy="256032"/>
          </a:xfrm>
          <a:prstGeom prst="rect">
            <a:avLst/>
          </a:prstGeom>
          <a:solidFill>
            <a:srgbClr val="FF7B72"/>
          </a:solidFill>
          <a:ln w="6350">
            <a:solidFill>
              <a:srgbClr val="161B22"/>
            </a:solidFill>
            <a:prstDash val="solid"/>
          </a:ln>
        </p:spPr>
        <p:txBody>
          <a:bodyPr/>
          <a:lstStyle/>
          <a:p>
            <a:endParaRPr lang="fr-FR"/>
          </a:p>
        </p:txBody>
      </p:sp>
      <p:sp>
        <p:nvSpPr>
          <p:cNvPr id="131" name="Text 129"/>
          <p:cNvSpPr/>
          <p:nvPr/>
        </p:nvSpPr>
        <p:spPr>
          <a:xfrm>
            <a:off x="7507224" y="2203704"/>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32" name="Shape 130"/>
          <p:cNvSpPr/>
          <p:nvPr/>
        </p:nvSpPr>
        <p:spPr>
          <a:xfrm>
            <a:off x="6995160" y="2459736"/>
            <a:ext cx="256032" cy="256032"/>
          </a:xfrm>
          <a:prstGeom prst="rect">
            <a:avLst/>
          </a:prstGeom>
          <a:solidFill>
            <a:srgbClr val="FF7B72"/>
          </a:solidFill>
          <a:ln w="6350">
            <a:solidFill>
              <a:srgbClr val="161B22"/>
            </a:solidFill>
            <a:prstDash val="solid"/>
          </a:ln>
        </p:spPr>
        <p:txBody>
          <a:bodyPr/>
          <a:lstStyle/>
          <a:p>
            <a:endParaRPr lang="fr-FR"/>
          </a:p>
        </p:txBody>
      </p:sp>
      <p:sp>
        <p:nvSpPr>
          <p:cNvPr id="133" name="Text 131"/>
          <p:cNvSpPr/>
          <p:nvPr/>
        </p:nvSpPr>
        <p:spPr>
          <a:xfrm>
            <a:off x="6995160" y="2459736"/>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34" name="Shape 132"/>
          <p:cNvSpPr/>
          <p:nvPr/>
        </p:nvSpPr>
        <p:spPr>
          <a:xfrm>
            <a:off x="7251192" y="2459736"/>
            <a:ext cx="256032" cy="256032"/>
          </a:xfrm>
          <a:prstGeom prst="rect">
            <a:avLst/>
          </a:prstGeom>
          <a:solidFill>
            <a:srgbClr val="BC8CFF"/>
          </a:solidFill>
          <a:ln w="6350">
            <a:solidFill>
              <a:srgbClr val="161B22"/>
            </a:solidFill>
            <a:prstDash val="solid"/>
          </a:ln>
        </p:spPr>
        <p:txBody>
          <a:bodyPr/>
          <a:lstStyle/>
          <a:p>
            <a:endParaRPr lang="fr-FR"/>
          </a:p>
        </p:txBody>
      </p:sp>
      <p:sp>
        <p:nvSpPr>
          <p:cNvPr id="135" name="Text 133"/>
          <p:cNvSpPr/>
          <p:nvPr/>
        </p:nvSpPr>
        <p:spPr>
          <a:xfrm>
            <a:off x="7251192" y="2459736"/>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2</a:t>
            </a:r>
            <a:endParaRPr lang="en-US" sz="700" dirty="0"/>
          </a:p>
        </p:txBody>
      </p:sp>
      <p:sp>
        <p:nvSpPr>
          <p:cNvPr id="136" name="Shape 134"/>
          <p:cNvSpPr/>
          <p:nvPr/>
        </p:nvSpPr>
        <p:spPr>
          <a:xfrm>
            <a:off x="7507224" y="2459736"/>
            <a:ext cx="256032" cy="256032"/>
          </a:xfrm>
          <a:prstGeom prst="rect">
            <a:avLst/>
          </a:prstGeom>
          <a:solidFill>
            <a:srgbClr val="FF7B72"/>
          </a:solidFill>
          <a:ln w="6350">
            <a:solidFill>
              <a:srgbClr val="161B22"/>
            </a:solidFill>
            <a:prstDash val="solid"/>
          </a:ln>
        </p:spPr>
        <p:txBody>
          <a:bodyPr/>
          <a:lstStyle/>
          <a:p>
            <a:endParaRPr lang="fr-FR"/>
          </a:p>
        </p:txBody>
      </p:sp>
      <p:sp>
        <p:nvSpPr>
          <p:cNvPr id="137" name="Text 135"/>
          <p:cNvSpPr/>
          <p:nvPr/>
        </p:nvSpPr>
        <p:spPr>
          <a:xfrm>
            <a:off x="7507224" y="2459736"/>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38" name="Text 136"/>
          <p:cNvSpPr/>
          <p:nvPr/>
        </p:nvSpPr>
        <p:spPr>
          <a:xfrm>
            <a:off x="5166360" y="3136392"/>
            <a:ext cx="1645920" cy="320040"/>
          </a:xfrm>
          <a:prstGeom prst="rect">
            <a:avLst/>
          </a:prstGeom>
          <a:noFill/>
          <a:ln/>
        </p:spPr>
        <p:txBody>
          <a:bodyPr wrap="square" lIns="0" tIns="0" rIns="0" bIns="0" rtlCol="0" anchor="ctr"/>
          <a:lstStyle/>
          <a:p>
            <a:pPr marL="0" indent="0" algn="ctr">
              <a:buNone/>
            </a:pPr>
            <a:r>
              <a:rPr lang="en-US" sz="900" b="1" dirty="0">
                <a:solidFill>
                  <a:srgbClr val="F0883E"/>
                </a:solidFill>
              </a:rPr>
              <a:t>Sharpen</a:t>
            </a:r>
            <a:endParaRPr lang="en-US" sz="900" dirty="0"/>
          </a:p>
        </p:txBody>
      </p:sp>
      <p:sp>
        <p:nvSpPr>
          <p:cNvPr id="139" name="Shape 137"/>
          <p:cNvSpPr/>
          <p:nvPr/>
        </p:nvSpPr>
        <p:spPr>
          <a:xfrm>
            <a:off x="5166360" y="3456432"/>
            <a:ext cx="256032" cy="256032"/>
          </a:xfrm>
          <a:prstGeom prst="rect">
            <a:avLst/>
          </a:prstGeom>
          <a:solidFill>
            <a:srgbClr val="21262D"/>
          </a:solidFill>
          <a:ln w="6350">
            <a:solidFill>
              <a:srgbClr val="161B22"/>
            </a:solidFill>
            <a:prstDash val="solid"/>
          </a:ln>
        </p:spPr>
        <p:txBody>
          <a:bodyPr/>
          <a:lstStyle/>
          <a:p>
            <a:endParaRPr lang="fr-FR"/>
          </a:p>
        </p:txBody>
      </p:sp>
      <p:sp>
        <p:nvSpPr>
          <p:cNvPr id="140" name="Text 138"/>
          <p:cNvSpPr/>
          <p:nvPr/>
        </p:nvSpPr>
        <p:spPr>
          <a:xfrm>
            <a:off x="5166360" y="3456432"/>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0</a:t>
            </a:r>
            <a:endParaRPr lang="en-US" sz="700" dirty="0"/>
          </a:p>
        </p:txBody>
      </p:sp>
      <p:sp>
        <p:nvSpPr>
          <p:cNvPr id="141" name="Shape 139"/>
          <p:cNvSpPr/>
          <p:nvPr/>
        </p:nvSpPr>
        <p:spPr>
          <a:xfrm>
            <a:off x="5422392" y="3456432"/>
            <a:ext cx="256032" cy="256032"/>
          </a:xfrm>
          <a:prstGeom prst="rect">
            <a:avLst/>
          </a:prstGeom>
          <a:solidFill>
            <a:srgbClr val="FF7B72"/>
          </a:solidFill>
          <a:ln w="6350">
            <a:solidFill>
              <a:srgbClr val="161B22"/>
            </a:solidFill>
            <a:prstDash val="solid"/>
          </a:ln>
        </p:spPr>
        <p:txBody>
          <a:bodyPr/>
          <a:lstStyle/>
          <a:p>
            <a:endParaRPr lang="fr-FR"/>
          </a:p>
        </p:txBody>
      </p:sp>
      <p:sp>
        <p:nvSpPr>
          <p:cNvPr id="142" name="Text 140"/>
          <p:cNvSpPr/>
          <p:nvPr/>
        </p:nvSpPr>
        <p:spPr>
          <a:xfrm>
            <a:off x="5422392" y="3456432"/>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43" name="Shape 141"/>
          <p:cNvSpPr/>
          <p:nvPr/>
        </p:nvSpPr>
        <p:spPr>
          <a:xfrm>
            <a:off x="5678424" y="3456432"/>
            <a:ext cx="256032" cy="256032"/>
          </a:xfrm>
          <a:prstGeom prst="rect">
            <a:avLst/>
          </a:prstGeom>
          <a:solidFill>
            <a:srgbClr val="21262D"/>
          </a:solidFill>
          <a:ln w="6350">
            <a:solidFill>
              <a:srgbClr val="161B22"/>
            </a:solidFill>
            <a:prstDash val="solid"/>
          </a:ln>
        </p:spPr>
        <p:txBody>
          <a:bodyPr/>
          <a:lstStyle/>
          <a:p>
            <a:endParaRPr lang="fr-FR"/>
          </a:p>
        </p:txBody>
      </p:sp>
      <p:sp>
        <p:nvSpPr>
          <p:cNvPr id="144" name="Text 142"/>
          <p:cNvSpPr/>
          <p:nvPr/>
        </p:nvSpPr>
        <p:spPr>
          <a:xfrm>
            <a:off x="5678424" y="3456432"/>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0</a:t>
            </a:r>
            <a:endParaRPr lang="en-US" sz="700" dirty="0"/>
          </a:p>
        </p:txBody>
      </p:sp>
      <p:sp>
        <p:nvSpPr>
          <p:cNvPr id="145" name="Shape 143"/>
          <p:cNvSpPr/>
          <p:nvPr/>
        </p:nvSpPr>
        <p:spPr>
          <a:xfrm>
            <a:off x="5166360" y="3712464"/>
            <a:ext cx="256032" cy="256032"/>
          </a:xfrm>
          <a:prstGeom prst="rect">
            <a:avLst/>
          </a:prstGeom>
          <a:solidFill>
            <a:srgbClr val="FF7B72"/>
          </a:solidFill>
          <a:ln w="6350">
            <a:solidFill>
              <a:srgbClr val="161B22"/>
            </a:solidFill>
            <a:prstDash val="solid"/>
          </a:ln>
        </p:spPr>
        <p:txBody>
          <a:bodyPr/>
          <a:lstStyle/>
          <a:p>
            <a:endParaRPr lang="fr-FR"/>
          </a:p>
        </p:txBody>
      </p:sp>
      <p:sp>
        <p:nvSpPr>
          <p:cNvPr id="146" name="Text 144"/>
          <p:cNvSpPr/>
          <p:nvPr/>
        </p:nvSpPr>
        <p:spPr>
          <a:xfrm>
            <a:off x="5166360" y="3712464"/>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47" name="Shape 145"/>
          <p:cNvSpPr/>
          <p:nvPr/>
        </p:nvSpPr>
        <p:spPr>
          <a:xfrm>
            <a:off x="5422392" y="3712464"/>
            <a:ext cx="256032" cy="256032"/>
          </a:xfrm>
          <a:prstGeom prst="rect">
            <a:avLst/>
          </a:prstGeom>
          <a:solidFill>
            <a:srgbClr val="F0883E"/>
          </a:solidFill>
          <a:ln w="6350">
            <a:solidFill>
              <a:srgbClr val="161B22"/>
            </a:solidFill>
            <a:prstDash val="solid"/>
          </a:ln>
        </p:spPr>
        <p:txBody>
          <a:bodyPr/>
          <a:lstStyle/>
          <a:p>
            <a:endParaRPr lang="fr-FR"/>
          </a:p>
        </p:txBody>
      </p:sp>
      <p:sp>
        <p:nvSpPr>
          <p:cNvPr id="148" name="Text 146"/>
          <p:cNvSpPr/>
          <p:nvPr/>
        </p:nvSpPr>
        <p:spPr>
          <a:xfrm>
            <a:off x="5422392" y="3712464"/>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5</a:t>
            </a:r>
            <a:endParaRPr lang="en-US" sz="700" dirty="0"/>
          </a:p>
        </p:txBody>
      </p:sp>
      <p:sp>
        <p:nvSpPr>
          <p:cNvPr id="149" name="Shape 147"/>
          <p:cNvSpPr/>
          <p:nvPr/>
        </p:nvSpPr>
        <p:spPr>
          <a:xfrm>
            <a:off x="5678424" y="3712464"/>
            <a:ext cx="256032" cy="256032"/>
          </a:xfrm>
          <a:prstGeom prst="rect">
            <a:avLst/>
          </a:prstGeom>
          <a:solidFill>
            <a:srgbClr val="FF7B72"/>
          </a:solidFill>
          <a:ln w="6350">
            <a:solidFill>
              <a:srgbClr val="161B22"/>
            </a:solidFill>
            <a:prstDash val="solid"/>
          </a:ln>
        </p:spPr>
        <p:txBody>
          <a:bodyPr/>
          <a:lstStyle/>
          <a:p>
            <a:endParaRPr lang="fr-FR"/>
          </a:p>
        </p:txBody>
      </p:sp>
      <p:sp>
        <p:nvSpPr>
          <p:cNvPr id="150" name="Text 148"/>
          <p:cNvSpPr/>
          <p:nvPr/>
        </p:nvSpPr>
        <p:spPr>
          <a:xfrm>
            <a:off x="5678424" y="3712464"/>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51" name="Shape 149"/>
          <p:cNvSpPr/>
          <p:nvPr/>
        </p:nvSpPr>
        <p:spPr>
          <a:xfrm>
            <a:off x="5166360" y="3968496"/>
            <a:ext cx="256032" cy="256032"/>
          </a:xfrm>
          <a:prstGeom prst="rect">
            <a:avLst/>
          </a:prstGeom>
          <a:solidFill>
            <a:srgbClr val="21262D"/>
          </a:solidFill>
          <a:ln w="6350">
            <a:solidFill>
              <a:srgbClr val="161B22"/>
            </a:solidFill>
            <a:prstDash val="solid"/>
          </a:ln>
        </p:spPr>
        <p:txBody>
          <a:bodyPr/>
          <a:lstStyle/>
          <a:p>
            <a:endParaRPr lang="fr-FR"/>
          </a:p>
        </p:txBody>
      </p:sp>
      <p:sp>
        <p:nvSpPr>
          <p:cNvPr id="152" name="Text 150"/>
          <p:cNvSpPr/>
          <p:nvPr/>
        </p:nvSpPr>
        <p:spPr>
          <a:xfrm>
            <a:off x="5166360" y="3968496"/>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0</a:t>
            </a:r>
            <a:endParaRPr lang="en-US" sz="700" dirty="0"/>
          </a:p>
        </p:txBody>
      </p:sp>
      <p:sp>
        <p:nvSpPr>
          <p:cNvPr id="153" name="Shape 151"/>
          <p:cNvSpPr/>
          <p:nvPr/>
        </p:nvSpPr>
        <p:spPr>
          <a:xfrm>
            <a:off x="5422392" y="3968496"/>
            <a:ext cx="256032" cy="256032"/>
          </a:xfrm>
          <a:prstGeom prst="rect">
            <a:avLst/>
          </a:prstGeom>
          <a:solidFill>
            <a:srgbClr val="FF7B72"/>
          </a:solidFill>
          <a:ln w="6350">
            <a:solidFill>
              <a:srgbClr val="161B22"/>
            </a:solidFill>
            <a:prstDash val="solid"/>
          </a:ln>
        </p:spPr>
        <p:txBody>
          <a:bodyPr/>
          <a:lstStyle/>
          <a:p>
            <a:endParaRPr lang="fr-FR"/>
          </a:p>
        </p:txBody>
      </p:sp>
      <p:sp>
        <p:nvSpPr>
          <p:cNvPr id="154" name="Text 152"/>
          <p:cNvSpPr/>
          <p:nvPr/>
        </p:nvSpPr>
        <p:spPr>
          <a:xfrm>
            <a:off x="5422392" y="3968496"/>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55" name="Shape 153"/>
          <p:cNvSpPr/>
          <p:nvPr/>
        </p:nvSpPr>
        <p:spPr>
          <a:xfrm>
            <a:off x="5678424" y="3968496"/>
            <a:ext cx="256032" cy="256032"/>
          </a:xfrm>
          <a:prstGeom prst="rect">
            <a:avLst/>
          </a:prstGeom>
          <a:solidFill>
            <a:srgbClr val="21262D"/>
          </a:solidFill>
          <a:ln w="6350">
            <a:solidFill>
              <a:srgbClr val="161B22"/>
            </a:solidFill>
            <a:prstDash val="solid"/>
          </a:ln>
        </p:spPr>
        <p:txBody>
          <a:bodyPr/>
          <a:lstStyle/>
          <a:p>
            <a:endParaRPr lang="fr-FR"/>
          </a:p>
        </p:txBody>
      </p:sp>
      <p:sp>
        <p:nvSpPr>
          <p:cNvPr id="156" name="Text 154"/>
          <p:cNvSpPr/>
          <p:nvPr/>
        </p:nvSpPr>
        <p:spPr>
          <a:xfrm>
            <a:off x="5678424" y="3968496"/>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0</a:t>
            </a:r>
            <a:endParaRPr lang="en-US" sz="700" dirty="0"/>
          </a:p>
        </p:txBody>
      </p:sp>
      <p:sp>
        <p:nvSpPr>
          <p:cNvPr id="157" name="Text 155"/>
          <p:cNvSpPr/>
          <p:nvPr/>
        </p:nvSpPr>
        <p:spPr>
          <a:xfrm>
            <a:off x="6995160" y="3136392"/>
            <a:ext cx="1645920" cy="320040"/>
          </a:xfrm>
          <a:prstGeom prst="rect">
            <a:avLst/>
          </a:prstGeom>
          <a:noFill/>
          <a:ln/>
        </p:spPr>
        <p:txBody>
          <a:bodyPr wrap="square" lIns="0" tIns="0" rIns="0" bIns="0" rtlCol="0" anchor="ctr"/>
          <a:lstStyle/>
          <a:p>
            <a:pPr marL="0" indent="0" algn="ctr">
              <a:buNone/>
            </a:pPr>
            <a:r>
              <a:rPr lang="en-US" sz="900" b="1" dirty="0">
                <a:solidFill>
                  <a:srgbClr val="39D0B0"/>
                </a:solidFill>
              </a:rPr>
              <a:t>Blur</a:t>
            </a:r>
            <a:endParaRPr lang="en-US" sz="900" dirty="0"/>
          </a:p>
        </p:txBody>
      </p:sp>
      <p:sp>
        <p:nvSpPr>
          <p:cNvPr id="158" name="Shape 156"/>
          <p:cNvSpPr/>
          <p:nvPr/>
        </p:nvSpPr>
        <p:spPr>
          <a:xfrm>
            <a:off x="6995160" y="3456432"/>
            <a:ext cx="256032" cy="256032"/>
          </a:xfrm>
          <a:prstGeom prst="rect">
            <a:avLst/>
          </a:prstGeom>
          <a:solidFill>
            <a:srgbClr val="39D0B0"/>
          </a:solidFill>
          <a:ln w="6350">
            <a:solidFill>
              <a:srgbClr val="161B22"/>
            </a:solidFill>
            <a:prstDash val="solid"/>
          </a:ln>
        </p:spPr>
        <p:txBody>
          <a:bodyPr/>
          <a:lstStyle/>
          <a:p>
            <a:endParaRPr lang="fr-FR"/>
          </a:p>
        </p:txBody>
      </p:sp>
      <p:sp>
        <p:nvSpPr>
          <p:cNvPr id="159" name="Text 157"/>
          <p:cNvSpPr/>
          <p:nvPr/>
        </p:nvSpPr>
        <p:spPr>
          <a:xfrm>
            <a:off x="6995160" y="3456432"/>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60" name="Shape 158"/>
          <p:cNvSpPr/>
          <p:nvPr/>
        </p:nvSpPr>
        <p:spPr>
          <a:xfrm>
            <a:off x="7251192" y="3456432"/>
            <a:ext cx="256032" cy="256032"/>
          </a:xfrm>
          <a:prstGeom prst="rect">
            <a:avLst/>
          </a:prstGeom>
          <a:solidFill>
            <a:srgbClr val="39D0B0"/>
          </a:solidFill>
          <a:ln w="6350">
            <a:solidFill>
              <a:srgbClr val="161B22"/>
            </a:solidFill>
            <a:prstDash val="solid"/>
          </a:ln>
        </p:spPr>
        <p:txBody>
          <a:bodyPr/>
          <a:lstStyle/>
          <a:p>
            <a:endParaRPr lang="fr-FR"/>
          </a:p>
        </p:txBody>
      </p:sp>
      <p:sp>
        <p:nvSpPr>
          <p:cNvPr id="161" name="Text 159"/>
          <p:cNvSpPr/>
          <p:nvPr/>
        </p:nvSpPr>
        <p:spPr>
          <a:xfrm>
            <a:off x="7251192" y="3456432"/>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62" name="Shape 160"/>
          <p:cNvSpPr/>
          <p:nvPr/>
        </p:nvSpPr>
        <p:spPr>
          <a:xfrm>
            <a:off x="7507224" y="3456432"/>
            <a:ext cx="256032" cy="256032"/>
          </a:xfrm>
          <a:prstGeom prst="rect">
            <a:avLst/>
          </a:prstGeom>
          <a:solidFill>
            <a:srgbClr val="39D0B0"/>
          </a:solidFill>
          <a:ln w="6350">
            <a:solidFill>
              <a:srgbClr val="161B22"/>
            </a:solidFill>
            <a:prstDash val="solid"/>
          </a:ln>
        </p:spPr>
        <p:txBody>
          <a:bodyPr/>
          <a:lstStyle/>
          <a:p>
            <a:endParaRPr lang="fr-FR"/>
          </a:p>
        </p:txBody>
      </p:sp>
      <p:sp>
        <p:nvSpPr>
          <p:cNvPr id="163" name="Text 161"/>
          <p:cNvSpPr/>
          <p:nvPr/>
        </p:nvSpPr>
        <p:spPr>
          <a:xfrm>
            <a:off x="7507224" y="3456432"/>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64" name="Shape 162"/>
          <p:cNvSpPr/>
          <p:nvPr/>
        </p:nvSpPr>
        <p:spPr>
          <a:xfrm>
            <a:off x="6995160" y="3712464"/>
            <a:ext cx="256032" cy="256032"/>
          </a:xfrm>
          <a:prstGeom prst="rect">
            <a:avLst/>
          </a:prstGeom>
          <a:solidFill>
            <a:srgbClr val="39D0B0"/>
          </a:solidFill>
          <a:ln w="6350">
            <a:solidFill>
              <a:srgbClr val="161B22"/>
            </a:solidFill>
            <a:prstDash val="solid"/>
          </a:ln>
        </p:spPr>
        <p:txBody>
          <a:bodyPr/>
          <a:lstStyle/>
          <a:p>
            <a:endParaRPr lang="fr-FR"/>
          </a:p>
        </p:txBody>
      </p:sp>
      <p:sp>
        <p:nvSpPr>
          <p:cNvPr id="165" name="Text 163"/>
          <p:cNvSpPr/>
          <p:nvPr/>
        </p:nvSpPr>
        <p:spPr>
          <a:xfrm>
            <a:off x="6995160" y="3712464"/>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66" name="Shape 164"/>
          <p:cNvSpPr/>
          <p:nvPr/>
        </p:nvSpPr>
        <p:spPr>
          <a:xfrm>
            <a:off x="7251192" y="3712464"/>
            <a:ext cx="256032" cy="256032"/>
          </a:xfrm>
          <a:prstGeom prst="rect">
            <a:avLst/>
          </a:prstGeom>
          <a:solidFill>
            <a:srgbClr val="39D0B0"/>
          </a:solidFill>
          <a:ln w="6350">
            <a:solidFill>
              <a:srgbClr val="161B22"/>
            </a:solidFill>
            <a:prstDash val="solid"/>
          </a:ln>
        </p:spPr>
        <p:txBody>
          <a:bodyPr/>
          <a:lstStyle/>
          <a:p>
            <a:endParaRPr lang="fr-FR"/>
          </a:p>
        </p:txBody>
      </p:sp>
      <p:sp>
        <p:nvSpPr>
          <p:cNvPr id="167" name="Text 165"/>
          <p:cNvSpPr/>
          <p:nvPr/>
        </p:nvSpPr>
        <p:spPr>
          <a:xfrm>
            <a:off x="7251192" y="3712464"/>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68" name="Shape 166"/>
          <p:cNvSpPr/>
          <p:nvPr/>
        </p:nvSpPr>
        <p:spPr>
          <a:xfrm>
            <a:off x="7507224" y="3712464"/>
            <a:ext cx="256032" cy="256032"/>
          </a:xfrm>
          <a:prstGeom prst="rect">
            <a:avLst/>
          </a:prstGeom>
          <a:solidFill>
            <a:srgbClr val="39D0B0"/>
          </a:solidFill>
          <a:ln w="6350">
            <a:solidFill>
              <a:srgbClr val="161B22"/>
            </a:solidFill>
            <a:prstDash val="solid"/>
          </a:ln>
        </p:spPr>
        <p:txBody>
          <a:bodyPr/>
          <a:lstStyle/>
          <a:p>
            <a:endParaRPr lang="fr-FR"/>
          </a:p>
        </p:txBody>
      </p:sp>
      <p:sp>
        <p:nvSpPr>
          <p:cNvPr id="169" name="Text 167"/>
          <p:cNvSpPr/>
          <p:nvPr/>
        </p:nvSpPr>
        <p:spPr>
          <a:xfrm>
            <a:off x="7507224" y="3712464"/>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70" name="Shape 168"/>
          <p:cNvSpPr/>
          <p:nvPr/>
        </p:nvSpPr>
        <p:spPr>
          <a:xfrm>
            <a:off x="6995160" y="3968496"/>
            <a:ext cx="256032" cy="256032"/>
          </a:xfrm>
          <a:prstGeom prst="rect">
            <a:avLst/>
          </a:prstGeom>
          <a:solidFill>
            <a:srgbClr val="39D0B0"/>
          </a:solidFill>
          <a:ln w="6350">
            <a:solidFill>
              <a:srgbClr val="161B22"/>
            </a:solidFill>
            <a:prstDash val="solid"/>
          </a:ln>
        </p:spPr>
        <p:txBody>
          <a:bodyPr/>
          <a:lstStyle/>
          <a:p>
            <a:endParaRPr lang="fr-FR"/>
          </a:p>
        </p:txBody>
      </p:sp>
      <p:sp>
        <p:nvSpPr>
          <p:cNvPr id="171" name="Text 169"/>
          <p:cNvSpPr/>
          <p:nvPr/>
        </p:nvSpPr>
        <p:spPr>
          <a:xfrm>
            <a:off x="6995160" y="3968496"/>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72" name="Shape 170"/>
          <p:cNvSpPr/>
          <p:nvPr/>
        </p:nvSpPr>
        <p:spPr>
          <a:xfrm>
            <a:off x="7251192" y="3968496"/>
            <a:ext cx="256032" cy="256032"/>
          </a:xfrm>
          <a:prstGeom prst="rect">
            <a:avLst/>
          </a:prstGeom>
          <a:solidFill>
            <a:srgbClr val="39D0B0"/>
          </a:solidFill>
          <a:ln w="6350">
            <a:solidFill>
              <a:srgbClr val="161B22"/>
            </a:solidFill>
            <a:prstDash val="solid"/>
          </a:ln>
        </p:spPr>
        <p:txBody>
          <a:bodyPr/>
          <a:lstStyle/>
          <a:p>
            <a:endParaRPr lang="fr-FR"/>
          </a:p>
        </p:txBody>
      </p:sp>
      <p:sp>
        <p:nvSpPr>
          <p:cNvPr id="173" name="Text 171"/>
          <p:cNvSpPr/>
          <p:nvPr/>
        </p:nvSpPr>
        <p:spPr>
          <a:xfrm>
            <a:off x="7251192" y="3968496"/>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74" name="Shape 172"/>
          <p:cNvSpPr/>
          <p:nvPr/>
        </p:nvSpPr>
        <p:spPr>
          <a:xfrm>
            <a:off x="7507224" y="3968496"/>
            <a:ext cx="256032" cy="256032"/>
          </a:xfrm>
          <a:prstGeom prst="rect">
            <a:avLst/>
          </a:prstGeom>
          <a:solidFill>
            <a:srgbClr val="39D0B0"/>
          </a:solidFill>
          <a:ln w="6350">
            <a:solidFill>
              <a:srgbClr val="161B22"/>
            </a:solidFill>
            <a:prstDash val="solid"/>
          </a:ln>
        </p:spPr>
        <p:txBody>
          <a:bodyPr/>
          <a:lstStyle/>
          <a:p>
            <a:endParaRPr lang="fr-FR"/>
          </a:p>
        </p:txBody>
      </p:sp>
      <p:sp>
        <p:nvSpPr>
          <p:cNvPr id="175" name="Text 173"/>
          <p:cNvSpPr/>
          <p:nvPr/>
        </p:nvSpPr>
        <p:spPr>
          <a:xfrm>
            <a:off x="7507224" y="3968496"/>
            <a:ext cx="256032" cy="256032"/>
          </a:xfrm>
          <a:prstGeom prst="rect">
            <a:avLst/>
          </a:prstGeom>
          <a:noFill/>
          <a:ln/>
        </p:spPr>
        <p:txBody>
          <a:bodyPr wrap="square" lIns="0" tIns="0" rIns="0" bIns="0" rtlCol="0" anchor="ctr"/>
          <a:lstStyle/>
          <a:p>
            <a:pPr marL="0" indent="0" algn="ctr">
              <a:buNone/>
            </a:pPr>
            <a:r>
              <a:rPr lang="en-US" sz="700" dirty="0">
                <a:solidFill>
                  <a:srgbClr val="F0F6FC"/>
                </a:solidFill>
              </a:rPr>
              <a:t>1</a:t>
            </a:r>
            <a:endParaRPr lang="en-US" sz="700" dirty="0"/>
          </a:p>
        </p:txBody>
      </p:sp>
      <p:sp>
        <p:nvSpPr>
          <p:cNvPr id="176" name="Text 174"/>
          <p:cNvSpPr/>
          <p:nvPr/>
        </p:nvSpPr>
        <p:spPr>
          <a:xfrm>
            <a:off x="320040" y="4736592"/>
            <a:ext cx="8503920" cy="256032"/>
          </a:xfrm>
          <a:prstGeom prst="rect">
            <a:avLst/>
          </a:prstGeom>
          <a:noFill/>
          <a:ln/>
        </p:spPr>
        <p:txBody>
          <a:bodyPr wrap="square" lIns="0" tIns="0" rIns="0" bIns="0" rtlCol="0" anchor="ctr"/>
          <a:lstStyle/>
          <a:p>
            <a:pPr marL="0" indent="0" algn="ctr">
              <a:buNone/>
            </a:pPr>
            <a:r>
              <a:rPr lang="en-US" sz="1100" i="1" dirty="0">
                <a:solidFill>
                  <a:srgbClr val="E3B341"/>
                </a:solidFill>
              </a:rPr>
              <a:t>CNNs learn these filter weights automatically during training!</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9D0B0"/>
          </a:solidFill>
          <a:ln w="12700">
            <a:solidFill>
              <a:srgbClr val="39D0B0"/>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CNN in PyTorch — The Code</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39D0B0"/>
                </a:solidFill>
              </a:rPr>
              <a:t>Define, train, evaluate in ~30 lines!</a:t>
            </a:r>
            <a:endParaRPr lang="en-US" sz="1200" dirty="0"/>
          </a:p>
        </p:txBody>
      </p:sp>
      <p:sp>
        <p:nvSpPr>
          <p:cNvPr id="5" name="Shape 3"/>
          <p:cNvSpPr/>
          <p:nvPr/>
        </p:nvSpPr>
        <p:spPr>
          <a:xfrm>
            <a:off x="320040" y="1024128"/>
            <a:ext cx="8503920" cy="0"/>
          </a:xfrm>
          <a:prstGeom prst="line">
            <a:avLst/>
          </a:prstGeom>
          <a:noFill/>
          <a:ln w="12700">
            <a:solidFill>
              <a:srgbClr val="39D0B0"/>
            </a:solidFill>
            <a:prstDash val="solid"/>
          </a:ln>
        </p:spPr>
        <p:txBody>
          <a:bodyPr/>
          <a:lstStyle/>
          <a:p>
            <a:endParaRPr lang="fr-FR"/>
          </a:p>
        </p:txBody>
      </p:sp>
      <p:sp>
        <p:nvSpPr>
          <p:cNvPr id="6" name="Shape 4"/>
          <p:cNvSpPr/>
          <p:nvPr/>
        </p:nvSpPr>
        <p:spPr>
          <a:xfrm>
            <a:off x="320040" y="1170432"/>
            <a:ext cx="4572000" cy="3749040"/>
          </a:xfrm>
          <a:prstGeom prst="rect">
            <a:avLst/>
          </a:prstGeom>
          <a:solidFill>
            <a:srgbClr val="0D1117"/>
          </a:solidFill>
          <a:ln w="19050">
            <a:solidFill>
              <a:srgbClr val="39D0B0"/>
            </a:solidFill>
            <a:prstDash val="solid"/>
          </a:ln>
          <a:effectLst>
            <a:outerShdw blurRad="127000" dist="38100" dir="8100000" algn="bl" rotWithShape="0">
              <a:srgbClr val="000000">
                <a:alpha val="35000"/>
              </a:srgbClr>
            </a:outerShdw>
          </a:effectLst>
        </p:spPr>
        <p:txBody>
          <a:bodyPr/>
          <a:lstStyle/>
          <a:p>
            <a:endParaRPr lang="fr-FR"/>
          </a:p>
        </p:txBody>
      </p:sp>
      <p:sp>
        <p:nvSpPr>
          <p:cNvPr id="7" name="Text 5"/>
          <p:cNvSpPr/>
          <p:nvPr/>
        </p:nvSpPr>
        <p:spPr>
          <a:xfrm>
            <a:off x="411480" y="1252728"/>
            <a:ext cx="4389120" cy="246888"/>
          </a:xfrm>
          <a:prstGeom prst="rect">
            <a:avLst/>
          </a:prstGeom>
          <a:noFill/>
          <a:ln/>
        </p:spPr>
        <p:txBody>
          <a:bodyPr wrap="square" lIns="0" tIns="0" rIns="0" bIns="0" rtlCol="0" anchor="ctr"/>
          <a:lstStyle/>
          <a:p>
            <a:pPr marL="0" indent="0">
              <a:buNone/>
            </a:pPr>
            <a:r>
              <a:rPr lang="en-US" sz="950" dirty="0">
                <a:solidFill>
                  <a:srgbClr val="BC8CFF"/>
                </a:solidFill>
                <a:latin typeface="Consolas" pitchFamily="34" charset="0"/>
                <a:ea typeface="Consolas" pitchFamily="34" charset="-122"/>
                <a:cs typeface="Consolas" pitchFamily="34" charset="-120"/>
              </a:rPr>
              <a:t>class</a:t>
            </a:r>
            <a:r>
              <a:rPr lang="en-US" sz="950" dirty="0">
                <a:solidFill>
                  <a:srgbClr val="F0F6FC"/>
                </a:solidFill>
                <a:latin typeface="Consolas" pitchFamily="34" charset="0"/>
                <a:ea typeface="Consolas" pitchFamily="34" charset="-122"/>
                <a:cs typeface="Consolas" pitchFamily="34" charset="-120"/>
              </a:rPr>
              <a:t> SimpleCNN(</a:t>
            </a:r>
            <a:r>
              <a:rPr lang="en-US" sz="950" dirty="0">
                <a:solidFill>
                  <a:srgbClr val="58A6FF"/>
                </a:solidFill>
                <a:latin typeface="Consolas" pitchFamily="34" charset="0"/>
                <a:ea typeface="Consolas" pitchFamily="34" charset="-122"/>
                <a:cs typeface="Consolas" pitchFamily="34" charset="-120"/>
              </a:rPr>
              <a:t>nn.Module</a:t>
            </a:r>
            <a:r>
              <a:rPr lang="en-US" sz="950" dirty="0">
                <a:solidFill>
                  <a:srgbClr val="F0F6FC"/>
                </a:solidFill>
                <a:latin typeface="Consolas" pitchFamily="34" charset="0"/>
                <a:ea typeface="Consolas" pitchFamily="34" charset="-122"/>
                <a:cs typeface="Consolas" pitchFamily="34" charset="-120"/>
              </a:rPr>
              <a:t>):</a:t>
            </a:r>
            <a:endParaRPr lang="en-US" sz="950" dirty="0"/>
          </a:p>
        </p:txBody>
      </p:sp>
      <p:sp>
        <p:nvSpPr>
          <p:cNvPr id="8" name="Text 6"/>
          <p:cNvSpPr/>
          <p:nvPr/>
        </p:nvSpPr>
        <p:spPr>
          <a:xfrm>
            <a:off x="411480" y="1513332"/>
            <a:ext cx="4389120" cy="246888"/>
          </a:xfrm>
          <a:prstGeom prst="rect">
            <a:avLst/>
          </a:prstGeom>
          <a:noFill/>
          <a:ln/>
        </p:spPr>
        <p:txBody>
          <a:bodyPr wrap="square" lIns="0" tIns="0" rIns="0" bIns="0" rtlCol="0" anchor="ctr"/>
          <a:lstStyle/>
          <a:p>
            <a:pPr marL="0" indent="0">
              <a:buNone/>
            </a:pPr>
            <a:r>
              <a:rPr lang="en-US" sz="950" dirty="0">
                <a:solidFill>
                  <a:srgbClr val="BC8CFF"/>
                </a:solidFill>
                <a:latin typeface="Consolas" pitchFamily="34" charset="0"/>
                <a:ea typeface="Consolas" pitchFamily="34" charset="-122"/>
                <a:cs typeface="Consolas" pitchFamily="34" charset="-120"/>
              </a:rPr>
              <a:t>  def </a:t>
            </a:r>
            <a:r>
              <a:rPr lang="en-US" sz="950" dirty="0">
                <a:solidFill>
                  <a:srgbClr val="E3B341"/>
                </a:solidFill>
                <a:latin typeface="Consolas" pitchFamily="34" charset="0"/>
                <a:ea typeface="Consolas" pitchFamily="34" charset="-122"/>
                <a:cs typeface="Consolas" pitchFamily="34" charset="-120"/>
              </a:rPr>
              <a:t>__init__</a:t>
            </a:r>
            <a:r>
              <a:rPr lang="en-US" sz="950" dirty="0">
                <a:solidFill>
                  <a:srgbClr val="F0F6FC"/>
                </a:solidFill>
                <a:latin typeface="Consolas" pitchFamily="34" charset="0"/>
                <a:ea typeface="Consolas" pitchFamily="34" charset="-122"/>
                <a:cs typeface="Consolas" pitchFamily="34" charset="-120"/>
              </a:rPr>
              <a:t>(self):</a:t>
            </a:r>
            <a:endParaRPr lang="en-US" sz="950" dirty="0"/>
          </a:p>
        </p:txBody>
      </p:sp>
      <p:sp>
        <p:nvSpPr>
          <p:cNvPr id="9" name="Text 7"/>
          <p:cNvSpPr/>
          <p:nvPr/>
        </p:nvSpPr>
        <p:spPr>
          <a:xfrm>
            <a:off x="411480" y="1773936"/>
            <a:ext cx="4389120" cy="246888"/>
          </a:xfrm>
          <a:prstGeom prst="rect">
            <a:avLst/>
          </a:prstGeom>
          <a:noFill/>
          <a:ln/>
        </p:spPr>
        <p:txBody>
          <a:bodyPr wrap="square" lIns="0" tIns="0" rIns="0" bIns="0" rtlCol="0" anchor="ctr"/>
          <a:lstStyle/>
          <a:p>
            <a:pPr marL="0" indent="0">
              <a:buNone/>
            </a:pPr>
            <a:r>
              <a:rPr lang="en-US" sz="950" dirty="0">
                <a:solidFill>
                  <a:srgbClr val="F0883E"/>
                </a:solidFill>
                <a:latin typeface="Consolas" pitchFamily="34" charset="0"/>
                <a:ea typeface="Consolas" pitchFamily="34" charset="-122"/>
                <a:cs typeface="Consolas" pitchFamily="34" charset="-120"/>
              </a:rPr>
              <a:t>    self.conv1 </a:t>
            </a:r>
            <a:r>
              <a:rPr lang="en-US" sz="950" dirty="0">
                <a:solidFill>
                  <a:srgbClr val="F0F6FC"/>
                </a:solidFill>
                <a:latin typeface="Consolas" pitchFamily="34" charset="0"/>
                <a:ea typeface="Consolas" pitchFamily="34" charset="-122"/>
                <a:cs typeface="Consolas" pitchFamily="34" charset="-120"/>
              </a:rPr>
              <a:t>= nn.</a:t>
            </a:r>
            <a:r>
              <a:rPr lang="en-US" sz="950" dirty="0">
                <a:solidFill>
                  <a:srgbClr val="39D0B0"/>
                </a:solidFill>
                <a:latin typeface="Consolas" pitchFamily="34" charset="0"/>
                <a:ea typeface="Consolas" pitchFamily="34" charset="-122"/>
                <a:cs typeface="Consolas" pitchFamily="34" charset="-120"/>
              </a:rPr>
              <a:t>Conv2d</a:t>
            </a:r>
            <a:r>
              <a:rPr lang="en-US" sz="950" dirty="0">
                <a:solidFill>
                  <a:srgbClr val="F0F6FC"/>
                </a:solidFill>
                <a:latin typeface="Consolas" pitchFamily="34" charset="0"/>
                <a:ea typeface="Consolas" pitchFamily="34" charset="-122"/>
                <a:cs typeface="Consolas" pitchFamily="34" charset="-120"/>
              </a:rPr>
              <a:t>(3, 32, 3)</a:t>
            </a:r>
            <a:endParaRPr lang="en-US" sz="950" dirty="0"/>
          </a:p>
        </p:txBody>
      </p:sp>
      <p:sp>
        <p:nvSpPr>
          <p:cNvPr id="10" name="Text 8"/>
          <p:cNvSpPr/>
          <p:nvPr/>
        </p:nvSpPr>
        <p:spPr>
          <a:xfrm>
            <a:off x="411480" y="2034540"/>
            <a:ext cx="4389120" cy="246888"/>
          </a:xfrm>
          <a:prstGeom prst="rect">
            <a:avLst/>
          </a:prstGeom>
          <a:noFill/>
          <a:ln/>
        </p:spPr>
        <p:txBody>
          <a:bodyPr wrap="square" lIns="0" tIns="0" rIns="0" bIns="0" rtlCol="0" anchor="ctr"/>
          <a:lstStyle/>
          <a:p>
            <a:pPr marL="0" indent="0">
              <a:buNone/>
            </a:pPr>
            <a:r>
              <a:rPr lang="en-US" sz="950" dirty="0">
                <a:solidFill>
                  <a:srgbClr val="F0883E"/>
                </a:solidFill>
                <a:latin typeface="Consolas" pitchFamily="34" charset="0"/>
                <a:ea typeface="Consolas" pitchFamily="34" charset="-122"/>
                <a:cs typeface="Consolas" pitchFamily="34" charset="-120"/>
              </a:rPr>
              <a:t>    self.pool  </a:t>
            </a:r>
            <a:r>
              <a:rPr lang="en-US" sz="950" dirty="0">
                <a:solidFill>
                  <a:srgbClr val="F0F6FC"/>
                </a:solidFill>
                <a:latin typeface="Consolas" pitchFamily="34" charset="0"/>
                <a:ea typeface="Consolas" pitchFamily="34" charset="-122"/>
                <a:cs typeface="Consolas" pitchFamily="34" charset="-120"/>
              </a:rPr>
              <a:t>= nn.</a:t>
            </a:r>
            <a:r>
              <a:rPr lang="en-US" sz="950" dirty="0">
                <a:solidFill>
                  <a:srgbClr val="BC8CFF"/>
                </a:solidFill>
                <a:latin typeface="Consolas" pitchFamily="34" charset="0"/>
                <a:ea typeface="Consolas" pitchFamily="34" charset="-122"/>
                <a:cs typeface="Consolas" pitchFamily="34" charset="-120"/>
              </a:rPr>
              <a:t>MaxPool2d</a:t>
            </a:r>
            <a:r>
              <a:rPr lang="en-US" sz="950" dirty="0">
                <a:solidFill>
                  <a:srgbClr val="F0F6FC"/>
                </a:solidFill>
                <a:latin typeface="Consolas" pitchFamily="34" charset="0"/>
                <a:ea typeface="Consolas" pitchFamily="34" charset="-122"/>
                <a:cs typeface="Consolas" pitchFamily="34" charset="-120"/>
              </a:rPr>
              <a:t>(2,2)</a:t>
            </a:r>
            <a:endParaRPr lang="en-US" sz="950" dirty="0"/>
          </a:p>
        </p:txBody>
      </p:sp>
      <p:sp>
        <p:nvSpPr>
          <p:cNvPr id="11" name="Text 9"/>
          <p:cNvSpPr/>
          <p:nvPr/>
        </p:nvSpPr>
        <p:spPr>
          <a:xfrm>
            <a:off x="411480" y="2295144"/>
            <a:ext cx="4389120" cy="246888"/>
          </a:xfrm>
          <a:prstGeom prst="rect">
            <a:avLst/>
          </a:prstGeom>
          <a:noFill/>
          <a:ln/>
        </p:spPr>
        <p:txBody>
          <a:bodyPr wrap="square" lIns="0" tIns="0" rIns="0" bIns="0" rtlCol="0" anchor="ctr"/>
          <a:lstStyle/>
          <a:p>
            <a:pPr marL="0" indent="0">
              <a:buNone/>
            </a:pPr>
            <a:r>
              <a:rPr lang="en-US" sz="950" dirty="0">
                <a:solidFill>
                  <a:srgbClr val="F0883E"/>
                </a:solidFill>
                <a:latin typeface="Consolas" pitchFamily="34" charset="0"/>
                <a:ea typeface="Consolas" pitchFamily="34" charset="-122"/>
                <a:cs typeface="Consolas" pitchFamily="34" charset="-120"/>
              </a:rPr>
              <a:t>    self.conv2 </a:t>
            </a:r>
            <a:r>
              <a:rPr lang="en-US" sz="950" dirty="0">
                <a:solidFill>
                  <a:srgbClr val="F0F6FC"/>
                </a:solidFill>
                <a:latin typeface="Consolas" pitchFamily="34" charset="0"/>
                <a:ea typeface="Consolas" pitchFamily="34" charset="-122"/>
                <a:cs typeface="Consolas" pitchFamily="34" charset="-120"/>
              </a:rPr>
              <a:t>= nn.</a:t>
            </a:r>
            <a:r>
              <a:rPr lang="en-US" sz="950" dirty="0">
                <a:solidFill>
                  <a:srgbClr val="39D0B0"/>
                </a:solidFill>
                <a:latin typeface="Consolas" pitchFamily="34" charset="0"/>
                <a:ea typeface="Consolas" pitchFamily="34" charset="-122"/>
                <a:cs typeface="Consolas" pitchFamily="34" charset="-120"/>
              </a:rPr>
              <a:t>Conv2d</a:t>
            </a:r>
            <a:r>
              <a:rPr lang="en-US" sz="950" dirty="0">
                <a:solidFill>
                  <a:srgbClr val="F0F6FC"/>
                </a:solidFill>
                <a:latin typeface="Consolas" pitchFamily="34" charset="0"/>
                <a:ea typeface="Consolas" pitchFamily="34" charset="-122"/>
                <a:cs typeface="Consolas" pitchFamily="34" charset="-120"/>
              </a:rPr>
              <a:t>(32,64, 3)</a:t>
            </a:r>
            <a:endParaRPr lang="en-US" sz="950" dirty="0"/>
          </a:p>
        </p:txBody>
      </p:sp>
      <p:sp>
        <p:nvSpPr>
          <p:cNvPr id="12" name="Text 10"/>
          <p:cNvSpPr/>
          <p:nvPr/>
        </p:nvSpPr>
        <p:spPr>
          <a:xfrm>
            <a:off x="411480" y="2555748"/>
            <a:ext cx="4389120" cy="246888"/>
          </a:xfrm>
          <a:prstGeom prst="rect">
            <a:avLst/>
          </a:prstGeom>
          <a:noFill/>
          <a:ln/>
        </p:spPr>
        <p:txBody>
          <a:bodyPr wrap="square" lIns="0" tIns="0" rIns="0" bIns="0" rtlCol="0" anchor="ctr"/>
          <a:lstStyle/>
          <a:p>
            <a:pPr marL="0" indent="0">
              <a:buNone/>
            </a:pPr>
            <a:r>
              <a:rPr lang="en-US" sz="950" dirty="0">
                <a:solidFill>
                  <a:srgbClr val="F0883E"/>
                </a:solidFill>
                <a:latin typeface="Consolas" pitchFamily="34" charset="0"/>
                <a:ea typeface="Consolas" pitchFamily="34" charset="-122"/>
                <a:cs typeface="Consolas" pitchFamily="34" charset="-120"/>
              </a:rPr>
              <a:t>    self.fc1   </a:t>
            </a:r>
            <a:r>
              <a:rPr lang="en-US" sz="950" dirty="0">
                <a:solidFill>
                  <a:srgbClr val="F0F6FC"/>
                </a:solidFill>
                <a:latin typeface="Consolas" pitchFamily="34" charset="0"/>
                <a:ea typeface="Consolas" pitchFamily="34" charset="-122"/>
                <a:cs typeface="Consolas" pitchFamily="34" charset="-120"/>
              </a:rPr>
              <a:t>= nn.</a:t>
            </a:r>
            <a:r>
              <a:rPr lang="en-US" sz="950" dirty="0">
                <a:solidFill>
                  <a:srgbClr val="E3B341"/>
                </a:solidFill>
                <a:latin typeface="Consolas" pitchFamily="34" charset="0"/>
                <a:ea typeface="Consolas" pitchFamily="34" charset="-122"/>
                <a:cs typeface="Consolas" pitchFamily="34" charset="-120"/>
              </a:rPr>
              <a:t>Linear</a:t>
            </a:r>
            <a:r>
              <a:rPr lang="en-US" sz="950" dirty="0">
                <a:solidFill>
                  <a:srgbClr val="F0F6FC"/>
                </a:solidFill>
                <a:latin typeface="Consolas" pitchFamily="34" charset="0"/>
                <a:ea typeface="Consolas" pitchFamily="34" charset="-122"/>
                <a:cs typeface="Consolas" pitchFamily="34" charset="-120"/>
              </a:rPr>
              <a:t>(2048, 256)</a:t>
            </a:r>
            <a:endParaRPr lang="en-US" sz="950" dirty="0"/>
          </a:p>
        </p:txBody>
      </p:sp>
      <p:sp>
        <p:nvSpPr>
          <p:cNvPr id="13" name="Text 11"/>
          <p:cNvSpPr/>
          <p:nvPr/>
        </p:nvSpPr>
        <p:spPr>
          <a:xfrm>
            <a:off x="411480" y="2816352"/>
            <a:ext cx="4389120" cy="246888"/>
          </a:xfrm>
          <a:prstGeom prst="rect">
            <a:avLst/>
          </a:prstGeom>
          <a:noFill/>
          <a:ln/>
        </p:spPr>
        <p:txBody>
          <a:bodyPr wrap="square" lIns="0" tIns="0" rIns="0" bIns="0" rtlCol="0" anchor="ctr"/>
          <a:lstStyle/>
          <a:p>
            <a:pPr marL="0" indent="0">
              <a:buNone/>
            </a:pPr>
            <a:r>
              <a:rPr lang="en-US" sz="950" dirty="0">
                <a:solidFill>
                  <a:srgbClr val="F0883E"/>
                </a:solidFill>
                <a:latin typeface="Consolas" pitchFamily="34" charset="0"/>
                <a:ea typeface="Consolas" pitchFamily="34" charset="-122"/>
                <a:cs typeface="Consolas" pitchFamily="34" charset="-120"/>
              </a:rPr>
              <a:t>    self.fc2   </a:t>
            </a:r>
            <a:r>
              <a:rPr lang="en-US" sz="950" dirty="0">
                <a:solidFill>
                  <a:srgbClr val="F0F6FC"/>
                </a:solidFill>
                <a:latin typeface="Consolas" pitchFamily="34" charset="0"/>
                <a:ea typeface="Consolas" pitchFamily="34" charset="-122"/>
                <a:cs typeface="Consolas" pitchFamily="34" charset="-120"/>
              </a:rPr>
              <a:t>= nn.</a:t>
            </a:r>
            <a:r>
              <a:rPr lang="en-US" sz="950" dirty="0">
                <a:solidFill>
                  <a:srgbClr val="E3B341"/>
                </a:solidFill>
                <a:latin typeface="Consolas" pitchFamily="34" charset="0"/>
                <a:ea typeface="Consolas" pitchFamily="34" charset="-122"/>
                <a:cs typeface="Consolas" pitchFamily="34" charset="-120"/>
              </a:rPr>
              <a:t>Linear</a:t>
            </a:r>
            <a:r>
              <a:rPr lang="en-US" sz="950" dirty="0">
                <a:solidFill>
                  <a:srgbClr val="F0F6FC"/>
                </a:solidFill>
                <a:latin typeface="Consolas" pitchFamily="34" charset="0"/>
                <a:ea typeface="Consolas" pitchFamily="34" charset="-122"/>
                <a:cs typeface="Consolas" pitchFamily="34" charset="-120"/>
              </a:rPr>
              <a:t>(256, 10)</a:t>
            </a:r>
            <a:endParaRPr lang="en-US" sz="950" dirty="0"/>
          </a:p>
        </p:txBody>
      </p:sp>
      <p:sp>
        <p:nvSpPr>
          <p:cNvPr id="14" name="Text 12"/>
          <p:cNvSpPr/>
          <p:nvPr/>
        </p:nvSpPr>
        <p:spPr>
          <a:xfrm>
            <a:off x="411480" y="3076956"/>
            <a:ext cx="4389120" cy="246888"/>
          </a:xfrm>
          <a:prstGeom prst="rect">
            <a:avLst/>
          </a:prstGeom>
          <a:noFill/>
          <a:ln/>
        </p:spPr>
        <p:txBody>
          <a:bodyPr wrap="square" lIns="0" tIns="0" rIns="0" bIns="0" rtlCol="0" anchor="ctr"/>
          <a:lstStyle/>
          <a:p>
            <a:pPr marL="0" indent="0">
              <a:buNone/>
            </a:pPr>
            <a:endParaRPr lang="en-US" sz="950" dirty="0"/>
          </a:p>
        </p:txBody>
      </p:sp>
      <p:sp>
        <p:nvSpPr>
          <p:cNvPr id="15" name="Text 13"/>
          <p:cNvSpPr/>
          <p:nvPr/>
        </p:nvSpPr>
        <p:spPr>
          <a:xfrm>
            <a:off x="411480" y="3337560"/>
            <a:ext cx="4389120" cy="246888"/>
          </a:xfrm>
          <a:prstGeom prst="rect">
            <a:avLst/>
          </a:prstGeom>
          <a:noFill/>
          <a:ln/>
        </p:spPr>
        <p:txBody>
          <a:bodyPr wrap="square" lIns="0" tIns="0" rIns="0" bIns="0" rtlCol="0" anchor="ctr"/>
          <a:lstStyle/>
          <a:p>
            <a:pPr marL="0" indent="0">
              <a:buNone/>
            </a:pPr>
            <a:r>
              <a:rPr lang="en-US" sz="950" dirty="0">
                <a:solidFill>
                  <a:srgbClr val="BC8CFF"/>
                </a:solidFill>
                <a:latin typeface="Consolas" pitchFamily="34" charset="0"/>
                <a:ea typeface="Consolas" pitchFamily="34" charset="-122"/>
                <a:cs typeface="Consolas" pitchFamily="34" charset="-120"/>
              </a:rPr>
              <a:t>  def </a:t>
            </a:r>
            <a:r>
              <a:rPr lang="en-US" sz="950" dirty="0">
                <a:solidFill>
                  <a:srgbClr val="E3B341"/>
                </a:solidFill>
                <a:latin typeface="Consolas" pitchFamily="34" charset="0"/>
                <a:ea typeface="Consolas" pitchFamily="34" charset="-122"/>
                <a:cs typeface="Consolas" pitchFamily="34" charset="-120"/>
              </a:rPr>
              <a:t>forward</a:t>
            </a:r>
            <a:r>
              <a:rPr lang="en-US" sz="950" dirty="0">
                <a:solidFill>
                  <a:srgbClr val="F0F6FC"/>
                </a:solidFill>
                <a:latin typeface="Consolas" pitchFamily="34" charset="0"/>
                <a:ea typeface="Consolas" pitchFamily="34" charset="-122"/>
                <a:cs typeface="Consolas" pitchFamily="34" charset="-120"/>
              </a:rPr>
              <a:t>(self, x):</a:t>
            </a:r>
            <a:endParaRPr lang="en-US" sz="950" dirty="0"/>
          </a:p>
        </p:txBody>
      </p:sp>
      <p:sp>
        <p:nvSpPr>
          <p:cNvPr id="16" name="Text 14"/>
          <p:cNvSpPr/>
          <p:nvPr/>
        </p:nvSpPr>
        <p:spPr>
          <a:xfrm>
            <a:off x="411480" y="3598164"/>
            <a:ext cx="4389120" cy="24688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    x = self.pool(</a:t>
            </a:r>
            <a:r>
              <a:rPr lang="en-US" sz="950" dirty="0">
                <a:solidFill>
                  <a:srgbClr val="F0883E"/>
                </a:solidFill>
                <a:latin typeface="Consolas" pitchFamily="34" charset="0"/>
                <a:ea typeface="Consolas" pitchFamily="34" charset="-122"/>
                <a:cs typeface="Consolas" pitchFamily="34" charset="-120"/>
              </a:rPr>
              <a:t>relu</a:t>
            </a:r>
            <a:r>
              <a:rPr lang="en-US" sz="950" dirty="0">
                <a:solidFill>
                  <a:srgbClr val="F0F6FC"/>
                </a:solidFill>
                <a:latin typeface="Consolas" pitchFamily="34" charset="0"/>
                <a:ea typeface="Consolas" pitchFamily="34" charset="-122"/>
                <a:cs typeface="Consolas" pitchFamily="34" charset="-120"/>
              </a:rPr>
              <a:t>(self.conv1(x)))</a:t>
            </a:r>
            <a:endParaRPr lang="en-US" sz="950" dirty="0"/>
          </a:p>
        </p:txBody>
      </p:sp>
      <p:sp>
        <p:nvSpPr>
          <p:cNvPr id="17" name="Text 15"/>
          <p:cNvSpPr/>
          <p:nvPr/>
        </p:nvSpPr>
        <p:spPr>
          <a:xfrm>
            <a:off x="411480" y="3858768"/>
            <a:ext cx="4389120" cy="24688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    x = self.pool(</a:t>
            </a:r>
            <a:r>
              <a:rPr lang="en-US" sz="950" dirty="0">
                <a:solidFill>
                  <a:srgbClr val="F0883E"/>
                </a:solidFill>
                <a:latin typeface="Consolas" pitchFamily="34" charset="0"/>
                <a:ea typeface="Consolas" pitchFamily="34" charset="-122"/>
                <a:cs typeface="Consolas" pitchFamily="34" charset="-120"/>
              </a:rPr>
              <a:t>relu</a:t>
            </a:r>
            <a:r>
              <a:rPr lang="en-US" sz="950" dirty="0">
                <a:solidFill>
                  <a:srgbClr val="F0F6FC"/>
                </a:solidFill>
                <a:latin typeface="Consolas" pitchFamily="34" charset="0"/>
                <a:ea typeface="Consolas" pitchFamily="34" charset="-122"/>
                <a:cs typeface="Consolas" pitchFamily="34" charset="-120"/>
              </a:rPr>
              <a:t>(self.conv2(x)))</a:t>
            </a:r>
            <a:endParaRPr lang="en-US" sz="950" dirty="0"/>
          </a:p>
        </p:txBody>
      </p:sp>
      <p:sp>
        <p:nvSpPr>
          <p:cNvPr id="18" name="Text 16"/>
          <p:cNvSpPr/>
          <p:nvPr/>
        </p:nvSpPr>
        <p:spPr>
          <a:xfrm>
            <a:off x="411480" y="4119372"/>
            <a:ext cx="4389120" cy="24688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    x = x.</a:t>
            </a:r>
            <a:r>
              <a:rPr lang="en-US" sz="950" dirty="0">
                <a:solidFill>
                  <a:srgbClr val="39D0B0"/>
                </a:solidFill>
                <a:latin typeface="Consolas" pitchFamily="34" charset="0"/>
                <a:ea typeface="Consolas" pitchFamily="34" charset="-122"/>
                <a:cs typeface="Consolas" pitchFamily="34" charset="-120"/>
              </a:rPr>
              <a:t>view</a:t>
            </a:r>
            <a:r>
              <a:rPr lang="en-US" sz="950" dirty="0">
                <a:solidFill>
                  <a:srgbClr val="F0F6FC"/>
                </a:solidFill>
                <a:latin typeface="Consolas" pitchFamily="34" charset="0"/>
                <a:ea typeface="Consolas" pitchFamily="34" charset="-122"/>
                <a:cs typeface="Consolas" pitchFamily="34" charset="-120"/>
              </a:rPr>
              <a:t>(batch, -1)  # flatten</a:t>
            </a:r>
            <a:endParaRPr lang="en-US" sz="950" dirty="0"/>
          </a:p>
        </p:txBody>
      </p:sp>
      <p:sp>
        <p:nvSpPr>
          <p:cNvPr id="19" name="Text 17"/>
          <p:cNvSpPr/>
          <p:nvPr/>
        </p:nvSpPr>
        <p:spPr>
          <a:xfrm>
            <a:off x="411480" y="4379976"/>
            <a:ext cx="4389120" cy="24688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    return self.fc2(</a:t>
            </a:r>
            <a:r>
              <a:rPr lang="en-US" sz="950" dirty="0">
                <a:solidFill>
                  <a:srgbClr val="F0883E"/>
                </a:solidFill>
                <a:latin typeface="Consolas" pitchFamily="34" charset="0"/>
                <a:ea typeface="Consolas" pitchFamily="34" charset="-122"/>
                <a:cs typeface="Consolas" pitchFamily="34" charset="-120"/>
              </a:rPr>
              <a:t>relu</a:t>
            </a:r>
            <a:r>
              <a:rPr lang="en-US" sz="950" dirty="0">
                <a:solidFill>
                  <a:srgbClr val="F0F6FC"/>
                </a:solidFill>
                <a:latin typeface="Consolas" pitchFamily="34" charset="0"/>
                <a:ea typeface="Consolas" pitchFamily="34" charset="-122"/>
                <a:cs typeface="Consolas" pitchFamily="34" charset="-120"/>
              </a:rPr>
              <a:t>(self.fc1(x)))</a:t>
            </a:r>
            <a:endParaRPr lang="en-US" sz="950" dirty="0"/>
          </a:p>
        </p:txBody>
      </p:sp>
      <p:sp>
        <p:nvSpPr>
          <p:cNvPr id="20" name="Shape 18"/>
          <p:cNvSpPr/>
          <p:nvPr/>
        </p:nvSpPr>
        <p:spPr>
          <a:xfrm>
            <a:off x="5166360" y="1170432"/>
            <a:ext cx="3657600" cy="1097280"/>
          </a:xfrm>
          <a:prstGeom prst="rect">
            <a:avLst/>
          </a:prstGeom>
          <a:solidFill>
            <a:srgbClr val="161B22"/>
          </a:solidFill>
          <a:ln w="19050">
            <a:solidFill>
              <a:srgbClr val="FF7B72"/>
            </a:solidFill>
            <a:prstDash val="solid"/>
          </a:ln>
          <a:effectLst>
            <a:outerShdw blurRad="127000" dist="38100" dir="8100000" algn="bl" rotWithShape="0">
              <a:srgbClr val="000000">
                <a:alpha val="35000"/>
              </a:srgbClr>
            </a:outerShdw>
          </a:effectLst>
        </p:spPr>
        <p:txBody>
          <a:bodyPr/>
          <a:lstStyle/>
          <a:p>
            <a:endParaRPr lang="fr-FR"/>
          </a:p>
        </p:txBody>
      </p:sp>
      <p:sp>
        <p:nvSpPr>
          <p:cNvPr id="21" name="Shape 19"/>
          <p:cNvSpPr/>
          <p:nvPr/>
        </p:nvSpPr>
        <p:spPr>
          <a:xfrm>
            <a:off x="5166360" y="1170432"/>
            <a:ext cx="73152" cy="1097280"/>
          </a:xfrm>
          <a:prstGeom prst="rect">
            <a:avLst/>
          </a:prstGeom>
          <a:solidFill>
            <a:srgbClr val="FF7B72"/>
          </a:solidFill>
          <a:ln w="12700">
            <a:solidFill>
              <a:srgbClr val="FF7B72"/>
            </a:solidFill>
            <a:prstDash val="solid"/>
          </a:ln>
        </p:spPr>
        <p:txBody>
          <a:bodyPr/>
          <a:lstStyle/>
          <a:p>
            <a:endParaRPr lang="fr-FR"/>
          </a:p>
        </p:txBody>
      </p:sp>
      <p:sp>
        <p:nvSpPr>
          <p:cNvPr id="22" name="Text 20"/>
          <p:cNvSpPr/>
          <p:nvPr/>
        </p:nvSpPr>
        <p:spPr>
          <a:xfrm>
            <a:off x="5349240" y="1225296"/>
            <a:ext cx="3383280" cy="256032"/>
          </a:xfrm>
          <a:prstGeom prst="rect">
            <a:avLst/>
          </a:prstGeom>
          <a:noFill/>
          <a:ln/>
        </p:spPr>
        <p:txBody>
          <a:bodyPr wrap="square" lIns="0" tIns="0" rIns="0" bIns="0" rtlCol="0" anchor="ctr"/>
          <a:lstStyle/>
          <a:p>
            <a:pPr marL="0" indent="0">
              <a:buNone/>
            </a:pPr>
            <a:r>
              <a:rPr lang="en-US" sz="1100" b="1" dirty="0">
                <a:solidFill>
                  <a:srgbClr val="FF7B72"/>
                </a:solidFill>
              </a:rPr>
              <a:t>Loss Function</a:t>
            </a:r>
            <a:endParaRPr lang="en-US" sz="1100" dirty="0"/>
          </a:p>
        </p:txBody>
      </p:sp>
      <p:sp>
        <p:nvSpPr>
          <p:cNvPr id="23" name="Text 21"/>
          <p:cNvSpPr/>
          <p:nvPr/>
        </p:nvSpPr>
        <p:spPr>
          <a:xfrm>
            <a:off x="5349240" y="1490472"/>
            <a:ext cx="3383280" cy="502920"/>
          </a:xfrm>
          <a:prstGeom prst="rect">
            <a:avLst/>
          </a:prstGeom>
          <a:noFill/>
          <a:ln/>
        </p:spPr>
        <p:txBody>
          <a:bodyPr wrap="square" lIns="0" tIns="0" rIns="0" bIns="0" rtlCol="0" anchor="ctr"/>
          <a:lstStyle/>
          <a:p>
            <a:pPr marL="0" indent="0">
              <a:buNone/>
            </a:pPr>
            <a:r>
              <a:rPr lang="en-US" sz="900" dirty="0">
                <a:solidFill>
                  <a:srgbClr val="F0F6FC"/>
                </a:solidFill>
                <a:latin typeface="Consolas" pitchFamily="34" charset="0"/>
                <a:ea typeface="Consolas" pitchFamily="34" charset="-122"/>
                <a:cs typeface="Consolas" pitchFamily="34" charset="-120"/>
              </a:rPr>
              <a:t>nn.CrossEntropyLoss()</a:t>
            </a:r>
            <a:endParaRPr lang="en-US" sz="900" dirty="0"/>
          </a:p>
        </p:txBody>
      </p:sp>
      <p:sp>
        <p:nvSpPr>
          <p:cNvPr id="24" name="Text 22"/>
          <p:cNvSpPr/>
          <p:nvPr/>
        </p:nvSpPr>
        <p:spPr>
          <a:xfrm>
            <a:off x="5349240" y="1993392"/>
            <a:ext cx="3383280" cy="228600"/>
          </a:xfrm>
          <a:prstGeom prst="rect">
            <a:avLst/>
          </a:prstGeom>
          <a:noFill/>
          <a:ln/>
        </p:spPr>
        <p:txBody>
          <a:bodyPr wrap="square" lIns="0" tIns="0" rIns="0" bIns="0" rtlCol="0" anchor="ctr"/>
          <a:lstStyle/>
          <a:p>
            <a:pPr marL="0" indent="0">
              <a:buNone/>
            </a:pPr>
            <a:r>
              <a:rPr lang="en-US" sz="900" dirty="0">
                <a:solidFill>
                  <a:srgbClr val="8B949E"/>
                </a:solidFill>
              </a:rPr>
              <a:t>Standard for classification</a:t>
            </a:r>
            <a:endParaRPr lang="en-US" sz="900" dirty="0"/>
          </a:p>
        </p:txBody>
      </p:sp>
      <p:sp>
        <p:nvSpPr>
          <p:cNvPr id="25" name="Shape 23"/>
          <p:cNvSpPr/>
          <p:nvPr/>
        </p:nvSpPr>
        <p:spPr>
          <a:xfrm>
            <a:off x="5166360" y="2432304"/>
            <a:ext cx="3657600" cy="1097280"/>
          </a:xfrm>
          <a:prstGeom prst="rect">
            <a:avLst/>
          </a:prstGeom>
          <a:solidFill>
            <a:srgbClr val="161B22"/>
          </a:solidFill>
          <a:ln w="1905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26" name="Shape 24"/>
          <p:cNvSpPr/>
          <p:nvPr/>
        </p:nvSpPr>
        <p:spPr>
          <a:xfrm>
            <a:off x="5166360" y="2432304"/>
            <a:ext cx="73152" cy="1097280"/>
          </a:xfrm>
          <a:prstGeom prst="rect">
            <a:avLst/>
          </a:prstGeom>
          <a:solidFill>
            <a:srgbClr val="58A6FF"/>
          </a:solidFill>
          <a:ln w="12700">
            <a:solidFill>
              <a:srgbClr val="58A6FF"/>
            </a:solidFill>
            <a:prstDash val="solid"/>
          </a:ln>
        </p:spPr>
        <p:txBody>
          <a:bodyPr/>
          <a:lstStyle/>
          <a:p>
            <a:endParaRPr lang="fr-FR"/>
          </a:p>
        </p:txBody>
      </p:sp>
      <p:sp>
        <p:nvSpPr>
          <p:cNvPr id="27" name="Text 25"/>
          <p:cNvSpPr/>
          <p:nvPr/>
        </p:nvSpPr>
        <p:spPr>
          <a:xfrm>
            <a:off x="5349240" y="2487168"/>
            <a:ext cx="3383280" cy="256032"/>
          </a:xfrm>
          <a:prstGeom prst="rect">
            <a:avLst/>
          </a:prstGeom>
          <a:noFill/>
          <a:ln/>
        </p:spPr>
        <p:txBody>
          <a:bodyPr wrap="square" lIns="0" tIns="0" rIns="0" bIns="0" rtlCol="0" anchor="ctr"/>
          <a:lstStyle/>
          <a:p>
            <a:pPr marL="0" indent="0">
              <a:buNone/>
            </a:pPr>
            <a:r>
              <a:rPr lang="en-US" sz="1100" b="1" dirty="0">
                <a:solidFill>
                  <a:srgbClr val="58A6FF"/>
                </a:solidFill>
              </a:rPr>
              <a:t>Optimizer</a:t>
            </a:r>
            <a:endParaRPr lang="en-US" sz="1100" dirty="0"/>
          </a:p>
        </p:txBody>
      </p:sp>
      <p:sp>
        <p:nvSpPr>
          <p:cNvPr id="28" name="Text 26"/>
          <p:cNvSpPr/>
          <p:nvPr/>
        </p:nvSpPr>
        <p:spPr>
          <a:xfrm>
            <a:off x="5349240" y="2752344"/>
            <a:ext cx="3383280" cy="502920"/>
          </a:xfrm>
          <a:prstGeom prst="rect">
            <a:avLst/>
          </a:prstGeom>
          <a:noFill/>
          <a:ln/>
        </p:spPr>
        <p:txBody>
          <a:bodyPr wrap="square" lIns="0" tIns="0" rIns="0" bIns="0" rtlCol="0" anchor="ctr"/>
          <a:lstStyle/>
          <a:p>
            <a:pPr marL="0" indent="0">
              <a:buNone/>
            </a:pPr>
            <a:r>
              <a:rPr lang="en-US" sz="900" dirty="0">
                <a:solidFill>
                  <a:srgbClr val="F0F6FC"/>
                </a:solidFill>
                <a:latin typeface="Consolas" pitchFamily="34" charset="0"/>
                <a:ea typeface="Consolas" pitchFamily="34" charset="-122"/>
                <a:cs typeface="Consolas" pitchFamily="34" charset="-120"/>
              </a:rPr>
              <a:t>optim.Adam(model.parameters(), lr=0.001)</a:t>
            </a:r>
            <a:endParaRPr lang="en-US" sz="900" dirty="0"/>
          </a:p>
        </p:txBody>
      </p:sp>
      <p:sp>
        <p:nvSpPr>
          <p:cNvPr id="29" name="Text 27"/>
          <p:cNvSpPr/>
          <p:nvPr/>
        </p:nvSpPr>
        <p:spPr>
          <a:xfrm>
            <a:off x="5349240" y="3255264"/>
            <a:ext cx="3383280" cy="228600"/>
          </a:xfrm>
          <a:prstGeom prst="rect">
            <a:avLst/>
          </a:prstGeom>
          <a:noFill/>
          <a:ln/>
        </p:spPr>
        <p:txBody>
          <a:bodyPr wrap="square" lIns="0" tIns="0" rIns="0" bIns="0" rtlCol="0" anchor="ctr"/>
          <a:lstStyle/>
          <a:p>
            <a:pPr marL="0" indent="0">
              <a:buNone/>
            </a:pPr>
            <a:r>
              <a:rPr lang="en-US" sz="900" dirty="0">
                <a:solidFill>
                  <a:srgbClr val="8B949E"/>
                </a:solidFill>
              </a:rPr>
              <a:t>Adaptive learning rate</a:t>
            </a:r>
            <a:endParaRPr lang="en-US" sz="900" dirty="0"/>
          </a:p>
        </p:txBody>
      </p:sp>
      <p:sp>
        <p:nvSpPr>
          <p:cNvPr id="30" name="Shape 28"/>
          <p:cNvSpPr/>
          <p:nvPr/>
        </p:nvSpPr>
        <p:spPr>
          <a:xfrm>
            <a:off x="5166360" y="3694176"/>
            <a:ext cx="3657600" cy="1097280"/>
          </a:xfrm>
          <a:prstGeom prst="rect">
            <a:avLst/>
          </a:prstGeom>
          <a:solidFill>
            <a:srgbClr val="161B22"/>
          </a:solidFill>
          <a:ln w="1905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31" name="Shape 29"/>
          <p:cNvSpPr/>
          <p:nvPr/>
        </p:nvSpPr>
        <p:spPr>
          <a:xfrm>
            <a:off x="5166360" y="3694176"/>
            <a:ext cx="73152" cy="1097280"/>
          </a:xfrm>
          <a:prstGeom prst="rect">
            <a:avLst/>
          </a:prstGeom>
          <a:solidFill>
            <a:srgbClr val="3FB950"/>
          </a:solidFill>
          <a:ln w="12700">
            <a:solidFill>
              <a:srgbClr val="3FB950"/>
            </a:solidFill>
            <a:prstDash val="solid"/>
          </a:ln>
        </p:spPr>
        <p:txBody>
          <a:bodyPr/>
          <a:lstStyle/>
          <a:p>
            <a:endParaRPr lang="fr-FR"/>
          </a:p>
        </p:txBody>
      </p:sp>
      <p:sp>
        <p:nvSpPr>
          <p:cNvPr id="32" name="Text 30"/>
          <p:cNvSpPr/>
          <p:nvPr/>
        </p:nvSpPr>
        <p:spPr>
          <a:xfrm>
            <a:off x="5349240" y="3749040"/>
            <a:ext cx="3383280" cy="256032"/>
          </a:xfrm>
          <a:prstGeom prst="rect">
            <a:avLst/>
          </a:prstGeom>
          <a:noFill/>
          <a:ln/>
        </p:spPr>
        <p:txBody>
          <a:bodyPr wrap="square" lIns="0" tIns="0" rIns="0" bIns="0" rtlCol="0" anchor="ctr"/>
          <a:lstStyle/>
          <a:p>
            <a:pPr marL="0" indent="0">
              <a:buNone/>
            </a:pPr>
            <a:r>
              <a:rPr lang="en-US" sz="1100" b="1" dirty="0">
                <a:solidFill>
                  <a:srgbClr val="3FB950"/>
                </a:solidFill>
              </a:rPr>
              <a:t>Training Loop (5 steps)</a:t>
            </a:r>
            <a:endParaRPr lang="en-US" sz="1100" dirty="0"/>
          </a:p>
        </p:txBody>
      </p:sp>
      <p:sp>
        <p:nvSpPr>
          <p:cNvPr id="33" name="Text 31"/>
          <p:cNvSpPr/>
          <p:nvPr/>
        </p:nvSpPr>
        <p:spPr>
          <a:xfrm>
            <a:off x="5349240" y="4014216"/>
            <a:ext cx="3383280" cy="502920"/>
          </a:xfrm>
          <a:prstGeom prst="rect">
            <a:avLst/>
          </a:prstGeom>
          <a:noFill/>
          <a:ln/>
        </p:spPr>
        <p:txBody>
          <a:bodyPr wrap="square" lIns="0" tIns="0" rIns="0" bIns="0" rtlCol="0" anchor="ctr"/>
          <a:lstStyle/>
          <a:p>
            <a:pPr marL="0" indent="0">
              <a:buNone/>
            </a:pPr>
            <a:r>
              <a:rPr lang="en-US" sz="900" dirty="0">
                <a:solidFill>
                  <a:srgbClr val="F0F6FC"/>
                </a:solidFill>
                <a:latin typeface="Consolas" pitchFamily="34" charset="0"/>
                <a:ea typeface="Consolas" pitchFamily="34" charset="-122"/>
                <a:cs typeface="Consolas" pitchFamily="34" charset="-120"/>
              </a:rPr>
              <a:t>optimizer.zero_grad()</a:t>
            </a:r>
            <a:endParaRPr lang="en-US" sz="900" dirty="0"/>
          </a:p>
          <a:p>
            <a:pPr marL="0" indent="0">
              <a:buNone/>
            </a:pPr>
            <a:r>
              <a:rPr lang="en-US" sz="900" dirty="0">
                <a:solidFill>
                  <a:srgbClr val="F0F6FC"/>
                </a:solidFill>
                <a:latin typeface="Consolas" pitchFamily="34" charset="0"/>
                <a:ea typeface="Consolas" pitchFamily="34" charset="-122"/>
                <a:cs typeface="Consolas" pitchFamily="34" charset="-120"/>
              </a:rPr>
              <a:t>out = model(X)</a:t>
            </a:r>
            <a:endParaRPr lang="en-US" sz="900" dirty="0"/>
          </a:p>
          <a:p>
            <a:pPr marL="0" indent="0">
              <a:buNone/>
            </a:pPr>
            <a:r>
              <a:rPr lang="en-US" sz="900" dirty="0">
                <a:solidFill>
                  <a:srgbClr val="F0F6FC"/>
                </a:solidFill>
                <a:latin typeface="Consolas" pitchFamily="34" charset="0"/>
                <a:ea typeface="Consolas" pitchFamily="34" charset="-122"/>
                <a:cs typeface="Consolas" pitchFamily="34" charset="-120"/>
              </a:rPr>
              <a:t>loss = criterion(out, y)</a:t>
            </a:r>
            <a:endParaRPr lang="en-US" sz="900" dirty="0"/>
          </a:p>
          <a:p>
            <a:pPr marL="0" indent="0">
              <a:buNone/>
            </a:pPr>
            <a:r>
              <a:rPr lang="en-US" sz="900" dirty="0">
                <a:solidFill>
                  <a:srgbClr val="F0F6FC"/>
                </a:solidFill>
                <a:latin typeface="Consolas" pitchFamily="34" charset="0"/>
                <a:ea typeface="Consolas" pitchFamily="34" charset="-122"/>
                <a:cs typeface="Consolas" pitchFamily="34" charset="-120"/>
              </a:rPr>
              <a:t>loss.backward()</a:t>
            </a:r>
            <a:endParaRPr lang="en-US" sz="900" dirty="0"/>
          </a:p>
          <a:p>
            <a:pPr marL="0" indent="0">
              <a:buNone/>
            </a:pPr>
            <a:r>
              <a:rPr lang="en-US" sz="900" dirty="0">
                <a:solidFill>
                  <a:srgbClr val="F0F6FC"/>
                </a:solidFill>
                <a:latin typeface="Consolas" pitchFamily="34" charset="0"/>
                <a:ea typeface="Consolas" pitchFamily="34" charset="-122"/>
                <a:cs typeface="Consolas" pitchFamily="34" charset="-120"/>
              </a:rPr>
              <a:t>optimizer.step()</a:t>
            </a:r>
            <a:endParaRPr lang="en-US" sz="900" dirty="0"/>
          </a:p>
        </p:txBody>
      </p:sp>
      <p:sp>
        <p:nvSpPr>
          <p:cNvPr id="34" name="Text 32"/>
          <p:cNvSpPr/>
          <p:nvPr/>
        </p:nvSpPr>
        <p:spPr>
          <a:xfrm>
            <a:off x="5349240" y="4517136"/>
            <a:ext cx="3383280" cy="228600"/>
          </a:xfrm>
          <a:prstGeom prst="rect">
            <a:avLst/>
          </a:prstGeom>
          <a:noFill/>
          <a:ln/>
        </p:spPr>
        <p:txBody>
          <a:bodyPr wrap="square" lIns="0" tIns="0" rIns="0" bIns="0" rtlCol="0" anchor="ctr"/>
          <a:lstStyle/>
          <a:p>
            <a:pPr marL="0" indent="0">
              <a:buNone/>
            </a:pPr>
            <a:r>
              <a:rPr lang="en-US" sz="900" dirty="0">
                <a:solidFill>
                  <a:srgbClr val="8B949E"/>
                </a:solidFill>
              </a:rPr>
              <a:t>Every batch repeats these 5 lines</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0883E"/>
          </a:solidFill>
          <a:ln w="12700">
            <a:solidFill>
              <a:srgbClr val="F0883E"/>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Transfer Learning — Stand on Giants' Shoulders</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F0883E"/>
                </a:solidFill>
              </a:rPr>
              <a:t>Use a model trained on millions of images!</a:t>
            </a:r>
            <a:endParaRPr lang="en-US" sz="1200" dirty="0"/>
          </a:p>
        </p:txBody>
      </p:sp>
      <p:sp>
        <p:nvSpPr>
          <p:cNvPr id="5" name="Shape 3"/>
          <p:cNvSpPr/>
          <p:nvPr/>
        </p:nvSpPr>
        <p:spPr>
          <a:xfrm>
            <a:off x="320040" y="1024128"/>
            <a:ext cx="8503920" cy="0"/>
          </a:xfrm>
          <a:prstGeom prst="line">
            <a:avLst/>
          </a:prstGeom>
          <a:noFill/>
          <a:ln w="12700">
            <a:solidFill>
              <a:srgbClr val="F0883E"/>
            </a:solidFill>
            <a:prstDash val="solid"/>
          </a:ln>
        </p:spPr>
        <p:txBody>
          <a:bodyPr/>
          <a:lstStyle/>
          <a:p>
            <a:endParaRPr lang="fr-FR"/>
          </a:p>
        </p:txBody>
      </p:sp>
      <p:sp>
        <p:nvSpPr>
          <p:cNvPr id="6" name="Shape 4"/>
          <p:cNvSpPr/>
          <p:nvPr/>
        </p:nvSpPr>
        <p:spPr>
          <a:xfrm>
            <a:off x="320040" y="1170432"/>
            <a:ext cx="4114800" cy="2606040"/>
          </a:xfrm>
          <a:prstGeom prst="rect">
            <a:avLst/>
          </a:prstGeom>
          <a:solidFill>
            <a:srgbClr val="161B22"/>
          </a:solidFill>
          <a:ln w="25400">
            <a:solidFill>
              <a:srgbClr val="FF7B72"/>
            </a:solidFill>
            <a:prstDash val="solid"/>
          </a:ln>
          <a:effectLst>
            <a:outerShdw blurRad="127000" dist="38100" dir="8100000" algn="bl" rotWithShape="0">
              <a:srgbClr val="000000">
                <a:alpha val="35000"/>
              </a:srgbClr>
            </a:outerShdw>
          </a:effectLst>
        </p:spPr>
        <p:txBody>
          <a:bodyPr/>
          <a:lstStyle/>
          <a:p>
            <a:endParaRPr lang="fr-FR"/>
          </a:p>
        </p:txBody>
      </p:sp>
      <p:sp>
        <p:nvSpPr>
          <p:cNvPr id="7" name="Shape 5"/>
          <p:cNvSpPr/>
          <p:nvPr/>
        </p:nvSpPr>
        <p:spPr>
          <a:xfrm>
            <a:off x="320040" y="1170432"/>
            <a:ext cx="4114800" cy="457200"/>
          </a:xfrm>
          <a:prstGeom prst="rect">
            <a:avLst/>
          </a:prstGeom>
          <a:solidFill>
            <a:srgbClr val="FF7B72"/>
          </a:solidFill>
          <a:ln w="12700">
            <a:solidFill>
              <a:srgbClr val="FF7B72"/>
            </a:solidFill>
            <a:prstDash val="solid"/>
          </a:ln>
        </p:spPr>
        <p:txBody>
          <a:bodyPr/>
          <a:lstStyle/>
          <a:p>
            <a:endParaRPr lang="fr-FR"/>
          </a:p>
        </p:txBody>
      </p:sp>
      <p:sp>
        <p:nvSpPr>
          <p:cNvPr id="8" name="Text 6"/>
          <p:cNvSpPr/>
          <p:nvPr/>
        </p:nvSpPr>
        <p:spPr>
          <a:xfrm>
            <a:off x="411480" y="1179576"/>
            <a:ext cx="3931920" cy="438912"/>
          </a:xfrm>
          <a:prstGeom prst="rect">
            <a:avLst/>
          </a:prstGeom>
          <a:noFill/>
          <a:ln/>
        </p:spPr>
        <p:txBody>
          <a:bodyPr wrap="square" lIns="0" tIns="0" rIns="0" bIns="0" rtlCol="0" anchor="ctr"/>
          <a:lstStyle/>
          <a:p>
            <a:pPr marL="0" indent="0" algn="ctr">
              <a:buNone/>
            </a:pPr>
            <a:r>
              <a:rPr lang="en-US" sz="1300" b="1" dirty="0">
                <a:solidFill>
                  <a:srgbClr val="F0F6FC"/>
                </a:solidFill>
              </a:rPr>
              <a:t>Training from Scratch</a:t>
            </a:r>
            <a:endParaRPr lang="en-US" sz="1300" dirty="0"/>
          </a:p>
        </p:txBody>
      </p:sp>
      <p:sp>
        <p:nvSpPr>
          <p:cNvPr id="9" name="Text 7"/>
          <p:cNvSpPr/>
          <p:nvPr/>
        </p:nvSpPr>
        <p:spPr>
          <a:xfrm>
            <a:off x="502920" y="1737360"/>
            <a:ext cx="3749040" cy="438912"/>
          </a:xfrm>
          <a:prstGeom prst="rect">
            <a:avLst/>
          </a:prstGeom>
          <a:noFill/>
          <a:ln/>
        </p:spPr>
        <p:txBody>
          <a:bodyPr wrap="square" lIns="0" tIns="0" rIns="0" bIns="0" rtlCol="0" anchor="ctr"/>
          <a:lstStyle/>
          <a:p>
            <a:pPr marL="0" indent="0">
              <a:buNone/>
            </a:pPr>
            <a:r>
              <a:rPr lang="en-US" sz="1100" b="1" dirty="0">
                <a:solidFill>
                  <a:srgbClr val="FF7B72"/>
                </a:solidFill>
              </a:rPr>
              <a:t>x  </a:t>
            </a:r>
            <a:r>
              <a:rPr lang="en-US" sz="1100" dirty="0">
                <a:solidFill>
                  <a:srgbClr val="F0F6FC"/>
                </a:solidFill>
              </a:rPr>
              <a:t>Millions of images needed</a:t>
            </a:r>
            <a:endParaRPr lang="en-US" sz="1100" dirty="0"/>
          </a:p>
        </p:txBody>
      </p:sp>
      <p:sp>
        <p:nvSpPr>
          <p:cNvPr id="10" name="Text 8"/>
          <p:cNvSpPr/>
          <p:nvPr/>
        </p:nvSpPr>
        <p:spPr>
          <a:xfrm>
            <a:off x="502920" y="2212848"/>
            <a:ext cx="3749040" cy="438912"/>
          </a:xfrm>
          <a:prstGeom prst="rect">
            <a:avLst/>
          </a:prstGeom>
          <a:noFill/>
          <a:ln/>
        </p:spPr>
        <p:txBody>
          <a:bodyPr wrap="square" lIns="0" tIns="0" rIns="0" bIns="0" rtlCol="0" anchor="ctr"/>
          <a:lstStyle/>
          <a:p>
            <a:pPr marL="0" indent="0">
              <a:buNone/>
            </a:pPr>
            <a:r>
              <a:rPr lang="en-US" sz="1100" b="1" dirty="0">
                <a:solidFill>
                  <a:srgbClr val="FF7B72"/>
                </a:solidFill>
              </a:rPr>
              <a:t>x  </a:t>
            </a:r>
            <a:r>
              <a:rPr lang="en-US" sz="1100" dirty="0">
                <a:solidFill>
                  <a:srgbClr val="F0F6FC"/>
                </a:solidFill>
              </a:rPr>
              <a:t>Days of GPU training</a:t>
            </a:r>
            <a:endParaRPr lang="en-US" sz="1100" dirty="0"/>
          </a:p>
        </p:txBody>
      </p:sp>
      <p:sp>
        <p:nvSpPr>
          <p:cNvPr id="11" name="Text 9"/>
          <p:cNvSpPr/>
          <p:nvPr/>
        </p:nvSpPr>
        <p:spPr>
          <a:xfrm>
            <a:off x="502920" y="2688336"/>
            <a:ext cx="3749040" cy="438912"/>
          </a:xfrm>
          <a:prstGeom prst="rect">
            <a:avLst/>
          </a:prstGeom>
          <a:noFill/>
          <a:ln/>
        </p:spPr>
        <p:txBody>
          <a:bodyPr wrap="square" lIns="0" tIns="0" rIns="0" bIns="0" rtlCol="0" anchor="ctr"/>
          <a:lstStyle/>
          <a:p>
            <a:pPr marL="0" indent="0">
              <a:buNone/>
            </a:pPr>
            <a:r>
              <a:rPr lang="en-US" sz="1100" b="1" dirty="0">
                <a:solidFill>
                  <a:srgbClr val="FF7B72"/>
                </a:solidFill>
              </a:rPr>
              <a:t>x  </a:t>
            </a:r>
            <a:r>
              <a:rPr lang="en-US" sz="1100" dirty="0">
                <a:solidFill>
                  <a:srgbClr val="F0F6FC"/>
                </a:solidFill>
              </a:rPr>
              <a:t>Risk of overfitting on small data</a:t>
            </a:r>
            <a:endParaRPr lang="en-US" sz="1100" dirty="0"/>
          </a:p>
        </p:txBody>
      </p:sp>
      <p:sp>
        <p:nvSpPr>
          <p:cNvPr id="12" name="Text 10"/>
          <p:cNvSpPr/>
          <p:nvPr/>
        </p:nvSpPr>
        <p:spPr>
          <a:xfrm>
            <a:off x="502920" y="3163824"/>
            <a:ext cx="3749040" cy="438912"/>
          </a:xfrm>
          <a:prstGeom prst="rect">
            <a:avLst/>
          </a:prstGeom>
          <a:noFill/>
          <a:ln/>
        </p:spPr>
        <p:txBody>
          <a:bodyPr wrap="square" lIns="0" tIns="0" rIns="0" bIns="0" rtlCol="0" anchor="ctr"/>
          <a:lstStyle/>
          <a:p>
            <a:pPr marL="0" indent="0">
              <a:buNone/>
            </a:pPr>
            <a:r>
              <a:rPr lang="en-US" sz="1100" b="1" dirty="0">
                <a:solidFill>
                  <a:srgbClr val="FF7B72"/>
                </a:solidFill>
              </a:rPr>
              <a:t>x  </a:t>
            </a:r>
            <a:r>
              <a:rPr lang="en-US" sz="1100" dirty="0">
                <a:solidFill>
                  <a:srgbClr val="F0F6FC"/>
                </a:solidFill>
              </a:rPr>
              <a:t>Requires huge expertise</a:t>
            </a:r>
            <a:endParaRPr lang="en-US" sz="1100" dirty="0"/>
          </a:p>
        </p:txBody>
      </p:sp>
      <p:sp>
        <p:nvSpPr>
          <p:cNvPr id="13" name="Shape 11"/>
          <p:cNvSpPr/>
          <p:nvPr/>
        </p:nvSpPr>
        <p:spPr>
          <a:xfrm>
            <a:off x="4800600" y="1170432"/>
            <a:ext cx="4114800" cy="2606040"/>
          </a:xfrm>
          <a:prstGeom prst="rect">
            <a:avLst/>
          </a:prstGeom>
          <a:solidFill>
            <a:srgbClr val="161B22"/>
          </a:solidFill>
          <a:ln w="2540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14" name="Shape 12"/>
          <p:cNvSpPr/>
          <p:nvPr/>
        </p:nvSpPr>
        <p:spPr>
          <a:xfrm>
            <a:off x="4800600" y="1170432"/>
            <a:ext cx="4114800" cy="457200"/>
          </a:xfrm>
          <a:prstGeom prst="rect">
            <a:avLst/>
          </a:prstGeom>
          <a:solidFill>
            <a:srgbClr val="3FB950"/>
          </a:solidFill>
          <a:ln w="12700">
            <a:solidFill>
              <a:srgbClr val="3FB950"/>
            </a:solidFill>
            <a:prstDash val="solid"/>
          </a:ln>
        </p:spPr>
        <p:txBody>
          <a:bodyPr/>
          <a:lstStyle/>
          <a:p>
            <a:endParaRPr lang="fr-FR"/>
          </a:p>
        </p:txBody>
      </p:sp>
      <p:sp>
        <p:nvSpPr>
          <p:cNvPr id="15" name="Text 13"/>
          <p:cNvSpPr/>
          <p:nvPr/>
        </p:nvSpPr>
        <p:spPr>
          <a:xfrm>
            <a:off x="4892040" y="1179576"/>
            <a:ext cx="3931920" cy="438912"/>
          </a:xfrm>
          <a:prstGeom prst="rect">
            <a:avLst/>
          </a:prstGeom>
          <a:noFill/>
          <a:ln/>
        </p:spPr>
        <p:txBody>
          <a:bodyPr wrap="square" lIns="0" tIns="0" rIns="0" bIns="0" rtlCol="0" anchor="ctr"/>
          <a:lstStyle/>
          <a:p>
            <a:pPr marL="0" indent="0" algn="ctr">
              <a:buNone/>
            </a:pPr>
            <a:r>
              <a:rPr lang="en-US" sz="1300" b="1" dirty="0">
                <a:solidFill>
                  <a:srgbClr val="F0F6FC"/>
                </a:solidFill>
              </a:rPr>
              <a:t>Transfer Learning</a:t>
            </a:r>
            <a:endParaRPr lang="en-US" sz="1300" dirty="0"/>
          </a:p>
        </p:txBody>
      </p:sp>
      <p:sp>
        <p:nvSpPr>
          <p:cNvPr id="16" name="Text 14"/>
          <p:cNvSpPr/>
          <p:nvPr/>
        </p:nvSpPr>
        <p:spPr>
          <a:xfrm>
            <a:off x="4983480" y="1737360"/>
            <a:ext cx="3749040" cy="438912"/>
          </a:xfrm>
          <a:prstGeom prst="rect">
            <a:avLst/>
          </a:prstGeom>
          <a:noFill/>
          <a:ln/>
        </p:spPr>
        <p:txBody>
          <a:bodyPr wrap="square" lIns="0" tIns="0" rIns="0" bIns="0" rtlCol="0" anchor="ctr"/>
          <a:lstStyle/>
          <a:p>
            <a:pPr marL="0" indent="0">
              <a:buNone/>
            </a:pPr>
            <a:r>
              <a:rPr lang="en-US" sz="1100" b="1" dirty="0">
                <a:solidFill>
                  <a:srgbClr val="3FB950"/>
                </a:solidFill>
              </a:rPr>
              <a:t>v  </a:t>
            </a:r>
            <a:r>
              <a:rPr lang="en-US" sz="1100" dirty="0">
                <a:solidFill>
                  <a:srgbClr val="F0F6FC"/>
                </a:solidFill>
              </a:rPr>
              <a:t>Works with hundreds of images</a:t>
            </a:r>
            <a:endParaRPr lang="en-US" sz="1100" dirty="0"/>
          </a:p>
        </p:txBody>
      </p:sp>
      <p:sp>
        <p:nvSpPr>
          <p:cNvPr id="17" name="Text 15"/>
          <p:cNvSpPr/>
          <p:nvPr/>
        </p:nvSpPr>
        <p:spPr>
          <a:xfrm>
            <a:off x="4983480" y="2212848"/>
            <a:ext cx="3749040" cy="438912"/>
          </a:xfrm>
          <a:prstGeom prst="rect">
            <a:avLst/>
          </a:prstGeom>
          <a:noFill/>
          <a:ln/>
        </p:spPr>
        <p:txBody>
          <a:bodyPr wrap="square" lIns="0" tIns="0" rIns="0" bIns="0" rtlCol="0" anchor="ctr"/>
          <a:lstStyle/>
          <a:p>
            <a:pPr marL="0" indent="0">
              <a:buNone/>
            </a:pPr>
            <a:r>
              <a:rPr lang="en-US" sz="1100" b="1" dirty="0">
                <a:solidFill>
                  <a:srgbClr val="3FB950"/>
                </a:solidFill>
              </a:rPr>
              <a:t>v  </a:t>
            </a:r>
            <a:r>
              <a:rPr lang="en-US" sz="1100" dirty="0">
                <a:solidFill>
                  <a:srgbClr val="F0F6FC"/>
                </a:solidFill>
              </a:rPr>
              <a:t>Fine-tune in minutes!</a:t>
            </a:r>
            <a:endParaRPr lang="en-US" sz="1100" dirty="0"/>
          </a:p>
        </p:txBody>
      </p:sp>
      <p:sp>
        <p:nvSpPr>
          <p:cNvPr id="18" name="Text 16"/>
          <p:cNvSpPr/>
          <p:nvPr/>
        </p:nvSpPr>
        <p:spPr>
          <a:xfrm>
            <a:off x="4983480" y="2688336"/>
            <a:ext cx="3749040" cy="438912"/>
          </a:xfrm>
          <a:prstGeom prst="rect">
            <a:avLst/>
          </a:prstGeom>
          <a:noFill/>
          <a:ln/>
        </p:spPr>
        <p:txBody>
          <a:bodyPr wrap="square" lIns="0" tIns="0" rIns="0" bIns="0" rtlCol="0" anchor="ctr"/>
          <a:lstStyle/>
          <a:p>
            <a:pPr marL="0" indent="0">
              <a:buNone/>
            </a:pPr>
            <a:r>
              <a:rPr lang="en-US" sz="1100" b="1" dirty="0">
                <a:solidFill>
                  <a:srgbClr val="3FB950"/>
                </a:solidFill>
              </a:rPr>
              <a:t>v  </a:t>
            </a:r>
            <a:r>
              <a:rPr lang="en-US" sz="1100" dirty="0">
                <a:solidFill>
                  <a:srgbClr val="F0F6FC"/>
                </a:solidFill>
              </a:rPr>
              <a:t>Great generalization</a:t>
            </a:r>
            <a:endParaRPr lang="en-US" sz="1100" dirty="0"/>
          </a:p>
        </p:txBody>
      </p:sp>
      <p:sp>
        <p:nvSpPr>
          <p:cNvPr id="19" name="Text 17"/>
          <p:cNvSpPr/>
          <p:nvPr/>
        </p:nvSpPr>
        <p:spPr>
          <a:xfrm>
            <a:off x="4983480" y="3163824"/>
            <a:ext cx="3749040" cy="438912"/>
          </a:xfrm>
          <a:prstGeom prst="rect">
            <a:avLst/>
          </a:prstGeom>
          <a:noFill/>
          <a:ln/>
        </p:spPr>
        <p:txBody>
          <a:bodyPr wrap="square" lIns="0" tIns="0" rIns="0" bIns="0" rtlCol="0" anchor="ctr"/>
          <a:lstStyle/>
          <a:p>
            <a:pPr marL="0" indent="0">
              <a:buNone/>
            </a:pPr>
            <a:r>
              <a:rPr lang="en-US" sz="1100" b="1" dirty="0">
                <a:solidFill>
                  <a:srgbClr val="3FB950"/>
                </a:solidFill>
              </a:rPr>
              <a:t>v  </a:t>
            </a:r>
            <a:r>
              <a:rPr lang="en-US" sz="1100" dirty="0">
                <a:solidFill>
                  <a:srgbClr val="F0F6FC"/>
                </a:solidFill>
              </a:rPr>
              <a:t>Start with pretrained ResNet/VGG/...</a:t>
            </a:r>
            <a:endParaRPr lang="en-US" sz="1100" dirty="0"/>
          </a:p>
        </p:txBody>
      </p:sp>
      <p:sp>
        <p:nvSpPr>
          <p:cNvPr id="20" name="Text 18"/>
          <p:cNvSpPr/>
          <p:nvPr/>
        </p:nvSpPr>
        <p:spPr>
          <a:xfrm>
            <a:off x="320040" y="3886200"/>
            <a:ext cx="8503920" cy="274320"/>
          </a:xfrm>
          <a:prstGeom prst="rect">
            <a:avLst/>
          </a:prstGeom>
          <a:noFill/>
          <a:ln/>
        </p:spPr>
        <p:txBody>
          <a:bodyPr wrap="square" lIns="0" tIns="0" rIns="0" bIns="0" rtlCol="0" anchor="ctr"/>
          <a:lstStyle/>
          <a:p>
            <a:pPr marL="0" indent="0">
              <a:buNone/>
            </a:pPr>
            <a:r>
              <a:rPr lang="en-US" sz="1200" b="1" dirty="0">
                <a:solidFill>
                  <a:srgbClr val="F0883E"/>
                </a:solidFill>
              </a:rPr>
              <a:t>How Transfer Learning works:</a:t>
            </a:r>
            <a:endParaRPr lang="en-US" sz="1200" dirty="0"/>
          </a:p>
        </p:txBody>
      </p:sp>
      <p:sp>
        <p:nvSpPr>
          <p:cNvPr id="21" name="Shape 19"/>
          <p:cNvSpPr/>
          <p:nvPr/>
        </p:nvSpPr>
        <p:spPr>
          <a:xfrm>
            <a:off x="274320" y="4206240"/>
            <a:ext cx="1554480" cy="731520"/>
          </a:xfrm>
          <a:prstGeom prst="roundRect">
            <a:avLst>
              <a:gd name="adj" fmla="val 10000"/>
            </a:avLst>
          </a:prstGeom>
          <a:solidFill>
            <a:srgbClr val="161B22"/>
          </a:solidFill>
          <a:ln w="19050">
            <a:solidFill>
              <a:srgbClr val="58A6FF"/>
            </a:solidFill>
            <a:prstDash val="solid"/>
          </a:ln>
        </p:spPr>
        <p:txBody>
          <a:bodyPr/>
          <a:lstStyle/>
          <a:p>
            <a:endParaRPr lang="fr-FR"/>
          </a:p>
        </p:txBody>
      </p:sp>
      <p:sp>
        <p:nvSpPr>
          <p:cNvPr id="22" name="Text 20"/>
          <p:cNvSpPr/>
          <p:nvPr/>
        </p:nvSpPr>
        <p:spPr>
          <a:xfrm>
            <a:off x="320040" y="4224528"/>
            <a:ext cx="1463040" cy="694944"/>
          </a:xfrm>
          <a:prstGeom prst="rect">
            <a:avLst/>
          </a:prstGeom>
          <a:noFill/>
          <a:ln/>
        </p:spPr>
        <p:txBody>
          <a:bodyPr wrap="square" lIns="0" tIns="0" rIns="0" bIns="0" rtlCol="0" anchor="ctr"/>
          <a:lstStyle/>
          <a:p>
            <a:pPr marL="0" indent="0" algn="ctr">
              <a:buNone/>
            </a:pPr>
            <a:r>
              <a:rPr lang="en-US" sz="900" b="1" dirty="0">
                <a:solidFill>
                  <a:srgbClr val="58A6FF"/>
                </a:solidFill>
              </a:rPr>
              <a:t>Pretrained</a:t>
            </a:r>
            <a:endParaRPr lang="en-US" sz="900" dirty="0"/>
          </a:p>
          <a:p>
            <a:pPr marL="0" indent="0" algn="ctr">
              <a:buNone/>
            </a:pPr>
            <a:r>
              <a:rPr lang="en-US" sz="900" b="1" dirty="0">
                <a:solidFill>
                  <a:srgbClr val="58A6FF"/>
                </a:solidFill>
              </a:rPr>
              <a:t>ResNet-18</a:t>
            </a:r>
            <a:endParaRPr lang="en-US" sz="900" dirty="0"/>
          </a:p>
          <a:p>
            <a:pPr marL="0" indent="0" algn="ctr">
              <a:buNone/>
            </a:pPr>
            <a:r>
              <a:rPr lang="en-US" sz="900" b="1" dirty="0">
                <a:solidFill>
                  <a:srgbClr val="58A6FF"/>
                </a:solidFill>
              </a:rPr>
              <a:t>(ImageNet)</a:t>
            </a:r>
            <a:endParaRPr lang="en-US" sz="900" dirty="0"/>
          </a:p>
        </p:txBody>
      </p:sp>
      <p:sp>
        <p:nvSpPr>
          <p:cNvPr id="23" name="Shape 21"/>
          <p:cNvSpPr/>
          <p:nvPr/>
        </p:nvSpPr>
        <p:spPr>
          <a:xfrm>
            <a:off x="1828800" y="4572000"/>
            <a:ext cx="210312" cy="0"/>
          </a:xfrm>
          <a:prstGeom prst="line">
            <a:avLst/>
          </a:prstGeom>
          <a:noFill/>
          <a:ln w="19050">
            <a:solidFill>
              <a:srgbClr val="8B949E"/>
            </a:solidFill>
            <a:prstDash val="solid"/>
            <a:tailEnd type="arrow"/>
          </a:ln>
        </p:spPr>
        <p:txBody>
          <a:bodyPr/>
          <a:lstStyle/>
          <a:p>
            <a:endParaRPr lang="fr-FR"/>
          </a:p>
        </p:txBody>
      </p:sp>
      <p:sp>
        <p:nvSpPr>
          <p:cNvPr id="24" name="Shape 22"/>
          <p:cNvSpPr/>
          <p:nvPr/>
        </p:nvSpPr>
        <p:spPr>
          <a:xfrm>
            <a:off x="2039112" y="4206240"/>
            <a:ext cx="1554480" cy="731520"/>
          </a:xfrm>
          <a:prstGeom prst="roundRect">
            <a:avLst>
              <a:gd name="adj" fmla="val 10000"/>
            </a:avLst>
          </a:prstGeom>
          <a:solidFill>
            <a:srgbClr val="161B22"/>
          </a:solidFill>
          <a:ln w="19050">
            <a:solidFill>
              <a:srgbClr val="8B949E"/>
            </a:solidFill>
            <a:prstDash val="solid"/>
          </a:ln>
        </p:spPr>
        <p:txBody>
          <a:bodyPr/>
          <a:lstStyle/>
          <a:p>
            <a:endParaRPr lang="fr-FR"/>
          </a:p>
        </p:txBody>
      </p:sp>
      <p:sp>
        <p:nvSpPr>
          <p:cNvPr id="25" name="Text 23"/>
          <p:cNvSpPr/>
          <p:nvPr/>
        </p:nvSpPr>
        <p:spPr>
          <a:xfrm>
            <a:off x="2084832" y="4224528"/>
            <a:ext cx="1463040" cy="694944"/>
          </a:xfrm>
          <a:prstGeom prst="rect">
            <a:avLst/>
          </a:prstGeom>
          <a:noFill/>
          <a:ln/>
        </p:spPr>
        <p:txBody>
          <a:bodyPr wrap="square" lIns="0" tIns="0" rIns="0" bIns="0" rtlCol="0" anchor="ctr"/>
          <a:lstStyle/>
          <a:p>
            <a:pPr marL="0" indent="0" algn="ctr">
              <a:buNone/>
            </a:pPr>
            <a:r>
              <a:rPr lang="en-US" sz="900" b="1" dirty="0">
                <a:solidFill>
                  <a:srgbClr val="8B949E"/>
                </a:solidFill>
              </a:rPr>
              <a:t>Freeze</a:t>
            </a:r>
            <a:endParaRPr lang="en-US" sz="900" dirty="0"/>
          </a:p>
          <a:p>
            <a:pPr marL="0" indent="0" algn="ctr">
              <a:buNone/>
            </a:pPr>
            <a:r>
              <a:rPr lang="en-US" sz="900" b="1" dirty="0">
                <a:solidFill>
                  <a:srgbClr val="8B949E"/>
                </a:solidFill>
              </a:rPr>
              <a:t>All Layers</a:t>
            </a:r>
            <a:endParaRPr lang="en-US" sz="900" dirty="0"/>
          </a:p>
        </p:txBody>
      </p:sp>
      <p:sp>
        <p:nvSpPr>
          <p:cNvPr id="26" name="Shape 24"/>
          <p:cNvSpPr/>
          <p:nvPr/>
        </p:nvSpPr>
        <p:spPr>
          <a:xfrm>
            <a:off x="3593592" y="4572000"/>
            <a:ext cx="210312" cy="0"/>
          </a:xfrm>
          <a:prstGeom prst="line">
            <a:avLst/>
          </a:prstGeom>
          <a:noFill/>
          <a:ln w="19050">
            <a:solidFill>
              <a:srgbClr val="8B949E"/>
            </a:solidFill>
            <a:prstDash val="solid"/>
            <a:tailEnd type="arrow"/>
          </a:ln>
        </p:spPr>
        <p:txBody>
          <a:bodyPr/>
          <a:lstStyle/>
          <a:p>
            <a:endParaRPr lang="fr-FR"/>
          </a:p>
        </p:txBody>
      </p:sp>
      <p:sp>
        <p:nvSpPr>
          <p:cNvPr id="27" name="Shape 25"/>
          <p:cNvSpPr/>
          <p:nvPr/>
        </p:nvSpPr>
        <p:spPr>
          <a:xfrm>
            <a:off x="3803904" y="4206240"/>
            <a:ext cx="1554480" cy="731520"/>
          </a:xfrm>
          <a:prstGeom prst="roundRect">
            <a:avLst>
              <a:gd name="adj" fmla="val 10000"/>
            </a:avLst>
          </a:prstGeom>
          <a:solidFill>
            <a:srgbClr val="161B22"/>
          </a:solidFill>
          <a:ln w="19050">
            <a:solidFill>
              <a:srgbClr val="F0883E"/>
            </a:solidFill>
            <a:prstDash val="solid"/>
          </a:ln>
        </p:spPr>
        <p:txBody>
          <a:bodyPr/>
          <a:lstStyle/>
          <a:p>
            <a:endParaRPr lang="fr-FR"/>
          </a:p>
        </p:txBody>
      </p:sp>
      <p:sp>
        <p:nvSpPr>
          <p:cNvPr id="28" name="Text 26"/>
          <p:cNvSpPr/>
          <p:nvPr/>
        </p:nvSpPr>
        <p:spPr>
          <a:xfrm>
            <a:off x="3849624" y="4224528"/>
            <a:ext cx="1463040" cy="694944"/>
          </a:xfrm>
          <a:prstGeom prst="rect">
            <a:avLst/>
          </a:prstGeom>
          <a:noFill/>
          <a:ln/>
        </p:spPr>
        <p:txBody>
          <a:bodyPr wrap="square" lIns="0" tIns="0" rIns="0" bIns="0" rtlCol="0" anchor="ctr"/>
          <a:lstStyle/>
          <a:p>
            <a:pPr marL="0" indent="0" algn="ctr">
              <a:buNone/>
            </a:pPr>
            <a:r>
              <a:rPr lang="en-US" sz="900" b="1" dirty="0">
                <a:solidFill>
                  <a:srgbClr val="F0883E"/>
                </a:solidFill>
              </a:rPr>
              <a:t>Replace</a:t>
            </a:r>
            <a:endParaRPr lang="en-US" sz="900" dirty="0"/>
          </a:p>
          <a:p>
            <a:pPr marL="0" indent="0" algn="ctr">
              <a:buNone/>
            </a:pPr>
            <a:r>
              <a:rPr lang="en-US" sz="900" b="1" dirty="0">
                <a:solidFill>
                  <a:srgbClr val="F0883E"/>
                </a:solidFill>
              </a:rPr>
              <a:t>Last Layer</a:t>
            </a:r>
            <a:endParaRPr lang="en-US" sz="900" dirty="0"/>
          </a:p>
          <a:p>
            <a:pPr marL="0" indent="0" algn="ctr">
              <a:buNone/>
            </a:pPr>
            <a:r>
              <a:rPr lang="en-US" sz="900" b="1" dirty="0">
                <a:solidFill>
                  <a:srgbClr val="F0883E"/>
                </a:solidFill>
              </a:rPr>
              <a:t>(N classes)</a:t>
            </a:r>
            <a:endParaRPr lang="en-US" sz="900" dirty="0"/>
          </a:p>
        </p:txBody>
      </p:sp>
      <p:sp>
        <p:nvSpPr>
          <p:cNvPr id="29" name="Shape 27"/>
          <p:cNvSpPr/>
          <p:nvPr/>
        </p:nvSpPr>
        <p:spPr>
          <a:xfrm>
            <a:off x="5358384" y="4572000"/>
            <a:ext cx="210312" cy="0"/>
          </a:xfrm>
          <a:prstGeom prst="line">
            <a:avLst/>
          </a:prstGeom>
          <a:noFill/>
          <a:ln w="19050">
            <a:solidFill>
              <a:srgbClr val="8B949E"/>
            </a:solidFill>
            <a:prstDash val="solid"/>
            <a:tailEnd type="arrow"/>
          </a:ln>
        </p:spPr>
        <p:txBody>
          <a:bodyPr/>
          <a:lstStyle/>
          <a:p>
            <a:endParaRPr lang="fr-FR"/>
          </a:p>
        </p:txBody>
      </p:sp>
      <p:sp>
        <p:nvSpPr>
          <p:cNvPr id="30" name="Shape 28"/>
          <p:cNvSpPr/>
          <p:nvPr/>
        </p:nvSpPr>
        <p:spPr>
          <a:xfrm>
            <a:off x="5568696" y="4206240"/>
            <a:ext cx="1554480" cy="731520"/>
          </a:xfrm>
          <a:prstGeom prst="roundRect">
            <a:avLst>
              <a:gd name="adj" fmla="val 10000"/>
            </a:avLst>
          </a:prstGeom>
          <a:solidFill>
            <a:srgbClr val="161B22"/>
          </a:solidFill>
          <a:ln w="19050">
            <a:solidFill>
              <a:srgbClr val="3FB950"/>
            </a:solidFill>
            <a:prstDash val="solid"/>
          </a:ln>
        </p:spPr>
        <p:txBody>
          <a:bodyPr/>
          <a:lstStyle/>
          <a:p>
            <a:endParaRPr lang="fr-FR"/>
          </a:p>
        </p:txBody>
      </p:sp>
      <p:sp>
        <p:nvSpPr>
          <p:cNvPr id="31" name="Text 29"/>
          <p:cNvSpPr/>
          <p:nvPr/>
        </p:nvSpPr>
        <p:spPr>
          <a:xfrm>
            <a:off x="5614416" y="4224528"/>
            <a:ext cx="1463040" cy="694944"/>
          </a:xfrm>
          <a:prstGeom prst="rect">
            <a:avLst/>
          </a:prstGeom>
          <a:noFill/>
          <a:ln/>
        </p:spPr>
        <p:txBody>
          <a:bodyPr wrap="square" lIns="0" tIns="0" rIns="0" bIns="0" rtlCol="0" anchor="ctr"/>
          <a:lstStyle/>
          <a:p>
            <a:pPr marL="0" indent="0" algn="ctr">
              <a:buNone/>
            </a:pPr>
            <a:r>
              <a:rPr lang="en-US" sz="900" b="1" dirty="0">
                <a:solidFill>
                  <a:srgbClr val="3FB950"/>
                </a:solidFill>
              </a:rPr>
              <a:t>Train only</a:t>
            </a:r>
            <a:endParaRPr lang="en-US" sz="900" dirty="0"/>
          </a:p>
          <a:p>
            <a:pPr marL="0" indent="0" algn="ctr">
              <a:buNone/>
            </a:pPr>
            <a:r>
              <a:rPr lang="en-US" sz="900" b="1" dirty="0">
                <a:solidFill>
                  <a:srgbClr val="3FB950"/>
                </a:solidFill>
              </a:rPr>
              <a:t>New Head</a:t>
            </a:r>
            <a:endParaRPr lang="en-US" sz="900" dirty="0"/>
          </a:p>
          <a:p>
            <a:pPr marL="0" indent="0" algn="ctr">
              <a:buNone/>
            </a:pPr>
            <a:r>
              <a:rPr lang="en-US" sz="900" b="1" dirty="0">
                <a:solidFill>
                  <a:srgbClr val="3FB950"/>
                </a:solidFill>
              </a:rPr>
              <a:t>(few epochs)</a:t>
            </a:r>
            <a:endParaRPr lang="en-US" sz="900" dirty="0"/>
          </a:p>
        </p:txBody>
      </p:sp>
      <p:sp>
        <p:nvSpPr>
          <p:cNvPr id="32" name="Shape 30"/>
          <p:cNvSpPr/>
          <p:nvPr/>
        </p:nvSpPr>
        <p:spPr>
          <a:xfrm>
            <a:off x="7123176" y="4572000"/>
            <a:ext cx="210312" cy="0"/>
          </a:xfrm>
          <a:prstGeom prst="line">
            <a:avLst/>
          </a:prstGeom>
          <a:noFill/>
          <a:ln w="19050">
            <a:solidFill>
              <a:srgbClr val="8B949E"/>
            </a:solidFill>
            <a:prstDash val="solid"/>
            <a:tailEnd type="arrow"/>
          </a:ln>
        </p:spPr>
        <p:txBody>
          <a:bodyPr/>
          <a:lstStyle/>
          <a:p>
            <a:endParaRPr lang="fr-FR"/>
          </a:p>
        </p:txBody>
      </p:sp>
      <p:sp>
        <p:nvSpPr>
          <p:cNvPr id="33" name="Shape 31"/>
          <p:cNvSpPr/>
          <p:nvPr/>
        </p:nvSpPr>
        <p:spPr>
          <a:xfrm>
            <a:off x="7333488" y="4206240"/>
            <a:ext cx="1554480" cy="731520"/>
          </a:xfrm>
          <a:prstGeom prst="roundRect">
            <a:avLst>
              <a:gd name="adj" fmla="val 10000"/>
            </a:avLst>
          </a:prstGeom>
          <a:solidFill>
            <a:srgbClr val="161B22"/>
          </a:solidFill>
          <a:ln w="19050">
            <a:solidFill>
              <a:srgbClr val="E3B341"/>
            </a:solidFill>
            <a:prstDash val="solid"/>
          </a:ln>
        </p:spPr>
        <p:txBody>
          <a:bodyPr/>
          <a:lstStyle/>
          <a:p>
            <a:endParaRPr lang="fr-FR"/>
          </a:p>
        </p:txBody>
      </p:sp>
      <p:sp>
        <p:nvSpPr>
          <p:cNvPr id="34" name="Text 32"/>
          <p:cNvSpPr/>
          <p:nvPr/>
        </p:nvSpPr>
        <p:spPr>
          <a:xfrm>
            <a:off x="7379208" y="4224528"/>
            <a:ext cx="1463040" cy="694944"/>
          </a:xfrm>
          <a:prstGeom prst="rect">
            <a:avLst/>
          </a:prstGeom>
          <a:noFill/>
          <a:ln/>
        </p:spPr>
        <p:txBody>
          <a:bodyPr wrap="square" lIns="0" tIns="0" rIns="0" bIns="0" rtlCol="0" anchor="ctr"/>
          <a:lstStyle/>
          <a:p>
            <a:pPr marL="0" indent="0" algn="ctr">
              <a:buNone/>
            </a:pPr>
            <a:r>
              <a:rPr lang="en-US" sz="900" b="1" dirty="0">
                <a:solidFill>
                  <a:srgbClr val="E3B341"/>
                </a:solidFill>
              </a:rPr>
              <a:t>High Accuracy</a:t>
            </a:r>
            <a:endParaRPr lang="en-US" sz="900" dirty="0"/>
          </a:p>
          <a:p>
            <a:pPr marL="0" indent="0" algn="ctr">
              <a:buNone/>
            </a:pPr>
            <a:r>
              <a:rPr lang="en-US" sz="900" b="1" dirty="0">
                <a:solidFill>
                  <a:srgbClr val="E3B341"/>
                </a:solidFill>
              </a:rPr>
              <a:t>80-90%+</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FB950"/>
          </a:solidFill>
          <a:ln w="12700">
            <a:solidFill>
              <a:srgbClr val="3FB950"/>
            </a:solidFill>
            <a:prstDash val="solid"/>
          </a:ln>
        </p:spPr>
        <p:txBody>
          <a:bodyPr/>
          <a:lstStyle/>
          <a:p>
            <a:endParaRPr lang="fr-FR"/>
          </a:p>
        </p:txBody>
      </p:sp>
      <p:sp>
        <p:nvSpPr>
          <p:cNvPr id="3" name="Text 1"/>
          <p:cNvSpPr/>
          <p:nvPr/>
        </p:nvSpPr>
        <p:spPr>
          <a:xfrm>
            <a:off x="320040" y="164592"/>
            <a:ext cx="8503920" cy="594360"/>
          </a:xfrm>
          <a:prstGeom prst="rect">
            <a:avLst/>
          </a:prstGeom>
          <a:noFill/>
          <a:ln/>
        </p:spPr>
        <p:txBody>
          <a:bodyPr wrap="square" lIns="0" tIns="0" rIns="0" bIns="0" rtlCol="0" anchor="ctr"/>
          <a:lstStyle/>
          <a:p>
            <a:pPr marL="0" indent="0" algn="l">
              <a:buNone/>
            </a:pPr>
            <a:r>
              <a:rPr lang="en-US" sz="2800" b="1" dirty="0">
                <a:solidFill>
                  <a:srgbClr val="F0F6FC"/>
                </a:solidFill>
              </a:rPr>
              <a:t>Summary — What We Learned</a:t>
            </a:r>
            <a:endParaRPr lang="en-US" sz="2800" dirty="0"/>
          </a:p>
        </p:txBody>
      </p:sp>
      <p:sp>
        <p:nvSpPr>
          <p:cNvPr id="4" name="Text 2"/>
          <p:cNvSpPr/>
          <p:nvPr/>
        </p:nvSpPr>
        <p:spPr>
          <a:xfrm>
            <a:off x="320040" y="749808"/>
            <a:ext cx="8503920" cy="256032"/>
          </a:xfrm>
          <a:prstGeom prst="rect">
            <a:avLst/>
          </a:prstGeom>
          <a:noFill/>
          <a:ln/>
        </p:spPr>
        <p:txBody>
          <a:bodyPr wrap="square" lIns="0" tIns="0" rIns="0" bIns="0" rtlCol="0" anchor="ctr"/>
          <a:lstStyle/>
          <a:p>
            <a:pPr marL="0" indent="0" algn="l">
              <a:buNone/>
            </a:pPr>
            <a:r>
              <a:rPr lang="en-US" sz="1200" i="1" dirty="0">
                <a:solidFill>
                  <a:srgbClr val="3FB950"/>
                </a:solidFill>
              </a:rPr>
              <a:t>The full journey from data to deep vision</a:t>
            </a:r>
            <a:endParaRPr lang="en-US" sz="1200" dirty="0"/>
          </a:p>
        </p:txBody>
      </p:sp>
      <p:sp>
        <p:nvSpPr>
          <p:cNvPr id="5" name="Shape 3"/>
          <p:cNvSpPr/>
          <p:nvPr/>
        </p:nvSpPr>
        <p:spPr>
          <a:xfrm>
            <a:off x="320040" y="1024128"/>
            <a:ext cx="8503920" cy="0"/>
          </a:xfrm>
          <a:prstGeom prst="line">
            <a:avLst/>
          </a:prstGeom>
          <a:noFill/>
          <a:ln w="12700">
            <a:solidFill>
              <a:srgbClr val="3FB950"/>
            </a:solidFill>
            <a:prstDash val="solid"/>
          </a:ln>
        </p:spPr>
        <p:txBody>
          <a:bodyPr/>
          <a:lstStyle/>
          <a:p>
            <a:endParaRPr lang="fr-FR"/>
          </a:p>
        </p:txBody>
      </p:sp>
      <p:sp>
        <p:nvSpPr>
          <p:cNvPr id="6" name="Shape 4"/>
          <p:cNvSpPr/>
          <p:nvPr/>
        </p:nvSpPr>
        <p:spPr>
          <a:xfrm>
            <a:off x="320040" y="1170432"/>
            <a:ext cx="4023360" cy="347472"/>
          </a:xfrm>
          <a:prstGeom prst="rect">
            <a:avLst/>
          </a:prstGeom>
          <a:solidFill>
            <a:srgbClr val="58A6FF"/>
          </a:solidFill>
          <a:ln w="12700">
            <a:solidFill>
              <a:srgbClr val="58A6FF"/>
            </a:solidFill>
            <a:prstDash val="solid"/>
          </a:ln>
        </p:spPr>
        <p:txBody>
          <a:bodyPr/>
          <a:lstStyle/>
          <a:p>
            <a:endParaRPr lang="fr-FR"/>
          </a:p>
        </p:txBody>
      </p:sp>
      <p:sp>
        <p:nvSpPr>
          <p:cNvPr id="7" name="Text 5"/>
          <p:cNvSpPr/>
          <p:nvPr/>
        </p:nvSpPr>
        <p:spPr>
          <a:xfrm>
            <a:off x="411480" y="1188720"/>
            <a:ext cx="3840480" cy="310896"/>
          </a:xfrm>
          <a:prstGeom prst="rect">
            <a:avLst/>
          </a:prstGeom>
          <a:noFill/>
          <a:ln/>
        </p:spPr>
        <p:txBody>
          <a:bodyPr wrap="square" lIns="0" tIns="0" rIns="0" bIns="0" rtlCol="0" anchor="ctr"/>
          <a:lstStyle/>
          <a:p>
            <a:pPr marL="0" indent="0">
              <a:buNone/>
            </a:pPr>
            <a:r>
              <a:rPr lang="en-US" sz="1200" b="1" dirty="0">
                <a:solidFill>
                  <a:srgbClr val="F0F6FC"/>
                </a:solidFill>
              </a:rPr>
              <a:t>Part 1: Machine Learning</a:t>
            </a:r>
            <a:endParaRPr lang="en-US" sz="1200" dirty="0"/>
          </a:p>
        </p:txBody>
      </p:sp>
      <p:sp>
        <p:nvSpPr>
          <p:cNvPr id="8" name="Shape 6"/>
          <p:cNvSpPr/>
          <p:nvPr/>
        </p:nvSpPr>
        <p:spPr>
          <a:xfrm>
            <a:off x="320040" y="1517904"/>
            <a:ext cx="4023360" cy="438912"/>
          </a:xfrm>
          <a:prstGeom prst="rect">
            <a:avLst/>
          </a:prstGeom>
          <a:solidFill>
            <a:srgbClr val="161B22"/>
          </a:solidFill>
          <a:ln w="12700">
            <a:solidFill>
              <a:srgbClr val="161B22"/>
            </a:solidFill>
            <a:prstDash val="solid"/>
          </a:ln>
        </p:spPr>
        <p:txBody>
          <a:bodyPr/>
          <a:lstStyle/>
          <a:p>
            <a:endParaRPr lang="fr-FR"/>
          </a:p>
        </p:txBody>
      </p:sp>
      <p:sp>
        <p:nvSpPr>
          <p:cNvPr id="9" name="Text 7"/>
          <p:cNvSpPr/>
          <p:nvPr/>
        </p:nvSpPr>
        <p:spPr>
          <a:xfrm>
            <a:off x="384048" y="1536192"/>
            <a:ext cx="274320" cy="402336"/>
          </a:xfrm>
          <a:prstGeom prst="rect">
            <a:avLst/>
          </a:prstGeom>
          <a:noFill/>
          <a:ln/>
        </p:spPr>
        <p:txBody>
          <a:bodyPr wrap="square" lIns="0" tIns="0" rIns="0" bIns="0" rtlCol="0" anchor="ctr"/>
          <a:lstStyle/>
          <a:p>
            <a:pPr marL="0" indent="0" algn="ctr">
              <a:buNone/>
            </a:pPr>
            <a:r>
              <a:rPr lang="en-US" sz="1100" dirty="0">
                <a:solidFill>
                  <a:srgbClr val="3FB950"/>
                </a:solidFill>
              </a:rPr>
              <a:t>v</a:t>
            </a:r>
            <a:endParaRPr lang="en-US" sz="1100" dirty="0"/>
          </a:p>
        </p:txBody>
      </p:sp>
      <p:sp>
        <p:nvSpPr>
          <p:cNvPr id="10" name="Text 8"/>
          <p:cNvSpPr/>
          <p:nvPr/>
        </p:nvSpPr>
        <p:spPr>
          <a:xfrm>
            <a:off x="685800" y="1536192"/>
            <a:ext cx="1463040" cy="402336"/>
          </a:xfrm>
          <a:prstGeom prst="rect">
            <a:avLst/>
          </a:prstGeom>
          <a:noFill/>
          <a:ln/>
        </p:spPr>
        <p:txBody>
          <a:bodyPr wrap="square" lIns="0" tIns="0" rIns="0" bIns="0" rtlCol="0" anchor="ctr"/>
          <a:lstStyle/>
          <a:p>
            <a:pPr marL="0" indent="0">
              <a:buNone/>
            </a:pPr>
            <a:r>
              <a:rPr lang="en-US" sz="1000" b="1" dirty="0">
                <a:solidFill>
                  <a:srgbClr val="F0F6FC"/>
                </a:solidFill>
              </a:rPr>
              <a:t>What is ML?</a:t>
            </a:r>
            <a:endParaRPr lang="en-US" sz="1000" dirty="0"/>
          </a:p>
        </p:txBody>
      </p:sp>
      <p:sp>
        <p:nvSpPr>
          <p:cNvPr id="11" name="Text 9"/>
          <p:cNvSpPr/>
          <p:nvPr/>
        </p:nvSpPr>
        <p:spPr>
          <a:xfrm>
            <a:off x="2176272" y="1536192"/>
            <a:ext cx="2084832" cy="402336"/>
          </a:xfrm>
          <a:prstGeom prst="rect">
            <a:avLst/>
          </a:prstGeom>
          <a:noFill/>
          <a:ln/>
        </p:spPr>
        <p:txBody>
          <a:bodyPr wrap="square" lIns="0" tIns="0" rIns="0" bIns="0" rtlCol="0" anchor="ctr"/>
          <a:lstStyle/>
          <a:p>
            <a:pPr marL="0" indent="0">
              <a:buNone/>
            </a:pPr>
            <a:r>
              <a:rPr lang="en-US" sz="900" dirty="0">
                <a:solidFill>
                  <a:srgbClr val="8B949E"/>
                </a:solidFill>
              </a:rPr>
              <a:t>Traditional -&gt; ML: learn from data</a:t>
            </a:r>
            <a:endParaRPr lang="en-US" sz="900" dirty="0"/>
          </a:p>
        </p:txBody>
      </p:sp>
      <p:sp>
        <p:nvSpPr>
          <p:cNvPr id="12" name="Shape 10"/>
          <p:cNvSpPr/>
          <p:nvPr/>
        </p:nvSpPr>
        <p:spPr>
          <a:xfrm>
            <a:off x="320040" y="1993392"/>
            <a:ext cx="4023360" cy="438912"/>
          </a:xfrm>
          <a:prstGeom prst="rect">
            <a:avLst/>
          </a:prstGeom>
          <a:solidFill>
            <a:srgbClr val="21262D"/>
          </a:solidFill>
          <a:ln w="12700">
            <a:solidFill>
              <a:srgbClr val="161B22"/>
            </a:solidFill>
            <a:prstDash val="solid"/>
          </a:ln>
        </p:spPr>
        <p:txBody>
          <a:bodyPr/>
          <a:lstStyle/>
          <a:p>
            <a:endParaRPr lang="fr-FR"/>
          </a:p>
        </p:txBody>
      </p:sp>
      <p:sp>
        <p:nvSpPr>
          <p:cNvPr id="13" name="Text 11"/>
          <p:cNvSpPr/>
          <p:nvPr/>
        </p:nvSpPr>
        <p:spPr>
          <a:xfrm>
            <a:off x="384048" y="2011680"/>
            <a:ext cx="274320" cy="402336"/>
          </a:xfrm>
          <a:prstGeom prst="rect">
            <a:avLst/>
          </a:prstGeom>
          <a:noFill/>
          <a:ln/>
        </p:spPr>
        <p:txBody>
          <a:bodyPr wrap="square" lIns="0" tIns="0" rIns="0" bIns="0" rtlCol="0" anchor="ctr"/>
          <a:lstStyle/>
          <a:p>
            <a:pPr marL="0" indent="0" algn="ctr">
              <a:buNone/>
            </a:pPr>
            <a:r>
              <a:rPr lang="en-US" sz="1100" dirty="0">
                <a:solidFill>
                  <a:srgbClr val="3FB950"/>
                </a:solidFill>
              </a:rPr>
              <a:t>v</a:t>
            </a:r>
            <a:endParaRPr lang="en-US" sz="1100" dirty="0"/>
          </a:p>
        </p:txBody>
      </p:sp>
      <p:sp>
        <p:nvSpPr>
          <p:cNvPr id="14" name="Text 12"/>
          <p:cNvSpPr/>
          <p:nvPr/>
        </p:nvSpPr>
        <p:spPr>
          <a:xfrm>
            <a:off x="685800" y="2011680"/>
            <a:ext cx="1463040" cy="402336"/>
          </a:xfrm>
          <a:prstGeom prst="rect">
            <a:avLst/>
          </a:prstGeom>
          <a:noFill/>
          <a:ln/>
        </p:spPr>
        <p:txBody>
          <a:bodyPr wrap="square" lIns="0" tIns="0" rIns="0" bIns="0" rtlCol="0" anchor="ctr"/>
          <a:lstStyle/>
          <a:p>
            <a:pPr marL="0" indent="0">
              <a:buNone/>
            </a:pPr>
            <a:r>
              <a:rPr lang="en-US" sz="1000" b="1" dirty="0">
                <a:solidFill>
                  <a:srgbClr val="F0F6FC"/>
                </a:solidFill>
              </a:rPr>
              <a:t>3 types of ML</a:t>
            </a:r>
            <a:endParaRPr lang="en-US" sz="1000" dirty="0"/>
          </a:p>
        </p:txBody>
      </p:sp>
      <p:sp>
        <p:nvSpPr>
          <p:cNvPr id="15" name="Text 13"/>
          <p:cNvSpPr/>
          <p:nvPr/>
        </p:nvSpPr>
        <p:spPr>
          <a:xfrm>
            <a:off x="2176272" y="2011680"/>
            <a:ext cx="2084832" cy="402336"/>
          </a:xfrm>
          <a:prstGeom prst="rect">
            <a:avLst/>
          </a:prstGeom>
          <a:noFill/>
          <a:ln/>
        </p:spPr>
        <p:txBody>
          <a:bodyPr wrap="square" lIns="0" tIns="0" rIns="0" bIns="0" rtlCol="0" anchor="ctr"/>
          <a:lstStyle/>
          <a:p>
            <a:pPr marL="0" indent="0">
              <a:buNone/>
            </a:pPr>
            <a:r>
              <a:rPr lang="en-US" sz="900" dirty="0">
                <a:solidFill>
                  <a:srgbClr val="8B949E"/>
                </a:solidFill>
              </a:rPr>
              <a:t>Supervised, Unsupervised, Reinforcement</a:t>
            </a:r>
            <a:endParaRPr lang="en-US" sz="900" dirty="0"/>
          </a:p>
        </p:txBody>
      </p:sp>
      <p:sp>
        <p:nvSpPr>
          <p:cNvPr id="16" name="Shape 14"/>
          <p:cNvSpPr/>
          <p:nvPr/>
        </p:nvSpPr>
        <p:spPr>
          <a:xfrm>
            <a:off x="320040" y="2468880"/>
            <a:ext cx="4023360" cy="438912"/>
          </a:xfrm>
          <a:prstGeom prst="rect">
            <a:avLst/>
          </a:prstGeom>
          <a:solidFill>
            <a:srgbClr val="161B22"/>
          </a:solidFill>
          <a:ln w="12700">
            <a:solidFill>
              <a:srgbClr val="161B22"/>
            </a:solidFill>
            <a:prstDash val="solid"/>
          </a:ln>
        </p:spPr>
        <p:txBody>
          <a:bodyPr/>
          <a:lstStyle/>
          <a:p>
            <a:endParaRPr lang="fr-FR"/>
          </a:p>
        </p:txBody>
      </p:sp>
      <p:sp>
        <p:nvSpPr>
          <p:cNvPr id="17" name="Text 15"/>
          <p:cNvSpPr/>
          <p:nvPr/>
        </p:nvSpPr>
        <p:spPr>
          <a:xfrm>
            <a:off x="384048" y="2487168"/>
            <a:ext cx="274320" cy="402336"/>
          </a:xfrm>
          <a:prstGeom prst="rect">
            <a:avLst/>
          </a:prstGeom>
          <a:noFill/>
          <a:ln/>
        </p:spPr>
        <p:txBody>
          <a:bodyPr wrap="square" lIns="0" tIns="0" rIns="0" bIns="0" rtlCol="0" anchor="ctr"/>
          <a:lstStyle/>
          <a:p>
            <a:pPr marL="0" indent="0" algn="ctr">
              <a:buNone/>
            </a:pPr>
            <a:r>
              <a:rPr lang="en-US" sz="1100" dirty="0">
                <a:solidFill>
                  <a:srgbClr val="3FB950"/>
                </a:solidFill>
              </a:rPr>
              <a:t>v</a:t>
            </a:r>
            <a:endParaRPr lang="en-US" sz="1100" dirty="0"/>
          </a:p>
        </p:txBody>
      </p:sp>
      <p:sp>
        <p:nvSpPr>
          <p:cNvPr id="18" name="Text 16"/>
          <p:cNvSpPr/>
          <p:nvPr/>
        </p:nvSpPr>
        <p:spPr>
          <a:xfrm>
            <a:off x="685800" y="2487168"/>
            <a:ext cx="1463040" cy="402336"/>
          </a:xfrm>
          <a:prstGeom prst="rect">
            <a:avLst/>
          </a:prstGeom>
          <a:noFill/>
          <a:ln/>
        </p:spPr>
        <p:txBody>
          <a:bodyPr wrap="square" lIns="0" tIns="0" rIns="0" bIns="0" rtlCol="0" anchor="ctr"/>
          <a:lstStyle/>
          <a:p>
            <a:pPr marL="0" indent="0">
              <a:buNone/>
            </a:pPr>
            <a:r>
              <a:rPr lang="en-US" sz="1000" b="1" dirty="0">
                <a:solidFill>
                  <a:srgbClr val="F0F6FC"/>
                </a:solidFill>
              </a:rPr>
              <a:t>Linear Regression</a:t>
            </a:r>
            <a:endParaRPr lang="en-US" sz="1000" dirty="0"/>
          </a:p>
        </p:txBody>
      </p:sp>
      <p:sp>
        <p:nvSpPr>
          <p:cNvPr id="19" name="Text 17"/>
          <p:cNvSpPr/>
          <p:nvPr/>
        </p:nvSpPr>
        <p:spPr>
          <a:xfrm>
            <a:off x="2176272" y="2487168"/>
            <a:ext cx="2084832" cy="402336"/>
          </a:xfrm>
          <a:prstGeom prst="rect">
            <a:avLst/>
          </a:prstGeom>
          <a:noFill/>
          <a:ln/>
        </p:spPr>
        <p:txBody>
          <a:bodyPr wrap="square" lIns="0" tIns="0" rIns="0" bIns="0" rtlCol="0" anchor="ctr"/>
          <a:lstStyle/>
          <a:p>
            <a:pPr marL="0" indent="0">
              <a:buNone/>
            </a:pPr>
            <a:r>
              <a:rPr lang="en-US" sz="900" dirty="0">
                <a:solidFill>
                  <a:srgbClr val="8B949E"/>
                </a:solidFill>
              </a:rPr>
              <a:t>y=wx+b, MSE loss, Gradient Descent</a:t>
            </a:r>
            <a:endParaRPr lang="en-US" sz="900" dirty="0"/>
          </a:p>
        </p:txBody>
      </p:sp>
      <p:sp>
        <p:nvSpPr>
          <p:cNvPr id="20" name="Shape 18"/>
          <p:cNvSpPr/>
          <p:nvPr/>
        </p:nvSpPr>
        <p:spPr>
          <a:xfrm>
            <a:off x="320040" y="2944368"/>
            <a:ext cx="4023360" cy="438912"/>
          </a:xfrm>
          <a:prstGeom prst="rect">
            <a:avLst/>
          </a:prstGeom>
          <a:solidFill>
            <a:srgbClr val="21262D"/>
          </a:solidFill>
          <a:ln w="12700">
            <a:solidFill>
              <a:srgbClr val="161B22"/>
            </a:solidFill>
            <a:prstDash val="solid"/>
          </a:ln>
        </p:spPr>
        <p:txBody>
          <a:bodyPr/>
          <a:lstStyle/>
          <a:p>
            <a:endParaRPr lang="fr-FR"/>
          </a:p>
        </p:txBody>
      </p:sp>
      <p:sp>
        <p:nvSpPr>
          <p:cNvPr id="21" name="Text 19"/>
          <p:cNvSpPr/>
          <p:nvPr/>
        </p:nvSpPr>
        <p:spPr>
          <a:xfrm>
            <a:off x="384048" y="2962656"/>
            <a:ext cx="274320" cy="402336"/>
          </a:xfrm>
          <a:prstGeom prst="rect">
            <a:avLst/>
          </a:prstGeom>
          <a:noFill/>
          <a:ln/>
        </p:spPr>
        <p:txBody>
          <a:bodyPr wrap="square" lIns="0" tIns="0" rIns="0" bIns="0" rtlCol="0" anchor="ctr"/>
          <a:lstStyle/>
          <a:p>
            <a:pPr marL="0" indent="0" algn="ctr">
              <a:buNone/>
            </a:pPr>
            <a:r>
              <a:rPr lang="en-US" sz="1100" dirty="0">
                <a:solidFill>
                  <a:srgbClr val="3FB950"/>
                </a:solidFill>
              </a:rPr>
              <a:t>v</a:t>
            </a:r>
            <a:endParaRPr lang="en-US" sz="1100" dirty="0"/>
          </a:p>
        </p:txBody>
      </p:sp>
      <p:sp>
        <p:nvSpPr>
          <p:cNvPr id="22" name="Text 20"/>
          <p:cNvSpPr/>
          <p:nvPr/>
        </p:nvSpPr>
        <p:spPr>
          <a:xfrm>
            <a:off x="685800" y="2962656"/>
            <a:ext cx="1463040" cy="402336"/>
          </a:xfrm>
          <a:prstGeom prst="rect">
            <a:avLst/>
          </a:prstGeom>
          <a:noFill/>
          <a:ln/>
        </p:spPr>
        <p:txBody>
          <a:bodyPr wrap="square" lIns="0" tIns="0" rIns="0" bIns="0" rtlCol="0" anchor="ctr"/>
          <a:lstStyle/>
          <a:p>
            <a:pPr marL="0" indent="0">
              <a:buNone/>
            </a:pPr>
            <a:r>
              <a:rPr lang="en-US" sz="1000" b="1" dirty="0">
                <a:solidFill>
                  <a:srgbClr val="F0F6FC"/>
                </a:solidFill>
              </a:rPr>
              <a:t>Logistic Regression</a:t>
            </a:r>
            <a:endParaRPr lang="en-US" sz="1000" dirty="0"/>
          </a:p>
        </p:txBody>
      </p:sp>
      <p:sp>
        <p:nvSpPr>
          <p:cNvPr id="23" name="Text 21"/>
          <p:cNvSpPr/>
          <p:nvPr/>
        </p:nvSpPr>
        <p:spPr>
          <a:xfrm>
            <a:off x="2176272" y="2962656"/>
            <a:ext cx="2084832" cy="402336"/>
          </a:xfrm>
          <a:prstGeom prst="rect">
            <a:avLst/>
          </a:prstGeom>
          <a:noFill/>
          <a:ln/>
        </p:spPr>
        <p:txBody>
          <a:bodyPr wrap="square" lIns="0" tIns="0" rIns="0" bIns="0" rtlCol="0" anchor="ctr"/>
          <a:lstStyle/>
          <a:p>
            <a:pPr marL="0" indent="0">
              <a:buNone/>
            </a:pPr>
            <a:r>
              <a:rPr lang="en-US" sz="900" dirty="0">
                <a:solidFill>
                  <a:srgbClr val="8B949E"/>
                </a:solidFill>
              </a:rPr>
              <a:t>sigma(z) -&gt; probability, Cross-Entropy</a:t>
            </a:r>
            <a:endParaRPr lang="en-US" sz="900" dirty="0"/>
          </a:p>
        </p:txBody>
      </p:sp>
      <p:sp>
        <p:nvSpPr>
          <p:cNvPr id="24" name="Shape 22"/>
          <p:cNvSpPr/>
          <p:nvPr/>
        </p:nvSpPr>
        <p:spPr>
          <a:xfrm>
            <a:off x="320040" y="3419856"/>
            <a:ext cx="4023360" cy="438912"/>
          </a:xfrm>
          <a:prstGeom prst="rect">
            <a:avLst/>
          </a:prstGeom>
          <a:solidFill>
            <a:srgbClr val="161B22"/>
          </a:solidFill>
          <a:ln w="12700">
            <a:solidFill>
              <a:srgbClr val="161B22"/>
            </a:solidFill>
            <a:prstDash val="solid"/>
          </a:ln>
        </p:spPr>
        <p:txBody>
          <a:bodyPr/>
          <a:lstStyle/>
          <a:p>
            <a:endParaRPr lang="fr-FR"/>
          </a:p>
        </p:txBody>
      </p:sp>
      <p:sp>
        <p:nvSpPr>
          <p:cNvPr id="25" name="Text 23"/>
          <p:cNvSpPr/>
          <p:nvPr/>
        </p:nvSpPr>
        <p:spPr>
          <a:xfrm>
            <a:off x="384048" y="3438144"/>
            <a:ext cx="274320" cy="402336"/>
          </a:xfrm>
          <a:prstGeom prst="rect">
            <a:avLst/>
          </a:prstGeom>
          <a:noFill/>
          <a:ln/>
        </p:spPr>
        <p:txBody>
          <a:bodyPr wrap="square" lIns="0" tIns="0" rIns="0" bIns="0" rtlCol="0" anchor="ctr"/>
          <a:lstStyle/>
          <a:p>
            <a:pPr marL="0" indent="0" algn="ctr">
              <a:buNone/>
            </a:pPr>
            <a:r>
              <a:rPr lang="en-US" sz="1100" dirty="0">
                <a:solidFill>
                  <a:srgbClr val="3FB950"/>
                </a:solidFill>
              </a:rPr>
              <a:t>v</a:t>
            </a:r>
            <a:endParaRPr lang="en-US" sz="1100" dirty="0"/>
          </a:p>
        </p:txBody>
      </p:sp>
      <p:sp>
        <p:nvSpPr>
          <p:cNvPr id="26" name="Text 24"/>
          <p:cNvSpPr/>
          <p:nvPr/>
        </p:nvSpPr>
        <p:spPr>
          <a:xfrm>
            <a:off x="685800" y="3438144"/>
            <a:ext cx="1463040" cy="402336"/>
          </a:xfrm>
          <a:prstGeom prst="rect">
            <a:avLst/>
          </a:prstGeom>
          <a:noFill/>
          <a:ln/>
        </p:spPr>
        <p:txBody>
          <a:bodyPr wrap="square" lIns="0" tIns="0" rIns="0" bIns="0" rtlCol="0" anchor="ctr"/>
          <a:lstStyle/>
          <a:p>
            <a:pPr marL="0" indent="0">
              <a:buNone/>
            </a:pPr>
            <a:r>
              <a:rPr lang="en-US" sz="1000" b="1" dirty="0">
                <a:solidFill>
                  <a:srgbClr val="F0F6FC"/>
                </a:solidFill>
              </a:rPr>
              <a:t>KNN</a:t>
            </a:r>
            <a:endParaRPr lang="en-US" sz="1000" dirty="0"/>
          </a:p>
        </p:txBody>
      </p:sp>
      <p:sp>
        <p:nvSpPr>
          <p:cNvPr id="27" name="Text 25"/>
          <p:cNvSpPr/>
          <p:nvPr/>
        </p:nvSpPr>
        <p:spPr>
          <a:xfrm>
            <a:off x="2176272" y="3438144"/>
            <a:ext cx="2084832" cy="402336"/>
          </a:xfrm>
          <a:prstGeom prst="rect">
            <a:avLst/>
          </a:prstGeom>
          <a:noFill/>
          <a:ln/>
        </p:spPr>
        <p:txBody>
          <a:bodyPr wrap="square" lIns="0" tIns="0" rIns="0" bIns="0" rtlCol="0" anchor="ctr"/>
          <a:lstStyle/>
          <a:p>
            <a:pPr marL="0" indent="0">
              <a:buNone/>
            </a:pPr>
            <a:r>
              <a:rPr lang="en-US" sz="900" dirty="0">
                <a:solidFill>
                  <a:srgbClr val="8B949E"/>
                </a:solidFill>
              </a:rPr>
              <a:t>K neighbors vote, Euclidean distance</a:t>
            </a:r>
            <a:endParaRPr lang="en-US" sz="900" dirty="0"/>
          </a:p>
        </p:txBody>
      </p:sp>
      <p:sp>
        <p:nvSpPr>
          <p:cNvPr id="28" name="Shape 26"/>
          <p:cNvSpPr/>
          <p:nvPr/>
        </p:nvSpPr>
        <p:spPr>
          <a:xfrm>
            <a:off x="320040" y="3895344"/>
            <a:ext cx="4023360" cy="438912"/>
          </a:xfrm>
          <a:prstGeom prst="rect">
            <a:avLst/>
          </a:prstGeom>
          <a:solidFill>
            <a:srgbClr val="21262D"/>
          </a:solidFill>
          <a:ln w="12700">
            <a:solidFill>
              <a:srgbClr val="161B22"/>
            </a:solidFill>
            <a:prstDash val="solid"/>
          </a:ln>
        </p:spPr>
        <p:txBody>
          <a:bodyPr/>
          <a:lstStyle/>
          <a:p>
            <a:endParaRPr lang="fr-FR"/>
          </a:p>
        </p:txBody>
      </p:sp>
      <p:sp>
        <p:nvSpPr>
          <p:cNvPr id="29" name="Text 27"/>
          <p:cNvSpPr/>
          <p:nvPr/>
        </p:nvSpPr>
        <p:spPr>
          <a:xfrm>
            <a:off x="384048" y="3913632"/>
            <a:ext cx="274320" cy="402336"/>
          </a:xfrm>
          <a:prstGeom prst="rect">
            <a:avLst/>
          </a:prstGeom>
          <a:noFill/>
          <a:ln/>
        </p:spPr>
        <p:txBody>
          <a:bodyPr wrap="square" lIns="0" tIns="0" rIns="0" bIns="0" rtlCol="0" anchor="ctr"/>
          <a:lstStyle/>
          <a:p>
            <a:pPr marL="0" indent="0" algn="ctr">
              <a:buNone/>
            </a:pPr>
            <a:r>
              <a:rPr lang="en-US" sz="1100" dirty="0">
                <a:solidFill>
                  <a:srgbClr val="3FB950"/>
                </a:solidFill>
              </a:rPr>
              <a:t>v</a:t>
            </a:r>
            <a:endParaRPr lang="en-US" sz="1100" dirty="0"/>
          </a:p>
        </p:txBody>
      </p:sp>
      <p:sp>
        <p:nvSpPr>
          <p:cNvPr id="30" name="Text 28"/>
          <p:cNvSpPr/>
          <p:nvPr/>
        </p:nvSpPr>
        <p:spPr>
          <a:xfrm>
            <a:off x="685800" y="3913632"/>
            <a:ext cx="1463040" cy="402336"/>
          </a:xfrm>
          <a:prstGeom prst="rect">
            <a:avLst/>
          </a:prstGeom>
          <a:noFill/>
          <a:ln/>
        </p:spPr>
        <p:txBody>
          <a:bodyPr wrap="square" lIns="0" tIns="0" rIns="0" bIns="0" rtlCol="0" anchor="ctr"/>
          <a:lstStyle/>
          <a:p>
            <a:pPr marL="0" indent="0">
              <a:buNone/>
            </a:pPr>
            <a:r>
              <a:rPr lang="en-US" sz="1000" b="1" dirty="0">
                <a:solidFill>
                  <a:srgbClr val="F0F6FC"/>
                </a:solidFill>
              </a:rPr>
              <a:t>scikit-learn</a:t>
            </a:r>
            <a:endParaRPr lang="en-US" sz="1000" dirty="0"/>
          </a:p>
        </p:txBody>
      </p:sp>
      <p:sp>
        <p:nvSpPr>
          <p:cNvPr id="31" name="Text 29"/>
          <p:cNvSpPr/>
          <p:nvPr/>
        </p:nvSpPr>
        <p:spPr>
          <a:xfrm>
            <a:off x="2176272" y="3913632"/>
            <a:ext cx="2084832" cy="402336"/>
          </a:xfrm>
          <a:prstGeom prst="rect">
            <a:avLst/>
          </a:prstGeom>
          <a:noFill/>
          <a:ln/>
        </p:spPr>
        <p:txBody>
          <a:bodyPr wrap="square" lIns="0" tIns="0" rIns="0" bIns="0" rtlCol="0" anchor="ctr"/>
          <a:lstStyle/>
          <a:p>
            <a:pPr marL="0" indent="0">
              <a:buNone/>
            </a:pPr>
            <a:r>
              <a:rPr lang="en-US" sz="900" dirty="0">
                <a:solidFill>
                  <a:srgbClr val="8B949E"/>
                </a:solidFill>
              </a:rPr>
              <a:t>Same API: .fit() .predict() .score()</a:t>
            </a:r>
            <a:endParaRPr lang="en-US" sz="900" dirty="0"/>
          </a:p>
        </p:txBody>
      </p:sp>
      <p:sp>
        <p:nvSpPr>
          <p:cNvPr id="32" name="Shape 30"/>
          <p:cNvSpPr/>
          <p:nvPr/>
        </p:nvSpPr>
        <p:spPr>
          <a:xfrm>
            <a:off x="320040" y="4370832"/>
            <a:ext cx="4023360" cy="438912"/>
          </a:xfrm>
          <a:prstGeom prst="rect">
            <a:avLst/>
          </a:prstGeom>
          <a:solidFill>
            <a:srgbClr val="161B22"/>
          </a:solidFill>
          <a:ln w="12700">
            <a:solidFill>
              <a:srgbClr val="161B22"/>
            </a:solidFill>
            <a:prstDash val="solid"/>
          </a:ln>
        </p:spPr>
        <p:txBody>
          <a:bodyPr/>
          <a:lstStyle/>
          <a:p>
            <a:endParaRPr lang="fr-FR"/>
          </a:p>
        </p:txBody>
      </p:sp>
      <p:sp>
        <p:nvSpPr>
          <p:cNvPr id="33" name="Text 31"/>
          <p:cNvSpPr/>
          <p:nvPr/>
        </p:nvSpPr>
        <p:spPr>
          <a:xfrm>
            <a:off x="384048" y="4389120"/>
            <a:ext cx="274320" cy="402336"/>
          </a:xfrm>
          <a:prstGeom prst="rect">
            <a:avLst/>
          </a:prstGeom>
          <a:noFill/>
          <a:ln/>
        </p:spPr>
        <p:txBody>
          <a:bodyPr wrap="square" lIns="0" tIns="0" rIns="0" bIns="0" rtlCol="0" anchor="ctr"/>
          <a:lstStyle/>
          <a:p>
            <a:pPr marL="0" indent="0" algn="ctr">
              <a:buNone/>
            </a:pPr>
            <a:r>
              <a:rPr lang="en-US" sz="1100" dirty="0">
                <a:solidFill>
                  <a:srgbClr val="3FB950"/>
                </a:solidFill>
              </a:rPr>
              <a:t>v</a:t>
            </a:r>
            <a:endParaRPr lang="en-US" sz="1100" dirty="0"/>
          </a:p>
        </p:txBody>
      </p:sp>
      <p:sp>
        <p:nvSpPr>
          <p:cNvPr id="34" name="Text 32"/>
          <p:cNvSpPr/>
          <p:nvPr/>
        </p:nvSpPr>
        <p:spPr>
          <a:xfrm>
            <a:off x="685800" y="4389120"/>
            <a:ext cx="1463040" cy="402336"/>
          </a:xfrm>
          <a:prstGeom prst="rect">
            <a:avLst/>
          </a:prstGeom>
          <a:noFill/>
          <a:ln/>
        </p:spPr>
        <p:txBody>
          <a:bodyPr wrap="square" lIns="0" tIns="0" rIns="0" bIns="0" rtlCol="0" anchor="ctr"/>
          <a:lstStyle/>
          <a:p>
            <a:pPr marL="0" indent="0">
              <a:buNone/>
            </a:pPr>
            <a:r>
              <a:rPr lang="en-US" sz="1000" b="1" dirty="0">
                <a:solidFill>
                  <a:srgbClr val="F0F6FC"/>
                </a:solidFill>
              </a:rPr>
              <a:t>Overfitting</a:t>
            </a:r>
            <a:endParaRPr lang="en-US" sz="1000" dirty="0"/>
          </a:p>
        </p:txBody>
      </p:sp>
      <p:sp>
        <p:nvSpPr>
          <p:cNvPr id="35" name="Text 33"/>
          <p:cNvSpPr/>
          <p:nvPr/>
        </p:nvSpPr>
        <p:spPr>
          <a:xfrm>
            <a:off x="2176272" y="4389120"/>
            <a:ext cx="2084832" cy="402336"/>
          </a:xfrm>
          <a:prstGeom prst="rect">
            <a:avLst/>
          </a:prstGeom>
          <a:noFill/>
          <a:ln/>
        </p:spPr>
        <p:txBody>
          <a:bodyPr wrap="square" lIns="0" tIns="0" rIns="0" bIns="0" rtlCol="0" anchor="ctr"/>
          <a:lstStyle/>
          <a:p>
            <a:pPr marL="0" indent="0">
              <a:buNone/>
            </a:pPr>
            <a:r>
              <a:rPr lang="en-US" sz="900" dirty="0">
                <a:solidFill>
                  <a:srgbClr val="8B949E"/>
                </a:solidFill>
              </a:rPr>
              <a:t>Use regularization, data augmentation</a:t>
            </a:r>
            <a:endParaRPr lang="en-US" sz="900" dirty="0"/>
          </a:p>
        </p:txBody>
      </p:sp>
      <p:sp>
        <p:nvSpPr>
          <p:cNvPr id="36" name="Shape 34"/>
          <p:cNvSpPr/>
          <p:nvPr/>
        </p:nvSpPr>
        <p:spPr>
          <a:xfrm>
            <a:off x="4800600" y="1170432"/>
            <a:ext cx="4023360" cy="347472"/>
          </a:xfrm>
          <a:prstGeom prst="rect">
            <a:avLst/>
          </a:prstGeom>
          <a:solidFill>
            <a:srgbClr val="BC8CFF"/>
          </a:solidFill>
          <a:ln w="12700">
            <a:solidFill>
              <a:srgbClr val="BC8CFF"/>
            </a:solidFill>
            <a:prstDash val="solid"/>
          </a:ln>
        </p:spPr>
        <p:txBody>
          <a:bodyPr/>
          <a:lstStyle/>
          <a:p>
            <a:endParaRPr lang="fr-FR"/>
          </a:p>
        </p:txBody>
      </p:sp>
      <p:sp>
        <p:nvSpPr>
          <p:cNvPr id="37" name="Text 35"/>
          <p:cNvSpPr/>
          <p:nvPr/>
        </p:nvSpPr>
        <p:spPr>
          <a:xfrm>
            <a:off x="4892040" y="1188720"/>
            <a:ext cx="3840480" cy="310896"/>
          </a:xfrm>
          <a:prstGeom prst="rect">
            <a:avLst/>
          </a:prstGeom>
          <a:noFill/>
          <a:ln/>
        </p:spPr>
        <p:txBody>
          <a:bodyPr wrap="square" lIns="0" tIns="0" rIns="0" bIns="0" rtlCol="0" anchor="ctr"/>
          <a:lstStyle/>
          <a:p>
            <a:pPr marL="0" indent="0">
              <a:buNone/>
            </a:pPr>
            <a:r>
              <a:rPr lang="en-US" sz="1200" b="1" dirty="0">
                <a:solidFill>
                  <a:srgbClr val="F0F6FC"/>
                </a:solidFill>
              </a:rPr>
              <a:t>Part 2: Deep Learning &amp; CNNs</a:t>
            </a:r>
            <a:endParaRPr lang="en-US" sz="1200" dirty="0"/>
          </a:p>
        </p:txBody>
      </p:sp>
      <p:sp>
        <p:nvSpPr>
          <p:cNvPr id="38" name="Shape 36"/>
          <p:cNvSpPr/>
          <p:nvPr/>
        </p:nvSpPr>
        <p:spPr>
          <a:xfrm>
            <a:off x="4800600" y="1517904"/>
            <a:ext cx="4023360" cy="438912"/>
          </a:xfrm>
          <a:prstGeom prst="rect">
            <a:avLst/>
          </a:prstGeom>
          <a:solidFill>
            <a:srgbClr val="161B22"/>
          </a:solidFill>
          <a:ln w="12700">
            <a:solidFill>
              <a:srgbClr val="161B22"/>
            </a:solidFill>
            <a:prstDash val="solid"/>
          </a:ln>
        </p:spPr>
        <p:txBody>
          <a:bodyPr/>
          <a:lstStyle/>
          <a:p>
            <a:endParaRPr lang="fr-FR"/>
          </a:p>
        </p:txBody>
      </p:sp>
      <p:sp>
        <p:nvSpPr>
          <p:cNvPr id="39" name="Text 37"/>
          <p:cNvSpPr/>
          <p:nvPr/>
        </p:nvSpPr>
        <p:spPr>
          <a:xfrm>
            <a:off x="4864608" y="1536192"/>
            <a:ext cx="274320" cy="402336"/>
          </a:xfrm>
          <a:prstGeom prst="rect">
            <a:avLst/>
          </a:prstGeom>
          <a:noFill/>
          <a:ln/>
        </p:spPr>
        <p:txBody>
          <a:bodyPr wrap="square" lIns="0" tIns="0" rIns="0" bIns="0" rtlCol="0" anchor="ctr"/>
          <a:lstStyle/>
          <a:p>
            <a:pPr marL="0" indent="0" algn="ctr">
              <a:buNone/>
            </a:pPr>
            <a:r>
              <a:rPr lang="en-US" sz="1100" dirty="0">
                <a:solidFill>
                  <a:srgbClr val="BC8CFF"/>
                </a:solidFill>
              </a:rPr>
              <a:t>v</a:t>
            </a:r>
            <a:endParaRPr lang="en-US" sz="1100" dirty="0"/>
          </a:p>
        </p:txBody>
      </p:sp>
      <p:sp>
        <p:nvSpPr>
          <p:cNvPr id="40" name="Text 38"/>
          <p:cNvSpPr/>
          <p:nvPr/>
        </p:nvSpPr>
        <p:spPr>
          <a:xfrm>
            <a:off x="5166360" y="1536192"/>
            <a:ext cx="1508760" cy="402336"/>
          </a:xfrm>
          <a:prstGeom prst="rect">
            <a:avLst/>
          </a:prstGeom>
          <a:noFill/>
          <a:ln/>
        </p:spPr>
        <p:txBody>
          <a:bodyPr wrap="square" lIns="0" tIns="0" rIns="0" bIns="0" rtlCol="0" anchor="ctr"/>
          <a:lstStyle/>
          <a:p>
            <a:pPr marL="0" indent="0">
              <a:buNone/>
            </a:pPr>
            <a:r>
              <a:rPr lang="en-US" sz="1000" b="1" dirty="0">
                <a:solidFill>
                  <a:srgbClr val="F0F6FC"/>
                </a:solidFill>
              </a:rPr>
              <a:t>Neural Networks</a:t>
            </a:r>
            <a:endParaRPr lang="en-US" sz="1000" dirty="0"/>
          </a:p>
        </p:txBody>
      </p:sp>
      <p:sp>
        <p:nvSpPr>
          <p:cNvPr id="41" name="Text 39"/>
          <p:cNvSpPr/>
          <p:nvPr/>
        </p:nvSpPr>
        <p:spPr>
          <a:xfrm>
            <a:off x="6693408" y="1536192"/>
            <a:ext cx="2084832" cy="402336"/>
          </a:xfrm>
          <a:prstGeom prst="rect">
            <a:avLst/>
          </a:prstGeom>
          <a:noFill/>
          <a:ln/>
        </p:spPr>
        <p:txBody>
          <a:bodyPr wrap="square" lIns="0" tIns="0" rIns="0" bIns="0" rtlCol="0" anchor="ctr"/>
          <a:lstStyle/>
          <a:p>
            <a:pPr marL="0" indent="0">
              <a:buNone/>
            </a:pPr>
            <a:r>
              <a:rPr lang="en-US" sz="900" dirty="0">
                <a:solidFill>
                  <a:srgbClr val="8B949E"/>
                </a:solidFill>
              </a:rPr>
              <a:t>Layers of neurons + activations</a:t>
            </a:r>
            <a:endParaRPr lang="en-US" sz="900" dirty="0"/>
          </a:p>
        </p:txBody>
      </p:sp>
      <p:sp>
        <p:nvSpPr>
          <p:cNvPr id="42" name="Shape 40"/>
          <p:cNvSpPr/>
          <p:nvPr/>
        </p:nvSpPr>
        <p:spPr>
          <a:xfrm>
            <a:off x="4800600" y="1993392"/>
            <a:ext cx="4023360" cy="438912"/>
          </a:xfrm>
          <a:prstGeom prst="rect">
            <a:avLst/>
          </a:prstGeom>
          <a:solidFill>
            <a:srgbClr val="21262D"/>
          </a:solidFill>
          <a:ln w="12700">
            <a:solidFill>
              <a:srgbClr val="161B22"/>
            </a:solidFill>
            <a:prstDash val="solid"/>
          </a:ln>
        </p:spPr>
        <p:txBody>
          <a:bodyPr/>
          <a:lstStyle/>
          <a:p>
            <a:endParaRPr lang="fr-FR"/>
          </a:p>
        </p:txBody>
      </p:sp>
      <p:sp>
        <p:nvSpPr>
          <p:cNvPr id="43" name="Text 41"/>
          <p:cNvSpPr/>
          <p:nvPr/>
        </p:nvSpPr>
        <p:spPr>
          <a:xfrm>
            <a:off x="4864608" y="2011680"/>
            <a:ext cx="274320" cy="402336"/>
          </a:xfrm>
          <a:prstGeom prst="rect">
            <a:avLst/>
          </a:prstGeom>
          <a:noFill/>
          <a:ln/>
        </p:spPr>
        <p:txBody>
          <a:bodyPr wrap="square" lIns="0" tIns="0" rIns="0" bIns="0" rtlCol="0" anchor="ctr"/>
          <a:lstStyle/>
          <a:p>
            <a:pPr marL="0" indent="0" algn="ctr">
              <a:buNone/>
            </a:pPr>
            <a:r>
              <a:rPr lang="en-US" sz="1100" dirty="0">
                <a:solidFill>
                  <a:srgbClr val="BC8CFF"/>
                </a:solidFill>
              </a:rPr>
              <a:t>v</a:t>
            </a:r>
            <a:endParaRPr lang="en-US" sz="1100" dirty="0"/>
          </a:p>
        </p:txBody>
      </p:sp>
      <p:sp>
        <p:nvSpPr>
          <p:cNvPr id="44" name="Text 42"/>
          <p:cNvSpPr/>
          <p:nvPr/>
        </p:nvSpPr>
        <p:spPr>
          <a:xfrm>
            <a:off x="5166360" y="2011680"/>
            <a:ext cx="1508760" cy="402336"/>
          </a:xfrm>
          <a:prstGeom prst="rect">
            <a:avLst/>
          </a:prstGeom>
          <a:noFill/>
          <a:ln/>
        </p:spPr>
        <p:txBody>
          <a:bodyPr wrap="square" lIns="0" tIns="0" rIns="0" bIns="0" rtlCol="0" anchor="ctr"/>
          <a:lstStyle/>
          <a:p>
            <a:pPr marL="0" indent="0">
              <a:buNone/>
            </a:pPr>
            <a:r>
              <a:rPr lang="en-US" sz="1000" b="1" dirty="0">
                <a:solidFill>
                  <a:srgbClr val="F0F6FC"/>
                </a:solidFill>
              </a:rPr>
              <a:t>Activation Fns</a:t>
            </a:r>
            <a:endParaRPr lang="en-US" sz="1000" dirty="0"/>
          </a:p>
        </p:txBody>
      </p:sp>
      <p:sp>
        <p:nvSpPr>
          <p:cNvPr id="45" name="Text 43"/>
          <p:cNvSpPr/>
          <p:nvPr/>
        </p:nvSpPr>
        <p:spPr>
          <a:xfrm>
            <a:off x="6693408" y="2011680"/>
            <a:ext cx="2084832" cy="402336"/>
          </a:xfrm>
          <a:prstGeom prst="rect">
            <a:avLst/>
          </a:prstGeom>
          <a:noFill/>
          <a:ln/>
        </p:spPr>
        <p:txBody>
          <a:bodyPr wrap="square" lIns="0" tIns="0" rIns="0" bIns="0" rtlCol="0" anchor="ctr"/>
          <a:lstStyle/>
          <a:p>
            <a:pPr marL="0" indent="0">
              <a:buNone/>
            </a:pPr>
            <a:r>
              <a:rPr lang="en-US" sz="900" dirty="0">
                <a:solidFill>
                  <a:srgbClr val="8B949E"/>
                </a:solidFill>
              </a:rPr>
              <a:t>Sigmoid, Tanh, ReLU, Leaky ReLU</a:t>
            </a:r>
            <a:endParaRPr lang="en-US" sz="900" dirty="0"/>
          </a:p>
        </p:txBody>
      </p:sp>
      <p:sp>
        <p:nvSpPr>
          <p:cNvPr id="46" name="Shape 44"/>
          <p:cNvSpPr/>
          <p:nvPr/>
        </p:nvSpPr>
        <p:spPr>
          <a:xfrm>
            <a:off x="4800600" y="2468880"/>
            <a:ext cx="4023360" cy="438912"/>
          </a:xfrm>
          <a:prstGeom prst="rect">
            <a:avLst/>
          </a:prstGeom>
          <a:solidFill>
            <a:srgbClr val="161B22"/>
          </a:solidFill>
          <a:ln w="12700">
            <a:solidFill>
              <a:srgbClr val="161B22"/>
            </a:solidFill>
            <a:prstDash val="solid"/>
          </a:ln>
        </p:spPr>
        <p:txBody>
          <a:bodyPr/>
          <a:lstStyle/>
          <a:p>
            <a:endParaRPr lang="fr-FR"/>
          </a:p>
        </p:txBody>
      </p:sp>
      <p:sp>
        <p:nvSpPr>
          <p:cNvPr id="47" name="Text 45"/>
          <p:cNvSpPr/>
          <p:nvPr/>
        </p:nvSpPr>
        <p:spPr>
          <a:xfrm>
            <a:off x="4864608" y="2487168"/>
            <a:ext cx="274320" cy="402336"/>
          </a:xfrm>
          <a:prstGeom prst="rect">
            <a:avLst/>
          </a:prstGeom>
          <a:noFill/>
          <a:ln/>
        </p:spPr>
        <p:txBody>
          <a:bodyPr wrap="square" lIns="0" tIns="0" rIns="0" bIns="0" rtlCol="0" anchor="ctr"/>
          <a:lstStyle/>
          <a:p>
            <a:pPr marL="0" indent="0" algn="ctr">
              <a:buNone/>
            </a:pPr>
            <a:r>
              <a:rPr lang="en-US" sz="1100" dirty="0">
                <a:solidFill>
                  <a:srgbClr val="BC8CFF"/>
                </a:solidFill>
              </a:rPr>
              <a:t>v</a:t>
            </a:r>
            <a:endParaRPr lang="en-US" sz="1100" dirty="0"/>
          </a:p>
        </p:txBody>
      </p:sp>
      <p:sp>
        <p:nvSpPr>
          <p:cNvPr id="48" name="Text 46"/>
          <p:cNvSpPr/>
          <p:nvPr/>
        </p:nvSpPr>
        <p:spPr>
          <a:xfrm>
            <a:off x="5166360" y="2487168"/>
            <a:ext cx="1508760" cy="402336"/>
          </a:xfrm>
          <a:prstGeom prst="rect">
            <a:avLst/>
          </a:prstGeom>
          <a:noFill/>
          <a:ln/>
        </p:spPr>
        <p:txBody>
          <a:bodyPr wrap="square" lIns="0" tIns="0" rIns="0" bIns="0" rtlCol="0" anchor="ctr"/>
          <a:lstStyle/>
          <a:p>
            <a:pPr marL="0" indent="0">
              <a:buNone/>
            </a:pPr>
            <a:r>
              <a:rPr lang="en-US" sz="1000" b="1" dirty="0">
                <a:solidFill>
                  <a:srgbClr val="F0F6FC"/>
                </a:solidFill>
              </a:rPr>
              <a:t>Backpropagation</a:t>
            </a:r>
            <a:endParaRPr lang="en-US" sz="1000" dirty="0"/>
          </a:p>
        </p:txBody>
      </p:sp>
      <p:sp>
        <p:nvSpPr>
          <p:cNvPr id="49" name="Text 47"/>
          <p:cNvSpPr/>
          <p:nvPr/>
        </p:nvSpPr>
        <p:spPr>
          <a:xfrm>
            <a:off x="6693408" y="2487168"/>
            <a:ext cx="2084832" cy="402336"/>
          </a:xfrm>
          <a:prstGeom prst="rect">
            <a:avLst/>
          </a:prstGeom>
          <a:noFill/>
          <a:ln/>
        </p:spPr>
        <p:txBody>
          <a:bodyPr wrap="square" lIns="0" tIns="0" rIns="0" bIns="0" rtlCol="0" anchor="ctr"/>
          <a:lstStyle/>
          <a:p>
            <a:pPr marL="0" indent="0">
              <a:buNone/>
            </a:pPr>
            <a:r>
              <a:rPr lang="en-US" sz="900" dirty="0">
                <a:solidFill>
                  <a:srgbClr val="8B949E"/>
                </a:solidFill>
              </a:rPr>
              <a:t>Chain rule flows gradients backward</a:t>
            </a:r>
            <a:endParaRPr lang="en-US" sz="900" dirty="0"/>
          </a:p>
        </p:txBody>
      </p:sp>
      <p:sp>
        <p:nvSpPr>
          <p:cNvPr id="50" name="Shape 48"/>
          <p:cNvSpPr/>
          <p:nvPr/>
        </p:nvSpPr>
        <p:spPr>
          <a:xfrm>
            <a:off x="4800600" y="2944368"/>
            <a:ext cx="4023360" cy="438912"/>
          </a:xfrm>
          <a:prstGeom prst="rect">
            <a:avLst/>
          </a:prstGeom>
          <a:solidFill>
            <a:srgbClr val="21262D"/>
          </a:solidFill>
          <a:ln w="12700">
            <a:solidFill>
              <a:srgbClr val="161B22"/>
            </a:solidFill>
            <a:prstDash val="solid"/>
          </a:ln>
        </p:spPr>
        <p:txBody>
          <a:bodyPr/>
          <a:lstStyle/>
          <a:p>
            <a:endParaRPr lang="fr-FR"/>
          </a:p>
        </p:txBody>
      </p:sp>
      <p:sp>
        <p:nvSpPr>
          <p:cNvPr id="51" name="Text 49"/>
          <p:cNvSpPr/>
          <p:nvPr/>
        </p:nvSpPr>
        <p:spPr>
          <a:xfrm>
            <a:off x="4864608" y="2962656"/>
            <a:ext cx="274320" cy="402336"/>
          </a:xfrm>
          <a:prstGeom prst="rect">
            <a:avLst/>
          </a:prstGeom>
          <a:noFill/>
          <a:ln/>
        </p:spPr>
        <p:txBody>
          <a:bodyPr wrap="square" lIns="0" tIns="0" rIns="0" bIns="0" rtlCol="0" anchor="ctr"/>
          <a:lstStyle/>
          <a:p>
            <a:pPr marL="0" indent="0" algn="ctr">
              <a:buNone/>
            </a:pPr>
            <a:r>
              <a:rPr lang="en-US" sz="1100" dirty="0">
                <a:solidFill>
                  <a:srgbClr val="BC8CFF"/>
                </a:solidFill>
              </a:rPr>
              <a:t>v</a:t>
            </a:r>
            <a:endParaRPr lang="en-US" sz="1100" dirty="0"/>
          </a:p>
        </p:txBody>
      </p:sp>
      <p:sp>
        <p:nvSpPr>
          <p:cNvPr id="52" name="Text 50"/>
          <p:cNvSpPr/>
          <p:nvPr/>
        </p:nvSpPr>
        <p:spPr>
          <a:xfrm>
            <a:off x="5166360" y="2962656"/>
            <a:ext cx="1508760" cy="402336"/>
          </a:xfrm>
          <a:prstGeom prst="rect">
            <a:avLst/>
          </a:prstGeom>
          <a:noFill/>
          <a:ln/>
        </p:spPr>
        <p:txBody>
          <a:bodyPr wrap="square" lIns="0" tIns="0" rIns="0" bIns="0" rtlCol="0" anchor="ctr"/>
          <a:lstStyle/>
          <a:p>
            <a:pPr marL="0" indent="0">
              <a:buNone/>
            </a:pPr>
            <a:r>
              <a:rPr lang="en-US" sz="1000" b="1" dirty="0">
                <a:solidFill>
                  <a:srgbClr val="F0F6FC"/>
                </a:solidFill>
              </a:rPr>
              <a:t>CNNs</a:t>
            </a:r>
            <a:endParaRPr lang="en-US" sz="1000" dirty="0"/>
          </a:p>
        </p:txBody>
      </p:sp>
      <p:sp>
        <p:nvSpPr>
          <p:cNvPr id="53" name="Text 51"/>
          <p:cNvSpPr/>
          <p:nvPr/>
        </p:nvSpPr>
        <p:spPr>
          <a:xfrm>
            <a:off x="6693408" y="2962656"/>
            <a:ext cx="2084832" cy="402336"/>
          </a:xfrm>
          <a:prstGeom prst="rect">
            <a:avLst/>
          </a:prstGeom>
          <a:noFill/>
          <a:ln/>
        </p:spPr>
        <p:txBody>
          <a:bodyPr wrap="square" lIns="0" tIns="0" rIns="0" bIns="0" rtlCol="0" anchor="ctr"/>
          <a:lstStyle/>
          <a:p>
            <a:pPr marL="0" indent="0">
              <a:buNone/>
            </a:pPr>
            <a:r>
              <a:rPr lang="en-US" sz="900" dirty="0">
                <a:solidFill>
                  <a:srgbClr val="8B949E"/>
                </a:solidFill>
              </a:rPr>
              <a:t>Filters, Pooling, Feature hierarchy</a:t>
            </a:r>
            <a:endParaRPr lang="en-US" sz="900" dirty="0"/>
          </a:p>
        </p:txBody>
      </p:sp>
      <p:sp>
        <p:nvSpPr>
          <p:cNvPr id="54" name="Shape 52"/>
          <p:cNvSpPr/>
          <p:nvPr/>
        </p:nvSpPr>
        <p:spPr>
          <a:xfrm>
            <a:off x="4800600" y="3419856"/>
            <a:ext cx="4023360" cy="438912"/>
          </a:xfrm>
          <a:prstGeom prst="rect">
            <a:avLst/>
          </a:prstGeom>
          <a:solidFill>
            <a:srgbClr val="161B22"/>
          </a:solidFill>
          <a:ln w="12700">
            <a:solidFill>
              <a:srgbClr val="161B22"/>
            </a:solidFill>
            <a:prstDash val="solid"/>
          </a:ln>
        </p:spPr>
        <p:txBody>
          <a:bodyPr/>
          <a:lstStyle/>
          <a:p>
            <a:endParaRPr lang="fr-FR"/>
          </a:p>
        </p:txBody>
      </p:sp>
      <p:sp>
        <p:nvSpPr>
          <p:cNvPr id="55" name="Text 53"/>
          <p:cNvSpPr/>
          <p:nvPr/>
        </p:nvSpPr>
        <p:spPr>
          <a:xfrm>
            <a:off x="4864608" y="3438144"/>
            <a:ext cx="274320" cy="402336"/>
          </a:xfrm>
          <a:prstGeom prst="rect">
            <a:avLst/>
          </a:prstGeom>
          <a:noFill/>
          <a:ln/>
        </p:spPr>
        <p:txBody>
          <a:bodyPr wrap="square" lIns="0" tIns="0" rIns="0" bIns="0" rtlCol="0" anchor="ctr"/>
          <a:lstStyle/>
          <a:p>
            <a:pPr marL="0" indent="0" algn="ctr">
              <a:buNone/>
            </a:pPr>
            <a:r>
              <a:rPr lang="en-US" sz="1100" dirty="0">
                <a:solidFill>
                  <a:srgbClr val="BC8CFF"/>
                </a:solidFill>
              </a:rPr>
              <a:t>v</a:t>
            </a:r>
            <a:endParaRPr lang="en-US" sz="1100" dirty="0"/>
          </a:p>
        </p:txBody>
      </p:sp>
      <p:sp>
        <p:nvSpPr>
          <p:cNvPr id="56" name="Text 54"/>
          <p:cNvSpPr/>
          <p:nvPr/>
        </p:nvSpPr>
        <p:spPr>
          <a:xfrm>
            <a:off x="5166360" y="3438144"/>
            <a:ext cx="1508760" cy="402336"/>
          </a:xfrm>
          <a:prstGeom prst="rect">
            <a:avLst/>
          </a:prstGeom>
          <a:noFill/>
          <a:ln/>
        </p:spPr>
        <p:txBody>
          <a:bodyPr wrap="square" lIns="0" tIns="0" rIns="0" bIns="0" rtlCol="0" anchor="ctr"/>
          <a:lstStyle/>
          <a:p>
            <a:pPr marL="0" indent="0">
              <a:buNone/>
            </a:pPr>
            <a:r>
              <a:rPr lang="en-US" sz="1000" b="1" dirty="0">
                <a:solidFill>
                  <a:srgbClr val="F0F6FC"/>
                </a:solidFill>
              </a:rPr>
              <a:t>Convolution</a:t>
            </a:r>
            <a:endParaRPr lang="en-US" sz="1000" dirty="0"/>
          </a:p>
        </p:txBody>
      </p:sp>
      <p:sp>
        <p:nvSpPr>
          <p:cNvPr id="57" name="Text 55"/>
          <p:cNvSpPr/>
          <p:nvPr/>
        </p:nvSpPr>
        <p:spPr>
          <a:xfrm>
            <a:off x="6693408" y="3438144"/>
            <a:ext cx="2084832" cy="402336"/>
          </a:xfrm>
          <a:prstGeom prst="rect">
            <a:avLst/>
          </a:prstGeom>
          <a:noFill/>
          <a:ln/>
        </p:spPr>
        <p:txBody>
          <a:bodyPr wrap="square" lIns="0" tIns="0" rIns="0" bIns="0" rtlCol="0" anchor="ctr"/>
          <a:lstStyle/>
          <a:p>
            <a:pPr marL="0" indent="0">
              <a:buNone/>
            </a:pPr>
            <a:r>
              <a:rPr lang="en-US" sz="900" dirty="0">
                <a:solidFill>
                  <a:srgbClr val="8B949E"/>
                </a:solidFill>
              </a:rPr>
              <a:t>Filter slides over image -&gt; feature map</a:t>
            </a:r>
            <a:endParaRPr lang="en-US" sz="900" dirty="0"/>
          </a:p>
        </p:txBody>
      </p:sp>
      <p:sp>
        <p:nvSpPr>
          <p:cNvPr id="58" name="Shape 56"/>
          <p:cNvSpPr/>
          <p:nvPr/>
        </p:nvSpPr>
        <p:spPr>
          <a:xfrm>
            <a:off x="4800600" y="3895344"/>
            <a:ext cx="4023360" cy="438912"/>
          </a:xfrm>
          <a:prstGeom prst="rect">
            <a:avLst/>
          </a:prstGeom>
          <a:solidFill>
            <a:srgbClr val="21262D"/>
          </a:solidFill>
          <a:ln w="12700">
            <a:solidFill>
              <a:srgbClr val="161B22"/>
            </a:solidFill>
            <a:prstDash val="solid"/>
          </a:ln>
        </p:spPr>
        <p:txBody>
          <a:bodyPr/>
          <a:lstStyle/>
          <a:p>
            <a:endParaRPr lang="fr-FR"/>
          </a:p>
        </p:txBody>
      </p:sp>
      <p:sp>
        <p:nvSpPr>
          <p:cNvPr id="59" name="Text 57"/>
          <p:cNvSpPr/>
          <p:nvPr/>
        </p:nvSpPr>
        <p:spPr>
          <a:xfrm>
            <a:off x="4864608" y="3913632"/>
            <a:ext cx="274320" cy="402336"/>
          </a:xfrm>
          <a:prstGeom prst="rect">
            <a:avLst/>
          </a:prstGeom>
          <a:noFill/>
          <a:ln/>
        </p:spPr>
        <p:txBody>
          <a:bodyPr wrap="square" lIns="0" tIns="0" rIns="0" bIns="0" rtlCol="0" anchor="ctr"/>
          <a:lstStyle/>
          <a:p>
            <a:pPr marL="0" indent="0" algn="ctr">
              <a:buNone/>
            </a:pPr>
            <a:r>
              <a:rPr lang="en-US" sz="1100" dirty="0">
                <a:solidFill>
                  <a:srgbClr val="BC8CFF"/>
                </a:solidFill>
              </a:rPr>
              <a:t>v</a:t>
            </a:r>
            <a:endParaRPr lang="en-US" sz="1100" dirty="0"/>
          </a:p>
        </p:txBody>
      </p:sp>
      <p:sp>
        <p:nvSpPr>
          <p:cNvPr id="60" name="Text 58"/>
          <p:cNvSpPr/>
          <p:nvPr/>
        </p:nvSpPr>
        <p:spPr>
          <a:xfrm>
            <a:off x="5166360" y="3913632"/>
            <a:ext cx="1508760" cy="402336"/>
          </a:xfrm>
          <a:prstGeom prst="rect">
            <a:avLst/>
          </a:prstGeom>
          <a:noFill/>
          <a:ln/>
        </p:spPr>
        <p:txBody>
          <a:bodyPr wrap="square" lIns="0" tIns="0" rIns="0" bIns="0" rtlCol="0" anchor="ctr"/>
          <a:lstStyle/>
          <a:p>
            <a:pPr marL="0" indent="0">
              <a:buNone/>
            </a:pPr>
            <a:r>
              <a:rPr lang="en-US" sz="1000" b="1" dirty="0">
                <a:solidFill>
                  <a:srgbClr val="F0F6FC"/>
                </a:solidFill>
              </a:rPr>
              <a:t>PyTorch</a:t>
            </a:r>
            <a:endParaRPr lang="en-US" sz="1000" dirty="0"/>
          </a:p>
        </p:txBody>
      </p:sp>
      <p:sp>
        <p:nvSpPr>
          <p:cNvPr id="61" name="Text 59"/>
          <p:cNvSpPr/>
          <p:nvPr/>
        </p:nvSpPr>
        <p:spPr>
          <a:xfrm>
            <a:off x="6693408" y="3913632"/>
            <a:ext cx="2084832" cy="402336"/>
          </a:xfrm>
          <a:prstGeom prst="rect">
            <a:avLst/>
          </a:prstGeom>
          <a:noFill/>
          <a:ln/>
        </p:spPr>
        <p:txBody>
          <a:bodyPr wrap="square" lIns="0" tIns="0" rIns="0" bIns="0" rtlCol="0" anchor="ctr"/>
          <a:lstStyle/>
          <a:p>
            <a:pPr marL="0" indent="0">
              <a:buNone/>
            </a:pPr>
            <a:r>
              <a:rPr lang="en-US" sz="900" dirty="0">
                <a:solidFill>
                  <a:srgbClr val="8B949E"/>
                </a:solidFill>
              </a:rPr>
              <a:t>nn.Module, loss.backward(), optimizer.step()</a:t>
            </a:r>
            <a:endParaRPr lang="en-US" sz="900" dirty="0"/>
          </a:p>
        </p:txBody>
      </p:sp>
      <p:sp>
        <p:nvSpPr>
          <p:cNvPr id="62" name="Shape 60"/>
          <p:cNvSpPr/>
          <p:nvPr/>
        </p:nvSpPr>
        <p:spPr>
          <a:xfrm>
            <a:off x="4800600" y="4370832"/>
            <a:ext cx="4023360" cy="438912"/>
          </a:xfrm>
          <a:prstGeom prst="rect">
            <a:avLst/>
          </a:prstGeom>
          <a:solidFill>
            <a:srgbClr val="161B22"/>
          </a:solidFill>
          <a:ln w="12700">
            <a:solidFill>
              <a:srgbClr val="161B22"/>
            </a:solidFill>
            <a:prstDash val="solid"/>
          </a:ln>
        </p:spPr>
        <p:txBody>
          <a:bodyPr/>
          <a:lstStyle/>
          <a:p>
            <a:endParaRPr lang="fr-FR"/>
          </a:p>
        </p:txBody>
      </p:sp>
      <p:sp>
        <p:nvSpPr>
          <p:cNvPr id="63" name="Text 61"/>
          <p:cNvSpPr/>
          <p:nvPr/>
        </p:nvSpPr>
        <p:spPr>
          <a:xfrm>
            <a:off x="4864608" y="4389120"/>
            <a:ext cx="274320" cy="402336"/>
          </a:xfrm>
          <a:prstGeom prst="rect">
            <a:avLst/>
          </a:prstGeom>
          <a:noFill/>
          <a:ln/>
        </p:spPr>
        <p:txBody>
          <a:bodyPr wrap="square" lIns="0" tIns="0" rIns="0" bIns="0" rtlCol="0" anchor="ctr"/>
          <a:lstStyle/>
          <a:p>
            <a:pPr marL="0" indent="0" algn="ctr">
              <a:buNone/>
            </a:pPr>
            <a:r>
              <a:rPr lang="en-US" sz="1100" dirty="0">
                <a:solidFill>
                  <a:srgbClr val="BC8CFF"/>
                </a:solidFill>
              </a:rPr>
              <a:t>v</a:t>
            </a:r>
            <a:endParaRPr lang="en-US" sz="1100" dirty="0"/>
          </a:p>
        </p:txBody>
      </p:sp>
      <p:sp>
        <p:nvSpPr>
          <p:cNvPr id="64" name="Text 62"/>
          <p:cNvSpPr/>
          <p:nvPr/>
        </p:nvSpPr>
        <p:spPr>
          <a:xfrm>
            <a:off x="5166360" y="4389120"/>
            <a:ext cx="1508760" cy="402336"/>
          </a:xfrm>
          <a:prstGeom prst="rect">
            <a:avLst/>
          </a:prstGeom>
          <a:noFill/>
          <a:ln/>
        </p:spPr>
        <p:txBody>
          <a:bodyPr wrap="square" lIns="0" tIns="0" rIns="0" bIns="0" rtlCol="0" anchor="ctr"/>
          <a:lstStyle/>
          <a:p>
            <a:pPr marL="0" indent="0">
              <a:buNone/>
            </a:pPr>
            <a:r>
              <a:rPr lang="en-US" sz="1000" b="1" dirty="0">
                <a:solidFill>
                  <a:srgbClr val="F0F6FC"/>
                </a:solidFill>
              </a:rPr>
              <a:t>Transfer Learning</a:t>
            </a:r>
            <a:endParaRPr lang="en-US" sz="1000" dirty="0"/>
          </a:p>
        </p:txBody>
      </p:sp>
      <p:sp>
        <p:nvSpPr>
          <p:cNvPr id="65" name="Text 63"/>
          <p:cNvSpPr/>
          <p:nvPr/>
        </p:nvSpPr>
        <p:spPr>
          <a:xfrm>
            <a:off x="6693408" y="4389120"/>
            <a:ext cx="2084832" cy="402336"/>
          </a:xfrm>
          <a:prstGeom prst="rect">
            <a:avLst/>
          </a:prstGeom>
          <a:noFill/>
          <a:ln/>
        </p:spPr>
        <p:txBody>
          <a:bodyPr wrap="square" lIns="0" tIns="0" rIns="0" bIns="0" rtlCol="0" anchor="ctr"/>
          <a:lstStyle/>
          <a:p>
            <a:pPr marL="0" indent="0">
              <a:buNone/>
            </a:pPr>
            <a:r>
              <a:rPr lang="en-US" sz="900" dirty="0">
                <a:solidFill>
                  <a:srgbClr val="8B949E"/>
                </a:solidFill>
              </a:rPr>
              <a:t>Freeze -&gt; replace head -&gt; fine-tune</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3FB950"/>
          </a:solidFill>
          <a:ln w="12700">
            <a:solidFill>
              <a:srgbClr val="3FB950"/>
            </a:solidFill>
            <a:prstDash val="solid"/>
          </a:ln>
        </p:spPr>
        <p:txBody>
          <a:bodyPr/>
          <a:lstStyle/>
          <a:p>
            <a:endParaRPr lang="fr-FR"/>
          </a:p>
        </p:txBody>
      </p:sp>
      <p:sp>
        <p:nvSpPr>
          <p:cNvPr id="3" name="Shape 1"/>
          <p:cNvSpPr/>
          <p:nvPr/>
        </p:nvSpPr>
        <p:spPr>
          <a:xfrm>
            <a:off x="228600" y="0"/>
            <a:ext cx="109728" cy="5143500"/>
          </a:xfrm>
          <a:prstGeom prst="rect">
            <a:avLst/>
          </a:prstGeom>
          <a:solidFill>
            <a:srgbClr val="39D0B0"/>
          </a:solidFill>
          <a:ln w="12700">
            <a:solidFill>
              <a:srgbClr val="39D0B0"/>
            </a:solidFill>
            <a:prstDash val="solid"/>
          </a:ln>
        </p:spPr>
        <p:txBody>
          <a:bodyPr/>
          <a:lstStyle/>
          <a:p>
            <a:endParaRPr lang="fr-FR"/>
          </a:p>
        </p:txBody>
      </p:sp>
      <p:sp>
        <p:nvSpPr>
          <p:cNvPr id="4" name="Text 2"/>
          <p:cNvSpPr/>
          <p:nvPr/>
        </p:nvSpPr>
        <p:spPr>
          <a:xfrm>
            <a:off x="548640" y="365760"/>
            <a:ext cx="8046720" cy="594360"/>
          </a:xfrm>
          <a:prstGeom prst="rect">
            <a:avLst/>
          </a:prstGeom>
          <a:noFill/>
          <a:ln/>
        </p:spPr>
        <p:txBody>
          <a:bodyPr wrap="square" lIns="0" tIns="0" rIns="0" bIns="0" rtlCol="0" anchor="ctr"/>
          <a:lstStyle/>
          <a:p>
            <a:pPr marL="0" indent="0">
              <a:buNone/>
            </a:pPr>
            <a:r>
              <a:rPr lang="en-US" sz="3200" b="1" dirty="0">
                <a:solidFill>
                  <a:srgbClr val="F0F6FC"/>
                </a:solidFill>
              </a:rPr>
              <a:t>What's Next?</a:t>
            </a:r>
            <a:endParaRPr lang="en-US" sz="3200" dirty="0"/>
          </a:p>
        </p:txBody>
      </p:sp>
      <p:sp>
        <p:nvSpPr>
          <p:cNvPr id="5" name="Shape 3"/>
          <p:cNvSpPr/>
          <p:nvPr/>
        </p:nvSpPr>
        <p:spPr>
          <a:xfrm>
            <a:off x="502920" y="1115568"/>
            <a:ext cx="4023360" cy="960120"/>
          </a:xfrm>
          <a:prstGeom prst="roundRect">
            <a:avLst>
              <a:gd name="adj" fmla="val 9524"/>
            </a:avLst>
          </a:prstGeom>
          <a:solidFill>
            <a:srgbClr val="161B22"/>
          </a:solidFill>
          <a:ln w="19050">
            <a:solidFill>
              <a:srgbClr val="58A6FF"/>
            </a:solidFill>
            <a:prstDash val="solid"/>
          </a:ln>
          <a:effectLst>
            <a:outerShdw blurRad="127000" dist="38100" dir="8100000" algn="bl" rotWithShape="0">
              <a:srgbClr val="000000">
                <a:alpha val="35000"/>
              </a:srgbClr>
            </a:outerShdw>
          </a:effectLst>
        </p:spPr>
        <p:txBody>
          <a:bodyPr/>
          <a:lstStyle/>
          <a:p>
            <a:endParaRPr lang="fr-FR"/>
          </a:p>
        </p:txBody>
      </p:sp>
      <p:sp>
        <p:nvSpPr>
          <p:cNvPr id="6" name="Text 4"/>
          <p:cNvSpPr/>
          <p:nvPr/>
        </p:nvSpPr>
        <p:spPr>
          <a:xfrm>
            <a:off x="685800" y="1207008"/>
            <a:ext cx="3657600" cy="320040"/>
          </a:xfrm>
          <a:prstGeom prst="rect">
            <a:avLst/>
          </a:prstGeom>
          <a:noFill/>
          <a:ln/>
        </p:spPr>
        <p:txBody>
          <a:bodyPr wrap="square" lIns="0" tIns="0" rIns="0" bIns="0" rtlCol="0" anchor="ctr"/>
          <a:lstStyle/>
          <a:p>
            <a:pPr marL="0" indent="0">
              <a:buNone/>
            </a:pPr>
            <a:r>
              <a:rPr lang="en-US" sz="1300" b="1" dirty="0">
                <a:solidFill>
                  <a:srgbClr val="58A6FF"/>
                </a:solidFill>
              </a:rPr>
              <a:t>Object Detection</a:t>
            </a:r>
            <a:endParaRPr lang="en-US" sz="1300" dirty="0"/>
          </a:p>
        </p:txBody>
      </p:sp>
      <p:sp>
        <p:nvSpPr>
          <p:cNvPr id="7" name="Text 5"/>
          <p:cNvSpPr/>
          <p:nvPr/>
        </p:nvSpPr>
        <p:spPr>
          <a:xfrm>
            <a:off x="685800" y="1572768"/>
            <a:ext cx="3657600" cy="384048"/>
          </a:xfrm>
          <a:prstGeom prst="rect">
            <a:avLst/>
          </a:prstGeom>
          <a:noFill/>
          <a:ln/>
        </p:spPr>
        <p:txBody>
          <a:bodyPr wrap="square" lIns="0" tIns="0" rIns="0" bIns="0" rtlCol="0" anchor="ctr"/>
          <a:lstStyle/>
          <a:p>
            <a:pPr marL="0" indent="0">
              <a:buNone/>
            </a:pPr>
            <a:r>
              <a:rPr lang="en-US" sz="1000" dirty="0">
                <a:solidFill>
                  <a:srgbClr val="8B949E"/>
                </a:solidFill>
              </a:rPr>
              <a:t>Detect WHERE objects are (YOLO, Faster R-CNN)</a:t>
            </a:r>
            <a:endParaRPr lang="en-US" sz="1000" dirty="0"/>
          </a:p>
        </p:txBody>
      </p:sp>
      <p:sp>
        <p:nvSpPr>
          <p:cNvPr id="8" name="Shape 6"/>
          <p:cNvSpPr/>
          <p:nvPr/>
        </p:nvSpPr>
        <p:spPr>
          <a:xfrm>
            <a:off x="502920" y="2231136"/>
            <a:ext cx="4023360" cy="960120"/>
          </a:xfrm>
          <a:prstGeom prst="roundRect">
            <a:avLst>
              <a:gd name="adj" fmla="val 9524"/>
            </a:avLst>
          </a:prstGeom>
          <a:solidFill>
            <a:srgbClr val="161B22"/>
          </a:solidFill>
          <a:ln w="19050">
            <a:solidFill>
              <a:srgbClr val="BC8CFF"/>
            </a:solidFill>
            <a:prstDash val="solid"/>
          </a:ln>
          <a:effectLst>
            <a:outerShdw blurRad="127000" dist="38100" dir="8100000" algn="bl" rotWithShape="0">
              <a:srgbClr val="000000">
                <a:alpha val="35000"/>
              </a:srgbClr>
            </a:outerShdw>
          </a:effectLst>
        </p:spPr>
        <p:txBody>
          <a:bodyPr/>
          <a:lstStyle/>
          <a:p>
            <a:endParaRPr lang="fr-FR"/>
          </a:p>
        </p:txBody>
      </p:sp>
      <p:sp>
        <p:nvSpPr>
          <p:cNvPr id="9" name="Text 7"/>
          <p:cNvSpPr/>
          <p:nvPr/>
        </p:nvSpPr>
        <p:spPr>
          <a:xfrm>
            <a:off x="685800" y="2322576"/>
            <a:ext cx="3657600" cy="320040"/>
          </a:xfrm>
          <a:prstGeom prst="rect">
            <a:avLst/>
          </a:prstGeom>
          <a:noFill/>
          <a:ln/>
        </p:spPr>
        <p:txBody>
          <a:bodyPr wrap="square" lIns="0" tIns="0" rIns="0" bIns="0" rtlCol="0" anchor="ctr"/>
          <a:lstStyle/>
          <a:p>
            <a:pPr marL="0" indent="0">
              <a:buNone/>
            </a:pPr>
            <a:r>
              <a:rPr lang="en-US" sz="1300" b="1" dirty="0">
                <a:solidFill>
                  <a:srgbClr val="BC8CFF"/>
                </a:solidFill>
              </a:rPr>
              <a:t>Semantic Segmentation</a:t>
            </a:r>
            <a:endParaRPr lang="en-US" sz="1300" dirty="0"/>
          </a:p>
        </p:txBody>
      </p:sp>
      <p:sp>
        <p:nvSpPr>
          <p:cNvPr id="10" name="Text 8"/>
          <p:cNvSpPr/>
          <p:nvPr/>
        </p:nvSpPr>
        <p:spPr>
          <a:xfrm>
            <a:off x="685800" y="2688336"/>
            <a:ext cx="3657600" cy="384048"/>
          </a:xfrm>
          <a:prstGeom prst="rect">
            <a:avLst/>
          </a:prstGeom>
          <a:noFill/>
          <a:ln/>
        </p:spPr>
        <p:txBody>
          <a:bodyPr wrap="square" lIns="0" tIns="0" rIns="0" bIns="0" rtlCol="0" anchor="ctr"/>
          <a:lstStyle/>
          <a:p>
            <a:pPr marL="0" indent="0">
              <a:buNone/>
            </a:pPr>
            <a:r>
              <a:rPr lang="en-US" sz="1000" dirty="0">
                <a:solidFill>
                  <a:srgbClr val="8B949E"/>
                </a:solidFill>
              </a:rPr>
              <a:t>Label every single pixel in an image</a:t>
            </a:r>
            <a:endParaRPr lang="en-US" sz="1000" dirty="0"/>
          </a:p>
        </p:txBody>
      </p:sp>
      <p:sp>
        <p:nvSpPr>
          <p:cNvPr id="11" name="Shape 9"/>
          <p:cNvSpPr/>
          <p:nvPr/>
        </p:nvSpPr>
        <p:spPr>
          <a:xfrm>
            <a:off x="502920" y="3346704"/>
            <a:ext cx="4023360" cy="960120"/>
          </a:xfrm>
          <a:prstGeom prst="roundRect">
            <a:avLst>
              <a:gd name="adj" fmla="val 9524"/>
            </a:avLst>
          </a:prstGeom>
          <a:solidFill>
            <a:srgbClr val="161B22"/>
          </a:solidFill>
          <a:ln w="19050">
            <a:solidFill>
              <a:srgbClr val="F0883E"/>
            </a:solidFill>
            <a:prstDash val="solid"/>
          </a:ln>
          <a:effectLst>
            <a:outerShdw blurRad="127000" dist="38100" dir="8100000" algn="bl" rotWithShape="0">
              <a:srgbClr val="000000">
                <a:alpha val="35000"/>
              </a:srgbClr>
            </a:outerShdw>
          </a:effectLst>
        </p:spPr>
        <p:txBody>
          <a:bodyPr/>
          <a:lstStyle/>
          <a:p>
            <a:endParaRPr lang="fr-FR"/>
          </a:p>
        </p:txBody>
      </p:sp>
      <p:sp>
        <p:nvSpPr>
          <p:cNvPr id="12" name="Text 10"/>
          <p:cNvSpPr/>
          <p:nvPr/>
        </p:nvSpPr>
        <p:spPr>
          <a:xfrm>
            <a:off x="685800" y="3438144"/>
            <a:ext cx="3657600" cy="320040"/>
          </a:xfrm>
          <a:prstGeom prst="rect">
            <a:avLst/>
          </a:prstGeom>
          <a:noFill/>
          <a:ln/>
        </p:spPr>
        <p:txBody>
          <a:bodyPr wrap="square" lIns="0" tIns="0" rIns="0" bIns="0" rtlCol="0" anchor="ctr"/>
          <a:lstStyle/>
          <a:p>
            <a:pPr marL="0" indent="0">
              <a:buNone/>
            </a:pPr>
            <a:r>
              <a:rPr lang="en-US" sz="1300" b="1" dirty="0">
                <a:solidFill>
                  <a:srgbClr val="F0883E"/>
                </a:solidFill>
              </a:rPr>
              <a:t>Generative Models (GANs)</a:t>
            </a:r>
            <a:endParaRPr lang="en-US" sz="1300" dirty="0"/>
          </a:p>
        </p:txBody>
      </p:sp>
      <p:sp>
        <p:nvSpPr>
          <p:cNvPr id="13" name="Text 11"/>
          <p:cNvSpPr/>
          <p:nvPr/>
        </p:nvSpPr>
        <p:spPr>
          <a:xfrm>
            <a:off x="685800" y="3803904"/>
            <a:ext cx="3657600" cy="384048"/>
          </a:xfrm>
          <a:prstGeom prst="rect">
            <a:avLst/>
          </a:prstGeom>
          <a:noFill/>
          <a:ln/>
        </p:spPr>
        <p:txBody>
          <a:bodyPr wrap="square" lIns="0" tIns="0" rIns="0" bIns="0" rtlCol="0" anchor="ctr"/>
          <a:lstStyle/>
          <a:p>
            <a:pPr marL="0" indent="0">
              <a:buNone/>
            </a:pPr>
            <a:r>
              <a:rPr lang="en-US" sz="1000" dirty="0">
                <a:solidFill>
                  <a:srgbClr val="8B949E"/>
                </a:solidFill>
              </a:rPr>
              <a:t>Generate realistic images from noise</a:t>
            </a:r>
            <a:endParaRPr lang="en-US" sz="1000" dirty="0"/>
          </a:p>
        </p:txBody>
      </p:sp>
      <p:sp>
        <p:nvSpPr>
          <p:cNvPr id="14" name="Shape 12"/>
          <p:cNvSpPr/>
          <p:nvPr/>
        </p:nvSpPr>
        <p:spPr>
          <a:xfrm>
            <a:off x="4892040" y="1115568"/>
            <a:ext cx="4023360" cy="960120"/>
          </a:xfrm>
          <a:prstGeom prst="roundRect">
            <a:avLst>
              <a:gd name="adj" fmla="val 9524"/>
            </a:avLst>
          </a:prstGeom>
          <a:solidFill>
            <a:srgbClr val="161B22"/>
          </a:solidFill>
          <a:ln w="19050">
            <a:solidFill>
              <a:srgbClr val="39D0B0"/>
            </a:solidFill>
            <a:prstDash val="solid"/>
          </a:ln>
          <a:effectLst>
            <a:outerShdw blurRad="127000" dist="38100" dir="8100000" algn="bl" rotWithShape="0">
              <a:srgbClr val="000000">
                <a:alpha val="35000"/>
              </a:srgbClr>
            </a:outerShdw>
          </a:effectLst>
        </p:spPr>
        <p:txBody>
          <a:bodyPr/>
          <a:lstStyle/>
          <a:p>
            <a:endParaRPr lang="fr-FR"/>
          </a:p>
        </p:txBody>
      </p:sp>
      <p:sp>
        <p:nvSpPr>
          <p:cNvPr id="15" name="Text 13"/>
          <p:cNvSpPr/>
          <p:nvPr/>
        </p:nvSpPr>
        <p:spPr>
          <a:xfrm>
            <a:off x="5074920" y="1207008"/>
            <a:ext cx="3657600" cy="320040"/>
          </a:xfrm>
          <a:prstGeom prst="rect">
            <a:avLst/>
          </a:prstGeom>
          <a:noFill/>
          <a:ln/>
        </p:spPr>
        <p:txBody>
          <a:bodyPr wrap="square" lIns="0" tIns="0" rIns="0" bIns="0" rtlCol="0" anchor="ctr"/>
          <a:lstStyle/>
          <a:p>
            <a:pPr marL="0" indent="0">
              <a:buNone/>
            </a:pPr>
            <a:r>
              <a:rPr lang="en-US" sz="1300" b="1" dirty="0">
                <a:solidFill>
                  <a:srgbClr val="39D0B0"/>
                </a:solidFill>
              </a:rPr>
              <a:t>Vision Transformers (ViT)</a:t>
            </a:r>
            <a:endParaRPr lang="en-US" sz="1300" dirty="0"/>
          </a:p>
        </p:txBody>
      </p:sp>
      <p:sp>
        <p:nvSpPr>
          <p:cNvPr id="16" name="Text 14"/>
          <p:cNvSpPr/>
          <p:nvPr/>
        </p:nvSpPr>
        <p:spPr>
          <a:xfrm>
            <a:off x="5074920" y="1572768"/>
            <a:ext cx="3657600" cy="384048"/>
          </a:xfrm>
          <a:prstGeom prst="rect">
            <a:avLst/>
          </a:prstGeom>
          <a:noFill/>
          <a:ln/>
        </p:spPr>
        <p:txBody>
          <a:bodyPr wrap="square" lIns="0" tIns="0" rIns="0" bIns="0" rtlCol="0" anchor="ctr"/>
          <a:lstStyle/>
          <a:p>
            <a:pPr marL="0" indent="0">
              <a:buNone/>
            </a:pPr>
            <a:r>
              <a:rPr lang="en-US" sz="1000" dirty="0">
                <a:solidFill>
                  <a:srgbClr val="8B949E"/>
                </a:solidFill>
              </a:rPr>
              <a:t>Attention-based models replacing CNNs</a:t>
            </a:r>
            <a:endParaRPr lang="en-US" sz="1000" dirty="0"/>
          </a:p>
        </p:txBody>
      </p:sp>
      <p:sp>
        <p:nvSpPr>
          <p:cNvPr id="17" name="Shape 15"/>
          <p:cNvSpPr/>
          <p:nvPr/>
        </p:nvSpPr>
        <p:spPr>
          <a:xfrm>
            <a:off x="4892040" y="2231136"/>
            <a:ext cx="4023360" cy="960120"/>
          </a:xfrm>
          <a:prstGeom prst="roundRect">
            <a:avLst>
              <a:gd name="adj" fmla="val 9524"/>
            </a:avLst>
          </a:prstGeom>
          <a:solidFill>
            <a:srgbClr val="161B22"/>
          </a:solidFill>
          <a:ln w="19050">
            <a:solidFill>
              <a:srgbClr val="3FB950"/>
            </a:solidFill>
            <a:prstDash val="solid"/>
          </a:ln>
          <a:effectLst>
            <a:outerShdw blurRad="127000" dist="38100" dir="8100000" algn="bl" rotWithShape="0">
              <a:srgbClr val="000000">
                <a:alpha val="35000"/>
              </a:srgbClr>
            </a:outerShdw>
          </a:effectLst>
        </p:spPr>
        <p:txBody>
          <a:bodyPr/>
          <a:lstStyle/>
          <a:p>
            <a:endParaRPr lang="fr-FR"/>
          </a:p>
        </p:txBody>
      </p:sp>
      <p:sp>
        <p:nvSpPr>
          <p:cNvPr id="18" name="Text 16"/>
          <p:cNvSpPr/>
          <p:nvPr/>
        </p:nvSpPr>
        <p:spPr>
          <a:xfrm>
            <a:off x="5074920" y="2322576"/>
            <a:ext cx="3657600" cy="320040"/>
          </a:xfrm>
          <a:prstGeom prst="rect">
            <a:avLst/>
          </a:prstGeom>
          <a:noFill/>
          <a:ln/>
        </p:spPr>
        <p:txBody>
          <a:bodyPr wrap="square" lIns="0" tIns="0" rIns="0" bIns="0" rtlCol="0" anchor="ctr"/>
          <a:lstStyle/>
          <a:p>
            <a:pPr marL="0" indent="0">
              <a:buNone/>
            </a:pPr>
            <a:r>
              <a:rPr lang="en-US" sz="1300" b="1" dirty="0">
                <a:solidFill>
                  <a:srgbClr val="3FB950"/>
                </a:solidFill>
              </a:rPr>
              <a:t>Real-Time Inference</a:t>
            </a:r>
            <a:endParaRPr lang="en-US" sz="1300" dirty="0"/>
          </a:p>
        </p:txBody>
      </p:sp>
      <p:sp>
        <p:nvSpPr>
          <p:cNvPr id="19" name="Text 17"/>
          <p:cNvSpPr/>
          <p:nvPr/>
        </p:nvSpPr>
        <p:spPr>
          <a:xfrm>
            <a:off x="5074920" y="2688336"/>
            <a:ext cx="3657600" cy="384048"/>
          </a:xfrm>
          <a:prstGeom prst="rect">
            <a:avLst/>
          </a:prstGeom>
          <a:noFill/>
          <a:ln/>
        </p:spPr>
        <p:txBody>
          <a:bodyPr wrap="square" lIns="0" tIns="0" rIns="0" bIns="0" rtlCol="0" anchor="ctr"/>
          <a:lstStyle/>
          <a:p>
            <a:pPr marL="0" indent="0">
              <a:buNone/>
            </a:pPr>
            <a:r>
              <a:rPr lang="en-US" sz="1000" dirty="0">
                <a:solidFill>
                  <a:srgbClr val="8B949E"/>
                </a:solidFill>
              </a:rPr>
              <a:t>Deploy your CNN on a live webcam feed!</a:t>
            </a:r>
            <a:endParaRPr lang="en-US" sz="1000" dirty="0"/>
          </a:p>
        </p:txBody>
      </p:sp>
      <p:sp>
        <p:nvSpPr>
          <p:cNvPr id="20" name="Shape 18"/>
          <p:cNvSpPr/>
          <p:nvPr/>
        </p:nvSpPr>
        <p:spPr>
          <a:xfrm>
            <a:off x="502920" y="4572000"/>
            <a:ext cx="8229600" cy="0"/>
          </a:xfrm>
          <a:prstGeom prst="line">
            <a:avLst/>
          </a:prstGeom>
          <a:noFill/>
          <a:ln w="12700">
            <a:solidFill>
              <a:srgbClr val="21262D"/>
            </a:solidFill>
            <a:prstDash val="solid"/>
          </a:ln>
        </p:spPr>
        <p:txBody>
          <a:bodyPr/>
          <a:lstStyle/>
          <a:p>
            <a:endParaRPr lang="fr-FR"/>
          </a:p>
        </p:txBody>
      </p:sp>
      <p:sp>
        <p:nvSpPr>
          <p:cNvPr id="21" name="Text 19"/>
          <p:cNvSpPr/>
          <p:nvPr/>
        </p:nvSpPr>
        <p:spPr>
          <a:xfrm>
            <a:off x="502920" y="4663440"/>
            <a:ext cx="8229600" cy="320040"/>
          </a:xfrm>
          <a:prstGeom prst="rect">
            <a:avLst/>
          </a:prstGeom>
          <a:noFill/>
          <a:ln/>
        </p:spPr>
        <p:txBody>
          <a:bodyPr wrap="square" lIns="0" tIns="0" rIns="0" bIns="0" rtlCol="0" anchor="ctr"/>
          <a:lstStyle/>
          <a:p>
            <a:pPr marL="0" indent="0" algn="ctr">
              <a:buNone/>
            </a:pPr>
            <a:r>
              <a:rPr lang="en-US" sz="1200" i="1" dirty="0">
                <a:solidFill>
                  <a:srgbClr val="E3B341"/>
                </a:solidFill>
              </a:rPr>
              <a:t>Keep building — the best way to learn ML is to code it!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TotalTime>
  <Words>15960</Words>
  <Application>Microsoft Macintosh PowerPoint</Application>
  <PresentationFormat>Affichage à l'écran (16:9)</PresentationFormat>
  <Paragraphs>1063</Paragraphs>
  <Slides>39</Slides>
  <Notes>39</Notes>
  <HiddenSlides>1</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39</vt:i4>
      </vt:variant>
    </vt:vector>
  </HeadingPairs>
  <TitlesOfParts>
    <vt:vector size="44" baseType="lpstr">
      <vt:lpstr>Aptos</vt: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&amp; Deep Learning – From Scratch</dc:title>
  <dc:subject>PptxGenJS Presentation</dc:subject>
  <dc:creator>PptxGenJS</dc:creator>
  <cp:lastModifiedBy>KENNOUCHE Abderahmane</cp:lastModifiedBy>
  <cp:revision>6</cp:revision>
  <dcterms:created xsi:type="dcterms:W3CDTF">2026-03-12T21:12:16Z</dcterms:created>
  <dcterms:modified xsi:type="dcterms:W3CDTF">2026-03-13T00:50:32Z</dcterms:modified>
</cp:coreProperties>
</file>